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theme/theme2.xml" ContentType="application/vnd.openxmlformats-officedocument.theme+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p="http://schemas.openxmlformats.org/presentationml/2006/main" xmlns:r="http://schemas.openxmlformats.org/officeDocument/2006/relationships" saveSubsetFonts="1" autoCompressPictures="0">
  <p:sldMasterIdLst>
    <p:sldMasterId id="2147483648" r:id="rId1"/>
  </p:sldMasterIdLst>
  <p:notesMasterIdLst>
    <p:notesMasterId r:id="rId44"/>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Lst>
  <p:sldSz cx="12192000" cy="6858000" type="screen16x9"/>
  <p:notesSz cx="6858000" cy="9144000"/>
  <p:defaultTextStyle>
    <a:defPPr>
      <a:defRPr lang="en-US"/>
    </a:defPPr>
    <a:lvl1pPr marL="0" algn="l" defTabSz="457200" rtl="0" eaLnBrk="1" latinLnBrk="0" hangingPunct="1">
      <a:defRPr sz="1800" kern="1200" lang="en-US">
        <a:solidFill>
          <a:schemeClr val="tx1"/>
        </a:solidFill>
        <a:latin typeface="+mn-lt"/>
        <a:ea typeface="+mn-ea"/>
        <a:cs typeface="+mn-cs"/>
      </a:defRPr>
    </a:lvl1pPr>
    <a:lvl2pPr marL="457200" algn="l" defTabSz="457200" rtl="0" eaLnBrk="1" latinLnBrk="0" hangingPunct="1">
      <a:defRPr sz="1800" kern="1200" lang="en-US">
        <a:solidFill>
          <a:schemeClr val="tx1"/>
        </a:solidFill>
        <a:latin typeface="+mn-lt"/>
        <a:ea typeface="+mn-ea"/>
        <a:cs typeface="+mn-cs"/>
      </a:defRPr>
    </a:lvl2pPr>
    <a:lvl3pPr marL="914400" algn="l" defTabSz="457200" rtl="0" eaLnBrk="1" latinLnBrk="0" hangingPunct="1">
      <a:defRPr sz="1800" kern="1200" lang="en-US">
        <a:solidFill>
          <a:schemeClr val="tx1"/>
        </a:solidFill>
        <a:latin typeface="+mn-lt"/>
        <a:ea typeface="+mn-ea"/>
        <a:cs typeface="+mn-cs"/>
      </a:defRPr>
    </a:lvl3pPr>
    <a:lvl4pPr marL="1371600" algn="l" defTabSz="457200" rtl="0" eaLnBrk="1" latinLnBrk="0" hangingPunct="1">
      <a:defRPr sz="1800" kern="1200" lang="en-US">
        <a:solidFill>
          <a:schemeClr val="tx1"/>
        </a:solidFill>
        <a:latin typeface="+mn-lt"/>
        <a:ea typeface="+mn-ea"/>
        <a:cs typeface="+mn-cs"/>
      </a:defRPr>
    </a:lvl4pPr>
    <a:lvl5pPr marL="1828800" algn="l" defTabSz="457200" rtl="0" eaLnBrk="1" latinLnBrk="0" hangingPunct="1">
      <a:defRPr sz="1800" kern="1200" lang="en-US">
        <a:solidFill>
          <a:schemeClr val="tx1"/>
        </a:solidFill>
        <a:latin typeface="+mn-lt"/>
        <a:ea typeface="+mn-ea"/>
        <a:cs typeface="+mn-cs"/>
      </a:defRPr>
    </a:lvl5pPr>
    <a:lvl6pPr marL="2286000" algn="l" defTabSz="457200" rtl="0" eaLnBrk="1" latinLnBrk="0" hangingPunct="1">
      <a:defRPr sz="1800" kern="1200" lang="en-US">
        <a:solidFill>
          <a:schemeClr val="tx1"/>
        </a:solidFill>
        <a:latin typeface="+mn-lt"/>
        <a:ea typeface="+mn-ea"/>
        <a:cs typeface="+mn-cs"/>
      </a:defRPr>
    </a:lvl6pPr>
    <a:lvl7pPr marL="2743200" algn="l" defTabSz="457200" rtl="0" eaLnBrk="1" latinLnBrk="0" hangingPunct="1">
      <a:defRPr sz="1800" kern="1200" lang="en-US">
        <a:solidFill>
          <a:schemeClr val="tx1"/>
        </a:solidFill>
        <a:latin typeface="+mn-lt"/>
        <a:ea typeface="+mn-ea"/>
        <a:cs typeface="+mn-cs"/>
      </a:defRPr>
    </a:lvl7pPr>
    <a:lvl8pPr marL="3200400" algn="l" defTabSz="457200" rtl="0" eaLnBrk="1" latinLnBrk="0" hangingPunct="1">
      <a:defRPr sz="1800" kern="1200" lang="en-US">
        <a:solidFill>
          <a:schemeClr val="tx1"/>
        </a:solidFill>
        <a:latin typeface="+mn-lt"/>
        <a:ea typeface="+mn-ea"/>
        <a:cs typeface="+mn-cs"/>
      </a:defRPr>
    </a:lvl8pPr>
    <a:lvl9pPr marL="3657600" algn="l" defTabSz="457200" rtl="0" eaLnBrk="1" latinLnBrk="0" hangingPunct="1">
      <a:defRPr sz="1800" kern="1200" lang="en-US">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  <Relationship Id="rId44" Type="http://schemas.openxmlformats.org/officeDocument/2006/relationships/notesMaster" Target="notesMasters/notesMaster1.xml"/>
</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a:lstStyle/>
          <a:p>
            <a:pPr/>
            <a:endParaRPr lang="en-US"/>
          </a:p>
        </p:txBody>
      </p:sp>
      <p:sp>
        <p:nvSpPr>
          <p:cNvPr id="3" name="Date Placeholder 2"/>
          <p:cNvSpPr>
            <a:spLocks noGrp="1"/>
          </p:cNvSpPr>
          <p:nvPr>
            <p:ph type="dt" sz="half" idx="1"/>
          </p:nvPr>
        </p:nvSpPr>
        <p:spPr>
          <a:xfrm>
            <a:off x="3884613" y="0"/>
            <a:ext cx="2971800" cy="457200"/>
          </a:xfrm>
          <a:prstGeom prst="rect">
            <a:avLst/>
          </a:prstGeom>
        </p:spPr>
        <p:txBody>
          <a:bodyPr/>
          <a:lstStyle/>
          <a:p>
            <a:pPr/>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p:spPr>
      </p:sp>
      <p:sp>
        <p:nvSpPr>
          <p:cNvPr id="5" name="Notes Placeholder 4"/>
          <p:cNvSpPr>
            <a:spLocks noGrp="1"/>
          </p:cNvSpPr>
          <p:nvPr>
            <p:ph type="body" sz="quarter" idx="3"/>
          </p:nvPr>
        </p:nvSpPr>
        <p:spPr>
          <a:xfrm>
            <a:off x="685800" y="4343400"/>
            <a:ext cx="5486400" cy="4114800"/>
          </a:xfrm>
          <a:prstGeom prst="rect">
            <a:avLst/>
          </a:prstGeom>
        </p:spPr>
        <p:txBody>
          <a:bodyPr/>
          <a:lstStyle/>
          <a:p>
            <a:pP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a:lstStyle/>
          <a:p>
            <a:pPr/>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a:lstStyle/>
          <a:p>
            <a:pPr/>
            <a:endParaRPr lang="en-US"/>
          </a:p>
        </p:txBody>
      </p:sp>
    </p:spTree>
  </p:cSld>
  <p:clrMap bg1="lt1" tx1="dk1" bg2="lt2" tx2="dk2" accent1="accent1" accent2="accent2" accent3="accent3" accent4="accent4" accent5="accent5" accent6="accent6" hlink="hlink" folHlink="folHlink"/>
  <p:hf/>
  <p:notesStyle>
    <a:lvl1pPr marL="0" algn="l">
      <a:defRPr sz="1200" lang="en-US"/>
    </a:lvl1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en-US" dirty="0"/>
              <a:t>This recording-enhanced edition combines twelve original attendee-note sets with a review of the AIE channel, its playlists, official timestamped transcripts and a separately identified Ryan Stevens article. The review screened 90 uploads and inspected 50 official video descriptions.</a:t>
            </a:r>
          </a:p>
          <a:p>
            <a:pPr/>
            <a:endParaRPr lang="en-US" dirty="0"/>
          </a:p>
          <a:p>
            <a:pPr/>
            <a:r>
              <a:rPr lang="en-US" dirty="0"/>
              <a:t>The 29-slide core remains planned for 40 minutes plus discussion. Read &amp; learn adds company mechanisms, worked examples and source boundaries. No audiovisual viewing or independent validation of company results is claimed.</a:t>
            </a:r>
          </a:p>
          <a:p>
            <a:pPr/>
            <a:endParaRPr lang="en-US" dirty="0"/>
          </a:p>
          <a:p>
            <a:pPr/>
            <a:r>
              <a:rPr lang="en-US" dirty="0"/>
              <a:t>Introduce the updated source base and the five connected responsibilities: valuable work, grounded evidence, evaluation, controlled execution and professional learning. Explain that the examples distinguish what was reported from methods we propose.</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en-US" dirty="0"/>
              <a:t>Dependable financial AI is a complete job, not a model in isolation. Begin by defining valuable accepted work and credible economics. Ground that work in sources, meaning, time, versions and access; evaluate the task, judge, answer selection and release; then encode expert methods and enforce authority through reliable workflows. The engineer owns the improvement loop across all five responsibilities. Bridgewater’s information problem, Range’s planning method and wealth preparation illustrate distinct bottlenecks. Name the accepted output and scarce resource before choosing a tool. Trace definitions, actions and corrections through the final artifact, and use Ramp’s ablations and Arize’s diagnosis ideas to make one bounded, reviewable comparison.</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en-US" dirty="0"/>
              <a:t>A useful financial agent prepares work a professional can accept: an evidence brief, planning analysis, reconciliation or decision memo. The acceptance standard determines the architecture more clearly than a preference for chat or autonomy.</a:t>
            </a:r>
          </a:p>
          <a:p>
            <a:pPr/>
            <a:endParaRPr lang="en-US" dirty="0"/>
          </a:p>
          <a:p>
            <a:pPr/>
            <a:r>
              <a:rPr lang="en-US" dirty="0"/>
              <a:t>Decompose the decision. Coatue models investing as context transformed into selection, size and timing. Break the work into collection, interpretation, checking and judgment. A step may use code, classical ML, an LLM or a person; the objective is a sound decision process rather than maximum LLM coverage.</a:t>
            </a:r>
          </a:p>
          <a:p>
            <a:pPr/>
            <a:endParaRPr lang="en-US" dirty="0"/>
          </a:p>
          <a:p>
            <a:pPr/>
            <a:r>
              <a:rPr lang="en-US" dirty="0"/>
              <a:t>Observe the real workflow. Apollo/Redding Ridge describes portfolio preparation for PM refinement and recurring financing reports followed by team QA. Reconciliation means learning why one feed is authoritative, not merely joining files. Define which deliverable is accepted, who checks it and which corrections remain.</a:t>
            </a:r>
          </a:p>
          <a:p>
            <a:pPr/>
            <a:endParaRPr lang="en-US" dirty="0"/>
          </a:p>
          <a:p>
            <a:pPr/>
            <a:r>
              <a:rPr lang="en-US" dirty="0"/>
              <a:t>Preserve professional attention. Range drafts planning work while professionals serve clients; the planner reviews recommendations and the agent sends nothing. Time saved becomes valuable when it improves accepted capacity or attention to consequential judgment. Draft volume alone does not establish better advice, revenue or investment outcomes.</a:t>
            </a:r>
          </a:p>
          <a:p>
            <a:pPr/>
            <a:endParaRPr lang="en-US" dirty="0"/>
          </a:p>
          <a:p>
            <a:pPr/>
            <a:r>
              <a:rPr lang="en-US" dirty="0"/>
              <a:t>The primary source accounts for this page are Coatue at https://ai.engineer/nyc/2026/talks/coatue; Apollo / Redding Ridge / Rowspace at https://ai.engineer/nyc/2026/talks/apollo-rowspace; Range at https://ai.engineer/nyc/2026/talks/range.</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en-US" dirty="0"/>
              <a:t>The frontier cases share disciplined task design, but use different technical forms. An investment evidence system, planner workflow and transaction classifier should not be compared with one generic adoption or model-quality score.</a:t>
            </a:r>
          </a:p>
          <a:p>
            <a:pPr/>
            <a:endParaRPr lang="en-US" dirty="0"/>
          </a:p>
          <a:p>
            <a:pPr/>
            <a:r>
              <a:rPr lang="en-US" dirty="0"/>
              <a:t>Build around the decision. Bridgewater improves evidence reaching investment work; Coatue decomposes a decision graph. Their relevant questions concern eligible sources, relevance, timing and professional attention. Preserve the point-in-time information set before judging the resulting conclusion.</a:t>
            </a:r>
          </a:p>
          <a:p>
            <a:pPr/>
            <a:endParaRPr lang="en-US" dirty="0"/>
          </a:p>
          <a:p>
            <a:pPr/>
            <a:r>
              <a:rPr lang="en-US" dirty="0"/>
              <a:t>Choose the representation. Wells Fargo describes a transaction-sequence transformer trained from scratch for downstream fraud work. Amounts, categories, channels, time and location determine tokenization; a tight serving budget shapes the design. This is a transaction foundation model, not a proprietary language model.</a:t>
            </a:r>
          </a:p>
          <a:p>
            <a:pPr/>
            <a:endParaRPr lang="en-US" dirty="0"/>
          </a:p>
          <a:p>
            <a:pPr/>
            <a:r>
              <a:rPr lang="en-US" dirty="0"/>
              <a:t>Keep durable assets. Blackstone and Norm.ai emphasize accessible data, repeatable evaluations and production controls as models and scaffolding change. Norm’s expert-labeled regression assets support architecture comparisons. Attribute that account to Norm; a shared discussion does not prove deployment of every component at Blackstone.</a:t>
            </a:r>
          </a:p>
          <a:p>
            <a:pPr/>
            <a:endParaRPr lang="en-US" dirty="0"/>
          </a:p>
          <a:p>
            <a:pPr/>
            <a:r>
              <a:rPr lang="en-US" dirty="0"/>
              <a:t>The primary source accounts for this page are Bridgewater at https://ai.engineer/nyc/2026/talks/bridgewater; Coatue at https://ai.engineer/nyc/2026/talks/coatue; Wells Fargo at https://ai.engineer/nyc/2026/talks/wells-fargo; Blackstone / Norm.ai at https://ai.engineer/nyc/2026/talks/blackstone-norm.</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en-US" dirty="0"/>
              <a:t>The released Range, Arca and Perpetual accounts make the wealth pattern concrete: prepare work, preserve context across handoffs, and control the step that communicates or acts. The planner remains responsible for client judgment.</a:t>
            </a:r>
          </a:p>
          <a:p>
            <a:pPr/>
            <a:endParaRPr lang="en-US" dirty="0"/>
          </a:p>
          <a:p>
            <a:pPr/>
            <a:r>
              <a:rPr lang="en-US" dirty="0"/>
              <a:t>Turn expertise into a method. Range’s skill records reasons, required questions, exceptions and stopping conditions. An owner maintains it and a separate reviewer checks it. The planner reviews every recommendation before client delivery. Five to ten examples are a starting test routine, not sufficient release assurance.</a:t>
            </a:r>
          </a:p>
          <a:p>
            <a:pPr/>
            <a:endParaRPr lang="en-US" dirty="0"/>
          </a:p>
          <a:p>
            <a:pPr/>
            <a:r>
              <a:rPr lang="en-US" dirty="0"/>
              <a:t>Continue across real delays. Arca’s tax-payment illustration spans replies, approvals, trades and settlement. Long horizon means durable shared plans and event-driven resumption, rather than continuous model thought. Track who owns the next action, what event wakes the task and which approval is still required.</a:t>
            </a:r>
          </a:p>
          <a:p>
            <a:pPr/>
            <a:endParaRPr lang="en-US" dirty="0"/>
          </a:p>
          <a:p>
            <a:pPr/>
            <a:r>
              <a:rPr lang="en-US" dirty="0"/>
              <a:t>Bind approval to the action. Perpetual describes typed interpretation, a validating compiler and immutable approved plans. Approval attaches to the exact outgoing payload; an unknown dispatch outcome goes to manual review. Historical Morgan Stanley, UBS and RBC disclosures remain useful preparation/knowledge examples with their original dates.</a:t>
            </a:r>
          </a:p>
          <a:p>
            <a:pPr/>
            <a:endParaRPr lang="en-US" dirty="0"/>
          </a:p>
          <a:p>
            <a:pPr/>
            <a:r>
              <a:rPr lang="en-US" dirty="0"/>
              <a:t>The primary source accounts for this page are Range at https://ai.engineer/nyc/2026/talks/range; Arca at https://ai.engineer/nyc/2026/talks/arca; Perpetual at https://ai.engineer/nyc/2026/talks/perpetual.</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en-US" dirty="0"/>
              <a:t>Use a chain of evidence from adoption to accepted work, process change and attributable value. The newly released stories add measurement methods; they do not make preparation time, usage and investment performance interchangeable.</a:t>
            </a:r>
          </a:p>
          <a:p>
            <a:pPr/>
            <a:endParaRPr lang="en-US" dirty="0"/>
          </a:p>
          <a:p>
            <a:pPr/>
            <a:r>
              <a:rPr lang="en-US" dirty="0"/>
              <a:t>Define useful output first. Contour’s official release describes live research comparisons and cost per useful insight, including repair effort. Define useful insight, eligible work and the comparison before looking at outcomes. Its description does not disclose enough assignment, sample or control detail to establish causal alpha.</a:t>
            </a:r>
          </a:p>
          <a:p>
            <a:pPr/>
            <a:endParaRPr lang="en-US" dirty="0"/>
          </a:p>
          <a:p>
            <a:pPr/>
            <a:r>
              <a:rPr lang="en-US" dirty="0"/>
              <a:t>Keep the decision record. Preserve what was known when an idea was proposed, its sources, reasoning, reviewer response and subsequent decision. Agents revisiting an old idea may improve timing or attention; a later profitable position still depends on markets, selection, sizing and human action.</a:t>
            </a:r>
          </a:p>
          <a:p>
            <a:pPr/>
            <a:endParaRPr lang="en-US" dirty="0"/>
          </a:p>
          <a:p>
            <a:pPr/>
            <a:r>
              <a:rPr lang="en-US" dirty="0"/>
              <a:t>Inspect the denominator. Jellyfish includes human salary and AI spend per merged PR, and inspects reverts/change size. That observational engineering proxy suggests measuring accepted work with quality counterchecks. It does not establish that spending more causes improvement or that a merged PR equals business value.</a:t>
            </a:r>
          </a:p>
          <a:p>
            <a:pPr/>
            <a:endParaRPr lang="en-US" dirty="0"/>
          </a:p>
          <a:p>
            <a:pPr/>
            <a:r>
              <a:rPr lang="en-US" dirty="0"/>
              <a:t>The primary source accounts for this page are Contour Asset Management at https://www.youtube.com/watch?v=ZMZlAn6Pyfg; Jellyfish at https://ai.engineer/nyc/2026/talks/jellyfish.</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en-US" dirty="0"/>
              <a:t>Token reduction and faster drafting are intermediate results. Compare equivalent completed tasks at an agreed standard, and count unsuccessful attempts, tool use, review, rework and operation before claiming an economic improvement.</a:t>
            </a:r>
          </a:p>
          <a:p>
            <a:pPr/>
            <a:endParaRPr lang="en-US" dirty="0"/>
          </a:p>
          <a:p>
            <a:pPr/>
            <a:r>
              <a:rPr lang="en-US" dirty="0"/>
              <a:t>Count the work people retain. A reviewer’s correction, candidate selection and investigation time belong in the comparison. Include abandoned runs and retries in cost even when only one final output is accepted. Report accepted-task rate beside unit cost so narrower coverage cannot masquerade as improvement.</a:t>
            </a:r>
          </a:p>
          <a:p>
            <a:pPr/>
            <a:endParaRPr lang="en-US" dirty="0"/>
          </a:p>
          <a:p>
            <a:pPr/>
            <a:r>
              <a:rPr lang="en-US" dirty="0"/>
              <a:t>Prepare context deliberately. Credit Karma describes selection/pruning, reranking, deduplication and compression. An Artifactory demo reports 24,000 to 2,400 tokens. Use that as an experiment to reproduce: measure required-fact coverage, answer quality and review effort before adopting the reduction.</a:t>
            </a:r>
          </a:p>
          <a:p>
            <a:pPr/>
            <a:endParaRPr lang="en-US" dirty="0"/>
          </a:p>
          <a:p>
            <a:pPr/>
            <a:r>
              <a:rPr lang="en-US" dirty="0"/>
              <a:t>Optimize the actual bottleneck. Jellyfish’s salary-plus-AI framing and Ramp’s narrow specialist work both shift attention to end-to-end economics. Separate prefill, generation, tool and human delays. A smaller prompt or model can improve a stage while leaving total delivery time or quality worse.</a:t>
            </a:r>
          </a:p>
          <a:p>
            <a:pPr/>
            <a:endParaRPr lang="en-US" dirty="0"/>
          </a:p>
          <a:p>
            <a:pPr/>
            <a:r>
              <a:rPr lang="en-US" dirty="0"/>
              <a:t>The proposed unit measure is total workflow cost divided by accepted tasks. Credit Karma’s Artifactory demonstration reports context use changing from twenty-four thousand to twenty-four hundred tokens; equivalent quality and end-to-end time still need testing.</a:t>
            </a:r>
          </a:p>
          <a:p>
            <a:pPr/>
            <a:endParaRPr lang="en-US" dirty="0"/>
          </a:p>
          <a:p>
            <a:pPr/>
            <a:r>
              <a:rPr lang="en-US" dirty="0"/>
              <a:t>The primary source accounts for this page are Intuit Credit Karma at https://ai.engineer/nyc/2026/talks/credit-karma; Jellyfish at https://ai.engineer/nyc/2026/talks/jellyfish; Ramp · Alexander Shevchenko keynote at https://ai.engineer/nyc/2026/talks/ramp.</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en-US" dirty="0"/>
              <a:t>Financial context is a changing information set, not a bag of relevant passages. A request needs an entity, decision, period and cutoff; persistent knowledge additionally needs evidence age, contradictions and a way to accept corrections.</a:t>
            </a:r>
          </a:p>
          <a:p>
            <a:pPr/>
            <a:endParaRPr lang="en-US" dirty="0"/>
          </a:p>
          <a:p>
            <a:pPr/>
            <a:r>
              <a:rPr lang="en-US" dirty="0"/>
              <a:t>Set the evidence boundary. Bridgewater’s Vault organizes research by source, market, country, concept and discussed period. Apply entitlements and time constraints before synthesis. A correct answer to a neighboring period, entity or definition is still a failure of the requested task.</a:t>
            </a:r>
          </a:p>
          <a:p>
            <a:pPr/>
            <a:endParaRPr lang="en-US" dirty="0"/>
          </a:p>
          <a:p>
            <a:pPr/>
            <a:r>
              <a:rPr lang="en-US" dirty="0"/>
              <a:t>Preserve changing beliefs. Citadel Securities separates reported project status from evidence-based status, keeps historical records, ages claims and compares earlier predictions with later outcomes. Models propose updates; code and people decide what enters the record. This is richer than retrieving the latest matching sentence.</a:t>
            </a:r>
          </a:p>
          <a:p>
            <a:pPr/>
            <a:endParaRPr lang="en-US" dirty="0"/>
          </a:p>
          <a:p>
            <a:pPr/>
            <a:r>
              <a:rPr lang="en-US" dirty="0"/>
              <a:t>Treat missing signals honestly. A quiet source can mean a collection problem rather than inactivity. Preserve last observed time, source health and correction history; unknown is not zero. Our combined evidence contract adds versioned definitions and as-of snapshots, without claiming a single firm implemented every field.</a:t>
            </a:r>
          </a:p>
          <a:p>
            <a:pPr/>
            <a:endParaRPr lang="en-US" dirty="0"/>
          </a:p>
          <a:p>
            <a:pPr/>
            <a:r>
              <a:rPr lang="en-US" dirty="0"/>
              <a:t>The primary source accounts for this page are Bridgewater at https://ai.engineer/nyc/2026/talks/bridgewater; Citadel Securities at https://ai.engineer/nyc/2026/talks/citadel.</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en-US" dirty="0"/>
              <a:t>Bridgewater supplies a concrete retrieval-learning loop: label relevant and plausible irrelevant evidence, reproduce complaints, and test filtering under the constraints found in real use. Larger context alone is not the objective.</a:t>
            </a:r>
          </a:p>
          <a:p>
            <a:pPr/>
            <a:endParaRPr lang="en-US" dirty="0"/>
          </a:p>
          <a:p>
            <a:pPr/>
            <a:r>
              <a:rPr lang="en-US" dirty="0"/>
              <a:t>Make relevance observable. The speakers describe roughly 200 manually labeled questions and a reported precision@10 rise from about 60% to 90–95%. The speaker corrects an initial “recall” reference to precision. This is an internal retrieval comparison, not measured final-answer quality or investment performance.</a:t>
            </a:r>
          </a:p>
          <a:p>
            <a:pPr/>
            <a:endParaRPr lang="en-US" dirty="0"/>
          </a:p>
          <a:p>
            <a:pPr/>
            <a:r>
              <a:rPr lang="en-US" dirty="0"/>
              <a:t>Test restrictive filters. Post-filtering can discard eligible candidates after vector search; exhaustive pre-filtered scoring can be slow. Evaluate combinations of time, source and asset constraints, including sparse matches and no evidence. Measure coverage and latency rather than choosing an index from a generic benchmark.</a:t>
            </a:r>
          </a:p>
          <a:p>
            <a:pPr/>
            <a:endParaRPr lang="en-US" dirty="0"/>
          </a:p>
          <a:p>
            <a:pPr/>
            <a:r>
              <a:rPr lang="en-US" dirty="0"/>
              <a:t>Design for the consumer. An agent may collect broad evidence while a human needs a small reviewable brief. Assess both stages: required-source coverage before compression, then retained meaning and review effort. Saved searches, collections and familiar-channel migration are part of adoption, not merely interface decoration.</a:t>
            </a:r>
          </a:p>
          <a:p>
            <a:pPr/>
            <a:endParaRPr lang="en-US" dirty="0"/>
          </a:p>
          <a:p>
            <a:pPr/>
            <a:r>
              <a:rPr lang="en-US" dirty="0"/>
              <a:t>Bridgewater’s reported internal retrieval benchmark uses roughly two hundred manually labeled questions and describes precision at ten rising from about sixty percent to ninety to ninety-five percent. The speaker corrects an initial recall label to precision. No held-out design, uncertainty estimate or investment-performance effect is established.</a:t>
            </a:r>
          </a:p>
          <a:p>
            <a:pPr/>
            <a:endParaRPr lang="en-US" dirty="0"/>
          </a:p>
          <a:p>
            <a:pPr/>
            <a:r>
              <a:rPr lang="en-US" dirty="0"/>
              <a:t>The primary source accounts for this page are Bridgewater at https://ai.engineer/nyc/2026/talks/bridgewater.</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en-US" dirty="0"/>
              <a:t>Kepler distinguishes a wrong source, a wrong fact inside the right source and a wrong calculation. Its released accounts add a constrained number path; final generation still needs checks after retrieval and arithmetic.</a:t>
            </a:r>
          </a:p>
          <a:p>
            <a:pPr/>
            <a:endParaRPr lang="en-US" dirty="0"/>
          </a:p>
          <a:p>
            <a:pPr/>
            <a:r>
              <a:rPr lang="en-US" dirty="0"/>
              <a:t>Use a structured fact. The standalone breakout description names value, unit, scale and period. The next-day transcript describes fact identifiers resolved by software while a model plans. Preserve the source anchor and calculation inputs; a valid identifier still needs the correct entity, definition and version.</a:t>
            </a:r>
          </a:p>
          <a:p>
            <a:pPr/>
            <a:endParaRPr lang="en-US" dirty="0"/>
          </a:p>
          <a:p>
            <a:pPr/>
            <a:r>
              <a:rPr lang="en-US" dirty="0"/>
              <a:t>Keep access on every path. Exact lookup does not bypass authorization. Search, direct reads, calculation inputs and output references must remain within the user and tenant scope. Test revoked access and empty evidence as well as the successful path; a citation chip does not enforce permission.</a:t>
            </a:r>
          </a:p>
          <a:p>
            <a:pPr/>
            <a:endParaRPr lang="en-US" dirty="0"/>
          </a:p>
          <a:p>
            <a:pPr/>
            <a:r>
              <a:rPr lang="en-US" dirty="0"/>
              <a:t>Verify what the user receives. The main-stage transcript explicitly retains post-processing because generation can invent numbers afterward. The breakout description says unverifiable figures are stripped. Our requirement is stronger: correct, remove or escalate the unsupported material claim, rather than leave persuasive prose with broken support.</a:t>
            </a:r>
          </a:p>
          <a:p>
            <a:pPr/>
            <a:endParaRPr lang="en-US" dirty="0"/>
          </a:p>
          <a:p>
            <a:pPr/>
            <a:r>
              <a:rPr lang="en-US" dirty="0"/>
              <a:t>The primary source accounts for this page are Kepler · October 14 follow-up at https://ai.engineer/nyc/2026/talks/kepler-14; Kepler · attended breakout release at https://www.youtube.com/watch?v=dZgA6btnb_s.</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en-US" dirty="0"/>
              <a:t>Every entity, document, publication date and value in the AsterCo example is invented teaching data. The question asks for fiscal twenty twenty-five revenue growth as of March first, twenty twenty-six, with inputs in millions of US dollars. The fiscal twenty twenty-four final value is one hundred, published February first, twenty twenty-five. The next-year preliminary value is one hundred eighteen, published January fifteenth, twenty twenty-six. The final value is one hundred twenty, published February first, and is eligible by the cutoff while superseding the preliminary document. Eighteen percent is correct arithmetic on the preliminary inputs; twenty percent follows from the final inputs required by this question. Preserve rejected versions and the reason for replacement, and update dependent prose, tables and charts. Also test missing, conflicting, restated and unauthorized sources.</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en-US" dirty="0"/>
              <a:t>Financial work often ends in a workbook, report or presentation. Inspectable chat output is insufficient if an export loses provenance, carries an old calculation or hides a contradictory period in a polished chart.</a:t>
            </a:r>
          </a:p>
          <a:p>
            <a:pPr/>
            <a:endParaRPr lang="en-US" dirty="0"/>
          </a:p>
          <a:p>
            <a:pPr/>
            <a:r>
              <a:rPr lang="en-US" dirty="0"/>
              <a:t>Preserve the claim chain. OpenAI’s finance presentation connects source passages and tables to charts and reusable artifacts. Carry the material value, period, unit and source into the deliverable. Reconcile the document with the current evidence after a correction rather than treating export as a cosmetic step.</a:t>
            </a:r>
          </a:p>
          <a:p>
            <a:pPr/>
            <a:endParaRPr lang="en-US" dirty="0"/>
          </a:p>
          <a:p>
            <a:pPr/>
            <a:r>
              <a:rPr lang="en-US" dirty="0"/>
              <a:t>Check collaborative scope. Compound AI describes shared deal threads, an agent inbox and longer artifact work. Permissions must follow participants and source material, not only the connector. Inspect workbook depth, file coverage and final fidelity separately; vendor architecture is not independently verified Office parity.</a:t>
            </a:r>
          </a:p>
          <a:p>
            <a:pPr/>
            <a:endParaRPr lang="en-US" dirty="0"/>
          </a:p>
          <a:p>
            <a:pPr/>
            <a:r>
              <a:rPr lang="en-US" dirty="0"/>
              <a:t>Review the current saved artifact. Use a write–render–check–fix loop and inspect again after the final edit. Our acceptance contract checks the actual report the team will share, including stale sources, truncated tables and missing caveats. Passing code or an older preview cannot establish that the current artifact is usable.</a:t>
            </a:r>
          </a:p>
          <a:p>
            <a:pPr/>
            <a:endParaRPr lang="en-US" dirty="0"/>
          </a:p>
          <a:p>
            <a:pPr/>
            <a:r>
              <a:rPr lang="en-US" dirty="0"/>
              <a:t>The primary source accounts for this page are OpenAI at https://ai.engineer/nyc/2026/talks/openai; Compound AI at https://ai.engineer/nyc/2026/talks/compound.</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en-US" dirty="0"/>
              <a:t>The complete job needs more than one answer score. Outcome rubrics locate incomplete work, behavior checks expose unsafe shortcuts, and state/action checks establish whether the workflow stayed within its permitted scope.</a:t>
            </a:r>
          </a:p>
          <a:p>
            <a:pPr/>
            <a:endParaRPr lang="en-US" dirty="0"/>
          </a:p>
          <a:p>
            <a:pPr/>
            <a:r>
              <a:rPr lang="en-US" dirty="0"/>
              <a:t>Start from professional work. Vals emphasizes fully acceptable outputs rather than only average partial credit. Ramp’s bookkeeping account defines task, synthetic business world, trajectory and accountant-authored rubric. Build cases around the work a reviewer accepts, with realistic missing and messy evidence.</a:t>
            </a:r>
          </a:p>
          <a:p>
            <a:pPr/>
            <a:endParaRPr lang="en-US" dirty="0"/>
          </a:p>
          <a:p>
            <a:pPr/>
            <a:r>
              <a:rPr lang="en-US" dirty="0"/>
              <a:t>Construct diagnostic variants. The Air Canada release describes writing an expected answer first, then creating evidence-containing inputs. Add removed evidence, planted violations and meaning-preserving edits. Validate realism and the answer key; synthetic generation can produce shortcuts that make the test artificially easy.</a:t>
            </a:r>
          </a:p>
          <a:p>
            <a:pPr/>
            <a:endParaRPr lang="en-US" dirty="0"/>
          </a:p>
          <a:p>
            <a:pPr/>
            <a:r>
              <a:rPr lang="en-US" dirty="0"/>
              <a:t>Keep blockers outside the average. A correct total cannot offset fabricated evidence, unauthorized access or an unapproved send. Use exact assertions where available, calibrated domain rubrics for judgment and a separate behavior verdict. Keep full cost, latency, coverage and reviewer effort beside quality.</a:t>
            </a:r>
          </a:p>
          <a:p>
            <a:pPr/>
            <a:endParaRPr lang="en-US" dirty="0"/>
          </a:p>
          <a:p>
            <a:pPr/>
            <a:r>
              <a:rPr lang="en-US" dirty="0"/>
              <a:t>The primary source accounts for this page are Vals AI at https://ai.engineer/nyc/2026/talks/vals; Ramp · Ryan Stevens written follow-up at https://dev.to/dailycontext/building-better-agents-through-end-to-end-evals-pgh; Basis at https://ai.engineer/nyc/2026/talks/basis; Air Canada · Nathanael Weill at https://www.youtube.com/watch?v=c_SPW__jF9w.</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en-US" dirty="0"/>
              <a:t>This entire cash-flow task and rubric are synthetic. The authorized task is to draft a monthly snapshot from current approved records, without recommending or sending. Income is eight thousand dollars, current expenses are six thousand and superseded expenses are fifty-five hundred; insurance details are missing. Subtracting the old expense value correctly yields twenty-five hundred on the stated operands, but fails source validity for the complete task. Current inputs yield two thousand. Do not count the source-selection error again as an arithmetic defect. The illustrative zero-to-two arithmetic scale distinguishes wrong, correct but incompletely derived, and reconstructable calculations. Grade source period, version, access and provenance separately; disclose missing insurance facts. A recommendation or outbound send blocks acceptance regardless of diagnostic scores. A real rubric needs domain review and calibration.</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en-US" dirty="0"/>
              <a:t>The grader and deployed answer selector are separate evaluated systems. Compare judge decisions with independently reviewed and adjudicated examples, retaining serious false passes even when average agreement is high. A false failure loses useful work and creates review burden, so a stricter judge is not automatically better. The synthetic fail, pass, fail strip contains a usable second candidate, but it is one teaching case rather than an empirical pass-at-three estimate. Someone still has to recognize and select that answer. Pass-at-k asks whether at least one of k candidates meets the specified test; state workload, test, k and first-attempt behavior, then evaluate the actual verifier or selector under that budget. Count retries, tools, verification, latency and human review. Upstart calibration is program context, and its self-improvement loops remained under development.</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en-US" dirty="0"/>
              <a:t>Ryan Stevens’s written follow-up makes the original Ramp notes more specific: hold the business worlds and rubrics fixed, test the contribution of each skill, and evaluate whether prior experience helps in the next period.</a:t>
            </a:r>
          </a:p>
          <a:p>
            <a:pPr/>
            <a:endParaRPr lang="en-US" dirty="0"/>
          </a:p>
          <a:p>
            <a:pPr/>
            <a:r>
              <a:rPr lang="en-US" dirty="0"/>
              <a:t>Challenge helpful-looking context. The article reports trimming eight skills to four with a +2.8-point mean-score change across six worlds. A 61% compression of the largest spreadsheet skill left quality essentially unchanged. More instructions are not automatically better; inspect per-world failures and essential criteria.</a:t>
            </a:r>
          </a:p>
          <a:p>
            <a:pPr/>
            <a:endParaRPr lang="en-US" dirty="0"/>
          </a:p>
          <a:p>
            <a:pPr/>
            <a:r>
              <a:rPr lang="en-US" dirty="0"/>
              <a:t>Remember procedure; refresh facts. Trajectory-distilled memory reportedly adds 5.7 mean-score points over skills alone. Roll-forward worlds advance the same business a month and remove period-specific amounts from memory. A stale successful recipe can damage the next task even when the memory looks useful.</a:t>
            </a:r>
          </a:p>
          <a:p>
            <a:pPr/>
            <a:endParaRPr lang="en-US" dirty="0"/>
          </a:p>
          <a:p>
            <a:pPr/>
            <a:r>
              <a:rPr lang="en-US" dirty="0"/>
              <a:t>Test transfer and changed rules. Use a next-period assessment with new values and one changed procedure, not only repeats of tuned cases. Preserve the comparison, judge and attempt budget. These are speaker-bylined, workload-specific results; the separately recorded Ramp keynote concerns specialist models and prepared context.</a:t>
            </a:r>
          </a:p>
          <a:p>
            <a:pPr/>
            <a:endParaRPr lang="en-US" dirty="0"/>
          </a:p>
          <a:p>
            <a:pPr/>
            <a:r>
              <a:rPr lang="en-US" dirty="0"/>
              <a:t>The written Ramp account reports eight skills reduced to four, a two-point-eight mean-score-point improvement across six worlds, sixty-one percent spreadsheet-skill compression with quality essentially unchanged, and five-point-seven points from trajectory-distilled memory over skills alone. These are reported task-specific point changes, not relative percentages or predicted gains.</a:t>
            </a:r>
          </a:p>
          <a:p>
            <a:pPr/>
            <a:endParaRPr lang="en-US" dirty="0"/>
          </a:p>
          <a:p>
            <a:pPr/>
            <a:r>
              <a:rPr lang="en-US" dirty="0"/>
              <a:t>The primary source accounts for this page are Ramp · Ryan Stevens written follow-up at https://dev.to/dailycontext/building-better-agents-through-end-to-end-evals-pgh; Ramp · Alexander Shevchenko keynote at https://ai.engineer/nyc/2026/talks/ramp.</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en-US" dirty="0"/>
              <a:t>A stronger prompt or model can improve one dimension and degrade another. Declare consequential blockers, inspect paired regressions and retain an accountable promotion decision before expanding the workflow’s exposure.</a:t>
            </a:r>
          </a:p>
          <a:p>
            <a:pPr/>
            <a:endParaRPr lang="en-US" dirty="0"/>
          </a:p>
          <a:p>
            <a:pPr/>
            <a:r>
              <a:rPr lang="en-US" dirty="0"/>
              <a:t>Compare the whole vector. Sofia Jakovcevic’s release describes a prompt repair that improves safety while harming completion. Preserve task/evidence quality, critical defects, latency and reviewer effort together. An aggregate gain should trigger inspection of important slices and regressions rather than automatic promotion.</a:t>
            </a:r>
          </a:p>
          <a:p>
            <a:pPr/>
            <a:endParaRPr lang="en-US" dirty="0"/>
          </a:p>
          <a:p>
            <a:pPr/>
            <a:r>
              <a:rPr lang="en-US" dirty="0"/>
              <a:t>Trust observed execution. Omni’s release emphasizes full traces and gates that actually stop work. Verify that the tool effect or test occurred through runtime records; an agent’s claim that it passed is not independent evidence. Protect evaluator inputs and permitted tool/model access from benchmark gaming.</a:t>
            </a:r>
          </a:p>
          <a:p>
            <a:pPr/>
            <a:endParaRPr lang="en-US" dirty="0"/>
          </a:p>
          <a:p>
            <a:pPr/>
            <a:r>
              <a:rPr lang="en-US" dirty="0"/>
              <a:t>Make the decision reproducible. Retain task/data/evaluator versions, failure examples, expert disagreements, accepted exceptions and the owner. Promote within a stated scope, then monitor for escaped failures with pause or rollback conditions. Finite tests support a bounded decision, not proof that a critical failure cannot occur.</a:t>
            </a:r>
          </a:p>
          <a:p>
            <a:pPr/>
            <a:endParaRPr lang="en-US" dirty="0"/>
          </a:p>
          <a:p>
            <a:pPr/>
            <a:r>
              <a:rPr lang="en-US" dirty="0"/>
              <a:t>The primary source accounts for this page are Arize · Sofia Jakovcevic at https://www.youtube.com/watch?v=v5tm5EAzsAs; Omni Analytics at https://www.youtube.com/watch?v=A3FL_zTQKU0; Google DeepMind / Kaggle / LinqAlpha at https://www.youtube.com/watch?v=aVbRSIQO2dE.</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en-US" dirty="0"/>
              <a:t>Basis’s reconciliation example reaches zero variance by making an unsupported adjustment. A final-answer check can reward that shortcut; a process specification exposes the decision that needs to change.</a:t>
            </a:r>
          </a:p>
          <a:p>
            <a:pPr/>
            <a:endParaRPr lang="en-US" dirty="0"/>
          </a:p>
          <a:p>
            <a:pPr/>
            <a:r>
              <a:rPr lang="en-US" dirty="0"/>
              <a:t>Separate applicability and adherence. A behavior evaluator first asks whether the situation arose, then whether the expected conduct occurred. Not applicable is not a compliance pass. Choose sparse consequential expectations such as investigating a discrepancy or consulting the required primary source; keep outcome grading too.</a:t>
            </a:r>
          </a:p>
          <a:p>
            <a:pPr/>
            <a:endParaRPr lang="en-US" dirty="0"/>
          </a:p>
          <a:p>
            <a:pPr/>
            <a:r>
              <a:rPr lang="en-US" dirty="0"/>
              <a:t>Fork near the bad decision. Reconstruct prompts, tools, state and environment immediately before the failure. Change one hypothesis and repeat. In Basis’s illustrated repair, the review tool must accept an explained discrepancy rather than incentivize an invented balancing entry. More prompt emphasis alone may leave that conflict intact.</a:t>
            </a:r>
          </a:p>
          <a:p>
            <a:pPr/>
            <a:endParaRPr lang="en-US" dirty="0"/>
          </a:p>
          <a:p>
            <a:pPr/>
            <a:r>
              <a:rPr lang="en-US" dirty="0"/>
              <a:t>Use simulation as diagnosis. A cheaper simulated subagent can test ideas when a full environment fork is unavailable. Its fidelity is limited, so reproduce promising fixes in the real workflow and run paired regressions. The agent’s explanation of its behavior is a clue to investigate, not proof of the underlying cause.</a:t>
            </a:r>
          </a:p>
          <a:p>
            <a:pPr/>
            <a:endParaRPr lang="en-US" dirty="0"/>
          </a:p>
          <a:p>
            <a:pPr/>
            <a:r>
              <a:rPr lang="en-US" dirty="0"/>
              <a:t>The illustrated accounting agent cannot support a discrepancy, posts an adjustment and reaches zero variance. The desired process explains the discrepancy with evidence. A review tool that refuses every unexplained nonzero balance can create an incentive conflict; change that signal and then verify the repair.</a:t>
            </a:r>
          </a:p>
          <a:p>
            <a:pPr/>
            <a:endParaRPr lang="en-US" dirty="0"/>
          </a:p>
          <a:p>
            <a:pPr/>
            <a:r>
              <a:rPr lang="en-US" dirty="0"/>
              <a:t>The primary source accounts for this page are Basis at https://ai.engineer/nyc/2026/talks/basis; Arize · Aparna Dhinakaran at https://ai.engineer/nyc/2026/talks/arize.</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en-US" dirty="0"/>
              <a:t>Range’s released account turns the five-step process into a maintained operating practice. The skill expresses professional judgment in a form agents can reuse; people remain responsible for its validity and for client-facing recommendations.</a:t>
            </a:r>
          </a:p>
          <a:p>
            <a:pPr/>
            <a:endParaRPr lang="en-US" dirty="0"/>
          </a:p>
          <a:p>
            <a:pPr/>
            <a:r>
              <a:rPr lang="en-US" dirty="0"/>
              <a:t>Pick and teach a whole task. Choose repeated work whose success a professional can recognize. Use prior cases to explain what information matters, how the firm reasons and why a branch exists. A recording of clicks without the reason cannot reliably guide a new or incomplete situation.</a:t>
            </a:r>
          </a:p>
          <a:p>
            <a:pPr/>
            <a:endParaRPr lang="en-US" dirty="0"/>
          </a:p>
          <a:p>
            <a:pPr/>
            <a:r>
              <a:rPr lang="en-US" dirty="0"/>
              <a:t>Pack the boundaries. Include required inputs, clarification questions, exceptions, stopping conditions and the handoff. Test missing facts and conflicting instructions as well as ordinary completion. The speaker’s five-to-ten-case routine starts iteration; it does not demonstrate statistical reliability or replace broader assessment.</a:t>
            </a:r>
          </a:p>
          <a:p>
            <a:pPr/>
            <a:endParaRPr lang="en-US" dirty="0"/>
          </a:p>
          <a:p>
            <a:pPr/>
            <a:r>
              <a:rPr lang="en-US" dirty="0"/>
              <a:t>Ship with maintenance. Assign an owner and a separate reviewer, keep the method current and retest changes. Range’s agent sends nothing and every recommendation is reviewed by a planner. Measure corrected, accepted work before claiming capacity gains; the transcript provides a method rather than a controlled outcome study.</a:t>
            </a:r>
          </a:p>
          <a:p>
            <a:pPr/>
            <a:endParaRPr lang="en-US" dirty="0"/>
          </a:p>
          <a:p>
            <a:pPr/>
            <a:r>
              <a:rPr lang="en-US" dirty="0"/>
              <a:t>The primary source accounts for this page are Range at https://ai.engineer/nyc/2026/talks/range.</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en-US" dirty="0"/>
              <a:t>Coinbase’s framework places bounded draft/check/refine loops inside a forward-moving policy workflow. Drafting, professional judgment and execution authority remain different decisions, even when one interface makes the work feel continuous.</a:t>
            </a:r>
          </a:p>
          <a:p>
            <a:pPr/>
            <a:endParaRPr lang="en-US" dirty="0"/>
          </a:p>
          <a:p>
            <a:pPr/>
            <a:r>
              <a:rPr lang="en-US" dirty="0"/>
              <a:t>Define the stage contract. Specify the allowed inputs, checkable output, iteration budget and human takeover condition. The loop can improve a draft while the outer workflow waits for the required acceptance or approval. Faster generation can shift the bottleneck to review rather than remove it.</a:t>
            </a:r>
          </a:p>
          <a:p>
            <a:pPr/>
            <a:endParaRPr lang="en-US" dirty="0"/>
          </a:p>
          <a:p>
            <a:pPr/>
            <a:r>
              <a:rPr lang="en-US" dirty="0"/>
              <a:t>Keep professional judgment visible. The invented annual packet below subtracts $84k recorded expenses from $120k income: $36k is only an arithmetic difference. It establishes neither disposable capacity nor suitability. Review the facts, gaps, assumptions and conclusions before the work can be considered accepted.</a:t>
            </a:r>
          </a:p>
          <a:p>
            <a:pPr/>
            <a:endParaRPr lang="en-US" dirty="0"/>
          </a:p>
          <a:p>
            <a:pPr/>
            <a:r>
              <a:rPr lang="en-US" dirty="0"/>
              <a:t>Separate review from permission. Range preserves planner review; Perpetual binds approval to an exact payload. Accepting a draft is not permission to send or transact. A separate enforcing boundary checks user, case, resource and action, and retains the approval and outcome evidence.</a:t>
            </a:r>
          </a:p>
          <a:p>
            <a:pPr/>
            <a:endParaRPr lang="en-US" dirty="0"/>
          </a:p>
          <a:p>
            <a:pPr/>
            <a:r>
              <a:rPr lang="en-US" dirty="0"/>
              <a:t>The primary source accounts for this page are Coinbase at https://ai.engineer/nyc/2026/talks/coinbase; Range at https://ai.engineer/nyc/2026/talks/range; Perpetual at https://ai.engineer/nyc/2026/talks/perpetual.</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en-US" dirty="0"/>
              <a:t>Two Sigma’s ownership/access framing and Bloomberg’s execution defenses meet at one point: the model can propose an action, but an enforcing service must decide whether it can happen.</a:t>
            </a:r>
          </a:p>
          <a:p>
            <a:pPr/>
            <a:endParaRPr lang="en-US" dirty="0"/>
          </a:p>
          <a:p>
            <a:pPr/>
            <a:r>
              <a:rPr lang="en-US" dirty="0"/>
              <a:t>Make the agent accountable. Register an owner, purpose, tools and accessible resources. Use short-lived scoped identity and carry the user’s authority through the tool path. A valid credential or schema does not establish that a business action is appropriate for this case.</a:t>
            </a:r>
          </a:p>
          <a:p>
            <a:pPr/>
            <a:endParaRPr lang="en-US" dirty="0"/>
          </a:p>
          <a:p>
            <a:pPr/>
            <a:r>
              <a:rPr lang="en-US" dirty="0"/>
              <a:t>Test the actual boundary. Challenge cross-tenant queries, revoked access, agent-to-agent privilege escalation, retries and budget exhaustion. Bloomberg recommends deterministic invocation checks and egress limits including DNS. Verify that a denied action is blocked and a halt condition stops execution, rather than merely producing an alert.</a:t>
            </a:r>
          </a:p>
          <a:p>
            <a:pPr/>
            <a:endParaRPr lang="en-US" dirty="0"/>
          </a:p>
          <a:p>
            <a:pPr/>
            <a:r>
              <a:rPr lang="en-US" dirty="0"/>
              <a:t>Treat memory as an input surface. A hostile document can try to persist an instruction for a future run. Separate source content from trusted procedure, control memory writes and preserve provenance. Independent approval triage can reduce attention demands only if its errors and enforcement role are understood; it cannot silently waive required approval.</a:t>
            </a:r>
          </a:p>
          <a:p>
            <a:pPr/>
            <a:endParaRPr lang="en-US" dirty="0"/>
          </a:p>
          <a:p>
            <a:pPr/>
            <a:r>
              <a:rPr lang="en-US" dirty="0"/>
              <a:t>The primary source accounts for this page are Two Sigma at https://ai.engineer/nyc/2026/talks/two-sigma; Bloomberg at https://ai.engineer/nyc/2026/talks/bloomberg; Intuit Credit Karma at https://ai.engineer/nyc/2026/talks/credit-karma.</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en-US" dirty="0"/>
              <a:t>Sonar’s three-loop framing becomes useful when each loop has a distinct job. Capital One adds a complementary lesson: standard infrastructure can reduce the cost of engineering rigor instead of leaving verification to a late manual cleanup.</a:t>
            </a:r>
          </a:p>
          <a:p>
            <a:pPr/>
            <a:endParaRPr lang="en-US" dirty="0"/>
          </a:p>
          <a:p>
            <a:pPr/>
            <a:r>
              <a:rPr lang="en-US" dirty="0"/>
              <a:t>Creation: prevent and inspect. Supply intent, constraints, shared test fixtures and fast low-noise checks while work is generated. Keep deterministic checks for properties that can be asserted exactly. Another model’s agreement or a quick approval does not replace independent evidence of correctness.</a:t>
            </a:r>
          </a:p>
          <a:p>
            <a:pPr/>
            <a:endParaRPr lang="en-US" dirty="0"/>
          </a:p>
          <a:p>
            <a:pPr/>
            <a:r>
              <a:rPr lang="en-US" dirty="0"/>
              <a:t>Release: verify the complete change. Test interfaces, permissions, financial invariants and representative regressions. Inspect the current saved artifact after the last edit. Keep the evidence and the decision owner together; a check that can be bypassed or does not halt the relevant action is an incomplete gate.</a:t>
            </a:r>
          </a:p>
          <a:p>
            <a:pPr/>
            <a:endParaRPr lang="en-US" dirty="0"/>
          </a:p>
          <a:p>
            <a:pPr/>
            <a:r>
              <a:rPr lang="en-US" dirty="0"/>
              <a:t>Operation: reproduce and repair. Capture escaped failures, reconstruct their context and verify the repair against other work. The confidence product in Sonar’s talk is conceptual, and its code-size illustration is workload-specific. Neither supplies a calibrated assurance formula or a universal limit on agent-generated software.</a:t>
            </a:r>
          </a:p>
          <a:p>
            <a:pPr/>
            <a:endParaRPr lang="en-US" dirty="0"/>
          </a:p>
          <a:p>
            <a:pPr/>
            <a:r>
              <a:rPr lang="en-US" dirty="0"/>
              <a:t>The primary source accounts for this page are Sonar at https://ai.engineer/nyc/2026/talks/sonar; Capital One at https://ai.engineer/nyc/2026/talks/capital-one.</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en-US" dirty="0"/>
              <a:t>Arca and Perpetual supply complementary mechanisms: persist the shared plan across real-world waits, then constrain the execution transitions and side effects. Long horizon is a workflow property, not simply a larger context window.</a:t>
            </a:r>
          </a:p>
          <a:p>
            <a:pPr/>
            <a:endParaRPr lang="en-US" dirty="0"/>
          </a:p>
          <a:p>
            <a:pPr/>
            <a:r>
              <a:rPr lang="en-US" dirty="0"/>
              <a:t>Persist the handoff. Keep the goal, approved plan, completed work, evidence and next responsible party outside a disposable run. Wake on a client reply, approval, settlement event or deadline. A new invocation should know what happened and what remains, without assuming every prior action failed.</a:t>
            </a:r>
          </a:p>
          <a:p>
            <a:pPr/>
            <a:endParaRPr lang="en-US" dirty="0"/>
          </a:p>
          <a:p>
            <a:pPr/>
            <a:r>
              <a:rPr lang="en-US" dirty="0"/>
              <a:t>Freeze the approved action. Perpetual separates provisional interpretation from a compiled plan and binds approval to the exact outgoing payload. Clarification or refusal can be correct outcomes. Changes to a client reply must not silently rewrite the approved parent plan or inherit permission for a different action.</a:t>
            </a:r>
          </a:p>
          <a:p>
            <a:pPr/>
            <a:endParaRPr lang="en-US" dirty="0"/>
          </a:p>
          <a:p>
            <a:pPr/>
            <a:r>
              <a:rPr lang="en-US" dirty="0"/>
              <a:t>Distinguish unknown from failed. A timeout after an external write can leave the outcome unknown. Blind retries can duplicate an action. Route uncertainty to reconciliation or manual review; test interruptions around the side-effect boundary. Vanguard’s separate modernization story reinforces invariants and observability, not unconstrained autonomy.</a:t>
            </a:r>
          </a:p>
          <a:p>
            <a:pPr/>
            <a:endParaRPr lang="en-US" dirty="0"/>
          </a:p>
          <a:p>
            <a:pPr/>
            <a:r>
              <a:rPr lang="en-US" dirty="0"/>
              <a:t>The primary source accounts for this page are Arca at https://ai.engineer/nyc/2026/talks/arca; Perpetual at https://ai.engineer/nyc/2026/talks/perpetual; Vanguard at https://www.youtube.com/watch?v=uA4ah-dVHvU.</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en-US" dirty="0"/>
              <a:t>Arize’s released Signal account adds a concrete lifecycle: temporary sandboxes work with trace context and bounded access, while issue history and useful progress live outside the execution environment.</a:t>
            </a:r>
          </a:p>
          <a:p>
            <a:pPr/>
            <a:endParaRPr lang="en-US" dirty="0"/>
          </a:p>
          <a:p>
            <a:pPr/>
            <a:r>
              <a:rPr lang="en-US" dirty="0"/>
              <a:t>Instrument enough to reconstruct. Retain the request, inputs, permissions, tools, result, evaluator and relevant versions. Distinguish a run summary from the ordered trajectory. Trace agents modifying the system as well as deployed agents, so a proposed repair has evidence rather than only a confident explanation.</a:t>
            </a:r>
          </a:p>
          <a:p>
            <a:pPr/>
            <a:endParaRPr lang="en-US" dirty="0"/>
          </a:p>
          <a:p>
            <a:pPr/>
            <a:r>
              <a:rPr lang="en-US" dirty="0"/>
              <a:t>Separate progress from access. Issue history, useful skills and telemetry can survive a sandbox failure; temporary credentials and repository access should not survive by default. A replacement run resumes from durable state under newly checked authority. Persistence of knowledge does not imply persistence of permission.</a:t>
            </a:r>
          </a:p>
          <a:p>
            <a:pPr/>
            <a:endParaRPr lang="en-US" dirty="0"/>
          </a:p>
          <a:p>
            <a:pPr/>
            <a:r>
              <a:rPr lang="en-US" dirty="0"/>
              <a:t>Prove the change. Calibrate evaluators against human-labeled cases, replay a failure and inspect paired regressions. Proposed fixes or PRs remain proposals until accountable review permits release. Prime Intellect’s learning progression makes corrections an asset before pursuing routing or training optimizations.</a:t>
            </a:r>
          </a:p>
          <a:p>
            <a:pPr/>
            <a:endParaRPr lang="en-US" dirty="0"/>
          </a:p>
          <a:p>
            <a:pPr/>
            <a:r>
              <a:rPr lang="en-US" dirty="0"/>
              <a:t>The primary source accounts for this page are Arize · Aparna Dhinakaran at https://ai.engineer/nyc/2026/talks/arize; Prime Intellect at https://ai.engineer/nyc/2026/talks/prime-intellect.</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en-US" dirty="0"/>
              <a:t>As code becomes easier to produce, the scarce skill shifts toward understanding the job and defining acceptable work. Domain knowledge, system observability and evaluation must connect in the same engineering practice.</a:t>
            </a:r>
          </a:p>
          <a:p>
            <a:pPr/>
            <a:endParaRPr lang="en-US" dirty="0"/>
          </a:p>
          <a:p>
            <a:pPr/>
            <a:r>
              <a:rPr lang="en-US" dirty="0"/>
              <a:t>Discover the real constraint. Laurie Voss’s product-engineer argument follows the bottleneck from code creation to review, operations and security. Observe what users actually do, which handoffs cost time and what they trust. A polished feature can still miss the task or move effort onto another team.</a:t>
            </a:r>
          </a:p>
          <a:p>
            <a:pPr/>
            <a:endParaRPr lang="en-US" dirty="0"/>
          </a:p>
          <a:p>
            <a:pPr/>
            <a:r>
              <a:rPr lang="en-US" dirty="0"/>
              <a:t>Preserve business meaning. Southbridge’s examples show row counts surviving while dates, signs or categories become wrong. Learn the entity, grain, period, units and source conventions well enough to challenge a plausible answer. Multiple model agreements can preserve the same incorrect assumption.</a:t>
            </a:r>
          </a:p>
          <a:p>
            <a:pPr/>
            <a:endParaRPr lang="en-US" dirty="0"/>
          </a:p>
          <a:p>
            <a:pPr/>
            <a:r>
              <a:rPr lang="en-US" dirty="0"/>
              <a:t>Make expertise reproducible. Convert professional corrections into task definitions, cases, skills and explicit acceptance evidence. Monzo’s described gateway, sandbox and familiar Slack entry point show the surrounding product work. Task volume and merged PR counts indicate use, while quality and reviewer effort still require separate measurement.</a:t>
            </a:r>
          </a:p>
          <a:p>
            <a:pPr/>
            <a:endParaRPr lang="en-US" dirty="0"/>
          </a:p>
          <a:p>
            <a:pPr/>
            <a:r>
              <a:rPr lang="en-US" dirty="0"/>
              <a:t>The primary source accounts for this page are Arize · Laurie Voss at https://www.youtube.com/watch?v=kspZP5BgkEU; Southbridge at https://ai.engineer/nyc/2026/talks/southbridge; Monzo at https://www.youtube.com/watch?v=adfw3xJBx1o.</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en-US" dirty="0"/>
              <a:t>Capital One’s disposability argument considers failure consequences, replacement cost, dependencies and maintenance burden. A short expected lifespan does not make a consequential failure harmless.</a:t>
            </a:r>
          </a:p>
          <a:p>
            <a:pPr/>
            <a:endParaRPr lang="en-US" dirty="0"/>
          </a:p>
          <a:p>
            <a:pPr/>
            <a:r>
              <a:rPr lang="en-US" dirty="0"/>
              <a:t>Reassess as the tool grows. A one-use helper can become a shared process with downstream dependents. Revisit who relies on it, which failures matter and how recovery works. Isolation and limited scope can reduce exposure, but a label such as prototype or temporary is not an enforcing control.</a:t>
            </a:r>
          </a:p>
          <a:p>
            <a:pPr/>
            <a:endParaRPr lang="en-US" dirty="0"/>
          </a:p>
          <a:p>
            <a:pPr/>
            <a:r>
              <a:rPr lang="en-US" dirty="0"/>
              <a:t>Invest in the cheap safe path. Provide standard choices, test fixtures/fakes and quick low-noise feedback. Make it easier to create a complete working slice with checks than to postpone them. Shared verification infrastructure compounds across tasks and allows practitioners to focus on the remaining judgment.</a:t>
            </a:r>
          </a:p>
          <a:p>
            <a:pPr/>
            <a:endParaRPr lang="en-US" dirty="0"/>
          </a:p>
          <a:p>
            <a:pPr/>
            <a:r>
              <a:rPr lang="en-US" dirty="0"/>
              <a:t>Apply the same standard to artifacts. For a report or presentation, acceptance includes the current saved output, its evidence and readability. For a financial action, it includes authorization and recovery. Match the check to the actual consequence; neither code generation speed nor another agent’s confidence resolves that decision.</a:t>
            </a:r>
          </a:p>
          <a:p>
            <a:pPr/>
            <a:endParaRPr lang="en-US" dirty="0"/>
          </a:p>
          <a:p>
            <a:pPr/>
            <a:r>
              <a:rPr lang="en-US" dirty="0"/>
              <a:t>The primary source accounts for this page are Capital One at https://ai.engineer/nyc/2026/talks/capital-one; Sonar at https://ai.engineer/nyc/2026/talks/sonar.</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en-US" dirty="0"/>
              <a:t>A useful learning project produces an accepted work product and evidence about one improvement. Use a realistic task, one consequential failure mode and a controlled change, then explain why the repair earned its place.</a:t>
            </a:r>
          </a:p>
          <a:p>
            <a:pPr/>
            <a:endParaRPr lang="en-US" dirty="0"/>
          </a:p>
          <a:p>
            <a:pPr/>
            <a:r>
              <a:rPr lang="en-US" dirty="0"/>
              <a:t>Build a reviewable baseline. Interview a practitioner and choose a historical task with known accepted work. Preserve its input snapshot and permitted tools. Write exact checks, a short expert rubric and one critical behavior expectation before measuring the candidate.</a:t>
            </a:r>
          </a:p>
          <a:p>
            <a:pPr/>
            <a:endParaRPr lang="en-US" dirty="0"/>
          </a:p>
          <a:p>
            <a:pPr/>
            <a:r>
              <a:rPr lang="en-US" dirty="0"/>
              <a:t>Vary one hypothesis. Try a skill ablation, a narrower context or a repaired tool incentive. Add an answer-first missing-evidence case and a next-period memory case. Repeat when stochastic variation matters, keep held-out assessment and inspect regressions as well as the average.</a:t>
            </a:r>
          </a:p>
          <a:p>
            <a:pPr/>
            <a:endParaRPr lang="en-US" dirty="0"/>
          </a:p>
          <a:p>
            <a:pPr/>
            <a:r>
              <a:rPr lang="en-US" dirty="0"/>
              <a:t>Publish the learning packet. Retain the trace, baseline/candidate results, important disagreement, total review effort and the current artifact. State what improved, what failed and what remains uncertain. This develops product judgment, debugging and evaluation together; it is an optional learning exercise rather than a project commitment.</a:t>
            </a:r>
          </a:p>
          <a:p>
            <a:pPr/>
            <a:endParaRPr lang="en-US" dirty="0"/>
          </a:p>
          <a:p>
            <a:pPr/>
            <a:r>
              <a:rPr lang="en-US" dirty="0"/>
              <a:t>The primary source accounts for this page are Basis at https://ai.engineer/nyc/2026/talks/basis; Ramp · Ryan Stevens written follow-up at https://dev.to/dailycontext/building-better-agents-through-end-to-end-evals-pgh; Air Canada · Nathanael Weill at https://www.youtube.com/watch?v=c_SPW__jF9w; Capital One at https://ai.engineer/nyc/2026/talks/capital-one.</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en-US" dirty="0"/>
              <a:t>The released cases converge on a practical operating discipline: prepare valuable work, make its evidence inspectable, and give changes and actions explicit decision boundaries. Models improve; these responsibilities remain.</a:t>
            </a:r>
          </a:p>
          <a:p>
            <a:pPr/>
            <a:endParaRPr lang="en-US" dirty="0"/>
          </a:p>
          <a:p>
            <a:pPr/>
            <a:r>
              <a:rPr lang="en-US" dirty="0"/>
              <a:t>Agree what completed work means. Name the practitioner, accepted work product and critical limits. Compare quality, coverage and total human effort against a credible baseline. Preparation time, tool volume and rollout scope answer useful but different questions from financial impact.</a:t>
            </a:r>
          </a:p>
          <a:p>
            <a:pPr/>
            <a:endParaRPr lang="en-US" dirty="0"/>
          </a:p>
          <a:p>
            <a:pPr/>
            <a:r>
              <a:rPr lang="en-US" dirty="0"/>
              <a:t>Preserve the evidence chain. Carry entity, meaning, period, source version, access and calculation through the final artifact. Give memory a correction and aging policy. Keep professional review and permission to act as separate events, with durable workflow state between them.</a:t>
            </a:r>
          </a:p>
          <a:p>
            <a:pPr/>
            <a:endParaRPr lang="en-US" dirty="0"/>
          </a:p>
          <a:p>
            <a:pPr/>
            <a:r>
              <a:rPr lang="en-US" dirty="0"/>
              <a:t>Make the next change a test. Choose one failure mechanism and a bounded comparison. Score final output, consequential behavior and authority; inspect paired regressions. Preserve the case and correction so improvement becomes a team asset rather than a lesson one person must rediscover.</a:t>
            </a:r>
          </a:p>
          <a:p>
            <a:pPr/>
            <a:endParaRPr lang="en-US" dirty="0"/>
          </a:p>
          <a:p>
            <a:pPr/>
            <a:r>
              <a:rPr lang="en-US" dirty="0"/>
              <a:t>The primary source accounts for this page are Range at https://ai.engineer/nyc/2026/talks/range; Kepler · October 14 follow-up at https://ai.engineer/nyc/2026/talks/kepler-14; Basis at https://ai.engineer/nyc/2026/talks/basis; Blackstone / Norm.ai at https://ai.engineer/nyc/2026/talks/blackstone-norm; Citadel Securities at https://ai.engineer/nyc/2026/talks/citadel.</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en-US" dirty="0"/>
              <a:t>Use discussion to identify a concrete workflow and an uncertainty that matters. First ask whose accepted work improves and whether faster generation actually saves total effort after review. Next name an unsupported fact, wrong period, unauthorized action or bypassed denial that could escape ordinary review. Correct refusal is a control success, and the judge or reviewer also needs testing. Finally agree which baseline, output checks, cost records or missing prerequisite could change the decision. Record one candidate experiment and one unresolved evidence question. A useful discussion can conclude that prerequisites are missing or that the team should not proceed. Avoid turning the conversation into a tool preference debate or forcing consensus and an immediate commitment.</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en-US" dirty="0"/>
              <a:t>This shared contract connects responsibilities that are often evaluated separately. Task specifies the user, accepted work, baseline and acceptance decision. Evidence keeps entity, period, units, source version, cutoff and access reproducible. Authority distinguishes resources, proposals, approvals and execution. Evaluation names cases, rubric, blockers and calibrated judges. Operation preserves versions, traces, accountable ownership and stop or rollback conditions. The inspection questions make compliance observable: can someone recognize completion, reproduce a claim, challenge a denial boundary, detect a severe false pass, diagnose a failure and verify a repair? Retain disagreement and accepted limits. A new source, user group, tool or permission can change exposure without a prompt change, so reassess when uncertainty could alter the decision. The checklist is a proposed synthesis.</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en-US" dirty="0"/>
              <a:t>Thirty-seven later-source briefs add practitioner mechanisms to the original company research. Compare the work, the professional’s role and the evidence—not a league table of AI maturity.</a:t>
            </a:r>
          </a:p>
          <a:p>
            <a:pPr/>
            <a:endParaRPr lang="en-US" dirty="0"/>
          </a:p>
          <a:p>
            <a:pPr/>
            <a:r>
              <a:rPr lang="en-US" dirty="0"/>
              <a:t>Compare like work with like. Direct wealth accounts now include Range’s expert skills, Arca’s event-driven work and Perpetual’s compiled plans. Apollo/Redding Ridge adds source reconciliation and QA. These stories explain operating mechanisms while preserving the professional decision and the scope of each example.</a:t>
            </a:r>
          </a:p>
          <a:p>
            <a:pPr/>
            <a:endParaRPr lang="en-US" dirty="0"/>
          </a:p>
          <a:p>
            <a:pPr/>
            <a:r>
              <a:rPr lang="en-US" dirty="0"/>
              <a:t>Distinguish mechanism from effectiveness. A detailed architecture explains how a system is intended to operate. Production use shows operational adoption. Neither alone establishes quality, net time saved or causal business impact. Ask what baseline, task mix and human effort would support the stronger claim.</a:t>
            </a:r>
          </a:p>
          <a:p>
            <a:pPr/>
            <a:endParaRPr lang="en-US" dirty="0"/>
          </a:p>
          <a:p>
            <a:pPr/>
            <a:r>
              <a:rPr lang="en-US" dirty="0"/>
              <a:t>Use the atlas for follow-up. The full reading-mode atlas retains 25 firm perspectives, source links and case limits. Use it to find a relevant peer pattern, then investigate the missing implementation detail or measurement. A company affiliation alone does not establish deployment of every discussed technique.</a:t>
            </a:r>
          </a:p>
          <a:p>
            <a:pPr/>
            <a:endParaRPr lang="en-US" dirty="0"/>
          </a:p>
          <a:p>
            <a:pPr/>
            <a:r>
              <a:rPr lang="en-US" dirty="0"/>
              <a:t>The selected map connects Bridgewater, Kepler and Citadel Securities with time-scoped evidence, fact resolution and changing beliefs. Range, Arca, Perpetual and Apollo connect expert methods with handoffs, compiled plans and QA. Basis, Ramp and Vals supply behavior checks, roll-forward worlds and accepted-work evaluation. Two Sigma, Bloomberg and Credit Karma connect identity, scope, runtime controls and recoverable state. Arize, Sonar, Capital One and Monzo connect durable learning, shared verification and supported delivery. The reading edition contains thirty-seven later-source briefs; these examples are not a firm ranking.</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en-US" dirty="0"/>
              <a:t>The illustrative evaluation schema links the draft-review-packet task, approved input snapshot, accepted output, critical unauthorized-access and unsupported-number failures, case slices, evaluator, baseline comparison and accountable owner. It is a compact discussion specification rather than a runnable framework. Define output and action limits and when to clarify or abstain; correctly refusing access can succeed while unauthorized access fails. Version the evaluator’s model, prompt, rubric and threshold as well as the agent, because reported quality can move without a system change. Recalibrate important decisions on reviewed cases when the evaluator or users change. Model selection, reducing human review and expanding execution authority require different evidence. Finite tests support a scoped judgment with known limits, not proof of zero failure.</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en-US" dirty="0"/>
              <a:t>The synthetic AsterCo contract preserves a growth ratio rather than a floating number. It identifies the entity, annual-revenue-growth metric, fiscal twenty twenty-five period, ratio unit, value of zero point two, hundred and hundred-twenty inputs in millions of US dollars, March first cutoff and calculation. A revenue value of one hundred twenty million and a growth value of twenty percent have different meanings and units. Retain document, passage, version and available-as-of identity for each input; publication, reporting period and access answer different questions. When an input is superseded, update dependent claims, tables and charts while preserving earlier values and reasons. Check that export keeps units, periods and links. These exact fields are proposed requirements, not verified Kepler or Bridgewater coverage, and all AsterCo data is invented.</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en-US" dirty="0"/>
              <a:t>Pass-at-k asks a benchmark question: did at least one of k sampled candidates meet the specified test, summarized over tasks? State the workload, test and attempt budget. Ground-truth recognition can behave like an oracle and does not demonstrate that the first candidate succeeds or the operational selector finds the usable one. Run the actual verifier, ranker or human-review process and measure chosen-output acceptance, missed defects, rejected useful candidates and first-attempt behavior while enforcing critical conditions. Include all candidates, tool calls, verification, review and latency when comparing budgets. More attempts can create opportunity while increasing cost and exposure. Keep partial-credit task quality, pass-at-k and selected-output reliability distinct. Chen and colleagues supply this metric and selection distinction, not a finance performance result or a general retry policy.</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en-US" dirty="0"/>
              <a:t>Use acceptance rate and full cost per accepted task together. Acceptance rate divides accepted outputs by eligible assigned tasks and shows rejected, excluded and abandoned outcomes. Unit cost divides total workflow cost, including failed attempts, verification, retries, review and rework, by accepted tasks. Capacity compares accepted work per professional effort or time at equivalent quality and task mix, including preparation, correction, evidence checking, approval and follow-up. Business impact needs an additional credible alternative and attention to selection and other drivers; faster accepted work is a process result rather than automatically causal revenue or investment return. Contour’s roughly three-month tracking account lacks captured sample, assignment, controls and causal estimates. It motivates the comparison but does not define a universal validation window or a verified benefit.</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en-US" dirty="0"/>
              <a:t>Later sources replace several early ambiguities with concrete methods. Keep similarly named talks and different evidence classes separate, and identify the exact test needed for any stronger claim.</a:t>
            </a:r>
          </a:p>
          <a:p>
            <a:pPr/>
            <a:endParaRPr lang="en-US" dirty="0"/>
          </a:p>
          <a:p>
            <a:pPr/>
            <a:r>
              <a:rPr lang="en-US" dirty="0"/>
              <a:t>Clarifications worth keeping. Bridgewater supplies a precision@10 account and the proactive direction; Range supplies owner/reviewer responsibilities; Kepler retains final verification. Vanguard’s time claim concerns legacy-code research. These clarifications improve the teaching without proving business outcomes.</a:t>
            </a:r>
          </a:p>
          <a:p>
            <a:pPr/>
            <a:endParaRPr lang="en-US" dirty="0"/>
          </a:p>
          <a:p>
            <a:pPr/>
            <a:r>
              <a:rPr lang="en-US" dirty="0"/>
              <a:t>Editions are not interchangeable. Ryan Stevens’s eval article differs from Alexander Shevchenko’s Ramp keynote. Kepler’s breakout differs from its next-day follow-up. Range’s online index label differs from its attendance placement. Preserve the identity and date of the evidence used.</a:t>
            </a:r>
          </a:p>
          <a:p>
            <a:pPr/>
            <a:endParaRPr lang="en-US" dirty="0"/>
          </a:p>
          <a:p>
            <a:pPr/>
            <a:r>
              <a:rPr lang="en-US" dirty="0"/>
              <a:t>Ask a bounded follow-up. Banking affiliation and terminology, exact retrieval defaults, provider spelling and several result denominators remain open. Ask for the source, workload, population and comparison needed to resolve the claim. Do not manufacture a threshold or calibrated risk formula.</a:t>
            </a:r>
          </a:p>
          <a:p>
            <a:pPr/>
            <a:endParaRPr lang="en-US" dirty="0"/>
          </a:p>
          <a:p>
            <a:pPr/>
            <a:r>
              <a:rPr lang="en-US" dirty="0"/>
              <a:t>The recording review clarifies Bridgewater precision at ten and proactive participation, Range skill ownership and separate review, Kepler final post-processing, and Vanguard mainframe-code research. Keep the two Ramp sessions and two Kepler editions distinct. Range’s online index label and attendance date remain separately recorded. Banking affiliation and terminology, provider spelling, exact retrieval defaults and several result denominators remain unresolved.</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en-US" dirty="0"/>
              <a:t>The review screened ninety channel uploads and inspected fifty official video descriptions, alongside selected transcripts from the organizer’s fifty-two-session archive. Links on this page lead to primary source accounts. A description does not establish an unobserved demonstration, and a speaker report is not independent result validation. Original attendee notes, historical firm disclosures, the metric paper and proposed teaching examples retain their separate boundaries.</a:t>
            </a:r>
          </a:p>
          <a:p>
            <a:pPr/>
            <a:endParaRPr lang="en-US" dirty="0"/>
          </a:p>
          <a:p>
            <a:pPr/>
            <a:r>
              <a:rPr lang="en-US" dirty="0"/>
              <a:t>Proving Alpha: Showcasing AI's Value in Fundamental Investing is available at https://ai.engineer/nyc/2026/schedule?session=ae273f0b-db0f-4638-8ae3-05874bebf9ca.</a:t>
            </a:r>
          </a:p>
          <a:p>
            <a:pPr/>
            <a:endParaRPr lang="en-US" dirty="0"/>
          </a:p>
          <a:p>
            <a:pPr/>
            <a:r>
              <a:rPr lang="en-US" dirty="0"/>
              <a:t>We Let Our Financial Planners Write the Agents is available at https://ai.engineer/nyc/2026/schedule?session=9b002687-09cf-42e2-9282-532ed9d0c184.</a:t>
            </a:r>
          </a:p>
          <a:p>
            <a:pPr/>
            <a:endParaRPr lang="en-US" dirty="0"/>
          </a:p>
          <a:p>
            <a:pPr/>
            <a:r>
              <a:rPr lang="en-US" dirty="0"/>
              <a:t>Building the Next Chapter of AI in Finance is available at https://ai.engineer/nyc/2026/schedule?session=02f94835-c29d-4cf5-b77a-c5a491b747b8.</a:t>
            </a:r>
          </a:p>
          <a:p>
            <a:pPr/>
            <a:endParaRPr lang="en-US" dirty="0"/>
          </a:p>
          <a:p>
            <a:pPr/>
            <a:r>
              <a:rPr lang="en-US" dirty="0"/>
              <a:t>Coatue · A Hedge Fund as a Function is available at https://ai.engineer/nyc/2026/talks/coatue.</a:t>
            </a:r>
          </a:p>
          <a:p>
            <a:pPr/>
            <a:endParaRPr lang="en-US" dirty="0"/>
          </a:p>
          <a:p>
            <a:pPr/>
            <a:r>
              <a:rPr lang="en-US" dirty="0"/>
              <a:t>Apollo / Redding Ridge / Rowspace · AI in Practice: An Inside Look at Apollo's Approach is available at https://ai.engineer/nyc/2026/talks/apollo-rowspace.</a:t>
            </a:r>
          </a:p>
          <a:p>
            <a:pPr/>
            <a:endParaRPr lang="en-US" dirty="0"/>
          </a:p>
          <a:p>
            <a:pPr/>
            <a:r>
              <a:rPr lang="en-US" dirty="0"/>
              <a:t>Range · We Let Our Financial Planners Write the Agents is available at https://ai.engineer/nyc/2026/talks/range.</a:t>
            </a:r>
          </a:p>
          <a:p>
            <a:pPr/>
            <a:endParaRPr lang="en-US" dirty="0"/>
          </a:p>
          <a:p>
            <a:pPr/>
            <a:r>
              <a:rPr lang="en-US" dirty="0"/>
              <a:t>Vault: Making Unstructured Data Work for Investing is available at https://ai.engineer/nyc/2026/schedule?session=a84ca3a8-cc2f-4b50-a635-fc380f6f04f6.</a:t>
            </a:r>
          </a:p>
          <a:p>
            <a:pPr/>
            <a:endParaRPr lang="en-US" dirty="0"/>
          </a:p>
          <a:p>
            <a:pPr/>
            <a:r>
              <a:rPr lang="en-US" dirty="0"/>
              <a:t>Balancing Acceleration and Safety for AI Agents is available at https://ai.engineer/nyc/2026/schedule?session=73badd10-6f8c-4c95-b5e7-55fc3d7bafc1.</a:t>
            </a:r>
          </a:p>
          <a:p>
            <a:pPr/>
            <a:endParaRPr lang="en-US" dirty="0"/>
          </a:p>
          <a:p>
            <a:pPr/>
            <a:r>
              <a:rPr lang="en-US" dirty="0"/>
              <a:t>Compound value from building Monzo’s in-house agent using LLMs* is available at https://ai.engineer/nyc/2026/schedule?session=58fe4b11-571e-4afd-bd89-8ad63e6cfe11.</a:t>
            </a:r>
          </a:p>
          <a:p>
            <a:pPr/>
            <a:endParaRPr lang="en-US" dirty="0"/>
          </a:p>
          <a:p>
            <a:pPr/>
            <a:r>
              <a:rPr lang="en-US" dirty="0"/>
              <a:t>Scaling AI with P&amp;L on the line is available at https://ai.engineer/nyc/2026/schedule?session=272a7ef0-4b78-41a3-813d-a67361fcd2d3.</a:t>
            </a:r>
          </a:p>
          <a:p>
            <a:pPr/>
            <a:endParaRPr lang="en-US" dirty="0"/>
          </a:p>
          <a:p>
            <a:pPr/>
            <a:r>
              <a:rPr lang="en-US" dirty="0"/>
              <a:t>Bridgewater · Vault: Making Unstructured Data Work for Investing is available at https://ai.engineer/nyc/2026/talks/bridgewater.</a:t>
            </a:r>
          </a:p>
          <a:p>
            <a:pPr/>
            <a:endParaRPr lang="en-US" dirty="0"/>
          </a:p>
          <a:p>
            <a:pPr/>
            <a:r>
              <a:rPr lang="en-US" dirty="0"/>
              <a:t>Wells Fargo · Wells Fargo Foundation Model: Application to Fraud Detection at Scale is available at https://ai.engineer/nyc/2026/talks/wells-fargo.</a:t>
            </a:r>
          </a:p>
          <a:p>
            <a:pPr/>
            <a:endParaRPr lang="en-US" dirty="0"/>
          </a:p>
          <a:p>
            <a:pPr/>
            <a:r>
              <a:rPr lang="en-US" dirty="0"/>
              <a:t>Blackstone / Norm.ai · Built to Scale: Future-Proofing Your Technology Roadmap is available at https://ai.engineer/nyc/2026/talks/blackstone-norm.</a:t>
            </a:r>
          </a:p>
          <a:p>
            <a:pPr/>
            <a:endParaRPr lang="en-US" dirty="0"/>
          </a:p>
          <a:p>
            <a:pPr/>
            <a:r>
              <a:rPr lang="en-US" dirty="0"/>
              <a:t>Morgan Stanley Wealth Management · Debrief launch is available at https://www.morganstanley.com/press-releases/ai-at-morgan-stanley-debrief-launch.</a:t>
            </a:r>
          </a:p>
          <a:p>
            <a:pPr/>
            <a:endParaRPr lang="en-US" dirty="0"/>
          </a:p>
          <a:p>
            <a:pPr/>
            <a:r>
              <a:rPr lang="en-US" dirty="0"/>
              <a:t>UBS · fourth-quarter/full-year 2024 results is available at https://www.ubs.com/global/en/media/display-page-ndp/en-20250204-4q24-quarterly-result.html.</a:t>
            </a:r>
          </a:p>
          <a:p>
            <a:pPr/>
            <a:endParaRPr lang="en-US" dirty="0"/>
          </a:p>
          <a:p>
            <a:pPr/>
            <a:r>
              <a:rPr lang="en-US" dirty="0"/>
              <a:t>RBC · 2025 Investor Day presentation is available at https://www.rbc.com/investor-relations/_assets-custom/pdf/investorday2025_presentation.pdf#page=95.</a:t>
            </a:r>
          </a:p>
          <a:p>
            <a:pPr/>
            <a:endParaRPr lang="en-US" dirty="0"/>
          </a:p>
          <a:p>
            <a:pPr/>
            <a:r>
              <a:rPr lang="en-US" dirty="0"/>
              <a:t>RBC · 2025 Investor Day transcript is available at https://www.rbc.com/investor-relations/_assets-custom/pdf/investorday2025_transcript.pdf#page=20.</a:t>
            </a:r>
          </a:p>
          <a:p>
            <a:pPr/>
            <a:endParaRPr lang="en-US" dirty="0"/>
          </a:p>
          <a:p>
            <a:pPr/>
            <a:r>
              <a:rPr lang="en-US" dirty="0"/>
              <a:t>Arca · Inside Arca’s long-horizon agents that run the business is available at https://ai.engineer/nyc/2026/talks/arca.</a:t>
            </a:r>
          </a:p>
          <a:p>
            <a:pPr/>
            <a:endParaRPr lang="en-US" dirty="0"/>
          </a:p>
          <a:p>
            <a:pPr/>
            <a:r>
              <a:rPr lang="en-US" dirty="0"/>
              <a:t>Perpetual · Building Reliable, yet Smart Workflows for Finance, Wealth and Insurance is available at https://ai.engineer/nyc/2026/talks/perpetual.</a:t>
            </a:r>
          </a:p>
          <a:p>
            <a:pPr/>
            <a:endParaRPr lang="en-US" dirty="0"/>
          </a:p>
          <a:p>
            <a:pPr/>
            <a:r>
              <a:rPr lang="en-US" dirty="0"/>
              <a:t>Contour Asset Management · Proving Alpha: How a Hedge Fund Measures AI's ROI - Hari Kumar, Contour Asset Management is available at https://www.youtube.com/watch?v=ZMZlAn6Pyfg.</a:t>
            </a:r>
          </a:p>
          <a:p>
            <a:pPr/>
            <a:endParaRPr lang="en-US" dirty="0"/>
          </a:p>
          <a:p>
            <a:pPr/>
            <a:r>
              <a:rPr lang="en-US" dirty="0"/>
              <a:t>Jellyfish · Tokens Are the Cheap Part is available at https://ai.engineer/nyc/2026/talks/jellyfish.</a:t>
            </a:r>
          </a:p>
          <a:p>
            <a:pPr/>
            <a:endParaRPr lang="en-US" dirty="0"/>
          </a:p>
          <a:p>
            <a:pPr/>
            <a:r>
              <a:rPr lang="en-US" dirty="0"/>
              <a:t>Intuit Credit Karma · Paving the Road to Production: Governed Enterprise AI Agents is available at https://ai.engineer/nyc/2026/talks/credit-karma.</a:t>
            </a:r>
          </a:p>
          <a:p>
            <a:pPr/>
            <a:endParaRPr lang="en-US" dirty="0"/>
          </a:p>
          <a:p>
            <a:pPr/>
            <a:r>
              <a:rPr lang="en-US" dirty="0"/>
              <a:t>Ramp · Alexander Shevchenko keynote · Chasing capabilities while waiting for the frontier is available at https://ai.engineer/nyc/2026/talks/ramp.</a:t>
            </a:r>
          </a:p>
          <a:p>
            <a:pPr/>
            <a:endParaRPr lang="en-US" dirty="0"/>
          </a:p>
          <a:p>
            <a:pPr/>
            <a:r>
              <a:rPr lang="en-US" dirty="0"/>
              <a:t>Can Your AI Analyst Keep a Secret? is available at https://ai.engineer/nyc/2026/schedule?session=88f71c9f-f0a9-4f42-96c0-0e1492bad1c2.</a:t>
            </a:r>
          </a:p>
          <a:p>
            <a:pPr/>
            <a:endParaRPr lang="en-US" dirty="0"/>
          </a:p>
          <a:p>
            <a:pPr/>
            <a:r>
              <a:rPr lang="en-US" dirty="0"/>
              <a:t>Do Not Let Models Invent Numbers is available at https://ai.engineer/nyc/2026/schedule?session=2d29f925-f16b-41b3-8086-de0524829cbe.</a:t>
            </a:r>
          </a:p>
          <a:p>
            <a:pPr/>
            <a:endParaRPr lang="en-US" dirty="0"/>
          </a:p>
          <a:p>
            <a:pPr/>
            <a:r>
              <a:rPr lang="en-US" dirty="0"/>
              <a:t>Citadel Securities · Your Company Has No Model of Itself: Bootstrapping a World Model from Slack, Decks and Meetings is available at https://ai.engineer/nyc/2026/talks/citadel.</a:t>
            </a:r>
          </a:p>
          <a:p>
            <a:pPr/>
            <a:endParaRPr lang="en-US" dirty="0"/>
          </a:p>
          <a:p>
            <a:pPr/>
            <a:r>
              <a:rPr lang="en-US" dirty="0"/>
              <a:t>Kepler · October 14 follow-up · Why Wall Street Still Doesn’t Trust AI is available at https://ai.engineer/nyc/2026/talks/kepler-14.</a:t>
            </a:r>
          </a:p>
          <a:p>
            <a:pPr/>
            <a:endParaRPr lang="en-US" dirty="0"/>
          </a:p>
          <a:p>
            <a:pPr/>
            <a:r>
              <a:rPr lang="en-US" dirty="0"/>
              <a:t>Kepler · attended breakout release · Do Not Let Models Invent Numbers - Vinoo Ganesh, Kepler is available at https://www.youtube.com/watch?v=dZgA6btnb_s.</a:t>
            </a:r>
          </a:p>
          <a:p>
            <a:pPr/>
            <a:endParaRPr lang="en-US" dirty="0"/>
          </a:p>
          <a:p>
            <a:pPr/>
            <a:r>
              <a:rPr lang="en-US" dirty="0"/>
              <a:t>OpenAI · Building the Next Chapter of AI in Finance is available at https://ai.engineer/nyc/2026/talks/openai.</a:t>
            </a:r>
          </a:p>
          <a:p>
            <a:pPr/>
            <a:endParaRPr lang="en-US" dirty="0"/>
          </a:p>
          <a:p>
            <a:pPr/>
            <a:r>
              <a:rPr lang="en-US" dirty="0"/>
              <a:t>Compound AI · Towards Autonomous Analysts in Finance is available at https://ai.engineer/nyc/2026/talks/compound.</a:t>
            </a:r>
          </a:p>
          <a:p>
            <a:pPr/>
            <a:endParaRPr lang="en-US" dirty="0"/>
          </a:p>
          <a:p>
            <a:pPr/>
            <a:r>
              <a:rPr lang="en-US" dirty="0"/>
              <a:t>Building Better Agents Through End-to-End Evals is available at https://ai.engineer/nyc/2026/schedule?session=4607dbbe-8f94-4b0e-91ce-257d1cfb5448.</a:t>
            </a:r>
          </a:p>
          <a:p>
            <a:pPr/>
            <a:endParaRPr lang="en-US" dirty="0"/>
          </a:p>
          <a:p>
            <a:pPr/>
            <a:r>
              <a:rPr lang="en-US" dirty="0"/>
              <a:t>1,368 AI Failures: What They Teach Us About System Evals is available at https://ai.engineer/nyc/2026/schedule?session=9d72d7ac-a2a2-42cf-b880-5859316d840c.</a:t>
            </a:r>
          </a:p>
          <a:p>
            <a:pPr/>
            <a:endParaRPr lang="en-US" dirty="0"/>
          </a:p>
          <a:p>
            <a:pPr/>
            <a:r>
              <a:rPr lang="en-US" dirty="0"/>
              <a:t>From Agent Prototype to Production in Regulated Banking is available at https://ai.engineer/nyc/2026/schedule?session=e4ca10c6-c8b4-427b-a337-8d2a28e2a7aa.</a:t>
            </a:r>
          </a:p>
          <a:p>
            <a:pPr/>
            <a:endParaRPr lang="en-US" dirty="0"/>
          </a:p>
          <a:p>
            <a:pPr/>
            <a:r>
              <a:rPr lang="en-US" dirty="0"/>
              <a:t>Vals AI · Beyond the Model Card: The Jagged Frontier of AI in Finance is available at https://ai.engineer/nyc/2026/talks/vals.</a:t>
            </a:r>
          </a:p>
          <a:p>
            <a:pPr/>
            <a:endParaRPr lang="en-US" dirty="0"/>
          </a:p>
          <a:p>
            <a:pPr/>
            <a:r>
              <a:rPr lang="en-US" dirty="0"/>
              <a:t>Ramp · Ryan Stevens written follow-up · Ramp · Ryan Stevens written follow-up is available at https://dev.to/dailycontext/building-better-agents-through-end-to-end-evals-pgh.</a:t>
            </a:r>
          </a:p>
          <a:p>
            <a:pPr/>
            <a:endParaRPr lang="en-US" dirty="0"/>
          </a:p>
          <a:p>
            <a:pPr/>
            <a:r>
              <a:rPr lang="en-US" dirty="0"/>
              <a:t>Basis · Process Supervision for Agents That Do Long-Horizon Work is available at https://ai.engineer/nyc/2026/talks/basis.</a:t>
            </a:r>
          </a:p>
          <a:p>
            <a:pPr/>
            <a:endParaRPr lang="en-US" dirty="0"/>
          </a:p>
          <a:p>
            <a:pPr/>
            <a:r>
              <a:rPr lang="en-US" dirty="0"/>
              <a:t>Air Canada · Nathanael Weill · How to Test AI Agents When No Benchmark Exists — Nathanael Weill, Air Canada is available at https://www.youtube.com/watch?v=c_SPW__jF9w.</a:t>
            </a:r>
          </a:p>
          <a:p>
            <a:pPr/>
            <a:endParaRPr lang="en-US" dirty="0"/>
          </a:p>
          <a:p>
            <a:pPr/>
            <a:r>
              <a:rPr lang="en-US" dirty="0"/>
              <a:t>From Human Review to Self-Healing Agents: How Upstart Evaluates Voice AI at Regulated-Lending Scale is available at https://ai.engineer/nyc/2026/schedule?session=ece6925c-c979-483f-bd40-51eacdbbe11b.</a:t>
            </a:r>
          </a:p>
          <a:p>
            <a:pPr/>
            <a:endParaRPr lang="en-US" dirty="0"/>
          </a:p>
          <a:p>
            <a:pPr/>
            <a:r>
              <a:rPr lang="en-US" dirty="0"/>
              <a:t>Chen et al. · Evaluating Large Language Models Trained on Code is available at https://arxiv.org/html/2107.03374v2.</a:t>
            </a:r>
          </a:p>
          <a:p>
            <a:pPr/>
            <a:endParaRPr lang="en-US" dirty="0"/>
          </a:p>
          <a:p>
            <a:pPr/>
            <a:r>
              <a:rPr lang="en-US" dirty="0"/>
              <a:t>What does an AI engineer do? is available at https://ai.engineer/nyc/2026/schedule?session=b2ed4456-5671-4e8e-83fd-684c012fef8c.</a:t>
            </a:r>
          </a:p>
          <a:p>
            <a:pPr/>
            <a:endParaRPr lang="en-US" dirty="0"/>
          </a:p>
          <a:p>
            <a:pPr/>
            <a:r>
              <a:rPr lang="en-US" dirty="0"/>
              <a:t>Arize · Sofia Jakovcevic · Your Agent Fix Just Broke Something Else - Sofia Jakovcevic, Arize AI is available at https://www.youtube.com/watch?v=v5tm5EAzsAs.</a:t>
            </a:r>
          </a:p>
          <a:p>
            <a:pPr/>
            <a:endParaRPr lang="en-US" dirty="0"/>
          </a:p>
          <a:p>
            <a:pPr/>
            <a:r>
              <a:rPr lang="en-US" dirty="0"/>
              <a:t>Omni Analytics · Don't Trust Your AI Agents. Test Them Like a Scientist — Stephanie Jarmak, Omni Analytics is available at https://www.youtube.com/watch?v=A3FL_zTQKU0.</a:t>
            </a:r>
          </a:p>
          <a:p>
            <a:pPr/>
            <a:endParaRPr lang="en-US" dirty="0"/>
          </a:p>
          <a:p>
            <a:pPr/>
            <a:r>
              <a:rPr lang="en-US" dirty="0"/>
              <a:t>Google DeepMind / Kaggle / LinqAlpha · Why Frontier Models Fail as Buy-Side Analysts - Janie Gu, Google DeepMind &amp; Suyeol Yun, LinqAlpha is available at https://www.youtube.com/watch?v=aVbRSIQO2dE.</a:t>
            </a:r>
          </a:p>
          <a:p>
            <a:pPr/>
            <a:endParaRPr lang="en-US" dirty="0"/>
          </a:p>
          <a:p>
            <a:pPr/>
            <a:r>
              <a:rPr lang="en-US" dirty="0"/>
              <a:t>Arize · Aparna Dhinakaran · What does an AI engineer do? is available at https://ai.engineer/nyc/2026/talks/arize.</a:t>
            </a:r>
          </a:p>
          <a:p>
            <a:pPr/>
            <a:endParaRPr lang="en-US" dirty="0"/>
          </a:p>
          <a:p>
            <a:pPr/>
            <a:r>
              <a:rPr lang="en-US" dirty="0"/>
              <a:t>Stop turning your Humans Into APIs for your Agents is available at https://ai.engineer/nyc/2026/schedule?session=ac709f86-ce51-4582-a680-70449c32d29c.</a:t>
            </a:r>
          </a:p>
          <a:p>
            <a:pPr/>
            <a:endParaRPr lang="en-US" dirty="0"/>
          </a:p>
          <a:p>
            <a:pPr/>
            <a:r>
              <a:rPr lang="en-US" dirty="0"/>
              <a:t>Coinbase · Trusting Agents in Policy-Driven Workflows is available at https://ai.engineer/nyc/2026/talks/coinbase.</a:t>
            </a:r>
          </a:p>
          <a:p>
            <a:pPr/>
            <a:endParaRPr lang="en-US" dirty="0"/>
          </a:p>
          <a:p>
            <a:pPr/>
            <a:r>
              <a:rPr lang="en-US" dirty="0"/>
              <a:t>Two Sigma · Balancing Acceleration and Safety for AI Agents is available at https://ai.engineer/nyc/2026/talks/two-sigma.</a:t>
            </a:r>
          </a:p>
          <a:p>
            <a:pPr/>
            <a:endParaRPr lang="en-US" dirty="0"/>
          </a:p>
          <a:p>
            <a:pPr/>
            <a:r>
              <a:rPr lang="en-US" dirty="0"/>
              <a:t>Bloomberg · Security in the Age of AI: Recent Attacks, Incidents &amp; Defenses is available at https://ai.engineer/nyc/2026/talks/bloomberg.</a:t>
            </a:r>
          </a:p>
          <a:p>
            <a:pPr/>
            <a:endParaRPr lang="en-US" dirty="0"/>
          </a:p>
          <a:p>
            <a:pPr/>
            <a:r>
              <a:rPr lang="en-US" dirty="0"/>
              <a:t>The Machine that Changed the World, vAI is available at https://ai.engineer/nyc/2026/schedule?session=4add802c-6a68-4e9c-93fb-9c1e017193bc.</a:t>
            </a:r>
          </a:p>
          <a:p>
            <a:pPr/>
            <a:endParaRPr lang="en-US" dirty="0"/>
          </a:p>
          <a:p>
            <a:pPr/>
            <a:r>
              <a:rPr lang="en-US" dirty="0"/>
              <a:t>Sonar · The Machine that Changed the World, vAI is available at https://ai.engineer/nyc/2026/talks/sonar.</a:t>
            </a:r>
          </a:p>
          <a:p>
            <a:pPr/>
            <a:endParaRPr lang="en-US" dirty="0"/>
          </a:p>
          <a:p>
            <a:pPr/>
            <a:r>
              <a:rPr lang="en-US" dirty="0"/>
              <a:t>Capital One · Does Code Quality Even Matter? is available at https://ai.engineer/nyc/2026/talks/capital-one.</a:t>
            </a:r>
          </a:p>
          <a:p>
            <a:pPr/>
            <a:endParaRPr lang="en-US" dirty="0"/>
          </a:p>
          <a:p>
            <a:pPr/>
            <a:r>
              <a:rPr lang="en-US" dirty="0"/>
              <a:t>No Cash Left Behind: Vanguard's Ledger Modernization Journey is available at https://ai.engineer/nyc/2026/schedule?session=1779b934-d67b-45e9-ba11-0b19efac4b7e.</a:t>
            </a:r>
          </a:p>
          <a:p>
            <a:pPr/>
            <a:endParaRPr lang="en-US" dirty="0"/>
          </a:p>
          <a:p>
            <a:pPr/>
            <a:r>
              <a:rPr lang="en-US" dirty="0"/>
              <a:t>Vanguard · AI Cut Our Research Time From 7 Days to 15 Minutes — Gareth Yoder, Vanguard is available at https://www.youtube.com/watch?v=uA4ah-dVHvU.</a:t>
            </a:r>
          </a:p>
          <a:p>
            <a:pPr/>
            <a:endParaRPr lang="en-US" dirty="0"/>
          </a:p>
          <a:p>
            <a:pPr/>
            <a:r>
              <a:rPr lang="en-US" dirty="0"/>
              <a:t>Prime Intellect · Self-Improving Organizations is available at https://ai.engineer/nyc/2026/talks/prime-intellect.</a:t>
            </a:r>
          </a:p>
          <a:p>
            <a:pPr/>
            <a:endParaRPr lang="en-US" dirty="0"/>
          </a:p>
          <a:p>
            <a:pPr/>
            <a:r>
              <a:rPr lang="en-US" dirty="0"/>
              <a:t>Arize · Laurie Voss · AI Writes the Code. So What's Left for Engineers? - Laurie Voss, Arize AI is available at https://www.youtube.com/watch?v=kspZP5BgkEU.</a:t>
            </a:r>
          </a:p>
          <a:p>
            <a:pPr/>
            <a:endParaRPr lang="en-US" dirty="0"/>
          </a:p>
          <a:p>
            <a:pPr/>
            <a:r>
              <a:rPr lang="en-US" dirty="0"/>
              <a:t>Southbridge · Just-in-Time Ontologies is available at https://ai.engineer/nyc/2026/talks/southbridge.</a:t>
            </a:r>
          </a:p>
          <a:p>
            <a:pPr/>
            <a:endParaRPr lang="en-US" dirty="0"/>
          </a:p>
          <a:p>
            <a:pPr/>
            <a:r>
              <a:rPr lang="en-US" dirty="0"/>
              <a:t>Monzo · A Bank Built Its Own Coding Agent. It Took Off — Felippe Felisola Caso &amp; Francesco Galletta, Monzo is available at https://www.youtube.com/watch?v=adfw3xJBx1o.</a:t>
            </a:r>
          </a:p>
          <a:p>
            <a:pPr/>
            <a:endParaRPr lang="en-US" dirty="0"/>
          </a:p>
          <a:p>
            <a:pPr/>
            <a:r>
              <a:rPr lang="en-US" dirty="0"/>
              <a:t>Does Code Quality Even Matter? is available at https://ai.engineer/nyc/2026/schedule?session=5191589c-a70e-4806-99dc-86f7794f46b9.</a:t>
            </a:r>
          </a:p>
          <a:p>
            <a:pPr/>
            <a:endParaRPr lang="en-US" dirty="0"/>
          </a:p>
          <a:p>
            <a:pPr/>
            <a:r>
              <a:rPr lang="en-US" dirty="0"/>
              <a:t>Chasing capabilities while waiting for the frontier is available at https://ai.engineer/nyc/2026/schedule?session=caecd5f6-b352-4868-a995-f0f71679caf0.</a:t>
            </a:r>
          </a:p>
          <a:p>
            <a:pPr/>
            <a:endParaRPr lang="en-US" dirty="0"/>
          </a:p>
          <a:p>
            <a:pPr/>
            <a:r>
              <a:rPr lang="en-US" dirty="0"/>
              <a:t>Turning AI Into Operating Margin: A Field Report from Private Equity is available at https://ai.engineer/nyc/2026/schedule?session=5049757d-8a2e-46fd-9d7b-c8c1f3d7b72a.</a:t>
            </a:r>
          </a:p>
          <a:p>
            <a:pPr/>
            <a:endParaRPr lang="en-US" dirty="0"/>
          </a:p>
          <a:p>
            <a:pPr/>
            <a:r>
              <a:rPr lang="en-US" dirty="0"/>
              <a:t>AI in Practice: An Inside Look at Apollo's Approach is available at https://ai.engineer/nyc/2026/schedule?session=44e9d04a-e8b4-418c-8a85-02fbb9263dd0.</a:t>
            </a:r>
          </a:p>
          <a:p>
            <a:pPr/>
            <a:endParaRPr lang="en-US" dirty="0"/>
          </a:p>
          <a:p>
            <a:pPr/>
            <a:r>
              <a:rPr lang="en-US" dirty="0"/>
              <a:t>Wells Fargo Foundation Model: Application to Fraud Detection at Scale is available at https://ai.engineer/nyc/2026/schedule?session=1c25f303-f38f-450b-862d-669fdbab5f82.</a:t>
            </a:r>
          </a:p>
          <a:p>
            <a:pPr/>
            <a:endParaRPr lang="en-US" dirty="0"/>
          </a:p>
          <a:p>
            <a:pPr/>
            <a:r>
              <a:rPr lang="en-US" dirty="0"/>
              <a:t>Intent Based Auth is available at https://ai.engineer/nyc/2026/schedule?session=e65f74f9-2174-406d-bd32-2d7073eb677d.</a:t>
            </a:r>
          </a:p>
          <a:p>
            <a:pPr/>
            <a:endParaRPr lang="en-US" dirty="0"/>
          </a:p>
          <a:p>
            <a:pPr/>
            <a:r>
              <a:rPr lang="en-US" dirty="0"/>
              <a:t>Your Company Has No Model of Itself: Bootstrapping a World Model from Slack, Decks and Meetings is available at https://ai.engineer/nyc/2026/schedule?session=bf371da6-6ef6-42ec-865f-5de4974a9114.</a:t>
            </a:r>
          </a:p>
          <a:p>
            <a:pPr/>
            <a:endParaRPr lang="en-US" dirty="0"/>
          </a:p>
          <a:p>
            <a:pPr/>
            <a:r>
              <a:rPr lang="en-US" dirty="0"/>
              <a:t>Inside the Fable War Room is available at https://ai.engineer/nyc/2026/schedule?session=6b92fb75-064e-4cb5-8aa3-7c7f211e7420.</a:t>
            </a:r>
          </a:p>
          <a:p>
            <a:pPr/>
            <a:endParaRPr lang="en-US" dirty="0"/>
          </a:p>
          <a:p>
            <a:pPr/>
            <a:r>
              <a:rPr lang="en-US" dirty="0"/>
              <a:t>Trusting Agents in Policy-Driven Workflows is available at https://ai.engineer/nyc/2026/schedule?session=ee927042-2ba1-44c3-b304-d001ae247839.</a:t>
            </a:r>
          </a:p>
          <a:p>
            <a:pPr/>
            <a:endParaRPr lang="en-US" dirty="0"/>
          </a:p>
          <a:p>
            <a:pPr/>
            <a:r>
              <a:rPr lang="en-US" dirty="0"/>
              <a:t>Developer Docs as Knowledge Infrastructure for Fintech is available at https://ai.engineer/nyc/2026/schedule?session=d3d8c80e-84b7-4106-b8b5-ca63bc508480.</a:t>
            </a:r>
          </a:p>
          <a:p>
            <a:pPr/>
            <a:endParaRPr lang="en-US" dirty="0"/>
          </a:p>
          <a:p>
            <a:pPr/>
            <a:r>
              <a:rPr lang="en-US" dirty="0"/>
              <a:t>Building the Financial Account for Agents is available at https://ai.engineer/nyc/2026/schedule?session=bc4b6b4a-cf07-4326-8276-fcf845da0284.</a:t>
            </a:r>
          </a:p>
          <a:p>
            <a:pPr/>
            <a:endParaRPr lang="en-US" dirty="0"/>
          </a:p>
          <a:p>
            <a:pPr/>
            <a:r>
              <a:rPr lang="en-US" dirty="0"/>
              <a:t>Security in the Age of AI: Recent Attacks, Incidents &amp; Defenses is available at https://ai.engineer/nyc/2026/schedule?session=01982251-7fdc-4828-8520-fb34b9bc7564.</a:t>
            </a:r>
          </a:p>
          <a:p>
            <a:pPr/>
            <a:endParaRPr lang="en-US" dirty="0"/>
          </a:p>
          <a:p>
            <a:pPr/>
            <a:r>
              <a:rPr lang="en-US" dirty="0"/>
              <a:t>CTO, Blackstone is available at https://ai.engineer/nyc/2026/schedule?session=4cf641ef-436a-4e59-bd73-8a1988d8214c.</a:t>
            </a:r>
          </a:p>
          <a:p>
            <a:pPr/>
            <a:endParaRPr lang="en-US" dirty="0"/>
          </a:p>
          <a:p>
            <a:pPr/>
            <a:r>
              <a:rPr lang="en-US" dirty="0"/>
              <a:t>Head of AI &amp; AI Engineer, Coatue is available at https://ai.engineer/nyc/2026/schedule?session=9a9dfcd0-459f-43eb-b3f8-004864b4ad2a.</a:t>
            </a:r>
          </a:p>
          <a:p>
            <a:pPr/>
            <a:endParaRPr lang="en-US" dirty="0"/>
          </a:p>
          <a:p>
            <a:pPr/>
            <a:r>
              <a:rPr lang="en-US" dirty="0"/>
              <a:t>Arca’s agent runtime for long horizon financial services work is available at https://ai.engineer/nyc/2026/schedule?session=75bd85ed-b49d-41f6-98e1-7a22853c18ab.</a:t>
            </a:r>
          </a:p>
          <a:p>
            <a:pPr/>
            <a:endParaRPr lang="en-US" dirty="0"/>
          </a:p>
          <a:p>
            <a:pPr/>
            <a:r>
              <a:rPr lang="en-US" dirty="0"/>
              <a:t>Shipping like a startup, regulated like a bank is available at https://ai.engineer/nyc/2026/schedule?session=2a07765d-fe3a-48df-be0f-75c111dbee6a.</a:t>
            </a:r>
          </a:p>
          <a:p>
            <a:pPr/>
            <a:endParaRPr lang="en-US" dirty="0"/>
          </a:p>
          <a:p>
            <a:pPr/>
            <a:r>
              <a:rPr lang="en-US" dirty="0"/>
              <a:t>UBS · Innovation and AI is available at https://www.ubs.com/global/en/our-firm/what-we-do/technology/innovation-and-ai.html.</a:t>
            </a:r>
          </a:p>
          <a:p>
            <a:pPr/>
            <a:endParaRPr lang="en-US" dirty="0"/>
          </a:p>
          <a:p>
            <a:pPr/>
            <a:r>
              <a:rPr lang="en-US" dirty="0"/>
              <a:t>Asset-management strategy · Sid Pednekar · Everyone Has AI. Who Has the Advantage? is available at https://ai.engineer/nyc/2026/talks/sid-pednekar.</a:t>
            </a:r>
          </a:p>
          <a:p>
            <a:pPr/>
            <a:endParaRPr lang="en-US" dirty="0"/>
          </a:p>
          <a:p>
            <a:pPr/>
            <a:r>
              <a:rPr lang="en-US" dirty="0"/>
              <a:t>Failure study · New York Life affiliation · 1,368 AI Failures and What They Teach About Evals — Vishal Srivastava, New York Life &amp; Tanmay Sah is available at https://www.youtube.com/watch?v=mMw3arwQsL0.</a:t>
            </a:r>
          </a:p>
        </p:txBody>
      </p:sp>
    </p:spTree>
  </p:cSld>
  <p:clrMapOvr>
    <a:masterClrMapping/>
  </p:clrMapOvr>
</p:note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7.xml><?xml version="1.0" encoding="utf-8"?>
<p:sldLayout xmlns:a="http://schemas.openxmlformats.org/drawingml/2006/main" xmlns:p="http://schemas.openxmlformats.org/presentationml/2006/main" type="blank" preserve="1">
  <p:cSld name="ai-engineer-conference-takeaways — 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7" Type="http://schemas.openxmlformats.org/officeDocument/2006/relationships/slideLayout" Target="../slideLayouts/slideLayout7.xml"/><Relationship Id="rId12" Type="http://schemas.openxmlformats.org/officeDocument/2006/relationships/theme" Target="../theme/theme1.xml"/></Relationships>
</file>

<file path=ppt/slideMasters/slideMaster1.xml><?xml version="1.0" encoding="utf-8"?>
<p:sldMaster xmlns:a="http://schemas.openxmlformats.org/drawingml/2006/main" xmlns:p="http://schemas.openxmlformats.org/presentationml/2006/main" xmlns:r="http://schemas.openxmlformats.org/officeDocument/2006/relationships">
  <p:cSld name="ai-engineer-conference-takeaways — Master">
    <p:bg>
      <p:bgRef idx="1001">
        <a:schemeClr val="bg1"/>
      </p:bgRef>
    </p:bg>
    <p:spTree>
      <p:nvGrpSpPr>
        <p:cNvPr id="1" name=""/>
        <p:cNvGrpSpPr/>
        <p:nvPr/>
      </p:nvGrpSpPr>
      <p:grpSpPr>
        <a:xfrm>
          <a:off x="0" y="0"/>
          <a:ext cx="0" cy="0"/>
          <a:chOff x="0" y="0"/>
          <a:chExt cx="0" cy="0"/>
        </a:xfrm>
      </p:grpSpPr>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lang="en-US">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lang="en-US">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lang="en-US">
                <a:solidFill>
                  <a:schemeClr val="tx1">
                    <a:tint val="75000"/>
                  </a:schemeClr>
                </a:solidFill>
              </a:defRPr>
            </a:lvl1pPr>
          </a:lstStyle>
          <a:p>
            <a:fld id="{C1FF6DA9-008F-8B48-92A6-B652298478BF}"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55" r:id="rId7"/>
  </p:sldLayoutIdLst>
  <p:txStyles>
    <p:titleStyle>
      <a:lvl1pPr algn="ctr" defTabSz="457200" rtl="0" eaLnBrk="1" latinLnBrk="0" hangingPunct="1">
        <a:spcBef>
          <a:spcPct val="0"/>
        </a:spcBef>
        <a:buNone/>
        <a:defRPr sz="2700" kern="1200" lang="en-US">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1500" kern="1200" lang="en-US">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1400" kern="1200" lang="en-US">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1300" kern="1200" lang="en-US">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1200" kern="1200" lang="en-US">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1100" kern="1200" lang="en-US">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1050" kern="1200" lang="en-US">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950" kern="1200" lang="en-US">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850" kern="1200" lang="en-US">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800" kern="1200" lang="en-US">
          <a:solidFill>
            <a:schemeClr val="tx1"/>
          </a:solidFill>
          <a:latin typeface="+mn-lt"/>
          <a:ea typeface="+mn-ea"/>
          <a:cs typeface="+mn-cs"/>
        </a:defRPr>
      </a:lvl9pPr>
    </p:bodyStyle>
    <p:otherStyle>
      <a:defPPr>
        <a:defRPr lang="en-US"/>
      </a:defPPr>
      <a:lvl1pPr marL="0" algn="l" defTabSz="457200" rtl="0" eaLnBrk="1" latinLnBrk="0" hangingPunct="1">
        <a:defRPr sz="1500" kern="1200" lang="en-US">
          <a:solidFill>
            <a:schemeClr val="tx1"/>
          </a:solidFill>
          <a:latin typeface="+mn-lt"/>
          <a:ea typeface="+mn-ea"/>
          <a:cs typeface="+mn-cs"/>
        </a:defRPr>
      </a:lvl1pPr>
      <a:lvl2pPr marL="457200" algn="l" defTabSz="457200" rtl="0" eaLnBrk="1" latinLnBrk="0" hangingPunct="1">
        <a:defRPr sz="1400" kern="1200" lang="en-US">
          <a:solidFill>
            <a:schemeClr val="tx1"/>
          </a:solidFill>
          <a:latin typeface="+mn-lt"/>
          <a:ea typeface="+mn-ea"/>
          <a:cs typeface="+mn-cs"/>
        </a:defRPr>
      </a:lvl2pPr>
      <a:lvl3pPr marL="914400" algn="l" defTabSz="457200" rtl="0" eaLnBrk="1" latinLnBrk="0" hangingPunct="1">
        <a:defRPr sz="1300" kern="1200" lang="en-US">
          <a:solidFill>
            <a:schemeClr val="tx1"/>
          </a:solidFill>
          <a:latin typeface="+mn-lt"/>
          <a:ea typeface="+mn-ea"/>
          <a:cs typeface="+mn-cs"/>
        </a:defRPr>
      </a:lvl3pPr>
      <a:lvl4pPr marL="1371600" algn="l" defTabSz="457200" rtl="0" eaLnBrk="1" latinLnBrk="0" hangingPunct="1">
        <a:defRPr sz="1200" kern="1200" lang="en-US">
          <a:solidFill>
            <a:schemeClr val="tx1"/>
          </a:solidFill>
          <a:latin typeface="+mn-lt"/>
          <a:ea typeface="+mn-ea"/>
          <a:cs typeface="+mn-cs"/>
        </a:defRPr>
      </a:lvl4pPr>
      <a:lvl5pPr marL="1828800" algn="l" defTabSz="457200" rtl="0" eaLnBrk="1" latinLnBrk="0" hangingPunct="1">
        <a:defRPr sz="1100" kern="1200" lang="en-US">
          <a:solidFill>
            <a:schemeClr val="tx1"/>
          </a:solidFill>
          <a:latin typeface="+mn-lt"/>
          <a:ea typeface="+mn-ea"/>
          <a:cs typeface="+mn-cs"/>
        </a:defRPr>
      </a:lvl5pPr>
      <a:lvl6pPr marL="2286000" algn="l" defTabSz="457200" rtl="0" eaLnBrk="1" latinLnBrk="0" hangingPunct="1">
        <a:defRPr sz="1050" kern="1200" lang="en-US">
          <a:solidFill>
            <a:schemeClr val="tx1"/>
          </a:solidFill>
          <a:latin typeface="+mn-lt"/>
          <a:ea typeface="+mn-ea"/>
          <a:cs typeface="+mn-cs"/>
        </a:defRPr>
      </a:lvl6pPr>
      <a:lvl7pPr marL="2743200" algn="l" defTabSz="457200" rtl="0" eaLnBrk="1" latinLnBrk="0" hangingPunct="1">
        <a:defRPr sz="950" kern="1200" lang="en-US">
          <a:solidFill>
            <a:schemeClr val="tx1"/>
          </a:solidFill>
          <a:latin typeface="+mn-lt"/>
          <a:ea typeface="+mn-ea"/>
          <a:cs typeface="+mn-cs"/>
        </a:defRPr>
      </a:lvl7pPr>
      <a:lvl8pPr marL="3200400" algn="l" defTabSz="457200" rtl="0" eaLnBrk="1" latinLnBrk="0" hangingPunct="1">
        <a:defRPr sz="850" kern="1200" lang="en-US">
          <a:solidFill>
            <a:schemeClr val="tx1"/>
          </a:solidFill>
          <a:latin typeface="+mn-lt"/>
          <a:ea typeface="+mn-ea"/>
          <a:cs typeface="+mn-cs"/>
        </a:defRPr>
      </a:lvl8pPr>
      <a:lvl9pPr marL="3657600" algn="l" defTabSz="457200" rtl="0" eaLnBrk="1" latinLnBrk="0" hangingPunct="1">
        <a:defRPr sz="800" kern="1200" lang="en-US">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xml"/>
</Relationships>
</file>

<file path=ppt/slides/_rels/slide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xml"/>
</Relationships>
</file>

<file path=ppt/slides/_rels/slide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xml"/>
</Relationships>
</file>

<file path=ppt/slides/_rels/slide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xml"/>
</Relationships>
</file>

<file path=ppt/slides/_rels/slide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xml"/>
</Relationships>
</file>

<file path=ppt/slides/_rels/slide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xml"/>
</Relationships>
</file>

<file path=ppt/slides/_rels/slide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xml"/>
</Relationships>
</file>

<file path=ppt/slides/_rels/slide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xml"/>
</Relationships>
</file>

<file path=ppt/slides/_rels/slide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xml"/>
</Relationships>
</file>

<file path=ppt/slides/_rels/slide10.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xml"/>
</Relationships>
</file>

<file path=ppt/slides/_rels/slide1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xml"/>
</Relationships>
</file>

<file path=ppt/slides/_rels/slide1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2.xml"/>
</Relationships>
</file>

<file path=ppt/slides/_rels/slide1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3.xml"/>
</Relationships>
</file>

<file path=ppt/slides/_rels/slide1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4.xml"/>
</Relationships>
</file>

<file path=ppt/slides/_rels/slide1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5.xml"/>
</Relationships>
</file>

<file path=ppt/slides/_rels/slide1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6.xml"/>
</Relationships>
</file>

<file path=ppt/slides/_rels/slide1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7.xml"/>
</Relationships>
</file>

<file path=ppt/slides/_rels/slide1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8.xml"/>
</Relationships>
</file>

<file path=ppt/slides/_rels/slide1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9.xml"/>
</Relationships>
</file>

<file path=ppt/slides/_rels/slide20.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0.xml"/>
</Relationships>
</file>

<file path=ppt/slides/_rels/slide2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1.xml"/>
</Relationships>
</file>

<file path=ppt/slides/_rels/slide2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2.xml"/>
</Relationships>
</file>

<file path=ppt/slides/_rels/slide2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3.xml"/>
</Relationships>
</file>

<file path=ppt/slides/_rels/slide2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4.xml"/>
</Relationships>
</file>

<file path=ppt/slides/_rels/slide2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5.xml"/>
</Relationships>
</file>

<file path=ppt/slides/_rels/slide2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6.xml"/>
</Relationships>
</file>

<file path=ppt/slides/_rels/slide2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7.xml"/>
</Relationships>
</file>

<file path=ppt/slides/_rels/slide2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8.xml"/>
</Relationships>
</file>

<file path=ppt/slides/_rels/slide2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9.xml"/>
</Relationships>
</file>

<file path=ppt/slides/_rels/slide30.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0.xml"/>
</Relationships>
</file>

<file path=ppt/slides/_rels/slide3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1.xml"/>
</Relationships>
</file>

<file path=ppt/slides/_rels/slide3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2.xml"/>
</Relationships>
</file>

<file path=ppt/slides/_rels/slide3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3.xml"/>
</Relationships>
</file>

<file path=ppt/slides/_rels/slide3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4.xml"/>
</Relationships>
</file>

<file path=ppt/slides/_rels/slide3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5.xml"/>
</Relationships>
</file>

<file path=ppt/slides/_rels/slide3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6.xml"/>
</Relationships>
</file>

<file path=ppt/slides/_rels/slide3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hyperlink" Target="https://ai.engineer/nyc/2026/talks/bridgewater" TargetMode="External"/>
  <Relationship Id="rId3" Type="http://schemas.openxmlformats.org/officeDocument/2006/relationships/hyperlink" Target="https://ai.engineer/nyc/2026/talks/range" TargetMode="External"/>
  <Relationship Id="rId4" Type="http://schemas.openxmlformats.org/officeDocument/2006/relationships/hyperlink" Target="https://ai.engineer/nyc/2026/talks/arca" TargetMode="External"/>
  <Relationship Id="rId5" Type="http://schemas.openxmlformats.org/officeDocument/2006/relationships/hyperlink" Target="https://ai.engineer/nyc/2026/talks/perpetual" TargetMode="External"/>
  <Relationship Id="rId6" Type="http://schemas.openxmlformats.org/officeDocument/2006/relationships/hyperlink" Target="https://ai.engineer/nyc/2026/talks/coatue" TargetMode="External"/>
  <Relationship Id="rId7" Type="http://schemas.openxmlformats.org/officeDocument/2006/relationships/hyperlink" Target="https://ai.engineer/nyc/2026/talks/blackstone-norm" TargetMode="External"/>
  <Relationship Id="rId8" Type="http://schemas.openxmlformats.org/officeDocument/2006/relationships/hyperlink" Target="https://ai.engineer/nyc/2026/talks/apollo-rowspace" TargetMode="External"/>
  <Relationship Id="rId9" Type="http://schemas.openxmlformats.org/officeDocument/2006/relationships/hyperlink" Target="https://ai.engineer/nyc/2026/talks/wells-fargo" TargetMode="External"/>
  <Relationship Id="rId10" Type="http://schemas.openxmlformats.org/officeDocument/2006/relationships/hyperlink" Target="https://ai.engineer/nyc/2026/talks/kepler-14" TargetMode="External"/>
  <Relationship Id="rId11" Type="http://schemas.openxmlformats.org/officeDocument/2006/relationships/hyperlink" Target="https://www.youtube.com/watch?v=dZgA6btnb_s" TargetMode="External"/>
  <Relationship Id="rId12" Type="http://schemas.openxmlformats.org/officeDocument/2006/relationships/hyperlink" Target="https://ai.engineer/nyc/2026/talks/southbridge" TargetMode="External"/>
  <Relationship Id="rId13" Type="http://schemas.openxmlformats.org/officeDocument/2006/relationships/hyperlink" Target="https://ai.engineer/nyc/2026/talks/citadel" TargetMode="External"/>
  <Relationship Id="rId14" Type="http://schemas.openxmlformats.org/officeDocument/2006/relationships/hyperlink" Target="https://ai.engineer/nyc/2026/talks/openai" TargetMode="External"/>
  <Relationship Id="rId15" Type="http://schemas.openxmlformats.org/officeDocument/2006/relationships/hyperlink" Target="https://ai.engineer/nyc/2026/talks/compound" TargetMode="External"/>
  <Relationship Id="rId16" Type="http://schemas.openxmlformats.org/officeDocument/2006/relationships/hyperlink" Target="https://ai.engineer/nyc/2026/talks/basis" TargetMode="External"/>
  <Relationship Id="rId17" Type="http://schemas.openxmlformats.org/officeDocument/2006/relationships/hyperlink" Target="https://dev.to/dailycontext/building-better-agents-through-end-to-end-evals-pgh" TargetMode="External"/>
  <Relationship Id="rId18" Type="http://schemas.openxmlformats.org/officeDocument/2006/relationships/hyperlink" Target="https://ai.engineer/nyc/2026/talks/ramp" TargetMode="External"/>
  <Relationship Id="rId19" Type="http://schemas.openxmlformats.org/officeDocument/2006/relationships/hyperlink" Target="https://ai.engineer/nyc/2026/talks/vals" TargetMode="External"/>
  <Relationship Id="rId20" Type="http://schemas.openxmlformats.org/officeDocument/2006/relationships/hyperlink" Target="https://www.youtube.com/watch?v=v5tm5EAzsAs" TargetMode="External"/>
  <Relationship Id="rId21" Type="http://schemas.openxmlformats.org/officeDocument/2006/relationships/hyperlink" Target="https://www.youtube.com/watch?v=c_SPW__jF9w" TargetMode="External"/>
  <Relationship Id="rId22" Type="http://schemas.openxmlformats.org/officeDocument/2006/relationships/hyperlink" Target="https://ai.engineer/nyc/2026/talks/coinbase" TargetMode="External"/>
  <Relationship Id="rId23" Type="http://schemas.openxmlformats.org/officeDocument/2006/relationships/hyperlink" Target="https://ai.engineer/nyc/2026/talks/two-sigma" TargetMode="External"/>
  <Relationship Id="rId24" Type="http://schemas.openxmlformats.org/officeDocument/2006/relationships/hyperlink" Target="https://ai.engineer/nyc/2026/talks/credit-karma" TargetMode="External"/>
  <Relationship Id="rId25" Type="http://schemas.openxmlformats.org/officeDocument/2006/relationships/hyperlink" Target="https://ai.engineer/nyc/2026/talks/bloomberg" TargetMode="External"/>
  <Relationship Id="rId26" Type="http://schemas.openxmlformats.org/officeDocument/2006/relationships/hyperlink" Target="https://ai.engineer/nyc/2026/talks/arize" TargetMode="External"/>
  <Relationship Id="rId27" Type="http://schemas.openxmlformats.org/officeDocument/2006/relationships/hyperlink" Target="https://ai.engineer/nyc/2026/talks/sonar" TargetMode="External"/>
  <Relationship Id="rId28" Type="http://schemas.openxmlformats.org/officeDocument/2006/relationships/hyperlink" Target="https://ai.engineer/nyc/2026/talks/capital-one" TargetMode="External"/>
  <Relationship Id="rId29" Type="http://schemas.openxmlformats.org/officeDocument/2006/relationships/hyperlink" Target="https://www.youtube.com/watch?v=kspZP5BgkEU" TargetMode="External"/>
  <Relationship Id="rId30" Type="http://schemas.openxmlformats.org/officeDocument/2006/relationships/hyperlink" Target="https://ai.engineer/nyc/2026/talks/jellyfish" TargetMode="External"/>
  <Relationship Id="rId31" Type="http://schemas.openxmlformats.org/officeDocument/2006/relationships/hyperlink" Target="https://www.youtube.com/watch?v=aVbRSIQO2dE" TargetMode="External"/>
  <Relationship Id="rId32" Type="http://schemas.openxmlformats.org/officeDocument/2006/relationships/notesSlide" Target="../notesSlides/notesSlide37.xml"/>
</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accent1"/>
        </a:solidFill>
        <a:effectLst/>
      </p:bgPr>
    </p:bg>
    <p:spTree>
      <p:nvGrpSpPr>
        <p:cNvPr id="1" name=""/>
        <p:cNvGrpSpPr/>
        <p:nvPr/>
      </p:nvGrpSpPr>
      <p:grpSpPr>
        <a:xfrm>
          <a:off x="0" y="0"/>
          <a:ext cx="0" cy="0"/>
          <a:chOff x="0" y="0"/>
          <a:chExt cx="0" cy="0"/>
        </a:xfrm>
      </p:grpSpPr>
      <p:grpSp>
        <p:nvGrpSpPr>
          <p:cNvPr id="5" name="cover"/>
          <p:cNvGrpSpPr/>
          <p:nvPr/>
        </p:nvGrpSpPr>
        <p:grpSpPr>
          <a:xfrm>
            <a:off x="438150" y="419100"/>
            <a:ext cx="6398362" cy="3288919"/>
            <a:chOff x="438150" y="419100"/>
            <a:chExt cx="6398362" cy="3288919"/>
          </a:xfrm>
        </p:grpSpPr>
        <p:sp>
          <p:nvSpPr>
            <p:cNvPr id="2" name="TextBox 2"/>
            <p:cNvSpPr txBox="1"/>
            <p:nvPr/>
          </p:nvSpPr>
          <p:spPr>
            <a:xfrm>
              <a:off x="451104" y="419100"/>
              <a:ext cx="4394265" cy="234696"/>
            </a:xfrm>
            <a:prstGeom prst="rect">
              <a:avLst/>
            </a:prstGeom>
            <a:noFill/>
            <a:ln>
              <a:noFill/>
            </a:ln>
          </p:spPr>
          <p:txBody>
            <a:bodyPr wrap="none" lIns="0" tIns="0" rIns="0" bIns="0" anchor="t" anchorCtr="0">
              <a:spAutoFit/>
            </a:bodyPr>
            <a:lstStyle/>
            <a:p>
              <a:pPr algn="l"/>
              <a:r>
                <a:rPr lang="en-US" sz="1200" dirty="0">
                  <a:solidFill>
                    <a:schemeClr val="accent3"/>
                  </a:solidFill>
                  <a:latin typeface="+mn-lt"/>
                  <a:ea typeface="+mn-ea"/>
                  <a:cs typeface="+mn-cs"/>
                </a:rPr>
                <a:t>AI ENGINEER NYC 2026 / CONFERENCE TAKEAWAYS</a:t>
              </a:r>
            </a:p>
          </p:txBody>
        </p:sp>
        <p:sp>
          <p:nvSpPr>
            <p:cNvPr id="3" name="TextBox 3"/>
            <p:cNvSpPr txBox="1"/>
            <p:nvPr/>
          </p:nvSpPr>
          <p:spPr>
            <a:xfrm>
              <a:off x="438150" y="1212850"/>
              <a:ext cx="5359298" cy="1676400"/>
            </a:xfrm>
            <a:prstGeom prst="rect">
              <a:avLst/>
            </a:prstGeom>
            <a:noFill/>
            <a:ln>
              <a:noFill/>
            </a:ln>
          </p:spPr>
          <p:txBody>
            <a:bodyPr wrap="none" lIns="0" tIns="0" rIns="0" bIns="0" anchor="t" anchorCtr="0">
              <a:spAutoFit/>
            </a:bodyPr>
            <a:lstStyle/>
            <a:p>
              <a:pPr algn="l">
                <a:lnSpc>
                  <a:spcPts val="5850"/>
                </a:lnSpc>
              </a:pPr>
              <a:r>
                <a:rPr lang="en-US" sz="4800" dirty="0">
                  <a:solidFill>
                    <a:srgbClr val="FFFDF7"/>
                  </a:solidFill>
                  <a:latin typeface="+mn-lt"/>
                  <a:ea typeface="+mn-ea"/>
                  <a:cs typeface="+mn-cs"/>
                </a:rPr>
                <a:t>From AI capability</a:t>
              </a:r>
              <a:br>
                <a:rPr lang="en-US" sz="4800" dirty="0">
                  <a:solidFill>
                    <a:srgbClr val="FFFDF7"/>
                  </a:solidFill>
                  <a:latin typeface="+mn-lt"/>
                  <a:ea typeface="+mn-ea"/>
                  <a:cs typeface="+mn-cs"/>
                </a:rPr>
              </a:br>
              <a:r>
                <a:rPr lang="en-US" sz="4800" dirty="0">
                  <a:solidFill>
                    <a:schemeClr val="accent3"/>
                  </a:solidFill>
                  <a:latin typeface="+mn-lt"/>
                  <a:ea typeface="+mn-ea"/>
                  <a:cs typeface="+mn-cs"/>
                </a:rPr>
                <a:t>to dependable work</a:t>
              </a:r>
            </a:p>
          </p:txBody>
        </p:sp>
        <p:sp>
          <p:nvSpPr>
            <p:cNvPr id="4" name="TextBox 4"/>
            <p:cNvSpPr txBox="1"/>
            <p:nvPr/>
          </p:nvSpPr>
          <p:spPr>
            <a:xfrm>
              <a:off x="448056" y="3032125"/>
              <a:ext cx="6388456" cy="675894"/>
            </a:xfrm>
            <a:prstGeom prst="rect">
              <a:avLst/>
            </a:prstGeom>
            <a:noFill/>
            <a:ln>
              <a:noFill/>
            </a:ln>
          </p:spPr>
          <p:txBody>
            <a:bodyPr wrap="none" lIns="0" tIns="0" rIns="0" bIns="0" anchor="t" anchorCtr="0">
              <a:spAutoFit/>
            </a:bodyPr>
            <a:lstStyle/>
            <a:p>
              <a:pPr algn="l">
                <a:lnSpc>
                  <a:spcPts val="2550"/>
                </a:lnSpc>
              </a:pPr>
              <a:r>
                <a:rPr lang="en-US" sz="1800" dirty="0">
                  <a:solidFill>
                    <a:srgbClr val="E7F0EA"/>
                  </a:solidFill>
                  <a:latin typeface="+mj-lt"/>
                  <a:ea typeface="+mj-ea"/>
                  <a:cs typeface="+mj-cs"/>
                </a:rPr>
                <a:t>Financial-services AI through company stories, practical methods</a:t>
              </a:r>
              <a:br>
                <a:rPr lang="en-US" sz="1800" dirty="0">
                  <a:solidFill>
                    <a:srgbClr val="E7F0EA"/>
                  </a:solidFill>
                  <a:latin typeface="+mj-lt"/>
                  <a:ea typeface="+mj-ea"/>
                  <a:cs typeface="+mj-cs"/>
                </a:rPr>
              </a:br>
              <a:r>
                <a:rPr lang="en-US" sz="1800" dirty="0">
                  <a:solidFill>
                    <a:srgbClr val="E7F0EA"/>
                  </a:solidFill>
                  <a:latin typeface="+mj-lt"/>
                  <a:ea typeface="+mj-ea"/>
                  <a:cs typeface="+mj-cs"/>
                </a:rPr>
                <a:t>and evidence worth questioning.</a:t>
              </a:r>
            </a:p>
          </p:txBody>
        </p:sp>
      </p:grpSp>
      <p:grpSp>
        <p:nvGrpSpPr>
          <p:cNvPr id="9" name="chapter-rail"/>
          <p:cNvGrpSpPr/>
          <p:nvPr/>
        </p:nvGrpSpPr>
        <p:grpSpPr>
          <a:xfrm>
            <a:off x="448818" y="4438650"/>
            <a:ext cx="11285982" cy="902970"/>
            <a:chOff x="448818" y="4438650"/>
            <a:chExt cx="11285982" cy="902970"/>
          </a:xfrm>
        </p:grpSpPr>
        <p:sp>
          <p:nvSpPr>
            <p:cNvPr id="6" name="Line 6"/>
            <p:cNvSpPr/>
            <p:nvPr/>
          </p:nvSpPr>
          <p:spPr>
            <a:xfrm>
              <a:off x="457200" y="4438650"/>
              <a:ext cx="11277600" cy="9525"/>
            </a:xfrm>
            <a:custGeom>
              <a:avLst/>
              <a:gdLst/>
              <a:ahLst/>
              <a:cxnLst/>
              <a:rect l="l" t="t" r="r" b="b"/>
              <a:pathLst>
                <a:path w="11277600" h="9525">
                  <a:moveTo>
                    <a:pt x="0" y="0"/>
                  </a:moveTo>
                  <a:lnTo>
                    <a:pt x="11277600" y="0"/>
                  </a:lnTo>
                </a:path>
              </a:pathLst>
            </a:custGeom>
            <a:noFill/>
            <a:ln w="9525">
              <a:solidFill>
                <a:srgbClr val="50616A"/>
              </a:solidFill>
            </a:ln>
          </p:spPr>
        </p:sp>
        <p:sp>
          <p:nvSpPr>
            <p:cNvPr id="7" name="TextBox 7"/>
            <p:cNvSpPr txBox="1"/>
            <p:nvPr/>
          </p:nvSpPr>
          <p:spPr>
            <a:xfrm>
              <a:off x="448818" y="4625975"/>
              <a:ext cx="7795702" cy="322707"/>
            </a:xfrm>
            <a:prstGeom prst="rect">
              <a:avLst/>
            </a:prstGeom>
            <a:noFill/>
            <a:ln>
              <a:noFill/>
            </a:ln>
          </p:spPr>
          <p:txBody>
            <a:bodyPr wrap="none" lIns="0" tIns="0" rIns="0" bIns="0" anchor="t" anchorCtr="0">
              <a:spAutoFit/>
            </a:bodyPr>
            <a:lstStyle/>
            <a:p>
              <a:pPr algn="l"/>
              <a:r>
                <a:rPr lang="en-US" sz="1650" dirty="0">
                  <a:solidFill>
                    <a:srgbClr val="FFFDF7"/>
                  </a:solidFill>
                  <a:latin typeface="+mn-lt"/>
                  <a:ea typeface="+mn-ea"/>
                  <a:cs typeface="+mn-cs"/>
                </a:rPr>
                <a:t>Strategy → Grounding → Evaluation → Reliable workflows → Engineer growth</a:t>
              </a:r>
            </a:p>
          </p:txBody>
        </p:sp>
        <p:sp>
          <p:nvSpPr>
            <p:cNvPr id="8" name="TextBox 8"/>
            <p:cNvSpPr txBox="1"/>
            <p:nvPr/>
          </p:nvSpPr>
          <p:spPr>
            <a:xfrm>
              <a:off x="449580" y="5048250"/>
              <a:ext cx="7530766" cy="293370"/>
            </a:xfrm>
            <a:prstGeom prst="rect">
              <a:avLst/>
            </a:prstGeom>
            <a:noFill/>
            <a:ln>
              <a:noFill/>
            </a:ln>
          </p:spPr>
          <p:txBody>
            <a:bodyPr wrap="none" lIns="0" tIns="0" rIns="0" bIns="0" anchor="t" anchorCtr="0">
              <a:spAutoFit/>
            </a:bodyPr>
            <a:lstStyle/>
            <a:p>
              <a:pPr algn="l"/>
              <a:r>
                <a:rPr lang="en-US" sz="1500" dirty="0">
                  <a:solidFill>
                    <a:srgbClr val="E7F0EA"/>
                  </a:solidFill>
                  <a:latin typeface="+mn-lt"/>
                  <a:ea typeface="+mn-ea"/>
                  <a:cs typeface="+mn-cs"/>
                </a:rPr>
                <a:t>One operating story: useful work, inspectable evidence and controlled improvement.</a:t>
              </a:r>
            </a:p>
          </p:txBody>
        </p:sp>
      </p:grpSp>
      <p:grpSp>
        <p:nvGrpSpPr>
          <p:cNvPr id="11" name="evidence-scope"/>
          <p:cNvGrpSpPr/>
          <p:nvPr/>
        </p:nvGrpSpPr>
        <p:grpSpPr>
          <a:xfrm>
            <a:off x="450342" y="5743575"/>
            <a:ext cx="7885603" cy="511683"/>
            <a:chOff x="450342" y="5743575"/>
            <a:chExt cx="7885603" cy="511683"/>
          </a:xfrm>
        </p:grpSpPr>
        <p:sp>
          <p:nvSpPr>
            <p:cNvPr id="10" name="TextBox 10"/>
            <p:cNvSpPr txBox="1"/>
            <p:nvPr/>
          </p:nvSpPr>
          <p:spPr>
            <a:xfrm>
              <a:off x="450342" y="5743575"/>
              <a:ext cx="7885603" cy="511683"/>
            </a:xfrm>
            <a:prstGeom prst="rect">
              <a:avLst/>
            </a:prstGeom>
            <a:noFill/>
            <a:ln>
              <a:noFill/>
            </a:ln>
          </p:spPr>
          <p:txBody>
            <a:bodyPr wrap="none" lIns="0" tIns="0" rIns="0" bIns="0" anchor="t" anchorCtr="0">
              <a:spAutoFit/>
            </a:bodyPr>
            <a:lstStyle/>
            <a:p>
              <a:pPr algn="l">
                <a:lnSpc>
                  <a:spcPts val="1950"/>
                </a:lnSpc>
              </a:pPr>
              <a:r>
                <a:rPr lang="en-US" sz="1350" dirty="0">
                  <a:solidFill>
                    <a:srgbClr val="E7F0EA"/>
                  </a:solidFill>
                  <a:latin typeface="+mn-lt"/>
                  <a:ea typeface="+mn-ea"/>
                  <a:cs typeface="+mn-cs"/>
                </a:rPr>
                <a:t>Research + twelve identified attendee-note sets • October 13–14, 2026 · Updated October 25</a:t>
              </a:r>
              <a:br>
                <a:rPr lang="en-US" sz="1350" dirty="0">
                  <a:solidFill>
                    <a:srgbClr val="E7F0EA"/>
                  </a:solidFill>
                  <a:latin typeface="+mn-lt"/>
                  <a:ea typeface="+mn-ea"/>
                  <a:cs typeface="+mn-cs"/>
                </a:rPr>
              </a:br>
              <a:r>
                <a:rPr lang="en-US" sz="1350" dirty="0">
                  <a:solidFill>
                    <a:srgbClr val="E7F0EA"/>
                  </a:solidFill>
                  <a:latin typeface="+mn-lt"/>
                  <a:ea typeface="+mn-ea"/>
                  <a:cs typeface="+mn-cs"/>
                </a:rPr>
                <a:t>Company accounts, program context, dated disclosures and our proposed methods retain distinct limits.</a:t>
              </a:r>
            </a:p>
          </p:txBody>
        </p:sp>
      </p:grpSp>
      <p:grpSp>
        <p:nvGrpSpPr>
          <p:cNvPr id="14" name="footer"/>
          <p:cNvGrpSpPr/>
          <p:nvPr/>
        </p:nvGrpSpPr>
        <p:grpSpPr>
          <a:xfrm>
            <a:off x="452438" y="6477000"/>
            <a:ext cx="11287124" cy="176212"/>
            <a:chOff x="452438" y="6477000"/>
            <a:chExt cx="11287124" cy="176212"/>
          </a:xfrm>
        </p:grpSpPr>
        <p:sp>
          <p:nvSpPr>
            <p:cNvPr id="12" name="TextBox 12"/>
            <p:cNvSpPr txBox="1"/>
            <p:nvPr/>
          </p:nvSpPr>
          <p:spPr>
            <a:xfrm>
              <a:off x="452438" y="6477000"/>
              <a:ext cx="6110504" cy="176212"/>
            </a:xfrm>
            <a:prstGeom prst="rect">
              <a:avLst/>
            </a:prstGeom>
            <a:noFill/>
            <a:ln>
              <a:noFill/>
            </a:ln>
          </p:spPr>
          <p:txBody>
            <a:bodyPr wrap="none" lIns="0" tIns="0" rIns="0" bIns="0" anchor="t" anchorCtr="0">
              <a:spAutoFit/>
            </a:bodyPr>
            <a:lstStyle/>
            <a:p>
              <a:pPr algn="l"/>
              <a:r>
                <a:rPr lang="en-US" sz="900" dirty="0">
                  <a:solidFill>
                    <a:srgbClr val="E7F0EA"/>
                  </a:solidFill>
                  <a:latin typeface="+mn-lt"/>
                  <a:ea typeface="+mn-ea"/>
                  <a:cs typeface="+mn-cs"/>
                </a:rPr>
                <a:t>For data scientists, AI engineers and technical leads • 40 minutes + discussion • Detailed slides + presenter notes</a:t>
              </a:r>
            </a:p>
          </p:txBody>
        </p:sp>
        <p:sp>
          <p:nvSpPr>
            <p:cNvPr id="13" name="TextBox 13"/>
            <p:cNvSpPr txBox="1"/>
            <p:nvPr/>
          </p:nvSpPr>
          <p:spPr>
            <a:xfrm>
              <a:off x="11359512" y="6477000"/>
              <a:ext cx="380050" cy="176212"/>
            </a:xfrm>
            <a:prstGeom prst="rect">
              <a:avLst/>
            </a:prstGeom>
            <a:noFill/>
            <a:ln>
              <a:noFill/>
            </a:ln>
          </p:spPr>
          <p:txBody>
            <a:bodyPr wrap="none" lIns="0" tIns="0" rIns="0" bIns="0" anchor="t" anchorCtr="0">
              <a:spAutoFit/>
            </a:bodyPr>
            <a:lstStyle/>
            <a:p>
              <a:pPr algn="r"/>
              <a:r>
                <a:rPr lang="en-US" sz="900" dirty="0">
                  <a:solidFill>
                    <a:srgbClr val="E7F0EA"/>
                  </a:solidFill>
                  <a:latin typeface="+mn-lt"/>
                  <a:ea typeface="+mn-ea"/>
                  <a:cs typeface="+mn-cs"/>
                </a:rPr>
                <a:t>01 / 37</a:t>
              </a:r>
            </a:p>
          </p:txBody>
        </p:sp>
      </p:grpSp>
    </p:spTree>
  </p:cSld>
  <p:clrMapOvr>
    <a:masterClrMapping/>
  </p:clrMapOvr>
  <p:transition xmlns:p14="http://schemas.microsoft.com/office/powerpoint/2010/main" p14:dur="400">
    <p:fade/>
  </p:transition>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5" name="title"/>
          <p:cNvGrpSpPr/>
          <p:nvPr/>
        </p:nvGrpSpPr>
        <p:grpSpPr>
          <a:xfrm>
            <a:off x="443484" y="371475"/>
            <a:ext cx="7600279" cy="1110107"/>
            <a:chOff x="443484" y="371475"/>
            <a:chExt cx="7600279" cy="1110107"/>
          </a:xfrm>
        </p:grpSpPr>
        <p:sp>
          <p:nvSpPr>
            <p:cNvPr id="2" name="TextBox 2"/>
            <p:cNvSpPr txBox="1"/>
            <p:nvPr/>
          </p:nvSpPr>
          <p:spPr>
            <a:xfrm>
              <a:off x="451104" y="371475"/>
              <a:ext cx="2430397" cy="234696"/>
            </a:xfrm>
            <a:prstGeom prst="rect">
              <a:avLst/>
            </a:prstGeom>
            <a:noFill/>
            <a:ln>
              <a:noFill/>
            </a:ln>
          </p:spPr>
          <p:txBody>
            <a:bodyPr wrap="none" lIns="0" tIns="0" rIns="0" bIns="0" anchor="t" anchorCtr="0">
              <a:spAutoFit/>
            </a:bodyPr>
            <a:lstStyle/>
            <a:p>
              <a:pPr algn="l"/>
              <a:r>
                <a:rPr lang="en-US" sz="1200" dirty="0">
                  <a:solidFill>
                    <a:schemeClr val="accent2"/>
                  </a:solidFill>
                  <a:latin typeface="+mn-lt"/>
                  <a:ea typeface="+mn-ea"/>
                  <a:cs typeface="+mn-cs"/>
                </a:rPr>
                <a:t>THE OPERATING ARGUMENT</a:t>
              </a:r>
            </a:p>
          </p:txBody>
        </p:sp>
        <p:sp>
          <p:nvSpPr>
            <p:cNvPr id="3" name="TextBox 3"/>
            <p:cNvSpPr txBox="1"/>
            <p:nvPr/>
          </p:nvSpPr>
          <p:spPr>
            <a:xfrm>
              <a:off x="443484" y="603250"/>
              <a:ext cx="7600279" cy="528066"/>
            </a:xfrm>
            <a:prstGeom prst="rect">
              <a:avLst/>
            </a:prstGeom>
            <a:noFill/>
            <a:ln>
              <a:noFill/>
            </a:ln>
          </p:spPr>
          <p:txBody>
            <a:bodyPr wrap="none" lIns="0" tIns="0" rIns="0" bIns="0" anchor="t" anchorCtr="0">
              <a:spAutoFit/>
            </a:bodyPr>
            <a:lstStyle/>
            <a:p>
              <a:pPr algn="l"/>
              <a:r>
                <a:rPr lang="en-US" sz="2700" dirty="0">
                  <a:solidFill>
                    <a:schemeClr val="accent1"/>
                  </a:solidFill>
                  <a:latin typeface="+mj-lt"/>
                  <a:ea typeface="+mj-ea"/>
                  <a:cs typeface="+mj-cs"/>
                </a:rPr>
                <a:t>Five disciplines make financial AI dependable</a:t>
              </a:r>
            </a:p>
          </p:txBody>
        </p:sp>
        <p:sp>
          <p:nvSpPr>
            <p:cNvPr id="4" name="TextBox 4"/>
            <p:cNvSpPr txBox="1"/>
            <p:nvPr/>
          </p:nvSpPr>
          <p:spPr>
            <a:xfrm>
              <a:off x="448818" y="1158875"/>
              <a:ext cx="5889095" cy="322707"/>
            </a:xfrm>
            <a:prstGeom prst="rect">
              <a:avLst/>
            </a:prstGeom>
            <a:noFill/>
            <a:ln>
              <a:noFill/>
            </a:ln>
          </p:spPr>
          <p:txBody>
            <a:bodyPr wrap="none" lIns="0" tIns="0" rIns="0" bIns="0" anchor="t" anchorCtr="0">
              <a:spAutoFit/>
            </a:bodyPr>
            <a:lstStyle/>
            <a:p>
              <a:pPr algn="l"/>
              <a:r>
                <a:rPr lang="en-US" sz="1650" dirty="0">
                  <a:solidFill>
                    <a:schemeClr val="accent1"/>
                  </a:solidFill>
                  <a:latin typeface="+mn-lt"/>
                  <a:ea typeface="+mn-ea"/>
                  <a:cs typeface="+mn-cs"/>
                </a:rPr>
                <a:t>The model is one component of a complete, reviewable job.</a:t>
              </a:r>
            </a:p>
          </p:txBody>
        </p:sp>
      </p:grpSp>
      <p:grpSp>
        <p:nvGrpSpPr>
          <p:cNvPr id="26" name="five-chapters"/>
          <p:cNvGrpSpPr/>
          <p:nvPr/>
        </p:nvGrpSpPr>
        <p:grpSpPr>
          <a:xfrm>
            <a:off x="457200" y="1809750"/>
            <a:ext cx="11277600" cy="2152650"/>
            <a:chOff x="457200" y="1809750"/>
            <a:chExt cx="11277600" cy="2152650"/>
          </a:xfrm>
        </p:grpSpPr>
        <p:grpSp>
          <p:nvGrpSpPr>
            <p:cNvPr id="9" name="Group 9"/>
            <p:cNvGrpSpPr/>
            <p:nvPr/>
          </p:nvGrpSpPr>
          <p:grpSpPr>
            <a:xfrm>
              <a:off x="457200" y="1809750"/>
              <a:ext cx="2009775" cy="2152650"/>
              <a:chOff x="457200" y="1809750"/>
              <a:chExt cx="2009775" cy="2152650"/>
            </a:xfrm>
          </p:grpSpPr>
          <p:sp>
            <p:nvSpPr>
              <p:cNvPr id="6" name="Rectangle 6"/>
              <p:cNvSpPr/>
              <p:nvPr/>
            </p:nvSpPr>
            <p:spPr>
              <a:xfrm>
                <a:off x="457200" y="1809750"/>
                <a:ext cx="2009775" cy="2152650"/>
              </a:xfrm>
              <a:prstGeom prst="rect">
                <a:avLst/>
              </a:prstGeom>
              <a:solidFill>
                <a:schemeClr val="lt2"/>
              </a:solidFill>
              <a:ln>
                <a:noFill/>
              </a:ln>
            </p:spPr>
          </p:sp>
          <p:sp>
            <p:nvSpPr>
              <p:cNvPr id="7" name="TextBox 7"/>
              <p:cNvSpPr txBox="1"/>
              <p:nvPr/>
            </p:nvSpPr>
            <p:spPr>
              <a:xfrm>
                <a:off x="638556" y="1962150"/>
                <a:ext cx="1490104" cy="352044"/>
              </a:xfrm>
              <a:prstGeom prst="rect">
                <a:avLst/>
              </a:prstGeom>
              <a:noFill/>
              <a:ln>
                <a:noFill/>
              </a:ln>
            </p:spPr>
            <p:txBody>
              <a:bodyPr wrap="none" lIns="0" tIns="0" rIns="0" bIns="0" anchor="t" anchorCtr="0">
                <a:spAutoFit/>
              </a:bodyPr>
              <a:lstStyle/>
              <a:p>
                <a:pPr algn="l"/>
                <a:r>
                  <a:rPr lang="en-US" sz="1800" dirty="0">
                    <a:solidFill>
                      <a:schemeClr val="accent2"/>
                    </a:solidFill>
                    <a:latin typeface="+mj-lt"/>
                    <a:ea typeface="+mj-ea"/>
                    <a:cs typeface="+mj-cs"/>
                  </a:rPr>
                  <a:t>01 / Strategy</a:t>
                </a:r>
              </a:p>
            </p:txBody>
          </p:sp>
          <p:sp>
            <p:nvSpPr>
              <p:cNvPr id="8" name="TextBox 8"/>
              <p:cNvSpPr txBox="1"/>
              <p:nvPr/>
            </p:nvSpPr>
            <p:spPr>
              <a:xfrm>
                <a:off x="640080" y="2482850"/>
                <a:ext cx="1328547" cy="1093470"/>
              </a:xfrm>
              <a:prstGeom prst="rect">
                <a:avLst/>
              </a:prstGeom>
              <a:noFill/>
              <a:ln>
                <a:noFill/>
              </a:ln>
            </p:spPr>
            <p:txBody>
              <a:bodyPr wrap="none" lIns="0" tIns="0" rIns="0" bIns="0" anchor="t" anchorCtr="0">
                <a:spAutoFit/>
              </a:bodyPr>
              <a:lstStyle/>
              <a:p>
                <a:pPr algn="l">
                  <a:lnSpc>
                    <a:spcPts val="2100"/>
                  </a:lnSpc>
                </a:pPr>
                <a:r>
                  <a:rPr lang="en-US" sz="1500" dirty="0">
                    <a:solidFill>
                      <a:schemeClr val="dk1"/>
                    </a:solidFill>
                    <a:latin typeface="+mn-lt"/>
                    <a:ea typeface="+mn-ea"/>
                    <a:cs typeface="+mn-cs"/>
                  </a:rPr>
                  <a:t>Define valuable</a:t>
                </a:r>
                <a:br>
                  <a:rPr lang="en-US" sz="1500" dirty="0">
                    <a:solidFill>
                      <a:schemeClr val="dk1"/>
                    </a:solidFill>
                    <a:latin typeface="+mn-lt"/>
                    <a:ea typeface="+mn-ea"/>
                    <a:cs typeface="+mn-cs"/>
                  </a:rPr>
                </a:br>
                <a:r>
                  <a:rPr lang="en-US" sz="1500" dirty="0">
                    <a:solidFill>
                      <a:schemeClr val="dk1"/>
                    </a:solidFill>
                    <a:latin typeface="+mn-lt"/>
                    <a:ea typeface="+mn-ea"/>
                    <a:cs typeface="+mn-cs"/>
                  </a:rPr>
                  <a:t>accepted work</a:t>
                </a:r>
                <a:br>
                  <a:rPr lang="en-US" sz="1500" dirty="0">
                    <a:solidFill>
                      <a:schemeClr val="dk1"/>
                    </a:solidFill>
                    <a:latin typeface="+mn-lt"/>
                    <a:ea typeface="+mn-ea"/>
                    <a:cs typeface="+mn-cs"/>
                  </a:rPr>
                </a:br>
                <a:r>
                  <a:rPr lang="en-US" sz="1500" dirty="0">
                    <a:solidFill>
                      <a:schemeClr val="dk1"/>
                    </a:solidFill>
                    <a:latin typeface="+mn-lt"/>
                    <a:ea typeface="+mn-ea"/>
                    <a:cs typeface="+mn-cs"/>
                  </a:rPr>
                  <a:t>and credible</a:t>
                </a:r>
                <a:br>
                  <a:rPr lang="en-US" sz="1500" dirty="0">
                    <a:solidFill>
                      <a:schemeClr val="dk1"/>
                    </a:solidFill>
                    <a:latin typeface="+mn-lt"/>
                    <a:ea typeface="+mn-ea"/>
                    <a:cs typeface="+mn-cs"/>
                  </a:rPr>
                </a:br>
                <a:r>
                  <a:rPr lang="en-US" sz="1500" dirty="0">
                    <a:solidFill>
                      <a:schemeClr val="dk1"/>
                    </a:solidFill>
                    <a:latin typeface="+mn-lt"/>
                    <a:ea typeface="+mn-ea"/>
                    <a:cs typeface="+mn-cs"/>
                  </a:rPr>
                  <a:t>economics.</a:t>
                </a:r>
              </a:p>
            </p:txBody>
          </p:sp>
        </p:grpSp>
        <p:grpSp>
          <p:nvGrpSpPr>
            <p:cNvPr id="13" name="Group 13"/>
            <p:cNvGrpSpPr/>
            <p:nvPr/>
          </p:nvGrpSpPr>
          <p:grpSpPr>
            <a:xfrm>
              <a:off x="2771775" y="1809750"/>
              <a:ext cx="2009775" cy="2152650"/>
              <a:chOff x="2771775" y="1809750"/>
              <a:chExt cx="2009775" cy="2152650"/>
            </a:xfrm>
          </p:grpSpPr>
          <p:sp>
            <p:nvSpPr>
              <p:cNvPr id="10" name="Rectangle 10"/>
              <p:cNvSpPr/>
              <p:nvPr/>
            </p:nvSpPr>
            <p:spPr>
              <a:xfrm>
                <a:off x="2771775" y="1809750"/>
                <a:ext cx="2009775" cy="2152650"/>
              </a:xfrm>
              <a:prstGeom prst="rect">
                <a:avLst/>
              </a:prstGeom>
              <a:solidFill>
                <a:schemeClr val="lt2"/>
              </a:solidFill>
              <a:ln>
                <a:noFill/>
              </a:ln>
            </p:spPr>
          </p:sp>
          <p:sp>
            <p:nvSpPr>
              <p:cNvPr id="11" name="TextBox 11"/>
              <p:cNvSpPr txBox="1"/>
              <p:nvPr/>
            </p:nvSpPr>
            <p:spPr>
              <a:xfrm>
                <a:off x="2953131" y="1962150"/>
                <a:ext cx="1745266" cy="352044"/>
              </a:xfrm>
              <a:prstGeom prst="rect">
                <a:avLst/>
              </a:prstGeom>
              <a:noFill/>
              <a:ln>
                <a:noFill/>
              </a:ln>
            </p:spPr>
            <p:txBody>
              <a:bodyPr wrap="none" lIns="0" tIns="0" rIns="0" bIns="0" anchor="t" anchorCtr="0">
                <a:spAutoFit/>
              </a:bodyPr>
              <a:lstStyle/>
              <a:p>
                <a:pPr algn="l"/>
                <a:r>
                  <a:rPr lang="en-US" sz="1800" dirty="0">
                    <a:solidFill>
                      <a:schemeClr val="accent2"/>
                    </a:solidFill>
                    <a:latin typeface="+mj-lt"/>
                    <a:ea typeface="+mj-ea"/>
                    <a:cs typeface="+mj-cs"/>
                  </a:rPr>
                  <a:t>02 / Grounding</a:t>
                </a:r>
              </a:p>
            </p:txBody>
          </p:sp>
          <p:sp>
            <p:nvSpPr>
              <p:cNvPr id="12" name="TextBox 12"/>
              <p:cNvSpPr txBox="1"/>
              <p:nvPr/>
            </p:nvSpPr>
            <p:spPr>
              <a:xfrm>
                <a:off x="2954655" y="2482850"/>
                <a:ext cx="1645996" cy="1093470"/>
              </a:xfrm>
              <a:prstGeom prst="rect">
                <a:avLst/>
              </a:prstGeom>
              <a:noFill/>
              <a:ln>
                <a:noFill/>
              </a:ln>
            </p:spPr>
            <p:txBody>
              <a:bodyPr wrap="none" lIns="0" tIns="0" rIns="0" bIns="0" anchor="t" anchorCtr="0">
                <a:spAutoFit/>
              </a:bodyPr>
              <a:lstStyle/>
              <a:p>
                <a:pPr algn="l">
                  <a:lnSpc>
                    <a:spcPts val="2100"/>
                  </a:lnSpc>
                </a:pPr>
                <a:r>
                  <a:rPr lang="en-US" sz="1500" dirty="0">
                    <a:solidFill>
                      <a:schemeClr val="dk1"/>
                    </a:solidFill>
                    <a:latin typeface="+mn-lt"/>
                    <a:ea typeface="+mn-ea"/>
                    <a:cs typeface="+mn-cs"/>
                  </a:rPr>
                  <a:t>Preserve evidence,</a:t>
                </a:r>
                <a:br>
                  <a:rPr lang="en-US" sz="1500" dirty="0">
                    <a:solidFill>
                      <a:schemeClr val="dk1"/>
                    </a:solidFill>
                    <a:latin typeface="+mn-lt"/>
                    <a:ea typeface="+mn-ea"/>
                    <a:cs typeface="+mn-cs"/>
                  </a:rPr>
                </a:br>
                <a:r>
                  <a:rPr lang="en-US" sz="1500" dirty="0">
                    <a:solidFill>
                      <a:schemeClr val="dk1"/>
                    </a:solidFill>
                    <a:latin typeface="+mn-lt"/>
                    <a:ea typeface="+mn-ea"/>
                    <a:cs typeface="+mn-cs"/>
                  </a:rPr>
                  <a:t>meaning, time,</a:t>
                </a:r>
                <a:br>
                  <a:rPr lang="en-US" sz="1500" dirty="0">
                    <a:solidFill>
                      <a:schemeClr val="dk1"/>
                    </a:solidFill>
                    <a:latin typeface="+mn-lt"/>
                    <a:ea typeface="+mn-ea"/>
                    <a:cs typeface="+mn-cs"/>
                  </a:rPr>
                </a:br>
                <a:r>
                  <a:rPr lang="en-US" sz="1500" dirty="0">
                    <a:solidFill>
                      <a:schemeClr val="dk1"/>
                    </a:solidFill>
                    <a:latin typeface="+mn-lt"/>
                    <a:ea typeface="+mn-ea"/>
                    <a:cs typeface="+mn-cs"/>
                  </a:rPr>
                  <a:t>source versions</a:t>
                </a:r>
                <a:br>
                  <a:rPr lang="en-US" sz="1500" dirty="0">
                    <a:solidFill>
                      <a:schemeClr val="dk1"/>
                    </a:solidFill>
                    <a:latin typeface="+mn-lt"/>
                    <a:ea typeface="+mn-ea"/>
                    <a:cs typeface="+mn-cs"/>
                  </a:rPr>
                </a:br>
                <a:r>
                  <a:rPr lang="en-US" sz="1500" dirty="0">
                    <a:solidFill>
                      <a:schemeClr val="dk1"/>
                    </a:solidFill>
                    <a:latin typeface="+mn-lt"/>
                    <a:ea typeface="+mn-ea"/>
                    <a:cs typeface="+mn-cs"/>
                  </a:rPr>
                  <a:t>and access.</a:t>
                </a:r>
              </a:p>
            </p:txBody>
          </p:sp>
        </p:grpSp>
        <p:grpSp>
          <p:nvGrpSpPr>
            <p:cNvPr id="17" name="Group 17"/>
            <p:cNvGrpSpPr/>
            <p:nvPr/>
          </p:nvGrpSpPr>
          <p:grpSpPr>
            <a:xfrm>
              <a:off x="5086350" y="1809750"/>
              <a:ext cx="2009775" cy="2152650"/>
              <a:chOff x="5086350" y="1809750"/>
              <a:chExt cx="2009775" cy="2152650"/>
            </a:xfrm>
          </p:grpSpPr>
          <p:sp>
            <p:nvSpPr>
              <p:cNvPr id="14" name="Rectangle 14"/>
              <p:cNvSpPr/>
              <p:nvPr/>
            </p:nvSpPr>
            <p:spPr>
              <a:xfrm>
                <a:off x="5086350" y="1809750"/>
                <a:ext cx="2009775" cy="2152650"/>
              </a:xfrm>
              <a:prstGeom prst="rect">
                <a:avLst/>
              </a:prstGeom>
              <a:solidFill>
                <a:schemeClr val="lt2"/>
              </a:solidFill>
              <a:ln>
                <a:noFill/>
              </a:ln>
            </p:spPr>
          </p:sp>
          <p:sp>
            <p:nvSpPr>
              <p:cNvPr id="15" name="TextBox 15"/>
              <p:cNvSpPr txBox="1"/>
              <p:nvPr/>
            </p:nvSpPr>
            <p:spPr>
              <a:xfrm>
                <a:off x="5267706" y="1962150"/>
                <a:ext cx="1750220" cy="352044"/>
              </a:xfrm>
              <a:prstGeom prst="rect">
                <a:avLst/>
              </a:prstGeom>
              <a:noFill/>
              <a:ln>
                <a:noFill/>
              </a:ln>
            </p:spPr>
            <p:txBody>
              <a:bodyPr wrap="none" lIns="0" tIns="0" rIns="0" bIns="0" anchor="t" anchorCtr="0">
                <a:spAutoFit/>
              </a:bodyPr>
              <a:lstStyle/>
              <a:p>
                <a:pPr algn="l"/>
                <a:r>
                  <a:rPr lang="en-US" sz="1800" dirty="0">
                    <a:solidFill>
                      <a:schemeClr val="accent2"/>
                    </a:solidFill>
                    <a:latin typeface="+mj-lt"/>
                    <a:ea typeface="+mj-ea"/>
                    <a:cs typeface="+mj-cs"/>
                  </a:rPr>
                  <a:t>03 / Evaluation</a:t>
                </a:r>
              </a:p>
            </p:txBody>
          </p:sp>
          <p:sp>
            <p:nvSpPr>
              <p:cNvPr id="16" name="TextBox 16"/>
              <p:cNvSpPr txBox="1"/>
              <p:nvPr/>
            </p:nvSpPr>
            <p:spPr>
              <a:xfrm>
                <a:off x="5269230" y="2482850"/>
                <a:ext cx="1529410" cy="1093470"/>
              </a:xfrm>
              <a:prstGeom prst="rect">
                <a:avLst/>
              </a:prstGeom>
              <a:noFill/>
              <a:ln>
                <a:noFill/>
              </a:ln>
            </p:spPr>
            <p:txBody>
              <a:bodyPr wrap="none" lIns="0" tIns="0" rIns="0" bIns="0" anchor="t" anchorCtr="0">
                <a:spAutoFit/>
              </a:bodyPr>
              <a:lstStyle/>
              <a:p>
                <a:pPr algn="l">
                  <a:lnSpc>
                    <a:spcPts val="2100"/>
                  </a:lnSpc>
                </a:pPr>
                <a:r>
                  <a:rPr lang="en-US" sz="1500" dirty="0">
                    <a:solidFill>
                      <a:schemeClr val="dk1"/>
                    </a:solidFill>
                    <a:latin typeface="+mn-lt"/>
                    <a:ea typeface="+mn-ea"/>
                    <a:cs typeface="+mn-cs"/>
                  </a:rPr>
                  <a:t>Test the complete</a:t>
                </a:r>
                <a:br>
                  <a:rPr lang="en-US" sz="1500" dirty="0">
                    <a:solidFill>
                      <a:schemeClr val="dk1"/>
                    </a:solidFill>
                    <a:latin typeface="+mn-lt"/>
                    <a:ea typeface="+mn-ea"/>
                    <a:cs typeface="+mn-cs"/>
                  </a:rPr>
                </a:br>
                <a:r>
                  <a:rPr lang="en-US" sz="1500" dirty="0">
                    <a:solidFill>
                      <a:schemeClr val="dk1"/>
                    </a:solidFill>
                    <a:latin typeface="+mn-lt"/>
                    <a:ea typeface="+mn-ea"/>
                    <a:cs typeface="+mn-cs"/>
                  </a:rPr>
                  <a:t>task, judge,</a:t>
                </a:r>
                <a:br>
                  <a:rPr lang="en-US" sz="1500" dirty="0">
                    <a:solidFill>
                      <a:schemeClr val="dk1"/>
                    </a:solidFill>
                    <a:latin typeface="+mn-lt"/>
                    <a:ea typeface="+mn-ea"/>
                    <a:cs typeface="+mn-cs"/>
                  </a:rPr>
                </a:br>
                <a:r>
                  <a:rPr lang="en-US" sz="1500" dirty="0">
                    <a:solidFill>
                      <a:schemeClr val="dk1"/>
                    </a:solidFill>
                    <a:latin typeface="+mn-lt"/>
                    <a:ea typeface="+mn-ea"/>
                    <a:cs typeface="+mn-cs"/>
                  </a:rPr>
                  <a:t>selection policy</a:t>
                </a:r>
                <a:br>
                  <a:rPr lang="en-US" sz="1500" dirty="0">
                    <a:solidFill>
                      <a:schemeClr val="dk1"/>
                    </a:solidFill>
                    <a:latin typeface="+mn-lt"/>
                    <a:ea typeface="+mn-ea"/>
                    <a:cs typeface="+mn-cs"/>
                  </a:rPr>
                </a:br>
                <a:r>
                  <a:rPr lang="en-US" sz="1500" dirty="0">
                    <a:solidFill>
                      <a:schemeClr val="dk1"/>
                    </a:solidFill>
                    <a:latin typeface="+mn-lt"/>
                    <a:ea typeface="+mn-ea"/>
                    <a:cs typeface="+mn-cs"/>
                  </a:rPr>
                  <a:t>and release.</a:t>
                </a:r>
              </a:p>
            </p:txBody>
          </p:sp>
        </p:grpSp>
        <p:grpSp>
          <p:nvGrpSpPr>
            <p:cNvPr id="21" name="Group 21"/>
            <p:cNvGrpSpPr/>
            <p:nvPr/>
          </p:nvGrpSpPr>
          <p:grpSpPr>
            <a:xfrm>
              <a:off x="7400925" y="1809750"/>
              <a:ext cx="2009775" cy="2152650"/>
              <a:chOff x="7400925" y="1809750"/>
              <a:chExt cx="2009775" cy="2152650"/>
            </a:xfrm>
          </p:grpSpPr>
          <p:sp>
            <p:nvSpPr>
              <p:cNvPr id="18" name="Rectangle 18"/>
              <p:cNvSpPr/>
              <p:nvPr/>
            </p:nvSpPr>
            <p:spPr>
              <a:xfrm>
                <a:off x="7400925" y="1809750"/>
                <a:ext cx="2009775" cy="2152650"/>
              </a:xfrm>
              <a:prstGeom prst="rect">
                <a:avLst/>
              </a:prstGeom>
              <a:solidFill>
                <a:schemeClr val="lt2"/>
              </a:solidFill>
              <a:ln>
                <a:noFill/>
              </a:ln>
            </p:spPr>
          </p:sp>
          <p:sp>
            <p:nvSpPr>
              <p:cNvPr id="19" name="TextBox 19"/>
              <p:cNvSpPr txBox="1"/>
              <p:nvPr/>
            </p:nvSpPr>
            <p:spPr>
              <a:xfrm>
                <a:off x="7582281" y="1962150"/>
                <a:ext cx="1784323" cy="352044"/>
              </a:xfrm>
              <a:prstGeom prst="rect">
                <a:avLst/>
              </a:prstGeom>
              <a:noFill/>
              <a:ln>
                <a:noFill/>
              </a:ln>
            </p:spPr>
            <p:txBody>
              <a:bodyPr wrap="none" lIns="0" tIns="0" rIns="0" bIns="0" anchor="t" anchorCtr="0">
                <a:spAutoFit/>
              </a:bodyPr>
              <a:lstStyle/>
              <a:p>
                <a:pPr algn="l"/>
                <a:r>
                  <a:rPr lang="en-US" sz="1800" dirty="0">
                    <a:solidFill>
                      <a:schemeClr val="accent2"/>
                    </a:solidFill>
                    <a:latin typeface="+mj-lt"/>
                    <a:ea typeface="+mj-ea"/>
                    <a:cs typeface="+mj-cs"/>
                  </a:rPr>
                  <a:t>04 / Workflows</a:t>
                </a:r>
              </a:p>
            </p:txBody>
          </p:sp>
          <p:sp>
            <p:nvSpPr>
              <p:cNvPr id="20" name="TextBox 20"/>
              <p:cNvSpPr txBox="1"/>
              <p:nvPr/>
            </p:nvSpPr>
            <p:spPr>
              <a:xfrm>
                <a:off x="7583805" y="2482850"/>
                <a:ext cx="1677924" cy="1093470"/>
              </a:xfrm>
              <a:prstGeom prst="rect">
                <a:avLst/>
              </a:prstGeom>
              <a:noFill/>
              <a:ln>
                <a:noFill/>
              </a:ln>
            </p:spPr>
            <p:txBody>
              <a:bodyPr wrap="none" lIns="0" tIns="0" rIns="0" bIns="0" anchor="t" anchorCtr="0">
                <a:spAutoFit/>
              </a:bodyPr>
              <a:lstStyle/>
              <a:p>
                <a:pPr algn="l">
                  <a:lnSpc>
                    <a:spcPts val="2100"/>
                  </a:lnSpc>
                </a:pPr>
                <a:r>
                  <a:rPr lang="en-US" sz="1500" dirty="0">
                    <a:solidFill>
                      <a:schemeClr val="dk1"/>
                    </a:solidFill>
                    <a:latin typeface="+mn-lt"/>
                    <a:ea typeface="+mn-ea"/>
                    <a:cs typeface="+mn-cs"/>
                  </a:rPr>
                  <a:t>Encode methods,</a:t>
                </a:r>
                <a:br>
                  <a:rPr lang="en-US" sz="1500" dirty="0">
                    <a:solidFill>
                      <a:schemeClr val="dk1"/>
                    </a:solidFill>
                    <a:latin typeface="+mn-lt"/>
                    <a:ea typeface="+mn-ea"/>
                    <a:cs typeface="+mn-cs"/>
                  </a:rPr>
                </a:br>
                <a:r>
                  <a:rPr lang="en-US" sz="1500" dirty="0">
                    <a:solidFill>
                      <a:schemeClr val="dk1"/>
                    </a:solidFill>
                    <a:latin typeface="+mn-lt"/>
                    <a:ea typeface="+mn-ea"/>
                    <a:cs typeface="+mn-cs"/>
                  </a:rPr>
                  <a:t>enforce authority</a:t>
                </a:r>
                <a:br>
                  <a:rPr lang="en-US" sz="1500" dirty="0">
                    <a:solidFill>
                      <a:schemeClr val="dk1"/>
                    </a:solidFill>
                    <a:latin typeface="+mn-lt"/>
                    <a:ea typeface="+mn-ea"/>
                    <a:cs typeface="+mn-cs"/>
                  </a:rPr>
                </a:br>
                <a:r>
                  <a:rPr lang="en-US" sz="1500" dirty="0">
                    <a:solidFill>
                      <a:schemeClr val="dk1"/>
                    </a:solidFill>
                    <a:latin typeface="+mn-lt"/>
                    <a:ea typeface="+mn-ea"/>
                    <a:cs typeface="+mn-cs"/>
                  </a:rPr>
                  <a:t>and verify at</a:t>
                </a:r>
                <a:br>
                  <a:rPr lang="en-US" sz="1500" dirty="0">
                    <a:solidFill>
                      <a:schemeClr val="dk1"/>
                    </a:solidFill>
                    <a:latin typeface="+mn-lt"/>
                    <a:ea typeface="+mn-ea"/>
                    <a:cs typeface="+mn-cs"/>
                  </a:rPr>
                </a:br>
                <a:r>
                  <a:rPr lang="en-US" sz="1500" dirty="0">
                    <a:solidFill>
                      <a:schemeClr val="dk1"/>
                    </a:solidFill>
                    <a:latin typeface="+mn-lt"/>
                    <a:ea typeface="+mn-ea"/>
                    <a:cs typeface="+mn-cs"/>
                  </a:rPr>
                  <a:t>several boundaries.</a:t>
                </a:r>
              </a:p>
            </p:txBody>
          </p:sp>
        </p:grpSp>
        <p:grpSp>
          <p:nvGrpSpPr>
            <p:cNvPr id="25" name="Group 25"/>
            <p:cNvGrpSpPr/>
            <p:nvPr/>
          </p:nvGrpSpPr>
          <p:grpSpPr>
            <a:xfrm>
              <a:off x="9715500" y="1809750"/>
              <a:ext cx="2019300" cy="2152650"/>
              <a:chOff x="9715500" y="1809750"/>
              <a:chExt cx="2019300" cy="2152650"/>
            </a:xfrm>
          </p:grpSpPr>
          <p:sp>
            <p:nvSpPr>
              <p:cNvPr id="22" name="Rectangle 22"/>
              <p:cNvSpPr/>
              <p:nvPr/>
            </p:nvSpPr>
            <p:spPr>
              <a:xfrm>
                <a:off x="9715500" y="1809750"/>
                <a:ext cx="2019300" cy="2152650"/>
              </a:xfrm>
              <a:prstGeom prst="rect">
                <a:avLst/>
              </a:prstGeom>
              <a:solidFill>
                <a:schemeClr val="accent1"/>
              </a:solidFill>
              <a:ln>
                <a:noFill/>
              </a:ln>
            </p:spPr>
          </p:sp>
          <p:sp>
            <p:nvSpPr>
              <p:cNvPr id="23" name="TextBox 23"/>
              <p:cNvSpPr txBox="1"/>
              <p:nvPr/>
            </p:nvSpPr>
            <p:spPr>
              <a:xfrm>
                <a:off x="9896856" y="1962150"/>
                <a:ext cx="1412530" cy="352044"/>
              </a:xfrm>
              <a:prstGeom prst="rect">
                <a:avLst/>
              </a:prstGeom>
              <a:noFill/>
              <a:ln>
                <a:noFill/>
              </a:ln>
            </p:spPr>
            <p:txBody>
              <a:bodyPr wrap="none" lIns="0" tIns="0" rIns="0" bIns="0" anchor="t" anchorCtr="0">
                <a:spAutoFit/>
              </a:bodyPr>
              <a:lstStyle/>
              <a:p>
                <a:pPr algn="l"/>
                <a:r>
                  <a:rPr lang="en-US" sz="1800" dirty="0">
                    <a:solidFill>
                      <a:schemeClr val="accent3"/>
                    </a:solidFill>
                    <a:latin typeface="+mj-lt"/>
                    <a:ea typeface="+mj-ea"/>
                    <a:cs typeface="+mj-cs"/>
                  </a:rPr>
                  <a:t>05 / Growth</a:t>
                </a:r>
              </a:p>
            </p:txBody>
          </p:sp>
          <p:sp>
            <p:nvSpPr>
              <p:cNvPr id="24" name="TextBox 24"/>
              <p:cNvSpPr txBox="1"/>
              <p:nvPr/>
            </p:nvSpPr>
            <p:spPr>
              <a:xfrm>
                <a:off x="9898380" y="2482850"/>
                <a:ext cx="1296505" cy="1093470"/>
              </a:xfrm>
              <a:prstGeom prst="rect">
                <a:avLst/>
              </a:prstGeom>
              <a:noFill/>
              <a:ln>
                <a:noFill/>
              </a:ln>
            </p:spPr>
            <p:txBody>
              <a:bodyPr wrap="none" lIns="0" tIns="0" rIns="0" bIns="0" anchor="t" anchorCtr="0">
                <a:spAutoFit/>
              </a:bodyPr>
              <a:lstStyle/>
              <a:p>
                <a:pPr algn="l">
                  <a:lnSpc>
                    <a:spcPts val="2100"/>
                  </a:lnSpc>
                </a:pPr>
                <a:r>
                  <a:rPr lang="en-US" sz="1500" dirty="0">
                    <a:solidFill>
                      <a:srgbClr val="FFFDF7"/>
                    </a:solidFill>
                    <a:latin typeface="+mn-lt"/>
                    <a:ea typeface="+mn-ea"/>
                    <a:cs typeface="+mn-cs"/>
                  </a:rPr>
                  <a:t>Own the loop</a:t>
                </a:r>
                <a:br>
                  <a:rPr lang="en-US" sz="1500" dirty="0">
                    <a:solidFill>
                      <a:srgbClr val="FFFDF7"/>
                    </a:solidFill>
                    <a:latin typeface="+mn-lt"/>
                    <a:ea typeface="+mn-ea"/>
                    <a:cs typeface="+mn-cs"/>
                  </a:rPr>
                </a:br>
                <a:r>
                  <a:rPr lang="en-US" sz="1500" dirty="0">
                    <a:solidFill>
                      <a:srgbClr val="FFFDF7"/>
                    </a:solidFill>
                    <a:latin typeface="+mn-lt"/>
                    <a:ea typeface="+mn-ea"/>
                    <a:cs typeface="+mn-cs"/>
                  </a:rPr>
                  <a:t>from user need</a:t>
                </a:r>
                <a:br>
                  <a:rPr lang="en-US" sz="1500" dirty="0">
                    <a:solidFill>
                      <a:srgbClr val="FFFDF7"/>
                    </a:solidFill>
                    <a:latin typeface="+mn-lt"/>
                    <a:ea typeface="+mn-ea"/>
                    <a:cs typeface="+mn-cs"/>
                  </a:rPr>
                </a:br>
                <a:r>
                  <a:rPr lang="en-US" sz="1500" dirty="0">
                    <a:solidFill>
                      <a:srgbClr val="FFFDF7"/>
                    </a:solidFill>
                    <a:latin typeface="+mn-lt"/>
                    <a:ea typeface="+mn-ea"/>
                    <a:cs typeface="+mn-cs"/>
                  </a:rPr>
                  <a:t>to verified</a:t>
                </a:r>
                <a:br>
                  <a:rPr lang="en-US" sz="1500" dirty="0">
                    <a:solidFill>
                      <a:srgbClr val="FFFDF7"/>
                    </a:solidFill>
                    <a:latin typeface="+mn-lt"/>
                    <a:ea typeface="+mn-ea"/>
                    <a:cs typeface="+mn-cs"/>
                  </a:rPr>
                </a:br>
                <a:r>
                  <a:rPr lang="en-US" sz="1500" dirty="0">
                    <a:solidFill>
                      <a:srgbClr val="FFFDF7"/>
                    </a:solidFill>
                    <a:latin typeface="+mn-lt"/>
                    <a:ea typeface="+mn-ea"/>
                    <a:cs typeface="+mn-cs"/>
                  </a:rPr>
                  <a:t>improvement.</a:t>
                </a:r>
              </a:p>
            </p:txBody>
          </p:sp>
        </p:grpSp>
      </p:grpSp>
      <p:grpSp>
        <p:nvGrpSpPr>
          <p:cNvPr id="29" name="connected-method"/>
          <p:cNvGrpSpPr/>
          <p:nvPr/>
        </p:nvGrpSpPr>
        <p:grpSpPr>
          <a:xfrm>
            <a:off x="449580" y="4368800"/>
            <a:ext cx="9133103" cy="1360170"/>
            <a:chOff x="449580" y="4368800"/>
            <a:chExt cx="9133103" cy="1360170"/>
          </a:xfrm>
        </p:grpSpPr>
        <p:sp>
          <p:nvSpPr>
            <p:cNvPr id="27" name="TextBox 27"/>
            <p:cNvSpPr txBox="1"/>
            <p:nvPr/>
          </p:nvSpPr>
          <p:spPr>
            <a:xfrm>
              <a:off x="449580" y="4368800"/>
              <a:ext cx="8857755" cy="560070"/>
            </a:xfrm>
            <a:prstGeom prst="rect">
              <a:avLst/>
            </a:prstGeom>
            <a:noFill/>
            <a:ln>
              <a:noFill/>
            </a:ln>
          </p:spPr>
          <p:txBody>
            <a:bodyPr wrap="none" lIns="0" tIns="0" rIns="0" bIns="0" anchor="t" anchorCtr="0">
              <a:spAutoFit/>
            </a:bodyPr>
            <a:lstStyle/>
            <a:p>
              <a:pPr algn="l">
                <a:lnSpc>
                  <a:spcPts val="2100"/>
                </a:lnSpc>
              </a:pPr>
              <a:r>
                <a:rPr lang="en-US" sz="1500" dirty="0">
                  <a:solidFill>
                    <a:schemeClr val="dk1"/>
                  </a:solidFill>
                  <a:latin typeface="+mn-lt"/>
                  <a:ea typeface="+mn-ea"/>
                  <a:cs typeface="+mn-cs"/>
                </a:rPr>
                <a:t>Start with the bottleneck: Bridgewater’s relevant evidence, Range’s expert planning or wealth preparation</a:t>
              </a:r>
              <a:br>
                <a:rPr lang="en-US" sz="1500" dirty="0">
                  <a:solidFill>
                    <a:schemeClr val="dk1"/>
                  </a:solidFill>
                  <a:latin typeface="+mn-lt"/>
                  <a:ea typeface="+mn-ea"/>
                  <a:cs typeface="+mn-cs"/>
                </a:rPr>
              </a:br>
              <a:r>
                <a:rPr lang="en-US" sz="1500" dirty="0">
                  <a:solidFill>
                    <a:schemeClr val="dk1"/>
                  </a:solidFill>
                  <a:latin typeface="+mn-lt"/>
                  <a:ea typeface="+mn-ea"/>
                  <a:cs typeface="+mn-cs"/>
                </a:rPr>
                <a:t>and follow-through. Name the accepted output and scarce resource before choosing tools.</a:t>
              </a:r>
            </a:p>
          </p:txBody>
        </p:sp>
        <p:sp>
          <p:nvSpPr>
            <p:cNvPr id="28" name="TextBox 28"/>
            <p:cNvSpPr txBox="1"/>
            <p:nvPr/>
          </p:nvSpPr>
          <p:spPr>
            <a:xfrm>
              <a:off x="449580" y="5168900"/>
              <a:ext cx="9133103" cy="560070"/>
            </a:xfrm>
            <a:prstGeom prst="rect">
              <a:avLst/>
            </a:prstGeom>
            <a:noFill/>
            <a:ln>
              <a:noFill/>
            </a:ln>
          </p:spPr>
          <p:txBody>
            <a:bodyPr wrap="none" lIns="0" tIns="0" rIns="0" bIns="0" anchor="t" anchorCtr="0">
              <a:spAutoFit/>
            </a:bodyPr>
            <a:lstStyle/>
            <a:p>
              <a:pPr algn="l">
                <a:lnSpc>
                  <a:spcPts val="2100"/>
                </a:lnSpc>
              </a:pPr>
              <a:r>
                <a:rPr lang="en-US" sz="1500" dirty="0">
                  <a:solidFill>
                    <a:schemeClr val="dk1"/>
                  </a:solidFill>
                  <a:latin typeface="+mn-lt"/>
                  <a:ea typeface="+mn-ea"/>
                  <a:cs typeface="+mn-cs"/>
                </a:rPr>
                <a:t>Then trace sources, definitions, access, actions and corrections through the delivered artifact.</a:t>
              </a:r>
              <a:br>
                <a:rPr lang="en-US" sz="1500" dirty="0">
                  <a:solidFill>
                    <a:schemeClr val="dk1"/>
                  </a:solidFill>
                  <a:latin typeface="+mn-lt"/>
                  <a:ea typeface="+mn-ea"/>
                  <a:cs typeface="+mn-cs"/>
                </a:rPr>
              </a:br>
              <a:r>
                <a:rPr lang="en-US" sz="1500" dirty="0">
                  <a:solidFill>
                    <a:schemeClr val="dk1"/>
                  </a:solidFill>
                  <a:latin typeface="+mn-lt"/>
                  <a:ea typeface="+mn-ea"/>
                  <a:cs typeface="+mn-cs"/>
                </a:rPr>
                <a:t>Ramp’s ablations and Arize’s trace analysis motivate one bounded comparison: change, assess and decide.</a:t>
              </a:r>
            </a:p>
          </p:txBody>
        </p:sp>
      </p:grpSp>
      <p:grpSp>
        <p:nvGrpSpPr>
          <p:cNvPr id="32" name="footer"/>
          <p:cNvGrpSpPr/>
          <p:nvPr/>
        </p:nvGrpSpPr>
        <p:grpSpPr>
          <a:xfrm>
            <a:off x="452438" y="6429375"/>
            <a:ext cx="11287124" cy="176212"/>
            <a:chOff x="452438" y="6429375"/>
            <a:chExt cx="11287124" cy="176212"/>
          </a:xfrm>
        </p:grpSpPr>
        <p:sp>
          <p:nvSpPr>
            <p:cNvPr id="30" name="TextBox 30"/>
            <p:cNvSpPr txBox="1"/>
            <p:nvPr/>
          </p:nvSpPr>
          <p:spPr>
            <a:xfrm>
              <a:off x="452438" y="6429375"/>
              <a:ext cx="5923251" cy="176212"/>
            </a:xfrm>
            <a:prstGeom prst="rect">
              <a:avLst/>
            </a:prstGeom>
            <a:noFill/>
            <a:ln>
              <a:noFill/>
            </a:ln>
          </p:spPr>
          <p:txBody>
            <a:bodyPr wrap="none" lIns="0" tIns="0" rIns="0" bIns="0" anchor="t" anchorCtr="0">
              <a:spAutoFit/>
            </a:bodyPr>
            <a:lstStyle/>
            <a:p>
              <a:pPr algn="l"/>
              <a:r>
                <a:rPr lang="en-US" sz="900" dirty="0">
                  <a:solidFill>
                    <a:schemeClr val="accent5"/>
                  </a:solidFill>
                  <a:latin typeface="+mn-lt"/>
                  <a:ea typeface="+mn-ea"/>
                  <a:cs typeface="+mn-cs"/>
                </a:rPr>
                <a:t>Our synthesis of conference mechanisms. A model choice or benchmark does not resolve the whole workflow.</a:t>
              </a:r>
            </a:p>
          </p:txBody>
        </p:sp>
        <p:sp>
          <p:nvSpPr>
            <p:cNvPr id="31" name="TextBox 31"/>
            <p:cNvSpPr txBox="1"/>
            <p:nvPr/>
          </p:nvSpPr>
          <p:spPr>
            <a:xfrm>
              <a:off x="11359512" y="6429375"/>
              <a:ext cx="380050" cy="176212"/>
            </a:xfrm>
            <a:prstGeom prst="rect">
              <a:avLst/>
            </a:prstGeom>
            <a:noFill/>
            <a:ln>
              <a:noFill/>
            </a:ln>
          </p:spPr>
          <p:txBody>
            <a:bodyPr wrap="none" lIns="0" tIns="0" rIns="0" bIns="0" anchor="t" anchorCtr="0">
              <a:spAutoFit/>
            </a:bodyPr>
            <a:lstStyle/>
            <a:p>
              <a:pPr algn="r"/>
              <a:r>
                <a:rPr lang="en-US" sz="900" dirty="0">
                  <a:solidFill>
                    <a:schemeClr val="accent5"/>
                  </a:solidFill>
                  <a:latin typeface="+mn-lt"/>
                  <a:ea typeface="+mn-ea"/>
                  <a:cs typeface="+mn-cs"/>
                </a:rPr>
                <a:t>02 / 37</a:t>
              </a:r>
            </a:p>
          </p:txBody>
        </p:sp>
      </p:grpSp>
    </p:spTree>
  </p:cSld>
  <p:clrMapOvr>
    <a:masterClrMapping/>
  </p:clrMapOvr>
  <p:transition xmlns:p14="http://schemas.microsoft.com/office/powerpoint/2010/main" p14:dur="400">
    <p:fade/>
  </p:transition>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5" name="title"/>
          <p:cNvGrpSpPr/>
          <p:nvPr/>
        </p:nvGrpSpPr>
        <p:grpSpPr>
          <a:xfrm>
            <a:off x="443484" y="361950"/>
            <a:ext cx="10638328" cy="1100582"/>
            <a:chOff x="443484" y="361950"/>
            <a:chExt cx="10638328" cy="1100582"/>
          </a:xfrm>
        </p:grpSpPr>
        <p:sp>
          <p:nvSpPr>
            <p:cNvPr id="2" name="TextBox 2"/>
            <p:cNvSpPr txBox="1"/>
            <p:nvPr/>
          </p:nvSpPr>
          <p:spPr>
            <a:xfrm>
              <a:off x="451104" y="361950"/>
              <a:ext cx="2060858" cy="234696"/>
            </a:xfrm>
            <a:prstGeom prst="rect">
              <a:avLst/>
            </a:prstGeom>
            <a:noFill/>
            <a:ln>
              <a:noFill/>
            </a:ln>
          </p:spPr>
          <p:txBody>
            <a:bodyPr wrap="none" lIns="0" tIns="0" rIns="0" bIns="0" anchor="t" anchorCtr="0">
              <a:spAutoFit/>
            </a:bodyPr>
            <a:lstStyle/>
            <a:p>
              <a:pPr algn="l"/>
              <a:r>
                <a:rPr lang="en-US" sz="1200" dirty="0">
                  <a:solidFill>
                    <a:schemeClr val="accent2"/>
                  </a:solidFill>
                  <a:latin typeface="+mn-lt"/>
                  <a:ea typeface="+mn-ea"/>
                  <a:cs typeface="+mn-cs"/>
                </a:rPr>
                <a:t>01 / FINANCE STRATEGY</a:t>
              </a:r>
            </a:p>
          </p:txBody>
        </p:sp>
        <p:sp>
          <p:nvSpPr>
            <p:cNvPr id="3" name="TextBox 3"/>
            <p:cNvSpPr txBox="1"/>
            <p:nvPr/>
          </p:nvSpPr>
          <p:spPr>
            <a:xfrm>
              <a:off x="443484" y="593725"/>
              <a:ext cx="7460925" cy="528066"/>
            </a:xfrm>
            <a:prstGeom prst="rect">
              <a:avLst/>
            </a:prstGeom>
            <a:noFill/>
            <a:ln>
              <a:noFill/>
            </a:ln>
          </p:spPr>
          <p:txBody>
            <a:bodyPr wrap="none" lIns="0" tIns="0" rIns="0" bIns="0" anchor="t" anchorCtr="0">
              <a:spAutoFit/>
            </a:bodyPr>
            <a:lstStyle/>
            <a:p>
              <a:pPr algn="l"/>
              <a:r>
                <a:rPr lang="en-US" sz="2700" dirty="0">
                  <a:solidFill>
                    <a:schemeClr val="accent1"/>
                  </a:solidFill>
                  <a:latin typeface="+mj-lt"/>
                  <a:ea typeface="+mj-ea"/>
                  <a:cs typeface="+mj-cs"/>
                </a:rPr>
                <a:t>Design for a reviewed financial work product</a:t>
              </a:r>
            </a:p>
          </p:txBody>
        </p:sp>
        <p:sp>
          <p:nvSpPr>
            <p:cNvPr id="4" name="TextBox 4"/>
            <p:cNvSpPr txBox="1"/>
            <p:nvPr/>
          </p:nvSpPr>
          <p:spPr>
            <a:xfrm>
              <a:off x="448818" y="1139825"/>
              <a:ext cx="10632994" cy="322707"/>
            </a:xfrm>
            <a:prstGeom prst="rect">
              <a:avLst/>
            </a:prstGeom>
            <a:noFill/>
            <a:ln>
              <a:noFill/>
            </a:ln>
          </p:spPr>
          <p:txBody>
            <a:bodyPr wrap="none" lIns="0" tIns="0" rIns="0" bIns="0" anchor="t" anchorCtr="0">
              <a:spAutoFit/>
            </a:bodyPr>
            <a:lstStyle/>
            <a:p>
              <a:pPr algn="l"/>
              <a:r>
                <a:rPr lang="en-US" sz="1650" dirty="0">
                  <a:solidFill>
                    <a:schemeClr val="accent5"/>
                  </a:solidFill>
                  <a:latin typeface="+mn-lt"/>
                  <a:ea typeface="+mn-ea"/>
                  <a:cs typeface="+mn-cs"/>
                </a:rPr>
                <a:t>Coatue decomposes decisions; Apollo/Redding Ridge reconciles sources; Range preserves planner review.</a:t>
              </a:r>
            </a:p>
          </p:txBody>
        </p:sp>
      </p:grpSp>
      <p:grpSp>
        <p:nvGrpSpPr>
          <p:cNvPr id="8" name="analysis-1"/>
          <p:cNvGrpSpPr/>
          <p:nvPr/>
        </p:nvGrpSpPr>
        <p:grpSpPr>
          <a:xfrm>
            <a:off x="448056" y="1876425"/>
            <a:ext cx="3055734" cy="2979420"/>
            <a:chOff x="448056" y="1876425"/>
            <a:chExt cx="3055734" cy="2979420"/>
          </a:xfrm>
        </p:grpSpPr>
        <p:sp>
          <p:nvSpPr>
            <p:cNvPr id="6" name="TextBox 6"/>
            <p:cNvSpPr txBox="1"/>
            <p:nvPr/>
          </p:nvSpPr>
          <p:spPr>
            <a:xfrm>
              <a:off x="448056" y="1876425"/>
              <a:ext cx="2692367" cy="352044"/>
            </a:xfrm>
            <a:prstGeom prst="rect">
              <a:avLst/>
            </a:prstGeom>
            <a:noFill/>
            <a:ln>
              <a:noFill/>
            </a:ln>
          </p:spPr>
          <p:txBody>
            <a:bodyPr wrap="none" lIns="0" tIns="0" rIns="0" bIns="0" anchor="t" anchorCtr="0">
              <a:spAutoFit/>
            </a:bodyPr>
            <a:lstStyle/>
            <a:p>
              <a:pPr algn="l"/>
              <a:r>
                <a:rPr lang="en-US" sz="1800" dirty="0">
                  <a:solidFill>
                    <a:schemeClr val="accent2"/>
                  </a:solidFill>
                  <a:latin typeface="+mj-lt"/>
                  <a:ea typeface="+mj-ea"/>
                  <a:cs typeface="+mj-cs"/>
                </a:rPr>
                <a:t>Decompose the decision</a:t>
              </a:r>
            </a:p>
          </p:txBody>
        </p:sp>
        <p:sp>
          <p:nvSpPr>
            <p:cNvPr id="7" name="TextBox 7"/>
            <p:cNvSpPr txBox="1"/>
            <p:nvPr/>
          </p:nvSpPr>
          <p:spPr>
            <a:xfrm>
              <a:off x="449580" y="2505075"/>
              <a:ext cx="3054210" cy="2350770"/>
            </a:xfrm>
            <a:prstGeom prst="rect">
              <a:avLst/>
            </a:prstGeom>
            <a:noFill/>
            <a:ln>
              <a:noFill/>
            </a:ln>
          </p:spPr>
          <p:txBody>
            <a:bodyPr wrap="none" lIns="0" tIns="0" rIns="0" bIns="0" anchor="t" anchorCtr="0">
              <a:spAutoFit/>
            </a:bodyPr>
            <a:lstStyle/>
            <a:p>
              <a:pPr algn="l">
                <a:lnSpc>
                  <a:spcPts val="2025"/>
                </a:lnSpc>
              </a:pPr>
              <a:r>
                <a:rPr lang="en-US" sz="1500" dirty="0">
                  <a:solidFill>
                    <a:schemeClr val="dk1"/>
                  </a:solidFill>
                  <a:latin typeface="+mn-lt"/>
                  <a:ea typeface="+mn-ea"/>
                  <a:cs typeface="+mn-cs"/>
                </a:rPr>
                <a:t>Coatue models investing as context</a:t>
              </a:r>
              <a:br>
                <a:rPr lang="en-US" sz="1500" dirty="0">
                  <a:solidFill>
                    <a:schemeClr val="dk1"/>
                  </a:solidFill>
                  <a:latin typeface="+mn-lt"/>
                  <a:ea typeface="+mn-ea"/>
                  <a:cs typeface="+mn-cs"/>
                </a:rPr>
              </a:br>
              <a:r>
                <a:rPr lang="en-US" sz="1500" dirty="0">
                  <a:solidFill>
                    <a:schemeClr val="dk1"/>
                  </a:solidFill>
                  <a:latin typeface="+mn-lt"/>
                  <a:ea typeface="+mn-ea"/>
                  <a:cs typeface="+mn-cs"/>
                </a:rPr>
                <a:t>transformed into selection, size</a:t>
              </a:r>
              <a:br>
                <a:rPr lang="en-US" sz="1500" dirty="0">
                  <a:solidFill>
                    <a:schemeClr val="dk1"/>
                  </a:solidFill>
                  <a:latin typeface="+mn-lt"/>
                  <a:ea typeface="+mn-ea"/>
                  <a:cs typeface="+mn-cs"/>
                </a:rPr>
              </a:br>
              <a:r>
                <a:rPr lang="en-US" sz="1500" dirty="0">
                  <a:solidFill>
                    <a:schemeClr val="dk1"/>
                  </a:solidFill>
                  <a:latin typeface="+mn-lt"/>
                  <a:ea typeface="+mn-ea"/>
                  <a:cs typeface="+mn-cs"/>
                </a:rPr>
                <a:t>and timing. Break the work into</a:t>
              </a:r>
              <a:br>
                <a:rPr lang="en-US" sz="1500" dirty="0">
                  <a:solidFill>
                    <a:schemeClr val="dk1"/>
                  </a:solidFill>
                  <a:latin typeface="+mn-lt"/>
                  <a:ea typeface="+mn-ea"/>
                  <a:cs typeface="+mn-cs"/>
                </a:rPr>
              </a:br>
              <a:r>
                <a:rPr lang="en-US" sz="1500" dirty="0">
                  <a:solidFill>
                    <a:schemeClr val="dk1"/>
                  </a:solidFill>
                  <a:latin typeface="+mn-lt"/>
                  <a:ea typeface="+mn-ea"/>
                  <a:cs typeface="+mn-cs"/>
                </a:rPr>
                <a:t>collection, interpretation,</a:t>
              </a:r>
              <a:br>
                <a:rPr lang="en-US" sz="1500" dirty="0">
                  <a:solidFill>
                    <a:schemeClr val="dk1"/>
                  </a:solidFill>
                  <a:latin typeface="+mn-lt"/>
                  <a:ea typeface="+mn-ea"/>
                  <a:cs typeface="+mn-cs"/>
                </a:rPr>
              </a:br>
              <a:r>
                <a:rPr lang="en-US" sz="1500" dirty="0">
                  <a:solidFill>
                    <a:schemeClr val="dk1"/>
                  </a:solidFill>
                  <a:latin typeface="+mn-lt"/>
                  <a:ea typeface="+mn-ea"/>
                  <a:cs typeface="+mn-cs"/>
                </a:rPr>
                <a:t>checking and judgment. A step may</a:t>
              </a:r>
              <a:br>
                <a:rPr lang="en-US" sz="1500" dirty="0">
                  <a:solidFill>
                    <a:schemeClr val="dk1"/>
                  </a:solidFill>
                  <a:latin typeface="+mn-lt"/>
                  <a:ea typeface="+mn-ea"/>
                  <a:cs typeface="+mn-cs"/>
                </a:rPr>
              </a:br>
              <a:r>
                <a:rPr lang="en-US" sz="1500" dirty="0">
                  <a:solidFill>
                    <a:schemeClr val="dk1"/>
                  </a:solidFill>
                  <a:latin typeface="+mn-lt"/>
                  <a:ea typeface="+mn-ea"/>
                  <a:cs typeface="+mn-cs"/>
                </a:rPr>
                <a:t>use code, classical ML, an LLM or a</a:t>
              </a:r>
              <a:br>
                <a:rPr lang="en-US" sz="1500" dirty="0">
                  <a:solidFill>
                    <a:schemeClr val="dk1"/>
                  </a:solidFill>
                  <a:latin typeface="+mn-lt"/>
                  <a:ea typeface="+mn-ea"/>
                  <a:cs typeface="+mn-cs"/>
                </a:rPr>
              </a:br>
              <a:r>
                <a:rPr lang="en-US" sz="1500" dirty="0">
                  <a:solidFill>
                    <a:schemeClr val="dk1"/>
                  </a:solidFill>
                  <a:latin typeface="+mn-lt"/>
                  <a:ea typeface="+mn-ea"/>
                  <a:cs typeface="+mn-cs"/>
                </a:rPr>
                <a:t>person; the objective is a sound</a:t>
              </a:r>
              <a:br>
                <a:rPr lang="en-US" sz="1500" dirty="0">
                  <a:solidFill>
                    <a:schemeClr val="dk1"/>
                  </a:solidFill>
                  <a:latin typeface="+mn-lt"/>
                  <a:ea typeface="+mn-ea"/>
                  <a:cs typeface="+mn-cs"/>
                </a:rPr>
              </a:br>
              <a:r>
                <a:rPr lang="en-US" sz="1500" dirty="0">
                  <a:solidFill>
                    <a:schemeClr val="dk1"/>
                  </a:solidFill>
                  <a:latin typeface="+mn-lt"/>
                  <a:ea typeface="+mn-ea"/>
                  <a:cs typeface="+mn-cs"/>
                </a:rPr>
                <a:t>decision process rather than</a:t>
              </a:r>
              <a:br>
                <a:rPr lang="en-US" sz="1500" dirty="0">
                  <a:solidFill>
                    <a:schemeClr val="dk1"/>
                  </a:solidFill>
                  <a:latin typeface="+mn-lt"/>
                  <a:ea typeface="+mn-ea"/>
                  <a:cs typeface="+mn-cs"/>
                </a:rPr>
              </a:br>
              <a:r>
                <a:rPr lang="en-US" sz="1500" dirty="0">
                  <a:solidFill>
                    <a:schemeClr val="dk1"/>
                  </a:solidFill>
                  <a:latin typeface="+mn-lt"/>
                  <a:ea typeface="+mn-ea"/>
                  <a:cs typeface="+mn-cs"/>
                </a:rPr>
                <a:t>maximum LLM coverage.</a:t>
              </a:r>
            </a:p>
          </p:txBody>
        </p:sp>
      </p:grpSp>
      <p:grpSp>
        <p:nvGrpSpPr>
          <p:cNvPr id="11" name="analysis-2"/>
          <p:cNvGrpSpPr/>
          <p:nvPr/>
        </p:nvGrpSpPr>
        <p:grpSpPr>
          <a:xfrm>
            <a:off x="4296156" y="1876425"/>
            <a:ext cx="3055963" cy="2979420"/>
            <a:chOff x="4296156" y="1876425"/>
            <a:chExt cx="3055963" cy="2979420"/>
          </a:xfrm>
        </p:grpSpPr>
        <p:sp>
          <p:nvSpPr>
            <p:cNvPr id="9" name="TextBox 9"/>
            <p:cNvSpPr txBox="1"/>
            <p:nvPr/>
          </p:nvSpPr>
          <p:spPr>
            <a:xfrm>
              <a:off x="4296156" y="1876425"/>
              <a:ext cx="2951496" cy="352044"/>
            </a:xfrm>
            <a:prstGeom prst="rect">
              <a:avLst/>
            </a:prstGeom>
            <a:noFill/>
            <a:ln>
              <a:noFill/>
            </a:ln>
          </p:spPr>
          <p:txBody>
            <a:bodyPr wrap="none" lIns="0" tIns="0" rIns="0" bIns="0" anchor="t" anchorCtr="0">
              <a:spAutoFit/>
            </a:bodyPr>
            <a:lstStyle/>
            <a:p>
              <a:pPr algn="l"/>
              <a:r>
                <a:rPr lang="en-US" sz="1800" dirty="0">
                  <a:solidFill>
                    <a:schemeClr val="accent2"/>
                  </a:solidFill>
                  <a:latin typeface="+mj-lt"/>
                  <a:ea typeface="+mj-ea"/>
                  <a:cs typeface="+mj-cs"/>
                </a:rPr>
                <a:t>Observe the real workflow</a:t>
              </a:r>
            </a:p>
          </p:txBody>
        </p:sp>
        <p:sp>
          <p:nvSpPr>
            <p:cNvPr id="10" name="TextBox 10"/>
            <p:cNvSpPr txBox="1"/>
            <p:nvPr/>
          </p:nvSpPr>
          <p:spPr>
            <a:xfrm>
              <a:off x="4297680" y="2505075"/>
              <a:ext cx="3054439" cy="2350770"/>
            </a:xfrm>
            <a:prstGeom prst="rect">
              <a:avLst/>
            </a:prstGeom>
            <a:noFill/>
            <a:ln>
              <a:noFill/>
            </a:ln>
          </p:spPr>
          <p:txBody>
            <a:bodyPr wrap="none" lIns="0" tIns="0" rIns="0" bIns="0" anchor="t" anchorCtr="0">
              <a:spAutoFit/>
            </a:bodyPr>
            <a:lstStyle/>
            <a:p>
              <a:pPr algn="l">
                <a:lnSpc>
                  <a:spcPts val="2025"/>
                </a:lnSpc>
              </a:pPr>
              <a:r>
                <a:rPr lang="en-US" sz="1500" dirty="0">
                  <a:solidFill>
                    <a:schemeClr val="dk1"/>
                  </a:solidFill>
                  <a:latin typeface="+mn-lt"/>
                  <a:ea typeface="+mn-ea"/>
                  <a:cs typeface="+mn-cs"/>
                </a:rPr>
                <a:t>Apollo/Redding Ridge describes</a:t>
              </a:r>
              <a:br>
                <a:rPr lang="en-US" sz="1500" dirty="0">
                  <a:solidFill>
                    <a:schemeClr val="dk1"/>
                  </a:solidFill>
                  <a:latin typeface="+mn-lt"/>
                  <a:ea typeface="+mn-ea"/>
                  <a:cs typeface="+mn-cs"/>
                </a:rPr>
              </a:br>
              <a:r>
                <a:rPr lang="en-US" sz="1500" dirty="0">
                  <a:solidFill>
                    <a:schemeClr val="dk1"/>
                  </a:solidFill>
                  <a:latin typeface="+mn-lt"/>
                  <a:ea typeface="+mn-ea"/>
                  <a:cs typeface="+mn-cs"/>
                </a:rPr>
                <a:t>portfolio preparation for PM</a:t>
              </a:r>
              <a:br>
                <a:rPr lang="en-US" sz="1500" dirty="0">
                  <a:solidFill>
                    <a:schemeClr val="dk1"/>
                  </a:solidFill>
                  <a:latin typeface="+mn-lt"/>
                  <a:ea typeface="+mn-ea"/>
                  <a:cs typeface="+mn-cs"/>
                </a:rPr>
              </a:br>
              <a:r>
                <a:rPr lang="en-US" sz="1500" dirty="0">
                  <a:solidFill>
                    <a:schemeClr val="dk1"/>
                  </a:solidFill>
                  <a:latin typeface="+mn-lt"/>
                  <a:ea typeface="+mn-ea"/>
                  <a:cs typeface="+mn-cs"/>
                </a:rPr>
                <a:t>refinement and recurring financing</a:t>
              </a:r>
              <a:br>
                <a:rPr lang="en-US" sz="1500" dirty="0">
                  <a:solidFill>
                    <a:schemeClr val="dk1"/>
                  </a:solidFill>
                  <a:latin typeface="+mn-lt"/>
                  <a:ea typeface="+mn-ea"/>
                  <a:cs typeface="+mn-cs"/>
                </a:rPr>
              </a:br>
              <a:r>
                <a:rPr lang="en-US" sz="1500" dirty="0">
                  <a:solidFill>
                    <a:schemeClr val="dk1"/>
                  </a:solidFill>
                  <a:latin typeface="+mn-lt"/>
                  <a:ea typeface="+mn-ea"/>
                  <a:cs typeface="+mn-cs"/>
                </a:rPr>
                <a:t>reports followed by team QA.</a:t>
              </a:r>
              <a:br>
                <a:rPr lang="en-US" sz="1500" dirty="0">
                  <a:solidFill>
                    <a:schemeClr val="dk1"/>
                  </a:solidFill>
                  <a:latin typeface="+mn-lt"/>
                  <a:ea typeface="+mn-ea"/>
                  <a:cs typeface="+mn-cs"/>
                </a:rPr>
              </a:br>
              <a:r>
                <a:rPr lang="en-US" sz="1500" dirty="0">
                  <a:solidFill>
                    <a:schemeClr val="dk1"/>
                  </a:solidFill>
                  <a:latin typeface="+mn-lt"/>
                  <a:ea typeface="+mn-ea"/>
                  <a:cs typeface="+mn-cs"/>
                </a:rPr>
                <a:t>Reconciliation means learning why</a:t>
              </a:r>
              <a:br>
                <a:rPr lang="en-US" sz="1500" dirty="0">
                  <a:solidFill>
                    <a:schemeClr val="dk1"/>
                  </a:solidFill>
                  <a:latin typeface="+mn-lt"/>
                  <a:ea typeface="+mn-ea"/>
                  <a:cs typeface="+mn-cs"/>
                </a:rPr>
              </a:br>
              <a:r>
                <a:rPr lang="en-US" sz="1500" dirty="0">
                  <a:solidFill>
                    <a:schemeClr val="dk1"/>
                  </a:solidFill>
                  <a:latin typeface="+mn-lt"/>
                  <a:ea typeface="+mn-ea"/>
                  <a:cs typeface="+mn-cs"/>
                </a:rPr>
                <a:t>one feed is authoritative, not</a:t>
              </a:r>
              <a:br>
                <a:rPr lang="en-US" sz="1500" dirty="0">
                  <a:solidFill>
                    <a:schemeClr val="dk1"/>
                  </a:solidFill>
                  <a:latin typeface="+mn-lt"/>
                  <a:ea typeface="+mn-ea"/>
                  <a:cs typeface="+mn-cs"/>
                </a:rPr>
              </a:br>
              <a:r>
                <a:rPr lang="en-US" sz="1500" dirty="0">
                  <a:solidFill>
                    <a:schemeClr val="dk1"/>
                  </a:solidFill>
                  <a:latin typeface="+mn-lt"/>
                  <a:ea typeface="+mn-ea"/>
                  <a:cs typeface="+mn-cs"/>
                </a:rPr>
                <a:t>merely joining files. Define which</a:t>
              </a:r>
              <a:br>
                <a:rPr lang="en-US" sz="1500" dirty="0">
                  <a:solidFill>
                    <a:schemeClr val="dk1"/>
                  </a:solidFill>
                  <a:latin typeface="+mn-lt"/>
                  <a:ea typeface="+mn-ea"/>
                  <a:cs typeface="+mn-cs"/>
                </a:rPr>
              </a:br>
              <a:r>
                <a:rPr lang="en-US" sz="1500" dirty="0">
                  <a:solidFill>
                    <a:schemeClr val="dk1"/>
                  </a:solidFill>
                  <a:latin typeface="+mn-lt"/>
                  <a:ea typeface="+mn-ea"/>
                  <a:cs typeface="+mn-cs"/>
                </a:rPr>
                <a:t>deliverable is accepted, who checks</a:t>
              </a:r>
              <a:br>
                <a:rPr lang="en-US" sz="1500" dirty="0">
                  <a:solidFill>
                    <a:schemeClr val="dk1"/>
                  </a:solidFill>
                  <a:latin typeface="+mn-lt"/>
                  <a:ea typeface="+mn-ea"/>
                  <a:cs typeface="+mn-cs"/>
                </a:rPr>
              </a:br>
              <a:r>
                <a:rPr lang="en-US" sz="1500" dirty="0">
                  <a:solidFill>
                    <a:schemeClr val="dk1"/>
                  </a:solidFill>
                  <a:latin typeface="+mn-lt"/>
                  <a:ea typeface="+mn-ea"/>
                  <a:cs typeface="+mn-cs"/>
                </a:rPr>
                <a:t>it and which corrections remain.</a:t>
              </a:r>
            </a:p>
          </p:txBody>
        </p:sp>
      </p:grpSp>
      <p:grpSp>
        <p:nvGrpSpPr>
          <p:cNvPr id="14" name="analysis-3"/>
          <p:cNvGrpSpPr/>
          <p:nvPr/>
        </p:nvGrpSpPr>
        <p:grpSpPr>
          <a:xfrm>
            <a:off x="8144256" y="1876425"/>
            <a:ext cx="3288906" cy="3236595"/>
            <a:chOff x="8144256" y="1876425"/>
            <a:chExt cx="3288906" cy="3236595"/>
          </a:xfrm>
        </p:grpSpPr>
        <p:sp>
          <p:nvSpPr>
            <p:cNvPr id="12" name="TextBox 12"/>
            <p:cNvSpPr txBox="1"/>
            <p:nvPr/>
          </p:nvSpPr>
          <p:spPr>
            <a:xfrm>
              <a:off x="8144256" y="1876425"/>
              <a:ext cx="2141822" cy="656844"/>
            </a:xfrm>
            <a:prstGeom prst="rect">
              <a:avLst/>
            </a:prstGeom>
            <a:noFill/>
            <a:ln>
              <a:noFill/>
            </a:ln>
          </p:spPr>
          <p:txBody>
            <a:bodyPr wrap="none" lIns="0" tIns="0" rIns="0" bIns="0" anchor="t" anchorCtr="0">
              <a:spAutoFit/>
            </a:bodyPr>
            <a:lstStyle/>
            <a:p>
              <a:pPr algn="l">
                <a:lnSpc>
                  <a:spcPts val="2400"/>
                </a:lnSpc>
              </a:pPr>
              <a:r>
                <a:rPr lang="en-US" sz="1800" dirty="0">
                  <a:solidFill>
                    <a:schemeClr val="accent2"/>
                  </a:solidFill>
                  <a:latin typeface="+mj-lt"/>
                  <a:ea typeface="+mj-ea"/>
                  <a:cs typeface="+mj-cs"/>
                </a:rPr>
                <a:t>Preserve professional</a:t>
              </a:r>
              <a:br>
                <a:rPr lang="en-US" sz="1800" dirty="0">
                  <a:solidFill>
                    <a:schemeClr val="accent2"/>
                  </a:solidFill>
                  <a:latin typeface="+mj-lt"/>
                  <a:ea typeface="+mj-ea"/>
                  <a:cs typeface="+mj-cs"/>
                </a:rPr>
              </a:br>
              <a:r>
                <a:rPr lang="en-US" sz="1800" dirty="0">
                  <a:solidFill>
                    <a:schemeClr val="accent2"/>
                  </a:solidFill>
                  <a:latin typeface="+mj-lt"/>
                  <a:ea typeface="+mj-ea"/>
                  <a:cs typeface="+mj-cs"/>
                </a:rPr>
                <a:t>attention</a:t>
              </a:r>
            </a:p>
          </p:txBody>
        </p:sp>
        <p:sp>
          <p:nvSpPr>
            <p:cNvPr id="13" name="TextBox 13"/>
            <p:cNvSpPr txBox="1"/>
            <p:nvPr/>
          </p:nvSpPr>
          <p:spPr>
            <a:xfrm>
              <a:off x="8145780" y="2505075"/>
              <a:ext cx="3287382" cy="2607945"/>
            </a:xfrm>
            <a:prstGeom prst="rect">
              <a:avLst/>
            </a:prstGeom>
            <a:noFill/>
            <a:ln>
              <a:noFill/>
            </a:ln>
          </p:spPr>
          <p:txBody>
            <a:bodyPr wrap="none" lIns="0" tIns="0" rIns="0" bIns="0" anchor="t" anchorCtr="0">
              <a:spAutoFit/>
            </a:bodyPr>
            <a:lstStyle/>
            <a:p>
              <a:pPr algn="l">
                <a:lnSpc>
                  <a:spcPts val="2025"/>
                </a:lnSpc>
              </a:pPr>
              <a:r>
                <a:rPr lang="en-US" sz="1500" dirty="0">
                  <a:solidFill>
                    <a:schemeClr val="dk1"/>
                  </a:solidFill>
                  <a:latin typeface="+mn-lt"/>
                  <a:ea typeface="+mn-ea"/>
                  <a:cs typeface="+mn-cs"/>
                </a:rPr>
                <a:t>Range drafts planning work while</a:t>
              </a:r>
              <a:br>
                <a:rPr lang="en-US" sz="1500" dirty="0">
                  <a:solidFill>
                    <a:schemeClr val="dk1"/>
                  </a:solidFill>
                  <a:latin typeface="+mn-lt"/>
                  <a:ea typeface="+mn-ea"/>
                  <a:cs typeface="+mn-cs"/>
                </a:rPr>
              </a:br>
              <a:r>
                <a:rPr lang="en-US" sz="1500" dirty="0">
                  <a:solidFill>
                    <a:schemeClr val="dk1"/>
                  </a:solidFill>
                  <a:latin typeface="+mn-lt"/>
                  <a:ea typeface="+mn-ea"/>
                  <a:cs typeface="+mn-cs"/>
                </a:rPr>
                <a:t>professionals serve clients; the</a:t>
              </a:r>
              <a:br>
                <a:rPr lang="en-US" sz="1500" dirty="0">
                  <a:solidFill>
                    <a:schemeClr val="dk1"/>
                  </a:solidFill>
                  <a:latin typeface="+mn-lt"/>
                  <a:ea typeface="+mn-ea"/>
                  <a:cs typeface="+mn-cs"/>
                </a:rPr>
              </a:br>
              <a:r>
                <a:rPr lang="en-US" sz="1500" dirty="0">
                  <a:solidFill>
                    <a:schemeClr val="dk1"/>
                  </a:solidFill>
                  <a:latin typeface="+mn-lt"/>
                  <a:ea typeface="+mn-ea"/>
                  <a:cs typeface="+mn-cs"/>
                </a:rPr>
                <a:t>planner reviews recommendations and</a:t>
              </a:r>
              <a:br>
                <a:rPr lang="en-US" sz="1500" dirty="0">
                  <a:solidFill>
                    <a:schemeClr val="dk1"/>
                  </a:solidFill>
                  <a:latin typeface="+mn-lt"/>
                  <a:ea typeface="+mn-ea"/>
                  <a:cs typeface="+mn-cs"/>
                </a:rPr>
              </a:br>
              <a:r>
                <a:rPr lang="en-US" sz="1500" dirty="0">
                  <a:solidFill>
                    <a:schemeClr val="dk1"/>
                  </a:solidFill>
                  <a:latin typeface="+mn-lt"/>
                  <a:ea typeface="+mn-ea"/>
                  <a:cs typeface="+mn-cs"/>
                </a:rPr>
                <a:t>the agent sends nothing. Time saved</a:t>
              </a:r>
              <a:br>
                <a:rPr lang="en-US" sz="1500" dirty="0">
                  <a:solidFill>
                    <a:schemeClr val="dk1"/>
                  </a:solidFill>
                  <a:latin typeface="+mn-lt"/>
                  <a:ea typeface="+mn-ea"/>
                  <a:cs typeface="+mn-cs"/>
                </a:rPr>
              </a:br>
              <a:r>
                <a:rPr lang="en-US" sz="1500" dirty="0">
                  <a:solidFill>
                    <a:schemeClr val="dk1"/>
                  </a:solidFill>
                  <a:latin typeface="+mn-lt"/>
                  <a:ea typeface="+mn-ea"/>
                  <a:cs typeface="+mn-cs"/>
                </a:rPr>
                <a:t>becomes valuable when it improves</a:t>
              </a:r>
              <a:br>
                <a:rPr lang="en-US" sz="1500" dirty="0">
                  <a:solidFill>
                    <a:schemeClr val="dk1"/>
                  </a:solidFill>
                  <a:latin typeface="+mn-lt"/>
                  <a:ea typeface="+mn-ea"/>
                  <a:cs typeface="+mn-cs"/>
                </a:rPr>
              </a:br>
              <a:r>
                <a:rPr lang="en-US" sz="1500" dirty="0">
                  <a:solidFill>
                    <a:schemeClr val="dk1"/>
                  </a:solidFill>
                  <a:latin typeface="+mn-lt"/>
                  <a:ea typeface="+mn-ea"/>
                  <a:cs typeface="+mn-cs"/>
                </a:rPr>
                <a:t>accepted capacity or attention to</a:t>
              </a:r>
              <a:br>
                <a:rPr lang="en-US" sz="1500" dirty="0">
                  <a:solidFill>
                    <a:schemeClr val="dk1"/>
                  </a:solidFill>
                  <a:latin typeface="+mn-lt"/>
                  <a:ea typeface="+mn-ea"/>
                  <a:cs typeface="+mn-cs"/>
                </a:rPr>
              </a:br>
              <a:r>
                <a:rPr lang="en-US" sz="1500" dirty="0">
                  <a:solidFill>
                    <a:schemeClr val="dk1"/>
                  </a:solidFill>
                  <a:latin typeface="+mn-lt"/>
                  <a:ea typeface="+mn-ea"/>
                  <a:cs typeface="+mn-cs"/>
                </a:rPr>
                <a:t>consequential judgment. Draft</a:t>
              </a:r>
              <a:br>
                <a:rPr lang="en-US" sz="1500" dirty="0">
                  <a:solidFill>
                    <a:schemeClr val="dk1"/>
                  </a:solidFill>
                  <a:latin typeface="+mn-lt"/>
                  <a:ea typeface="+mn-ea"/>
                  <a:cs typeface="+mn-cs"/>
                </a:rPr>
              </a:br>
              <a:r>
                <a:rPr lang="en-US" sz="1500" dirty="0">
                  <a:solidFill>
                    <a:schemeClr val="dk1"/>
                  </a:solidFill>
                  <a:latin typeface="+mn-lt"/>
                  <a:ea typeface="+mn-ea"/>
                  <a:cs typeface="+mn-cs"/>
                </a:rPr>
                <a:t>volume alone does not establish</a:t>
              </a:r>
              <a:br>
                <a:rPr lang="en-US" sz="1500" dirty="0">
                  <a:solidFill>
                    <a:schemeClr val="dk1"/>
                  </a:solidFill>
                  <a:latin typeface="+mn-lt"/>
                  <a:ea typeface="+mn-ea"/>
                  <a:cs typeface="+mn-cs"/>
                </a:rPr>
              </a:br>
              <a:r>
                <a:rPr lang="en-US" sz="1500" dirty="0">
                  <a:solidFill>
                    <a:schemeClr val="dk1"/>
                  </a:solidFill>
                  <a:latin typeface="+mn-lt"/>
                  <a:ea typeface="+mn-ea"/>
                  <a:cs typeface="+mn-cs"/>
                </a:rPr>
                <a:t>better advice, revenue or</a:t>
              </a:r>
              <a:br>
                <a:rPr lang="en-US" sz="1500" dirty="0">
                  <a:solidFill>
                    <a:schemeClr val="dk1"/>
                  </a:solidFill>
                  <a:latin typeface="+mn-lt"/>
                  <a:ea typeface="+mn-ea"/>
                  <a:cs typeface="+mn-cs"/>
                </a:rPr>
              </a:br>
              <a:r>
                <a:rPr lang="en-US" sz="1500" dirty="0">
                  <a:solidFill>
                    <a:schemeClr val="dk1"/>
                  </a:solidFill>
                  <a:latin typeface="+mn-lt"/>
                  <a:ea typeface="+mn-ea"/>
                  <a:cs typeface="+mn-cs"/>
                </a:rPr>
                <a:t>investment outcomes.</a:t>
              </a:r>
            </a:p>
          </p:txBody>
        </p:sp>
      </p:grpSp>
      <p:grpSp>
        <p:nvGrpSpPr>
          <p:cNvPr id="17" name="footer"/>
          <p:cNvGrpSpPr/>
          <p:nvPr/>
        </p:nvGrpSpPr>
        <p:grpSpPr>
          <a:xfrm>
            <a:off x="452438" y="6477000"/>
            <a:ext cx="11287124" cy="176212"/>
            <a:chOff x="452438" y="6477000"/>
            <a:chExt cx="11287124" cy="176212"/>
          </a:xfrm>
        </p:grpSpPr>
        <p:sp>
          <p:nvSpPr>
            <p:cNvPr id="15" name="TextBox 15"/>
            <p:cNvSpPr txBox="1"/>
            <p:nvPr/>
          </p:nvSpPr>
          <p:spPr>
            <a:xfrm>
              <a:off x="452438" y="6477000"/>
              <a:ext cx="5034290" cy="176212"/>
            </a:xfrm>
            <a:prstGeom prst="rect">
              <a:avLst/>
            </a:prstGeom>
            <a:noFill/>
            <a:ln>
              <a:noFill/>
            </a:ln>
          </p:spPr>
          <p:txBody>
            <a:bodyPr wrap="none" lIns="0" tIns="0" rIns="0" bIns="0" anchor="t" anchorCtr="0">
              <a:spAutoFit/>
            </a:bodyPr>
            <a:lstStyle/>
            <a:p>
              <a:pPr algn="l"/>
              <a:r>
                <a:rPr lang="en-US" sz="900" dirty="0">
                  <a:solidFill>
                    <a:schemeClr val="accent5"/>
                  </a:solidFill>
                  <a:latin typeface="+mn-lt"/>
                  <a:ea typeface="+mn-ea"/>
                  <a:cs typeface="+mn-cs"/>
                </a:rPr>
                <a:t>Sources: Coatue · Apollo / Redding Ridge / Rowspace · Range | Reviewed October 25, 2026</a:t>
              </a:r>
            </a:p>
          </p:txBody>
        </p:sp>
        <p:sp>
          <p:nvSpPr>
            <p:cNvPr id="16" name="TextBox 16"/>
            <p:cNvSpPr txBox="1"/>
            <p:nvPr/>
          </p:nvSpPr>
          <p:spPr>
            <a:xfrm>
              <a:off x="11359512" y="6477000"/>
              <a:ext cx="380050" cy="176212"/>
            </a:xfrm>
            <a:prstGeom prst="rect">
              <a:avLst/>
            </a:prstGeom>
            <a:noFill/>
            <a:ln>
              <a:noFill/>
            </a:ln>
          </p:spPr>
          <p:txBody>
            <a:bodyPr wrap="none" lIns="0" tIns="0" rIns="0" bIns="0" anchor="t" anchorCtr="0">
              <a:spAutoFit/>
            </a:bodyPr>
            <a:lstStyle/>
            <a:p>
              <a:pPr algn="r"/>
              <a:r>
                <a:rPr lang="en-US" sz="900" dirty="0">
                  <a:solidFill>
                    <a:schemeClr val="accent5"/>
                  </a:solidFill>
                  <a:latin typeface="+mn-lt"/>
                  <a:ea typeface="+mn-ea"/>
                  <a:cs typeface="+mn-cs"/>
                </a:rPr>
                <a:t>03 / 37</a:t>
              </a:r>
            </a:p>
          </p:txBody>
        </p:sp>
      </p:grpSp>
    </p:spTree>
  </p:cSld>
  <p:clrMapOvr>
    <a:masterClrMapping/>
  </p:clrMapOvr>
  <p:transition xmlns:p14="http://schemas.microsoft.com/office/powerpoint/2010/main" p14:dur="400">
    <p:fade/>
  </p:transition>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5" name="title"/>
          <p:cNvGrpSpPr/>
          <p:nvPr/>
        </p:nvGrpSpPr>
        <p:grpSpPr>
          <a:xfrm>
            <a:off x="443484" y="361950"/>
            <a:ext cx="10189861" cy="1100582"/>
            <a:chOff x="443484" y="361950"/>
            <a:chExt cx="10189861" cy="1100582"/>
          </a:xfrm>
        </p:grpSpPr>
        <p:sp>
          <p:nvSpPr>
            <p:cNvPr id="2" name="TextBox 2"/>
            <p:cNvSpPr txBox="1"/>
            <p:nvPr/>
          </p:nvSpPr>
          <p:spPr>
            <a:xfrm>
              <a:off x="451104" y="361950"/>
              <a:ext cx="2060858" cy="234696"/>
            </a:xfrm>
            <a:prstGeom prst="rect">
              <a:avLst/>
            </a:prstGeom>
            <a:noFill/>
            <a:ln>
              <a:noFill/>
            </a:ln>
          </p:spPr>
          <p:txBody>
            <a:bodyPr wrap="none" lIns="0" tIns="0" rIns="0" bIns="0" anchor="t" anchorCtr="0">
              <a:spAutoFit/>
            </a:bodyPr>
            <a:lstStyle/>
            <a:p>
              <a:pPr algn="l"/>
              <a:r>
                <a:rPr lang="en-US" sz="1200" dirty="0">
                  <a:solidFill>
                    <a:schemeClr val="accent2"/>
                  </a:solidFill>
                  <a:latin typeface="+mn-lt"/>
                  <a:ea typeface="+mn-ea"/>
                  <a:cs typeface="+mn-cs"/>
                </a:rPr>
                <a:t>01 / FINANCE STRATEGY</a:t>
              </a:r>
            </a:p>
          </p:txBody>
        </p:sp>
        <p:sp>
          <p:nvSpPr>
            <p:cNvPr id="3" name="TextBox 3"/>
            <p:cNvSpPr txBox="1"/>
            <p:nvPr/>
          </p:nvSpPr>
          <p:spPr>
            <a:xfrm>
              <a:off x="443484" y="593725"/>
              <a:ext cx="7836477" cy="528066"/>
            </a:xfrm>
            <a:prstGeom prst="rect">
              <a:avLst/>
            </a:prstGeom>
            <a:noFill/>
            <a:ln>
              <a:noFill/>
            </a:ln>
          </p:spPr>
          <p:txBody>
            <a:bodyPr wrap="none" lIns="0" tIns="0" rIns="0" bIns="0" anchor="t" anchorCtr="0">
              <a:spAutoFit/>
            </a:bodyPr>
            <a:lstStyle/>
            <a:p>
              <a:pPr algn="l"/>
              <a:r>
                <a:rPr lang="en-US" sz="2700" dirty="0">
                  <a:solidFill>
                    <a:schemeClr val="accent1"/>
                  </a:solidFill>
                  <a:latin typeface="+mj-lt"/>
                  <a:ea typeface="+mj-ea"/>
                  <a:cs typeface="+mj-cs"/>
                </a:rPr>
                <a:t>Match the system to the decision and its budget</a:t>
              </a:r>
            </a:p>
          </p:txBody>
        </p:sp>
        <p:sp>
          <p:nvSpPr>
            <p:cNvPr id="4" name="TextBox 4"/>
            <p:cNvSpPr txBox="1"/>
            <p:nvPr/>
          </p:nvSpPr>
          <p:spPr>
            <a:xfrm>
              <a:off x="448818" y="1139825"/>
              <a:ext cx="10184527" cy="322707"/>
            </a:xfrm>
            <a:prstGeom prst="rect">
              <a:avLst/>
            </a:prstGeom>
            <a:noFill/>
            <a:ln>
              <a:noFill/>
            </a:ln>
          </p:spPr>
          <p:txBody>
            <a:bodyPr wrap="none" lIns="0" tIns="0" rIns="0" bIns="0" anchor="t" anchorCtr="0">
              <a:spAutoFit/>
            </a:bodyPr>
            <a:lstStyle/>
            <a:p>
              <a:pPr algn="l"/>
              <a:r>
                <a:rPr lang="en-US" sz="1650" dirty="0">
                  <a:solidFill>
                    <a:schemeClr val="accent5"/>
                  </a:solidFill>
                  <a:latin typeface="+mn-lt"/>
                  <a:ea typeface="+mn-ea"/>
                  <a:cs typeface="+mn-cs"/>
                </a:rPr>
                <a:t>A research workbench, professional workflow and transaction classifier have different acceptance tests.</a:t>
              </a:r>
            </a:p>
          </p:txBody>
        </p:sp>
      </p:grpSp>
      <p:graphicFrame>
        <p:nvGraphicFramePr>
          <p:cNvPr id="6" name="bottleneck-map"/>
          <p:cNvGraphicFramePr>
            <a:graphicFrameLocks noGrp="1"/>
          </p:cNvGraphicFramePr>
          <p:nvPr/>
        </p:nvGraphicFramePr>
        <p:xfrm>
          <a:off x="457200" y="1752600"/>
          <a:ext cx="11277600" cy="3619500"/>
        </p:xfrm>
        <a:graphic>
          <a:graphicData uri="http://schemas.openxmlformats.org/drawingml/2006/table">
            <a:tbl>
              <a:tblPr firstRow="1" bandRow="0">
                <a:tableStyleId>{5C22544A-7EE6-4342-B048-85BDC9FD1C3A}</a:tableStyleId>
              </a:tblPr>
              <a:tblGrid>
                <a:gridCol w="2857500"/>
                <a:gridCol w="3714750"/>
                <a:gridCol w="4705350"/>
              </a:tblGrid>
              <a:tr h="495300">
                <a:tc>
                  <a:txBody>
                    <a:bodyPr/>
                    <a:lstStyle/>
                    <a:p>
                      <a:pPr/>
                      <a:r>
                        <a:rPr lang="en-US" sz="1350" b="1">
                          <a:solidFill>
                            <a:srgbClr val="FFFDF7"/>
                          </a:solidFill>
                          <a:latin typeface="Arial"/>
                          <a:ea typeface="Microsoft YaHei"/>
                          <a:cs typeface="Arial"/>
                        </a:rPr>
                        <a:t>Company / work</a:t>
                      </a:r>
                    </a:p>
                  </a:txBody>
                  <a:tcPr anchor="ctr" marL="152400" marR="152400" marT="76200" marB="76200">
                    <a:lnL>
                      <a:noFill/>
                    </a:lnL>
                    <a:lnR>
                      <a:noFill/>
                    </a:lnR>
                    <a:lnT>
                      <a:noFill/>
                    </a:lnT>
                    <a:lnB w="9525">
                      <a:solidFill>
                        <a:schemeClr val="accent6"/>
                      </a:solidFill>
                      <a:prstDash val="solid"/>
                    </a:lnB>
                    <a:solidFill>
                      <a:schemeClr val="accent1"/>
                    </a:solidFill>
                  </a:tcPr>
                </a:tc>
                <a:tc>
                  <a:txBody>
                    <a:bodyPr/>
                    <a:lstStyle/>
                    <a:p>
                      <a:pPr/>
                      <a:r>
                        <a:rPr lang="en-US" sz="1350" b="1">
                          <a:solidFill>
                            <a:srgbClr val="FFFDF7"/>
                          </a:solidFill>
                          <a:latin typeface="Arial"/>
                          <a:ea typeface="Microsoft YaHei"/>
                          <a:cs typeface="Arial"/>
                        </a:rPr>
                        <a:t>Bottleneck</a:t>
                      </a:r>
                    </a:p>
                  </a:txBody>
                  <a:tcPr anchor="ctr" marL="152400" marR="152400" marT="76200" marB="76200">
                    <a:lnL>
                      <a:noFill/>
                    </a:lnL>
                    <a:lnR>
                      <a:noFill/>
                    </a:lnR>
                    <a:lnT>
                      <a:noFill/>
                    </a:lnT>
                    <a:lnB w="9525">
                      <a:solidFill>
                        <a:schemeClr val="accent6"/>
                      </a:solidFill>
                      <a:prstDash val="solid"/>
                    </a:lnB>
                    <a:solidFill>
                      <a:schemeClr val="accent1"/>
                    </a:solidFill>
                  </a:tcPr>
                </a:tc>
                <a:tc>
                  <a:txBody>
                    <a:bodyPr/>
                    <a:lstStyle/>
                    <a:p>
                      <a:pPr/>
                      <a:r>
                        <a:rPr lang="en-US" sz="1350" b="1">
                          <a:solidFill>
                            <a:srgbClr val="FFFDF7"/>
                          </a:solidFill>
                          <a:latin typeface="Arial"/>
                          <a:ea typeface="Microsoft YaHei"/>
                          <a:cs typeface="Arial"/>
                        </a:rPr>
                        <a:t>Acceptance focus</a:t>
                      </a:r>
                    </a:p>
                  </a:txBody>
                  <a:tcPr anchor="ctr" marL="152400" marR="152400" marT="76200" marB="76200">
                    <a:lnL>
                      <a:noFill/>
                    </a:lnL>
                    <a:lnR>
                      <a:noFill/>
                    </a:lnR>
                    <a:lnT>
                      <a:noFill/>
                    </a:lnT>
                    <a:lnB w="9525">
                      <a:solidFill>
                        <a:schemeClr val="accent6"/>
                      </a:solidFill>
                      <a:prstDash val="solid"/>
                    </a:lnB>
                    <a:solidFill>
                      <a:schemeClr val="accent1"/>
                    </a:solidFill>
                  </a:tcPr>
                </a:tc>
              </a:tr>
              <a:tr h="781050">
                <a:tc>
                  <a:txBody>
                    <a:bodyPr/>
                    <a:lstStyle/>
                    <a:p>
                      <a:pPr/>
                      <a:r>
                        <a:rPr lang="en-US" sz="1350" b="0">
                          <a:solidFill>
                            <a:schemeClr val="dk1"/>
                          </a:solidFill>
                          <a:latin typeface="Arial"/>
                          <a:ea typeface="Microsoft YaHei"/>
                          <a:cs typeface="Arial"/>
                        </a:rPr>
                        <a:t>Bridgewater / Coatue</a:t>
                      </a:r>
                    </a:p>
                  </a:txBody>
                  <a:tcPr anchor="ctr" marL="152400" marR="152400" marT="76200" marB="76200">
                    <a:lnL>
                      <a:noFill/>
                    </a:lnL>
                    <a:lnR>
                      <a:noFill/>
                    </a:lnR>
                    <a:lnT>
                      <a:noFill/>
                    </a:lnT>
                    <a:lnB w="9525">
                      <a:solidFill>
                        <a:schemeClr val="accent6"/>
                      </a:solidFill>
                      <a:prstDash val="solid"/>
                    </a:lnB>
                    <a:noFill/>
                  </a:tcPr>
                </a:tc>
                <a:tc>
                  <a:txBody>
                    <a:bodyPr/>
                    <a:lstStyle/>
                    <a:p>
                      <a:pPr/>
                      <a:r>
                        <a:rPr lang="en-US" sz="1350" b="0">
                          <a:solidFill>
                            <a:schemeClr val="dk1"/>
                          </a:solidFill>
                          <a:latin typeface="Arial"/>
                          <a:ea typeface="Microsoft YaHei"/>
                          <a:cs typeface="Arial"/>
                        </a:rPr>
                        <a:t>Evidence and investment attention</a:t>
                      </a:r>
                    </a:p>
                  </a:txBody>
                  <a:tcPr anchor="ctr" marL="152400" marR="152400" marT="76200" marB="76200">
                    <a:lnL>
                      <a:noFill/>
                    </a:lnL>
                    <a:lnR>
                      <a:noFill/>
                    </a:lnR>
                    <a:lnT>
                      <a:noFill/>
                    </a:lnT>
                    <a:lnB w="9525">
                      <a:solidFill>
                        <a:schemeClr val="accent6"/>
                      </a:solidFill>
                      <a:prstDash val="solid"/>
                    </a:lnB>
                    <a:noFill/>
                  </a:tcPr>
                </a:tc>
                <a:tc>
                  <a:txBody>
                    <a:bodyPr/>
                    <a:lstStyle/>
                    <a:p>
                      <a:pPr/>
                      <a:r>
                        <a:rPr lang="en-US" sz="1350" b="0">
                          <a:solidFill>
                            <a:schemeClr val="dk1"/>
                          </a:solidFill>
                          <a:latin typeface="Arial"/>
                          <a:ea typeface="Microsoft YaHei"/>
                          <a:cs typeface="Arial"/>
                        </a:rPr>
                        <a:t>Eligible sources; evaluated decision steps.</a:t>
                      </a:r>
                    </a:p>
                  </a:txBody>
                  <a:tcPr anchor="ctr" marL="152400" marR="152400" marT="76200" marB="76200">
                    <a:lnL>
                      <a:noFill/>
                    </a:lnL>
                    <a:lnR>
                      <a:noFill/>
                    </a:lnR>
                    <a:lnT>
                      <a:noFill/>
                    </a:lnT>
                    <a:lnB w="9525">
                      <a:solidFill>
                        <a:schemeClr val="accent6"/>
                      </a:solidFill>
                      <a:prstDash val="solid"/>
                    </a:lnB>
                    <a:noFill/>
                  </a:tcPr>
                </a:tc>
              </a:tr>
              <a:tr h="781050">
                <a:tc>
                  <a:txBody>
                    <a:bodyPr/>
                    <a:lstStyle/>
                    <a:p>
                      <a:pPr/>
                      <a:r>
                        <a:rPr lang="en-US" sz="1350" b="0">
                          <a:solidFill>
                            <a:schemeClr val="dk1"/>
                          </a:solidFill>
                          <a:latin typeface="Arial"/>
                          <a:ea typeface="Microsoft YaHei"/>
                          <a:cs typeface="Arial"/>
                        </a:rPr>
                        <a:t>Range / Apollo–Redding Ridge</a:t>
                      </a:r>
                    </a:p>
                  </a:txBody>
                  <a:tcPr anchor="ctr" marL="152400" marR="152400" marT="76200" marB="76200">
                    <a:lnL>
                      <a:noFill/>
                    </a:lnL>
                    <a:lnR>
                      <a:noFill/>
                    </a:lnR>
                    <a:lnT>
                      <a:noFill/>
                    </a:lnT>
                    <a:lnB w="9525">
                      <a:solidFill>
                        <a:schemeClr val="accent6"/>
                      </a:solidFill>
                      <a:prstDash val="solid"/>
                    </a:lnB>
                    <a:noFill/>
                  </a:tcPr>
                </a:tc>
                <a:tc>
                  <a:txBody>
                    <a:bodyPr/>
                    <a:lstStyle/>
                    <a:p>
                      <a:pPr/>
                      <a:r>
                        <a:rPr lang="en-US" sz="1350" b="0">
                          <a:solidFill>
                            <a:schemeClr val="dk1"/>
                          </a:solidFill>
                          <a:latin typeface="Arial"/>
                          <a:ea typeface="Microsoft YaHei"/>
                          <a:cs typeface="Arial"/>
                        </a:rPr>
                        <a:t>Professional preparation</a:t>
                      </a:r>
                    </a:p>
                  </a:txBody>
                  <a:tcPr anchor="ctr" marL="152400" marR="152400" marT="76200" marB="76200">
                    <a:lnL>
                      <a:noFill/>
                    </a:lnL>
                    <a:lnR>
                      <a:noFill/>
                    </a:lnR>
                    <a:lnT>
                      <a:noFill/>
                    </a:lnT>
                    <a:lnB w="9525">
                      <a:solidFill>
                        <a:schemeClr val="accent6"/>
                      </a:solidFill>
                      <a:prstDash val="solid"/>
                    </a:lnB>
                    <a:noFill/>
                  </a:tcPr>
                </a:tc>
                <a:tc>
                  <a:txBody>
                    <a:bodyPr/>
                    <a:lstStyle/>
                    <a:p>
                      <a:pPr/>
                      <a:r>
                        <a:rPr lang="en-US" sz="1350" b="0">
                          <a:solidFill>
                            <a:schemeClr val="dk1"/>
                          </a:solidFill>
                          <a:latin typeface="Arial"/>
                          <a:ea typeface="Microsoft YaHei"/>
                          <a:cs typeface="Arial"/>
                        </a:rPr>
                        <a:t>Expert methods; reconciled inputs; reviewed drafts.</a:t>
                      </a:r>
                    </a:p>
                  </a:txBody>
                  <a:tcPr anchor="ctr" marL="152400" marR="152400" marT="76200" marB="76200">
                    <a:lnL>
                      <a:noFill/>
                    </a:lnL>
                    <a:lnR>
                      <a:noFill/>
                    </a:lnR>
                    <a:lnT>
                      <a:noFill/>
                    </a:lnT>
                    <a:lnB w="9525">
                      <a:solidFill>
                        <a:schemeClr val="accent6"/>
                      </a:solidFill>
                      <a:prstDash val="solid"/>
                    </a:lnB>
                    <a:noFill/>
                  </a:tcPr>
                </a:tc>
              </a:tr>
              <a:tr h="781050">
                <a:tc>
                  <a:txBody>
                    <a:bodyPr/>
                    <a:lstStyle/>
                    <a:p>
                      <a:pPr/>
                      <a:r>
                        <a:rPr lang="en-US" sz="1350" b="0">
                          <a:solidFill>
                            <a:schemeClr val="dk1"/>
                          </a:solidFill>
                          <a:latin typeface="Arial"/>
                          <a:ea typeface="Microsoft YaHei"/>
                          <a:cs typeface="Arial"/>
                        </a:rPr>
                        <a:t>Wells Fargo</a:t>
                      </a:r>
                    </a:p>
                  </a:txBody>
                  <a:tcPr anchor="ctr" marL="152400" marR="152400" marT="76200" marB="76200">
                    <a:lnL>
                      <a:noFill/>
                    </a:lnL>
                    <a:lnR>
                      <a:noFill/>
                    </a:lnR>
                    <a:lnT>
                      <a:noFill/>
                    </a:lnT>
                    <a:lnB w="9525">
                      <a:solidFill>
                        <a:schemeClr val="accent6"/>
                      </a:solidFill>
                      <a:prstDash val="solid"/>
                    </a:lnB>
                    <a:noFill/>
                  </a:tcPr>
                </a:tc>
                <a:tc>
                  <a:txBody>
                    <a:bodyPr/>
                    <a:lstStyle/>
                    <a:p>
                      <a:pPr/>
                      <a:r>
                        <a:rPr lang="en-US" sz="1350" b="0">
                          <a:solidFill>
                            <a:schemeClr val="dk1"/>
                          </a:solidFill>
                          <a:latin typeface="Arial"/>
                          <a:ea typeface="Microsoft YaHei"/>
                          <a:cs typeface="Arial"/>
                        </a:rPr>
                        <a:t>Fraud decisions at transaction speed</a:t>
                      </a:r>
                    </a:p>
                  </a:txBody>
                  <a:tcPr anchor="ctr" marL="152400" marR="152400" marT="76200" marB="76200">
                    <a:lnL>
                      <a:noFill/>
                    </a:lnL>
                    <a:lnR>
                      <a:noFill/>
                    </a:lnR>
                    <a:lnT>
                      <a:noFill/>
                    </a:lnT>
                    <a:lnB w="9525">
                      <a:solidFill>
                        <a:schemeClr val="accent6"/>
                      </a:solidFill>
                      <a:prstDash val="solid"/>
                    </a:lnB>
                    <a:noFill/>
                  </a:tcPr>
                </a:tc>
                <a:tc>
                  <a:txBody>
                    <a:bodyPr/>
                    <a:lstStyle/>
                    <a:p>
                      <a:pPr/>
                      <a:r>
                        <a:rPr lang="en-US" sz="1350" b="0">
                          <a:solidFill>
                            <a:schemeClr val="dk1"/>
                          </a:solidFill>
                          <a:latin typeface="Arial"/>
                          <a:ea typeface="Microsoft YaHei"/>
                          <a:cs typeface="Arial"/>
                        </a:rPr>
                        <a:t>Transaction representation; detection and false positives.</a:t>
                      </a:r>
                    </a:p>
                  </a:txBody>
                  <a:tcPr anchor="ctr" marL="152400" marR="152400" marT="76200" marB="76200">
                    <a:lnL>
                      <a:noFill/>
                    </a:lnL>
                    <a:lnR>
                      <a:noFill/>
                    </a:lnR>
                    <a:lnT>
                      <a:noFill/>
                    </a:lnT>
                    <a:lnB w="9525">
                      <a:solidFill>
                        <a:schemeClr val="accent6"/>
                      </a:solidFill>
                      <a:prstDash val="solid"/>
                    </a:lnB>
                    <a:noFill/>
                  </a:tcPr>
                </a:tc>
              </a:tr>
              <a:tr h="781050">
                <a:tc>
                  <a:txBody>
                    <a:bodyPr/>
                    <a:lstStyle/>
                    <a:p>
                      <a:pPr/>
                      <a:r>
                        <a:rPr lang="en-US" sz="1350" b="0">
                          <a:solidFill>
                            <a:schemeClr val="dk1"/>
                          </a:solidFill>
                          <a:latin typeface="Arial"/>
                          <a:ea typeface="Microsoft YaHei"/>
                          <a:cs typeface="Arial"/>
                        </a:rPr>
                        <a:t>Blackstone / Norm.ai</a:t>
                      </a:r>
                    </a:p>
                  </a:txBody>
                  <a:tcPr anchor="ctr" marL="152400" marR="152400" marT="76200" marB="76200">
                    <a:lnL>
                      <a:noFill/>
                    </a:lnL>
                    <a:lnR>
                      <a:noFill/>
                    </a:lnR>
                    <a:lnT>
                      <a:noFill/>
                    </a:lnT>
                    <a:lnB w="9525">
                      <a:solidFill>
                        <a:schemeClr val="accent6"/>
                      </a:solidFill>
                      <a:prstDash val="solid"/>
                    </a:lnB>
                    <a:noFill/>
                  </a:tcPr>
                </a:tc>
                <a:tc>
                  <a:txBody>
                    <a:bodyPr/>
                    <a:lstStyle/>
                    <a:p>
                      <a:pPr/>
                      <a:r>
                        <a:rPr lang="en-US" sz="1350" b="0">
                          <a:solidFill>
                            <a:schemeClr val="dk1"/>
                          </a:solidFill>
                          <a:latin typeface="Arial"/>
                          <a:ea typeface="Microsoft YaHei"/>
                          <a:cs typeface="Arial"/>
                        </a:rPr>
                        <a:t>Adapt to improving models</a:t>
                      </a:r>
                    </a:p>
                  </a:txBody>
                  <a:tcPr anchor="ctr" marL="152400" marR="152400" marT="76200" marB="76200">
                    <a:lnL>
                      <a:noFill/>
                    </a:lnL>
                    <a:lnR>
                      <a:noFill/>
                    </a:lnR>
                    <a:lnT>
                      <a:noFill/>
                    </a:lnT>
                    <a:lnB w="9525">
                      <a:solidFill>
                        <a:schemeClr val="accent6"/>
                      </a:solidFill>
                      <a:prstDash val="solid"/>
                    </a:lnB>
                    <a:noFill/>
                  </a:tcPr>
                </a:tc>
                <a:tc>
                  <a:txBody>
                    <a:bodyPr/>
                    <a:lstStyle/>
                    <a:p>
                      <a:pPr/>
                      <a:r>
                        <a:rPr lang="en-US" sz="1350" b="0">
                          <a:solidFill>
                            <a:schemeClr val="dk1"/>
                          </a:solidFill>
                          <a:latin typeface="Arial"/>
                          <a:ea typeface="Microsoft YaHei"/>
                          <a:cs typeface="Arial"/>
                        </a:rPr>
                        <a:t>Accessible data; durable evaluations; production controls.</a:t>
                      </a:r>
                    </a:p>
                  </a:txBody>
                  <a:tcPr anchor="ctr" marL="152400" marR="152400" marT="76200" marB="76200">
                    <a:lnL>
                      <a:noFill/>
                    </a:lnL>
                    <a:lnR>
                      <a:noFill/>
                    </a:lnR>
                    <a:lnT>
                      <a:noFill/>
                    </a:lnT>
                    <a:lnB w="9525">
                      <a:solidFill>
                        <a:schemeClr val="accent6"/>
                      </a:solidFill>
                      <a:prstDash val="solid"/>
                    </a:lnB>
                    <a:noFill/>
                  </a:tcPr>
                </a:tc>
              </a:tr>
            </a:tbl>
          </a:graphicData>
        </a:graphic>
      </p:graphicFrame>
      <p:grpSp>
        <p:nvGrpSpPr>
          <p:cNvPr id="8" name="case-boundary"/>
          <p:cNvGrpSpPr/>
          <p:nvPr/>
        </p:nvGrpSpPr>
        <p:grpSpPr>
          <a:xfrm>
            <a:off x="449580" y="5667375"/>
            <a:ext cx="9186253" cy="550545"/>
            <a:chOff x="449580" y="5667375"/>
            <a:chExt cx="9186253" cy="550545"/>
          </a:xfrm>
        </p:grpSpPr>
        <p:sp>
          <p:nvSpPr>
            <p:cNvPr id="7" name="TextBox 7"/>
            <p:cNvSpPr txBox="1"/>
            <p:nvPr/>
          </p:nvSpPr>
          <p:spPr>
            <a:xfrm>
              <a:off x="449580" y="5667375"/>
              <a:ext cx="9186253" cy="550545"/>
            </a:xfrm>
            <a:prstGeom prst="rect">
              <a:avLst/>
            </a:prstGeom>
            <a:noFill/>
            <a:ln>
              <a:noFill/>
            </a:ln>
          </p:spPr>
          <p:txBody>
            <a:bodyPr wrap="none" lIns="0" tIns="0" rIns="0" bIns="0" anchor="t" anchorCtr="0">
              <a:spAutoFit/>
            </a:bodyPr>
            <a:lstStyle/>
            <a:p>
              <a:pPr algn="l">
                <a:lnSpc>
                  <a:spcPts val="2025"/>
                </a:lnSpc>
              </a:pPr>
              <a:r>
                <a:rPr lang="en-US" sz="1500" dirty="0">
                  <a:solidFill>
                    <a:schemeClr val="dk1"/>
                  </a:solidFill>
                  <a:latin typeface="+mn-lt"/>
                  <a:ea typeface="+mn-ea"/>
                  <a:cs typeface="+mn-cs"/>
                </a:rPr>
                <a:t>Different forms, one discipline: match the data representation, executor and operating budget to the decision.</a:t>
              </a:r>
              <a:br>
                <a:rPr lang="en-US" sz="1500" dirty="0">
                  <a:solidFill>
                    <a:schemeClr val="dk1"/>
                  </a:solidFill>
                  <a:latin typeface="+mn-lt"/>
                  <a:ea typeface="+mn-ea"/>
                  <a:cs typeface="+mn-cs"/>
                </a:rPr>
              </a:br>
              <a:r>
                <a:rPr lang="en-US" sz="1500" dirty="0">
                  <a:solidFill>
                    <a:schemeClr val="dk1"/>
                  </a:solidFill>
                  <a:latin typeface="+mn-lt"/>
                  <a:ea typeface="+mn-ea"/>
                  <a:cs typeface="+mn-cs"/>
                </a:rPr>
                <a:t>These are practitioner accounts, not a maturity ranking or causal financial comparison.</a:t>
              </a:r>
            </a:p>
          </p:txBody>
        </p:sp>
      </p:grpSp>
      <p:grpSp>
        <p:nvGrpSpPr>
          <p:cNvPr id="11" name="footer"/>
          <p:cNvGrpSpPr/>
          <p:nvPr/>
        </p:nvGrpSpPr>
        <p:grpSpPr>
          <a:xfrm>
            <a:off x="452438" y="6477000"/>
            <a:ext cx="11287124" cy="176212"/>
            <a:chOff x="452438" y="6477000"/>
            <a:chExt cx="11287124" cy="176212"/>
          </a:xfrm>
        </p:grpSpPr>
        <p:sp>
          <p:nvSpPr>
            <p:cNvPr id="9" name="TextBox 9"/>
            <p:cNvSpPr txBox="1"/>
            <p:nvPr/>
          </p:nvSpPr>
          <p:spPr>
            <a:xfrm>
              <a:off x="452438" y="6477000"/>
              <a:ext cx="5287478" cy="176212"/>
            </a:xfrm>
            <a:prstGeom prst="rect">
              <a:avLst/>
            </a:prstGeom>
            <a:noFill/>
            <a:ln>
              <a:noFill/>
            </a:ln>
          </p:spPr>
          <p:txBody>
            <a:bodyPr wrap="none" lIns="0" tIns="0" rIns="0" bIns="0" anchor="t" anchorCtr="0">
              <a:spAutoFit/>
            </a:bodyPr>
            <a:lstStyle/>
            <a:p>
              <a:pPr algn="l"/>
              <a:r>
                <a:rPr lang="en-US" sz="900" dirty="0">
                  <a:solidFill>
                    <a:schemeClr val="accent5"/>
                  </a:solidFill>
                  <a:latin typeface="+mn-lt"/>
                  <a:ea typeface="+mn-ea"/>
                  <a:cs typeface="+mn-cs"/>
                </a:rPr>
                <a:t>Sources: Bridgewater · Coatue · Wells Fargo · Blackstone / Norm.ai | Reviewed October 25, 2026</a:t>
              </a:r>
            </a:p>
          </p:txBody>
        </p:sp>
        <p:sp>
          <p:nvSpPr>
            <p:cNvPr id="10" name="TextBox 10"/>
            <p:cNvSpPr txBox="1"/>
            <p:nvPr/>
          </p:nvSpPr>
          <p:spPr>
            <a:xfrm>
              <a:off x="11359512" y="6477000"/>
              <a:ext cx="380050" cy="176212"/>
            </a:xfrm>
            <a:prstGeom prst="rect">
              <a:avLst/>
            </a:prstGeom>
            <a:noFill/>
            <a:ln>
              <a:noFill/>
            </a:ln>
          </p:spPr>
          <p:txBody>
            <a:bodyPr wrap="none" lIns="0" tIns="0" rIns="0" bIns="0" anchor="t" anchorCtr="0">
              <a:spAutoFit/>
            </a:bodyPr>
            <a:lstStyle/>
            <a:p>
              <a:pPr algn="r"/>
              <a:r>
                <a:rPr lang="en-US" sz="900" dirty="0">
                  <a:solidFill>
                    <a:schemeClr val="accent5"/>
                  </a:solidFill>
                  <a:latin typeface="+mn-lt"/>
                  <a:ea typeface="+mn-ea"/>
                  <a:cs typeface="+mn-cs"/>
                </a:rPr>
                <a:t>04 / 37</a:t>
              </a:r>
            </a:p>
          </p:txBody>
        </p:sp>
      </p:grpSp>
    </p:spTree>
  </p:cSld>
  <p:clrMapOvr>
    <a:masterClrMapping/>
  </p:clrMapOvr>
  <p:transition xmlns:p14="http://schemas.microsoft.com/office/powerpoint/2010/main" p14:dur="400">
    <p:fade/>
  </p:transition>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5" name="title"/>
          <p:cNvGrpSpPr/>
          <p:nvPr/>
        </p:nvGrpSpPr>
        <p:grpSpPr>
          <a:xfrm>
            <a:off x="443484" y="361950"/>
            <a:ext cx="10587603" cy="1100582"/>
            <a:chOff x="443484" y="361950"/>
            <a:chExt cx="10587603" cy="1100582"/>
          </a:xfrm>
        </p:grpSpPr>
        <p:sp>
          <p:nvSpPr>
            <p:cNvPr id="2" name="TextBox 2"/>
            <p:cNvSpPr txBox="1"/>
            <p:nvPr/>
          </p:nvSpPr>
          <p:spPr>
            <a:xfrm>
              <a:off x="451104" y="361950"/>
              <a:ext cx="2060858" cy="234696"/>
            </a:xfrm>
            <a:prstGeom prst="rect">
              <a:avLst/>
            </a:prstGeom>
            <a:noFill/>
            <a:ln>
              <a:noFill/>
            </a:ln>
          </p:spPr>
          <p:txBody>
            <a:bodyPr wrap="none" lIns="0" tIns="0" rIns="0" bIns="0" anchor="t" anchorCtr="0">
              <a:spAutoFit/>
            </a:bodyPr>
            <a:lstStyle/>
            <a:p>
              <a:pPr algn="l"/>
              <a:r>
                <a:rPr lang="en-US" sz="1200" dirty="0">
                  <a:solidFill>
                    <a:schemeClr val="accent2"/>
                  </a:solidFill>
                  <a:latin typeface="+mn-lt"/>
                  <a:ea typeface="+mn-ea"/>
                  <a:cs typeface="+mn-cs"/>
                </a:rPr>
                <a:t>01 / FINANCE STRATEGY</a:t>
              </a:r>
            </a:p>
          </p:txBody>
        </p:sp>
        <p:sp>
          <p:nvSpPr>
            <p:cNvPr id="3" name="TextBox 3"/>
            <p:cNvSpPr txBox="1"/>
            <p:nvPr/>
          </p:nvSpPr>
          <p:spPr>
            <a:xfrm>
              <a:off x="443484" y="593725"/>
              <a:ext cx="8858293" cy="528066"/>
            </a:xfrm>
            <a:prstGeom prst="rect">
              <a:avLst/>
            </a:prstGeom>
            <a:noFill/>
            <a:ln>
              <a:noFill/>
            </a:ln>
          </p:spPr>
          <p:txBody>
            <a:bodyPr wrap="none" lIns="0" tIns="0" rIns="0" bIns="0" anchor="t" anchorCtr="0">
              <a:spAutoFit/>
            </a:bodyPr>
            <a:lstStyle/>
            <a:p>
              <a:pPr algn="l"/>
              <a:r>
                <a:rPr lang="en-US" sz="2700" dirty="0">
                  <a:solidFill>
                    <a:schemeClr val="accent1"/>
                  </a:solidFill>
                  <a:latin typeface="+mj-lt"/>
                  <a:ea typeface="+mj-ea"/>
                  <a:cs typeface="+mj-cs"/>
                </a:rPr>
                <a:t>Wealth agents prepare; professionals retain authority</a:t>
              </a:r>
            </a:p>
          </p:txBody>
        </p:sp>
        <p:sp>
          <p:nvSpPr>
            <p:cNvPr id="4" name="TextBox 4"/>
            <p:cNvSpPr txBox="1"/>
            <p:nvPr/>
          </p:nvSpPr>
          <p:spPr>
            <a:xfrm>
              <a:off x="448818" y="1139825"/>
              <a:ext cx="10582269" cy="322707"/>
            </a:xfrm>
            <a:prstGeom prst="rect">
              <a:avLst/>
            </a:prstGeom>
            <a:noFill/>
            <a:ln>
              <a:noFill/>
            </a:ln>
          </p:spPr>
          <p:txBody>
            <a:bodyPr wrap="none" lIns="0" tIns="0" rIns="0" bIns="0" anchor="t" anchorCtr="0">
              <a:spAutoFit/>
            </a:bodyPr>
            <a:lstStyle/>
            <a:p>
              <a:pPr algn="l"/>
              <a:r>
                <a:rPr lang="en-US" sz="1650" dirty="0">
                  <a:solidFill>
                    <a:schemeClr val="accent5"/>
                  </a:solidFill>
                  <a:latin typeface="+mn-lt"/>
                  <a:ea typeface="+mn-ea"/>
                  <a:cs typeface="+mn-cs"/>
                </a:rPr>
                <a:t>Range, Arca and Perpetual reveal complementary patterns for expertise, handoffs and approved execution.</a:t>
              </a:r>
            </a:p>
          </p:txBody>
        </p:sp>
      </p:grpSp>
      <p:grpSp>
        <p:nvGrpSpPr>
          <p:cNvPr id="8" name="analysis-1"/>
          <p:cNvGrpSpPr/>
          <p:nvPr/>
        </p:nvGrpSpPr>
        <p:grpSpPr>
          <a:xfrm>
            <a:off x="448056" y="1876425"/>
            <a:ext cx="3246272" cy="3236595"/>
            <a:chOff x="448056" y="1876425"/>
            <a:chExt cx="3246272" cy="3236595"/>
          </a:xfrm>
        </p:grpSpPr>
        <p:sp>
          <p:nvSpPr>
            <p:cNvPr id="6" name="TextBox 6"/>
            <p:cNvSpPr txBox="1"/>
            <p:nvPr/>
          </p:nvSpPr>
          <p:spPr>
            <a:xfrm>
              <a:off x="448056" y="1876425"/>
              <a:ext cx="3234089" cy="352044"/>
            </a:xfrm>
            <a:prstGeom prst="rect">
              <a:avLst/>
            </a:prstGeom>
            <a:noFill/>
            <a:ln>
              <a:noFill/>
            </a:ln>
          </p:spPr>
          <p:txBody>
            <a:bodyPr wrap="none" lIns="0" tIns="0" rIns="0" bIns="0" anchor="t" anchorCtr="0">
              <a:spAutoFit/>
            </a:bodyPr>
            <a:lstStyle/>
            <a:p>
              <a:pPr algn="l"/>
              <a:r>
                <a:rPr lang="en-US" sz="1800" dirty="0">
                  <a:solidFill>
                    <a:schemeClr val="accent2"/>
                  </a:solidFill>
                  <a:latin typeface="+mj-lt"/>
                  <a:ea typeface="+mj-ea"/>
                  <a:cs typeface="+mj-cs"/>
                </a:rPr>
                <a:t>Turn expertise into a method</a:t>
              </a:r>
            </a:p>
          </p:txBody>
        </p:sp>
        <p:sp>
          <p:nvSpPr>
            <p:cNvPr id="7" name="TextBox 7"/>
            <p:cNvSpPr txBox="1"/>
            <p:nvPr/>
          </p:nvSpPr>
          <p:spPr>
            <a:xfrm>
              <a:off x="449580" y="2505075"/>
              <a:ext cx="3244748" cy="2607945"/>
            </a:xfrm>
            <a:prstGeom prst="rect">
              <a:avLst/>
            </a:prstGeom>
            <a:noFill/>
            <a:ln>
              <a:noFill/>
            </a:ln>
          </p:spPr>
          <p:txBody>
            <a:bodyPr wrap="none" lIns="0" tIns="0" rIns="0" bIns="0" anchor="t" anchorCtr="0">
              <a:spAutoFit/>
            </a:bodyPr>
            <a:lstStyle/>
            <a:p>
              <a:pPr algn="l">
                <a:lnSpc>
                  <a:spcPts val="2025"/>
                </a:lnSpc>
              </a:pPr>
              <a:r>
                <a:rPr lang="en-US" sz="1500" dirty="0">
                  <a:solidFill>
                    <a:schemeClr val="dk1"/>
                  </a:solidFill>
                  <a:latin typeface="+mn-lt"/>
                  <a:ea typeface="+mn-ea"/>
                  <a:cs typeface="+mn-cs"/>
                </a:rPr>
                <a:t>Range’s skill records reasons,</a:t>
              </a:r>
              <a:br>
                <a:rPr lang="en-US" sz="1500" dirty="0">
                  <a:solidFill>
                    <a:schemeClr val="dk1"/>
                  </a:solidFill>
                  <a:latin typeface="+mn-lt"/>
                  <a:ea typeface="+mn-ea"/>
                  <a:cs typeface="+mn-cs"/>
                </a:rPr>
              </a:br>
              <a:r>
                <a:rPr lang="en-US" sz="1500" dirty="0">
                  <a:solidFill>
                    <a:schemeClr val="dk1"/>
                  </a:solidFill>
                  <a:latin typeface="+mn-lt"/>
                  <a:ea typeface="+mn-ea"/>
                  <a:cs typeface="+mn-cs"/>
                </a:rPr>
                <a:t>required questions, exceptions and</a:t>
              </a:r>
              <a:br>
                <a:rPr lang="en-US" sz="1500" dirty="0">
                  <a:solidFill>
                    <a:schemeClr val="dk1"/>
                  </a:solidFill>
                  <a:latin typeface="+mn-lt"/>
                  <a:ea typeface="+mn-ea"/>
                  <a:cs typeface="+mn-cs"/>
                </a:rPr>
              </a:br>
              <a:r>
                <a:rPr lang="en-US" sz="1500" dirty="0">
                  <a:solidFill>
                    <a:schemeClr val="dk1"/>
                  </a:solidFill>
                  <a:latin typeface="+mn-lt"/>
                  <a:ea typeface="+mn-ea"/>
                  <a:cs typeface="+mn-cs"/>
                </a:rPr>
                <a:t>stopping conditions. An owner</a:t>
              </a:r>
              <a:br>
                <a:rPr lang="en-US" sz="1500" dirty="0">
                  <a:solidFill>
                    <a:schemeClr val="dk1"/>
                  </a:solidFill>
                  <a:latin typeface="+mn-lt"/>
                  <a:ea typeface="+mn-ea"/>
                  <a:cs typeface="+mn-cs"/>
                </a:rPr>
              </a:br>
              <a:r>
                <a:rPr lang="en-US" sz="1500" dirty="0">
                  <a:solidFill>
                    <a:schemeClr val="dk1"/>
                  </a:solidFill>
                  <a:latin typeface="+mn-lt"/>
                  <a:ea typeface="+mn-ea"/>
                  <a:cs typeface="+mn-cs"/>
                </a:rPr>
                <a:t>maintains it and a separate</a:t>
              </a:r>
              <a:br>
                <a:rPr lang="en-US" sz="1500" dirty="0">
                  <a:solidFill>
                    <a:schemeClr val="dk1"/>
                  </a:solidFill>
                  <a:latin typeface="+mn-lt"/>
                  <a:ea typeface="+mn-ea"/>
                  <a:cs typeface="+mn-cs"/>
                </a:rPr>
              </a:br>
              <a:r>
                <a:rPr lang="en-US" sz="1500" dirty="0">
                  <a:solidFill>
                    <a:schemeClr val="dk1"/>
                  </a:solidFill>
                  <a:latin typeface="+mn-lt"/>
                  <a:ea typeface="+mn-ea"/>
                  <a:cs typeface="+mn-cs"/>
                </a:rPr>
                <a:t>reviewer checks it. The planner</a:t>
              </a:r>
              <a:br>
                <a:rPr lang="en-US" sz="1500" dirty="0">
                  <a:solidFill>
                    <a:schemeClr val="dk1"/>
                  </a:solidFill>
                  <a:latin typeface="+mn-lt"/>
                  <a:ea typeface="+mn-ea"/>
                  <a:cs typeface="+mn-cs"/>
                </a:rPr>
              </a:br>
              <a:r>
                <a:rPr lang="en-US" sz="1500" dirty="0">
                  <a:solidFill>
                    <a:schemeClr val="dk1"/>
                  </a:solidFill>
                  <a:latin typeface="+mn-lt"/>
                  <a:ea typeface="+mn-ea"/>
                  <a:cs typeface="+mn-cs"/>
                </a:rPr>
                <a:t>reviews every recommendation before</a:t>
              </a:r>
              <a:br>
                <a:rPr lang="en-US" sz="1500" dirty="0">
                  <a:solidFill>
                    <a:schemeClr val="dk1"/>
                  </a:solidFill>
                  <a:latin typeface="+mn-lt"/>
                  <a:ea typeface="+mn-ea"/>
                  <a:cs typeface="+mn-cs"/>
                </a:rPr>
              </a:br>
              <a:r>
                <a:rPr lang="en-US" sz="1500" dirty="0">
                  <a:solidFill>
                    <a:schemeClr val="dk1"/>
                  </a:solidFill>
                  <a:latin typeface="+mn-lt"/>
                  <a:ea typeface="+mn-ea"/>
                  <a:cs typeface="+mn-cs"/>
                </a:rPr>
                <a:t>client delivery. Five to ten</a:t>
              </a:r>
              <a:br>
                <a:rPr lang="en-US" sz="1500" dirty="0">
                  <a:solidFill>
                    <a:schemeClr val="dk1"/>
                  </a:solidFill>
                  <a:latin typeface="+mn-lt"/>
                  <a:ea typeface="+mn-ea"/>
                  <a:cs typeface="+mn-cs"/>
                </a:rPr>
              </a:br>
              <a:r>
                <a:rPr lang="en-US" sz="1500" dirty="0">
                  <a:solidFill>
                    <a:schemeClr val="dk1"/>
                  </a:solidFill>
                  <a:latin typeface="+mn-lt"/>
                  <a:ea typeface="+mn-ea"/>
                  <a:cs typeface="+mn-cs"/>
                </a:rPr>
                <a:t>examples are a starting test</a:t>
              </a:r>
              <a:br>
                <a:rPr lang="en-US" sz="1500" dirty="0">
                  <a:solidFill>
                    <a:schemeClr val="dk1"/>
                  </a:solidFill>
                  <a:latin typeface="+mn-lt"/>
                  <a:ea typeface="+mn-ea"/>
                  <a:cs typeface="+mn-cs"/>
                </a:rPr>
              </a:br>
              <a:r>
                <a:rPr lang="en-US" sz="1500" dirty="0">
                  <a:solidFill>
                    <a:schemeClr val="dk1"/>
                  </a:solidFill>
                  <a:latin typeface="+mn-lt"/>
                  <a:ea typeface="+mn-ea"/>
                  <a:cs typeface="+mn-cs"/>
                </a:rPr>
                <a:t>routine, not sufficient release</a:t>
              </a:r>
              <a:br>
                <a:rPr lang="en-US" sz="1500" dirty="0">
                  <a:solidFill>
                    <a:schemeClr val="dk1"/>
                  </a:solidFill>
                  <a:latin typeface="+mn-lt"/>
                  <a:ea typeface="+mn-ea"/>
                  <a:cs typeface="+mn-cs"/>
                </a:rPr>
              </a:br>
              <a:r>
                <a:rPr lang="en-US" sz="1500" dirty="0">
                  <a:solidFill>
                    <a:schemeClr val="dk1"/>
                  </a:solidFill>
                  <a:latin typeface="+mn-lt"/>
                  <a:ea typeface="+mn-ea"/>
                  <a:cs typeface="+mn-cs"/>
                </a:rPr>
                <a:t>assurance.</a:t>
              </a:r>
            </a:p>
          </p:txBody>
        </p:sp>
      </p:grpSp>
      <p:grpSp>
        <p:nvGrpSpPr>
          <p:cNvPr id="11" name="analysis-2"/>
          <p:cNvGrpSpPr/>
          <p:nvPr/>
        </p:nvGrpSpPr>
        <p:grpSpPr>
          <a:xfrm>
            <a:off x="4296156" y="1876425"/>
            <a:ext cx="3161881" cy="2979420"/>
            <a:chOff x="4296156" y="1876425"/>
            <a:chExt cx="3161881" cy="2979420"/>
          </a:xfrm>
        </p:grpSpPr>
        <p:sp>
          <p:nvSpPr>
            <p:cNvPr id="9" name="TextBox 9"/>
            <p:cNvSpPr txBox="1"/>
            <p:nvPr/>
          </p:nvSpPr>
          <p:spPr>
            <a:xfrm>
              <a:off x="4296156" y="1876425"/>
              <a:ext cx="3029372" cy="352044"/>
            </a:xfrm>
            <a:prstGeom prst="rect">
              <a:avLst/>
            </a:prstGeom>
            <a:noFill/>
            <a:ln>
              <a:noFill/>
            </a:ln>
          </p:spPr>
          <p:txBody>
            <a:bodyPr wrap="none" lIns="0" tIns="0" rIns="0" bIns="0" anchor="t" anchorCtr="0">
              <a:spAutoFit/>
            </a:bodyPr>
            <a:lstStyle/>
            <a:p>
              <a:pPr algn="l"/>
              <a:r>
                <a:rPr lang="en-US" sz="1800" dirty="0">
                  <a:solidFill>
                    <a:schemeClr val="accent2"/>
                  </a:solidFill>
                  <a:latin typeface="+mj-lt"/>
                  <a:ea typeface="+mj-ea"/>
                  <a:cs typeface="+mj-cs"/>
                </a:rPr>
                <a:t>Continue across real delays</a:t>
              </a:r>
            </a:p>
          </p:txBody>
        </p:sp>
        <p:sp>
          <p:nvSpPr>
            <p:cNvPr id="10" name="TextBox 10"/>
            <p:cNvSpPr txBox="1"/>
            <p:nvPr/>
          </p:nvSpPr>
          <p:spPr>
            <a:xfrm>
              <a:off x="4297680" y="2505075"/>
              <a:ext cx="3160357" cy="2350770"/>
            </a:xfrm>
            <a:prstGeom prst="rect">
              <a:avLst/>
            </a:prstGeom>
            <a:noFill/>
            <a:ln>
              <a:noFill/>
            </a:ln>
          </p:spPr>
          <p:txBody>
            <a:bodyPr wrap="none" lIns="0" tIns="0" rIns="0" bIns="0" anchor="t" anchorCtr="0">
              <a:spAutoFit/>
            </a:bodyPr>
            <a:lstStyle/>
            <a:p>
              <a:pPr algn="l">
                <a:lnSpc>
                  <a:spcPts val="2025"/>
                </a:lnSpc>
              </a:pPr>
              <a:r>
                <a:rPr lang="en-US" sz="1500" dirty="0">
                  <a:solidFill>
                    <a:schemeClr val="dk1"/>
                  </a:solidFill>
                  <a:latin typeface="+mn-lt"/>
                  <a:ea typeface="+mn-ea"/>
                  <a:cs typeface="+mn-cs"/>
                </a:rPr>
                <a:t>Arca’s tax-payment illustration</a:t>
              </a:r>
              <a:br>
                <a:rPr lang="en-US" sz="1500" dirty="0">
                  <a:solidFill>
                    <a:schemeClr val="dk1"/>
                  </a:solidFill>
                  <a:latin typeface="+mn-lt"/>
                  <a:ea typeface="+mn-ea"/>
                  <a:cs typeface="+mn-cs"/>
                </a:rPr>
              </a:br>
              <a:r>
                <a:rPr lang="en-US" sz="1500" dirty="0">
                  <a:solidFill>
                    <a:schemeClr val="dk1"/>
                  </a:solidFill>
                  <a:latin typeface="+mn-lt"/>
                  <a:ea typeface="+mn-ea"/>
                  <a:cs typeface="+mn-cs"/>
                </a:rPr>
                <a:t>spans replies, approvals, trades</a:t>
              </a:r>
              <a:br>
                <a:rPr lang="en-US" sz="1500" dirty="0">
                  <a:solidFill>
                    <a:schemeClr val="dk1"/>
                  </a:solidFill>
                  <a:latin typeface="+mn-lt"/>
                  <a:ea typeface="+mn-ea"/>
                  <a:cs typeface="+mn-cs"/>
                </a:rPr>
              </a:br>
              <a:r>
                <a:rPr lang="en-US" sz="1500" dirty="0">
                  <a:solidFill>
                    <a:schemeClr val="dk1"/>
                  </a:solidFill>
                  <a:latin typeface="+mn-lt"/>
                  <a:ea typeface="+mn-ea"/>
                  <a:cs typeface="+mn-cs"/>
                </a:rPr>
                <a:t>and settlement. Long horizon means</a:t>
              </a:r>
              <a:br>
                <a:rPr lang="en-US" sz="1500" dirty="0">
                  <a:solidFill>
                    <a:schemeClr val="dk1"/>
                  </a:solidFill>
                  <a:latin typeface="+mn-lt"/>
                  <a:ea typeface="+mn-ea"/>
                  <a:cs typeface="+mn-cs"/>
                </a:rPr>
              </a:br>
              <a:r>
                <a:rPr lang="en-US" sz="1500" dirty="0">
                  <a:solidFill>
                    <a:schemeClr val="dk1"/>
                  </a:solidFill>
                  <a:latin typeface="+mn-lt"/>
                  <a:ea typeface="+mn-ea"/>
                  <a:cs typeface="+mn-cs"/>
                </a:rPr>
                <a:t>durable shared plans and</a:t>
              </a:r>
              <a:br>
                <a:rPr lang="en-US" sz="1500" dirty="0">
                  <a:solidFill>
                    <a:schemeClr val="dk1"/>
                  </a:solidFill>
                  <a:latin typeface="+mn-lt"/>
                  <a:ea typeface="+mn-ea"/>
                  <a:cs typeface="+mn-cs"/>
                </a:rPr>
              </a:br>
              <a:r>
                <a:rPr lang="en-US" sz="1500" dirty="0">
                  <a:solidFill>
                    <a:schemeClr val="dk1"/>
                  </a:solidFill>
                  <a:latin typeface="+mn-lt"/>
                  <a:ea typeface="+mn-ea"/>
                  <a:cs typeface="+mn-cs"/>
                </a:rPr>
                <a:t>event-driven resumption, rather</a:t>
              </a:r>
              <a:br>
                <a:rPr lang="en-US" sz="1500" dirty="0">
                  <a:solidFill>
                    <a:schemeClr val="dk1"/>
                  </a:solidFill>
                  <a:latin typeface="+mn-lt"/>
                  <a:ea typeface="+mn-ea"/>
                  <a:cs typeface="+mn-cs"/>
                </a:rPr>
              </a:br>
              <a:r>
                <a:rPr lang="en-US" sz="1500" dirty="0">
                  <a:solidFill>
                    <a:schemeClr val="dk1"/>
                  </a:solidFill>
                  <a:latin typeface="+mn-lt"/>
                  <a:ea typeface="+mn-ea"/>
                  <a:cs typeface="+mn-cs"/>
                </a:rPr>
                <a:t>than continuous model thought.</a:t>
              </a:r>
              <a:br>
                <a:rPr lang="en-US" sz="1500" dirty="0">
                  <a:solidFill>
                    <a:schemeClr val="dk1"/>
                  </a:solidFill>
                  <a:latin typeface="+mn-lt"/>
                  <a:ea typeface="+mn-ea"/>
                  <a:cs typeface="+mn-cs"/>
                </a:rPr>
              </a:br>
              <a:r>
                <a:rPr lang="en-US" sz="1500" dirty="0">
                  <a:solidFill>
                    <a:schemeClr val="dk1"/>
                  </a:solidFill>
                  <a:latin typeface="+mn-lt"/>
                  <a:ea typeface="+mn-ea"/>
                  <a:cs typeface="+mn-cs"/>
                </a:rPr>
                <a:t>Track who owns the next action,</a:t>
              </a:r>
              <a:br>
                <a:rPr lang="en-US" sz="1500" dirty="0">
                  <a:solidFill>
                    <a:schemeClr val="dk1"/>
                  </a:solidFill>
                  <a:latin typeface="+mn-lt"/>
                  <a:ea typeface="+mn-ea"/>
                  <a:cs typeface="+mn-cs"/>
                </a:rPr>
              </a:br>
              <a:r>
                <a:rPr lang="en-US" sz="1500" dirty="0">
                  <a:solidFill>
                    <a:schemeClr val="dk1"/>
                  </a:solidFill>
                  <a:latin typeface="+mn-lt"/>
                  <a:ea typeface="+mn-ea"/>
                  <a:cs typeface="+mn-cs"/>
                </a:rPr>
                <a:t>what event wakes the task and which</a:t>
              </a:r>
              <a:br>
                <a:rPr lang="en-US" sz="1500" dirty="0">
                  <a:solidFill>
                    <a:schemeClr val="dk1"/>
                  </a:solidFill>
                  <a:latin typeface="+mn-lt"/>
                  <a:ea typeface="+mn-ea"/>
                  <a:cs typeface="+mn-cs"/>
                </a:rPr>
              </a:br>
              <a:r>
                <a:rPr lang="en-US" sz="1500" dirty="0">
                  <a:solidFill>
                    <a:schemeClr val="dk1"/>
                  </a:solidFill>
                  <a:latin typeface="+mn-lt"/>
                  <a:ea typeface="+mn-ea"/>
                  <a:cs typeface="+mn-cs"/>
                </a:rPr>
                <a:t>approval is still required.</a:t>
              </a:r>
            </a:p>
          </p:txBody>
        </p:sp>
      </p:grpSp>
      <p:grpSp>
        <p:nvGrpSpPr>
          <p:cNvPr id="14" name="analysis-3"/>
          <p:cNvGrpSpPr/>
          <p:nvPr/>
        </p:nvGrpSpPr>
        <p:grpSpPr>
          <a:xfrm>
            <a:off x="8144256" y="1876425"/>
            <a:ext cx="3109570" cy="3236595"/>
            <a:chOff x="8144256" y="1876425"/>
            <a:chExt cx="3109570" cy="3236595"/>
          </a:xfrm>
        </p:grpSpPr>
        <p:sp>
          <p:nvSpPr>
            <p:cNvPr id="12" name="TextBox 12"/>
            <p:cNvSpPr txBox="1"/>
            <p:nvPr/>
          </p:nvSpPr>
          <p:spPr>
            <a:xfrm>
              <a:off x="8144256" y="1876425"/>
              <a:ext cx="3008952" cy="352044"/>
            </a:xfrm>
            <a:prstGeom prst="rect">
              <a:avLst/>
            </a:prstGeom>
            <a:noFill/>
            <a:ln>
              <a:noFill/>
            </a:ln>
          </p:spPr>
          <p:txBody>
            <a:bodyPr wrap="none" lIns="0" tIns="0" rIns="0" bIns="0" anchor="t" anchorCtr="0">
              <a:spAutoFit/>
            </a:bodyPr>
            <a:lstStyle/>
            <a:p>
              <a:pPr algn="l"/>
              <a:r>
                <a:rPr lang="en-US" sz="1800" dirty="0">
                  <a:solidFill>
                    <a:schemeClr val="accent2"/>
                  </a:solidFill>
                  <a:latin typeface="+mj-lt"/>
                  <a:ea typeface="+mj-ea"/>
                  <a:cs typeface="+mj-cs"/>
                </a:rPr>
                <a:t>Bind approval to the action</a:t>
              </a:r>
            </a:p>
          </p:txBody>
        </p:sp>
        <p:sp>
          <p:nvSpPr>
            <p:cNvPr id="13" name="TextBox 13"/>
            <p:cNvSpPr txBox="1"/>
            <p:nvPr/>
          </p:nvSpPr>
          <p:spPr>
            <a:xfrm>
              <a:off x="8145780" y="2505075"/>
              <a:ext cx="3108046" cy="2607945"/>
            </a:xfrm>
            <a:prstGeom prst="rect">
              <a:avLst/>
            </a:prstGeom>
            <a:noFill/>
            <a:ln>
              <a:noFill/>
            </a:ln>
          </p:spPr>
          <p:txBody>
            <a:bodyPr wrap="none" lIns="0" tIns="0" rIns="0" bIns="0" anchor="t" anchorCtr="0">
              <a:spAutoFit/>
            </a:bodyPr>
            <a:lstStyle/>
            <a:p>
              <a:pPr algn="l">
                <a:lnSpc>
                  <a:spcPts val="2025"/>
                </a:lnSpc>
              </a:pPr>
              <a:r>
                <a:rPr lang="en-US" sz="1500" dirty="0">
                  <a:solidFill>
                    <a:schemeClr val="dk1"/>
                  </a:solidFill>
                  <a:latin typeface="+mn-lt"/>
                  <a:ea typeface="+mn-ea"/>
                  <a:cs typeface="+mn-cs"/>
                </a:rPr>
                <a:t>Perpetual describes typed</a:t>
              </a:r>
              <a:br>
                <a:rPr lang="en-US" sz="1500" dirty="0">
                  <a:solidFill>
                    <a:schemeClr val="dk1"/>
                  </a:solidFill>
                  <a:latin typeface="+mn-lt"/>
                  <a:ea typeface="+mn-ea"/>
                  <a:cs typeface="+mn-cs"/>
                </a:rPr>
              </a:br>
              <a:r>
                <a:rPr lang="en-US" sz="1500" dirty="0">
                  <a:solidFill>
                    <a:schemeClr val="dk1"/>
                  </a:solidFill>
                  <a:latin typeface="+mn-lt"/>
                  <a:ea typeface="+mn-ea"/>
                  <a:cs typeface="+mn-cs"/>
                </a:rPr>
                <a:t>interpretation, a validating</a:t>
              </a:r>
              <a:br>
                <a:rPr lang="en-US" sz="1500" dirty="0">
                  <a:solidFill>
                    <a:schemeClr val="dk1"/>
                  </a:solidFill>
                  <a:latin typeface="+mn-lt"/>
                  <a:ea typeface="+mn-ea"/>
                  <a:cs typeface="+mn-cs"/>
                </a:rPr>
              </a:br>
              <a:r>
                <a:rPr lang="en-US" sz="1500" dirty="0">
                  <a:solidFill>
                    <a:schemeClr val="dk1"/>
                  </a:solidFill>
                  <a:latin typeface="+mn-lt"/>
                  <a:ea typeface="+mn-ea"/>
                  <a:cs typeface="+mn-cs"/>
                </a:rPr>
                <a:t>compiler and immutable approved</a:t>
              </a:r>
              <a:br>
                <a:rPr lang="en-US" sz="1500" dirty="0">
                  <a:solidFill>
                    <a:schemeClr val="dk1"/>
                  </a:solidFill>
                  <a:latin typeface="+mn-lt"/>
                  <a:ea typeface="+mn-ea"/>
                  <a:cs typeface="+mn-cs"/>
                </a:rPr>
              </a:br>
              <a:r>
                <a:rPr lang="en-US" sz="1500" dirty="0">
                  <a:solidFill>
                    <a:schemeClr val="dk1"/>
                  </a:solidFill>
                  <a:latin typeface="+mn-lt"/>
                  <a:ea typeface="+mn-ea"/>
                  <a:cs typeface="+mn-cs"/>
                </a:rPr>
                <a:t>plans. Approval attaches to the</a:t>
              </a:r>
              <a:br>
                <a:rPr lang="en-US" sz="1500" dirty="0">
                  <a:solidFill>
                    <a:schemeClr val="dk1"/>
                  </a:solidFill>
                  <a:latin typeface="+mn-lt"/>
                  <a:ea typeface="+mn-ea"/>
                  <a:cs typeface="+mn-cs"/>
                </a:rPr>
              </a:br>
              <a:r>
                <a:rPr lang="en-US" sz="1500" dirty="0">
                  <a:solidFill>
                    <a:schemeClr val="dk1"/>
                  </a:solidFill>
                  <a:latin typeface="+mn-lt"/>
                  <a:ea typeface="+mn-ea"/>
                  <a:cs typeface="+mn-cs"/>
                </a:rPr>
                <a:t>exact outgoing payload; an unknown</a:t>
              </a:r>
              <a:br>
                <a:rPr lang="en-US" sz="1500" dirty="0">
                  <a:solidFill>
                    <a:schemeClr val="dk1"/>
                  </a:solidFill>
                  <a:latin typeface="+mn-lt"/>
                  <a:ea typeface="+mn-ea"/>
                  <a:cs typeface="+mn-cs"/>
                </a:rPr>
              </a:br>
              <a:r>
                <a:rPr lang="en-US" sz="1500" dirty="0">
                  <a:solidFill>
                    <a:schemeClr val="dk1"/>
                  </a:solidFill>
                  <a:latin typeface="+mn-lt"/>
                  <a:ea typeface="+mn-ea"/>
                  <a:cs typeface="+mn-cs"/>
                </a:rPr>
                <a:t>dispatch outcome goes to manual</a:t>
              </a:r>
              <a:br>
                <a:rPr lang="en-US" sz="1500" dirty="0">
                  <a:solidFill>
                    <a:schemeClr val="dk1"/>
                  </a:solidFill>
                  <a:latin typeface="+mn-lt"/>
                  <a:ea typeface="+mn-ea"/>
                  <a:cs typeface="+mn-cs"/>
                </a:rPr>
              </a:br>
              <a:r>
                <a:rPr lang="en-US" sz="1500" dirty="0">
                  <a:solidFill>
                    <a:schemeClr val="dk1"/>
                  </a:solidFill>
                  <a:latin typeface="+mn-lt"/>
                  <a:ea typeface="+mn-ea"/>
                  <a:cs typeface="+mn-cs"/>
                </a:rPr>
                <a:t>review. Historical Morgan Stanley,</a:t>
              </a:r>
              <a:br>
                <a:rPr lang="en-US" sz="1500" dirty="0">
                  <a:solidFill>
                    <a:schemeClr val="dk1"/>
                  </a:solidFill>
                  <a:latin typeface="+mn-lt"/>
                  <a:ea typeface="+mn-ea"/>
                  <a:cs typeface="+mn-cs"/>
                </a:rPr>
              </a:br>
              <a:r>
                <a:rPr lang="en-US" sz="1500" dirty="0">
                  <a:solidFill>
                    <a:schemeClr val="dk1"/>
                  </a:solidFill>
                  <a:latin typeface="+mn-lt"/>
                  <a:ea typeface="+mn-ea"/>
                  <a:cs typeface="+mn-cs"/>
                </a:rPr>
                <a:t>UBS and RBC disclosures remain</a:t>
              </a:r>
              <a:br>
                <a:rPr lang="en-US" sz="1500" dirty="0">
                  <a:solidFill>
                    <a:schemeClr val="dk1"/>
                  </a:solidFill>
                  <a:latin typeface="+mn-lt"/>
                  <a:ea typeface="+mn-ea"/>
                  <a:cs typeface="+mn-cs"/>
                </a:rPr>
              </a:br>
              <a:r>
                <a:rPr lang="en-US" sz="1500" dirty="0">
                  <a:solidFill>
                    <a:schemeClr val="dk1"/>
                  </a:solidFill>
                  <a:latin typeface="+mn-lt"/>
                  <a:ea typeface="+mn-ea"/>
                  <a:cs typeface="+mn-cs"/>
                </a:rPr>
                <a:t>useful preparation/knowledge</a:t>
              </a:r>
              <a:br>
                <a:rPr lang="en-US" sz="1500" dirty="0">
                  <a:solidFill>
                    <a:schemeClr val="dk1"/>
                  </a:solidFill>
                  <a:latin typeface="+mn-lt"/>
                  <a:ea typeface="+mn-ea"/>
                  <a:cs typeface="+mn-cs"/>
                </a:rPr>
              </a:br>
              <a:r>
                <a:rPr lang="en-US" sz="1500" dirty="0">
                  <a:solidFill>
                    <a:schemeClr val="dk1"/>
                  </a:solidFill>
                  <a:latin typeface="+mn-lt"/>
                  <a:ea typeface="+mn-ea"/>
                  <a:cs typeface="+mn-cs"/>
                </a:rPr>
                <a:t>examples with their original dates.</a:t>
              </a:r>
            </a:p>
          </p:txBody>
        </p:sp>
      </p:grpSp>
      <p:grpSp>
        <p:nvGrpSpPr>
          <p:cNvPr id="17" name="footer"/>
          <p:cNvGrpSpPr/>
          <p:nvPr/>
        </p:nvGrpSpPr>
        <p:grpSpPr>
          <a:xfrm>
            <a:off x="452438" y="6477000"/>
            <a:ext cx="11287124" cy="176212"/>
            <a:chOff x="452438" y="6477000"/>
            <a:chExt cx="11287124" cy="176212"/>
          </a:xfrm>
        </p:grpSpPr>
        <p:sp>
          <p:nvSpPr>
            <p:cNvPr id="15" name="TextBox 15"/>
            <p:cNvSpPr txBox="1"/>
            <p:nvPr/>
          </p:nvSpPr>
          <p:spPr>
            <a:xfrm>
              <a:off x="452438" y="6477000"/>
              <a:ext cx="3491602" cy="176212"/>
            </a:xfrm>
            <a:prstGeom prst="rect">
              <a:avLst/>
            </a:prstGeom>
            <a:noFill/>
            <a:ln>
              <a:noFill/>
            </a:ln>
          </p:spPr>
          <p:txBody>
            <a:bodyPr wrap="none" lIns="0" tIns="0" rIns="0" bIns="0" anchor="t" anchorCtr="0">
              <a:spAutoFit/>
            </a:bodyPr>
            <a:lstStyle/>
            <a:p>
              <a:pPr algn="l"/>
              <a:r>
                <a:rPr lang="en-US" sz="900" dirty="0">
                  <a:solidFill>
                    <a:schemeClr val="accent5"/>
                  </a:solidFill>
                  <a:latin typeface="+mn-lt"/>
                  <a:ea typeface="+mn-ea"/>
                  <a:cs typeface="+mn-cs"/>
                </a:rPr>
                <a:t>Sources: Range · Arca · Perpetual | Reviewed October 25, 2026</a:t>
              </a:r>
            </a:p>
          </p:txBody>
        </p:sp>
        <p:sp>
          <p:nvSpPr>
            <p:cNvPr id="16" name="TextBox 16"/>
            <p:cNvSpPr txBox="1"/>
            <p:nvPr/>
          </p:nvSpPr>
          <p:spPr>
            <a:xfrm>
              <a:off x="11359512" y="6477000"/>
              <a:ext cx="380050" cy="176212"/>
            </a:xfrm>
            <a:prstGeom prst="rect">
              <a:avLst/>
            </a:prstGeom>
            <a:noFill/>
            <a:ln>
              <a:noFill/>
            </a:ln>
          </p:spPr>
          <p:txBody>
            <a:bodyPr wrap="none" lIns="0" tIns="0" rIns="0" bIns="0" anchor="t" anchorCtr="0">
              <a:spAutoFit/>
            </a:bodyPr>
            <a:lstStyle/>
            <a:p>
              <a:pPr algn="r"/>
              <a:r>
                <a:rPr lang="en-US" sz="900" dirty="0">
                  <a:solidFill>
                    <a:schemeClr val="accent5"/>
                  </a:solidFill>
                  <a:latin typeface="+mn-lt"/>
                  <a:ea typeface="+mn-ea"/>
                  <a:cs typeface="+mn-cs"/>
                </a:rPr>
                <a:t>05 / 37</a:t>
              </a:r>
            </a:p>
          </p:txBody>
        </p:sp>
      </p:grpSp>
    </p:spTree>
  </p:cSld>
  <p:clrMapOvr>
    <a:masterClrMapping/>
  </p:clrMapOvr>
  <p:transition xmlns:p14="http://schemas.microsoft.com/office/powerpoint/2010/main" p14:dur="400">
    <p:fade/>
  </p:transition>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5" name="title"/>
          <p:cNvGrpSpPr/>
          <p:nvPr/>
        </p:nvGrpSpPr>
        <p:grpSpPr>
          <a:xfrm>
            <a:off x="443484" y="361950"/>
            <a:ext cx="8956673" cy="1100582"/>
            <a:chOff x="443484" y="361950"/>
            <a:chExt cx="8956673" cy="1100582"/>
          </a:xfrm>
        </p:grpSpPr>
        <p:sp>
          <p:nvSpPr>
            <p:cNvPr id="2" name="TextBox 2"/>
            <p:cNvSpPr txBox="1"/>
            <p:nvPr/>
          </p:nvSpPr>
          <p:spPr>
            <a:xfrm>
              <a:off x="451104" y="361950"/>
              <a:ext cx="2060858" cy="234696"/>
            </a:xfrm>
            <a:prstGeom prst="rect">
              <a:avLst/>
            </a:prstGeom>
            <a:noFill/>
            <a:ln>
              <a:noFill/>
            </a:ln>
          </p:spPr>
          <p:txBody>
            <a:bodyPr wrap="none" lIns="0" tIns="0" rIns="0" bIns="0" anchor="t" anchorCtr="0">
              <a:spAutoFit/>
            </a:bodyPr>
            <a:lstStyle/>
            <a:p>
              <a:pPr algn="l"/>
              <a:r>
                <a:rPr lang="en-US" sz="1200" dirty="0">
                  <a:solidFill>
                    <a:schemeClr val="accent2"/>
                  </a:solidFill>
                  <a:latin typeface="+mn-lt"/>
                  <a:ea typeface="+mn-ea"/>
                  <a:cs typeface="+mn-cs"/>
                </a:rPr>
                <a:t>01 / FINANCE STRATEGY</a:t>
              </a:r>
            </a:p>
          </p:txBody>
        </p:sp>
        <p:sp>
          <p:nvSpPr>
            <p:cNvPr id="3" name="TextBox 3"/>
            <p:cNvSpPr txBox="1"/>
            <p:nvPr/>
          </p:nvSpPr>
          <p:spPr>
            <a:xfrm>
              <a:off x="443484" y="593725"/>
              <a:ext cx="8648846" cy="528066"/>
            </a:xfrm>
            <a:prstGeom prst="rect">
              <a:avLst/>
            </a:prstGeom>
            <a:noFill/>
            <a:ln>
              <a:noFill/>
            </a:ln>
          </p:spPr>
          <p:txBody>
            <a:bodyPr wrap="none" lIns="0" tIns="0" rIns="0" bIns="0" anchor="t" anchorCtr="0">
              <a:spAutoFit/>
            </a:bodyPr>
            <a:lstStyle/>
            <a:p>
              <a:pPr algn="l"/>
              <a:r>
                <a:rPr lang="en-US" sz="2700" dirty="0">
                  <a:solidFill>
                    <a:schemeClr val="accent1"/>
                  </a:solidFill>
                  <a:latin typeface="+mj-lt"/>
                  <a:ea typeface="+mj-ea"/>
                  <a:cs typeface="+mj-cs"/>
                </a:rPr>
                <a:t>Process measures precede claims of financial impact</a:t>
              </a:r>
            </a:p>
          </p:txBody>
        </p:sp>
        <p:sp>
          <p:nvSpPr>
            <p:cNvPr id="4" name="TextBox 4"/>
            <p:cNvSpPr txBox="1"/>
            <p:nvPr/>
          </p:nvSpPr>
          <p:spPr>
            <a:xfrm>
              <a:off x="448818" y="1139825"/>
              <a:ext cx="8951339" cy="322707"/>
            </a:xfrm>
            <a:prstGeom prst="rect">
              <a:avLst/>
            </a:prstGeom>
            <a:noFill/>
            <a:ln>
              <a:noFill/>
            </a:ln>
          </p:spPr>
          <p:txBody>
            <a:bodyPr wrap="none" lIns="0" tIns="0" rIns="0" bIns="0" anchor="t" anchorCtr="0">
              <a:spAutoFit/>
            </a:bodyPr>
            <a:lstStyle/>
            <a:p>
              <a:pPr algn="l"/>
              <a:r>
                <a:rPr lang="en-US" sz="1650" dirty="0">
                  <a:solidFill>
                    <a:schemeClr val="accent5"/>
                  </a:solidFill>
                  <a:latin typeface="+mn-lt"/>
                  <a:ea typeface="+mn-ea"/>
                  <a:cs typeface="+mn-cs"/>
                </a:rPr>
                <a:t>Adoption, useful output, process change and financial outcomes require different evidence.</a:t>
              </a:r>
            </a:p>
          </p:txBody>
        </p:sp>
      </p:grpSp>
      <p:grpSp>
        <p:nvGrpSpPr>
          <p:cNvPr id="14" name="method-sequence"/>
          <p:cNvGrpSpPr/>
          <p:nvPr/>
        </p:nvGrpSpPr>
        <p:grpSpPr>
          <a:xfrm>
            <a:off x="457200" y="1714500"/>
            <a:ext cx="11277600" cy="533400"/>
            <a:chOff x="457200" y="1714500"/>
            <a:chExt cx="11277600" cy="533400"/>
          </a:xfrm>
        </p:grpSpPr>
        <p:sp>
          <p:nvSpPr>
            <p:cNvPr id="6" name="Rectangle 6"/>
            <p:cNvSpPr/>
            <p:nvPr/>
          </p:nvSpPr>
          <p:spPr>
            <a:xfrm>
              <a:off x="457200" y="1714500"/>
              <a:ext cx="2719388" cy="533400"/>
            </a:xfrm>
            <a:prstGeom prst="rect">
              <a:avLst/>
            </a:prstGeom>
            <a:solidFill>
              <a:schemeClr val="lt2"/>
            </a:solidFill>
            <a:ln>
              <a:noFill/>
            </a:ln>
          </p:spPr>
        </p:sp>
        <p:sp>
          <p:nvSpPr>
            <p:cNvPr id="7" name="TextBox 7"/>
            <p:cNvSpPr txBox="1"/>
            <p:nvPr/>
          </p:nvSpPr>
          <p:spPr>
            <a:xfrm>
              <a:off x="583692" y="1882775"/>
              <a:ext cx="353422" cy="264033"/>
            </a:xfrm>
            <a:prstGeom prst="rect">
              <a:avLst/>
            </a:prstGeom>
            <a:noFill/>
            <a:ln>
              <a:noFill/>
            </a:ln>
          </p:spPr>
          <p:txBody>
            <a:bodyPr wrap="none" lIns="0" tIns="0" rIns="0" bIns="0" anchor="t" anchorCtr="0">
              <a:spAutoFit/>
            </a:bodyPr>
            <a:lstStyle/>
            <a:p>
              <a:pPr algn="l"/>
              <a:r>
                <a:rPr lang="en-US" sz="1350" b="1" dirty="0">
                  <a:solidFill>
                    <a:schemeClr val="accent2"/>
                  </a:solidFill>
                  <a:latin typeface="+mn-lt"/>
                  <a:ea typeface="+mn-ea"/>
                  <a:cs typeface="+mn-cs"/>
                </a:rPr>
                <a:t>Use</a:t>
              </a:r>
            </a:p>
          </p:txBody>
        </p:sp>
        <p:sp>
          <p:nvSpPr>
            <p:cNvPr id="8" name="Rectangle 8"/>
            <p:cNvSpPr/>
            <p:nvPr/>
          </p:nvSpPr>
          <p:spPr>
            <a:xfrm>
              <a:off x="3309938" y="1714500"/>
              <a:ext cx="2719388" cy="533400"/>
            </a:xfrm>
            <a:prstGeom prst="rect">
              <a:avLst/>
            </a:prstGeom>
            <a:solidFill>
              <a:schemeClr val="lt2"/>
            </a:solidFill>
            <a:ln>
              <a:noFill/>
            </a:ln>
          </p:spPr>
        </p:sp>
        <p:sp>
          <p:nvSpPr>
            <p:cNvPr id="9" name="TextBox 9"/>
            <p:cNvSpPr txBox="1"/>
            <p:nvPr/>
          </p:nvSpPr>
          <p:spPr>
            <a:xfrm>
              <a:off x="3436429" y="1882775"/>
              <a:ext cx="1312582" cy="264033"/>
            </a:xfrm>
            <a:prstGeom prst="rect">
              <a:avLst/>
            </a:prstGeom>
            <a:noFill/>
            <a:ln>
              <a:noFill/>
            </a:ln>
          </p:spPr>
          <p:txBody>
            <a:bodyPr wrap="none" lIns="0" tIns="0" rIns="0" bIns="0" anchor="t" anchorCtr="0">
              <a:spAutoFit/>
            </a:bodyPr>
            <a:lstStyle/>
            <a:p>
              <a:pPr algn="l"/>
              <a:r>
                <a:rPr lang="en-US" sz="1350" b="1" dirty="0">
                  <a:solidFill>
                    <a:schemeClr val="accent2"/>
                  </a:solidFill>
                  <a:latin typeface="+mn-lt"/>
                  <a:ea typeface="+mn-ea"/>
                  <a:cs typeface="+mn-cs"/>
                </a:rPr>
                <a:t>Accepted work</a:t>
              </a:r>
            </a:p>
          </p:txBody>
        </p:sp>
        <p:sp>
          <p:nvSpPr>
            <p:cNvPr id="10" name="Rectangle 10"/>
            <p:cNvSpPr/>
            <p:nvPr/>
          </p:nvSpPr>
          <p:spPr>
            <a:xfrm>
              <a:off x="6162675" y="1714500"/>
              <a:ext cx="2719388" cy="533400"/>
            </a:xfrm>
            <a:prstGeom prst="rect">
              <a:avLst/>
            </a:prstGeom>
            <a:solidFill>
              <a:schemeClr val="lt2"/>
            </a:solidFill>
            <a:ln>
              <a:noFill/>
            </a:ln>
          </p:spPr>
        </p:sp>
        <p:sp>
          <p:nvSpPr>
            <p:cNvPr id="11" name="TextBox 11"/>
            <p:cNvSpPr txBox="1"/>
            <p:nvPr/>
          </p:nvSpPr>
          <p:spPr>
            <a:xfrm>
              <a:off x="6289167" y="1882775"/>
              <a:ext cx="1413818" cy="264033"/>
            </a:xfrm>
            <a:prstGeom prst="rect">
              <a:avLst/>
            </a:prstGeom>
            <a:noFill/>
            <a:ln>
              <a:noFill/>
            </a:ln>
          </p:spPr>
          <p:txBody>
            <a:bodyPr wrap="none" lIns="0" tIns="0" rIns="0" bIns="0" anchor="t" anchorCtr="0">
              <a:spAutoFit/>
            </a:bodyPr>
            <a:lstStyle/>
            <a:p>
              <a:pPr algn="l"/>
              <a:r>
                <a:rPr lang="en-US" sz="1350" b="1" dirty="0">
                  <a:solidFill>
                    <a:schemeClr val="accent2"/>
                  </a:solidFill>
                  <a:latin typeface="+mn-lt"/>
                  <a:ea typeface="+mn-ea"/>
                  <a:cs typeface="+mn-cs"/>
                </a:rPr>
                <a:t>Process change</a:t>
              </a:r>
            </a:p>
          </p:txBody>
        </p:sp>
        <p:sp>
          <p:nvSpPr>
            <p:cNvPr id="12" name="Rectangle 12"/>
            <p:cNvSpPr/>
            <p:nvPr/>
          </p:nvSpPr>
          <p:spPr>
            <a:xfrm>
              <a:off x="9015412" y="1714500"/>
              <a:ext cx="2719388" cy="533400"/>
            </a:xfrm>
            <a:prstGeom prst="rect">
              <a:avLst/>
            </a:prstGeom>
            <a:solidFill>
              <a:schemeClr val="lt2"/>
            </a:solidFill>
            <a:ln>
              <a:noFill/>
            </a:ln>
          </p:spPr>
        </p:sp>
        <p:sp>
          <p:nvSpPr>
            <p:cNvPr id="13" name="TextBox 13"/>
            <p:cNvSpPr txBox="1"/>
            <p:nvPr/>
          </p:nvSpPr>
          <p:spPr>
            <a:xfrm>
              <a:off x="9141904" y="1882775"/>
              <a:ext cx="1553741" cy="264033"/>
            </a:xfrm>
            <a:prstGeom prst="rect">
              <a:avLst/>
            </a:prstGeom>
            <a:noFill/>
            <a:ln>
              <a:noFill/>
            </a:ln>
          </p:spPr>
          <p:txBody>
            <a:bodyPr wrap="none" lIns="0" tIns="0" rIns="0" bIns="0" anchor="t" anchorCtr="0">
              <a:spAutoFit/>
            </a:bodyPr>
            <a:lstStyle/>
            <a:p>
              <a:pPr algn="l"/>
              <a:r>
                <a:rPr lang="en-US" sz="1350" b="1" dirty="0">
                  <a:solidFill>
                    <a:schemeClr val="accent2"/>
                  </a:solidFill>
                  <a:latin typeface="+mn-lt"/>
                  <a:ea typeface="+mn-ea"/>
                  <a:cs typeface="+mn-cs"/>
                </a:rPr>
                <a:t>Attributable value</a:t>
              </a:r>
            </a:p>
          </p:txBody>
        </p:sp>
      </p:grpSp>
      <p:grpSp>
        <p:nvGrpSpPr>
          <p:cNvPr id="17" name="analysis-1"/>
          <p:cNvGrpSpPr/>
          <p:nvPr/>
        </p:nvGrpSpPr>
        <p:grpSpPr>
          <a:xfrm>
            <a:off x="448056" y="2438400"/>
            <a:ext cx="3140812" cy="3227070"/>
            <a:chOff x="448056" y="2438400"/>
            <a:chExt cx="3140812" cy="3227070"/>
          </a:xfrm>
        </p:grpSpPr>
        <p:sp>
          <p:nvSpPr>
            <p:cNvPr id="15" name="TextBox 15"/>
            <p:cNvSpPr txBox="1"/>
            <p:nvPr/>
          </p:nvSpPr>
          <p:spPr>
            <a:xfrm>
              <a:off x="448056" y="2438400"/>
              <a:ext cx="2773870" cy="352044"/>
            </a:xfrm>
            <a:prstGeom prst="rect">
              <a:avLst/>
            </a:prstGeom>
            <a:noFill/>
            <a:ln>
              <a:noFill/>
            </a:ln>
          </p:spPr>
          <p:txBody>
            <a:bodyPr wrap="none" lIns="0" tIns="0" rIns="0" bIns="0" anchor="t" anchorCtr="0">
              <a:spAutoFit/>
            </a:bodyPr>
            <a:lstStyle/>
            <a:p>
              <a:pPr algn="l"/>
              <a:r>
                <a:rPr lang="en-US" sz="1800" dirty="0">
                  <a:solidFill>
                    <a:schemeClr val="accent2"/>
                  </a:solidFill>
                  <a:latin typeface="+mj-lt"/>
                  <a:ea typeface="+mj-ea"/>
                  <a:cs typeface="+mj-cs"/>
                </a:rPr>
                <a:t>Define useful output first</a:t>
              </a:r>
            </a:p>
          </p:txBody>
        </p:sp>
        <p:sp>
          <p:nvSpPr>
            <p:cNvPr id="16" name="TextBox 16"/>
            <p:cNvSpPr txBox="1"/>
            <p:nvPr/>
          </p:nvSpPr>
          <p:spPr>
            <a:xfrm>
              <a:off x="449580" y="3057525"/>
              <a:ext cx="3139288" cy="2607945"/>
            </a:xfrm>
            <a:prstGeom prst="rect">
              <a:avLst/>
            </a:prstGeom>
            <a:noFill/>
            <a:ln>
              <a:noFill/>
            </a:ln>
          </p:spPr>
          <p:txBody>
            <a:bodyPr wrap="none" lIns="0" tIns="0" rIns="0" bIns="0" anchor="t" anchorCtr="0">
              <a:spAutoFit/>
            </a:bodyPr>
            <a:lstStyle/>
            <a:p>
              <a:pPr algn="l">
                <a:lnSpc>
                  <a:spcPts val="2025"/>
                </a:lnSpc>
              </a:pPr>
              <a:r>
                <a:rPr lang="en-US" sz="1500" dirty="0">
                  <a:solidFill>
                    <a:schemeClr val="dk1"/>
                  </a:solidFill>
                  <a:latin typeface="+mn-lt"/>
                  <a:ea typeface="+mn-ea"/>
                  <a:cs typeface="+mn-cs"/>
                </a:rPr>
                <a:t>Contour’s official release</a:t>
              </a:r>
              <a:br>
                <a:rPr lang="en-US" sz="1500" dirty="0">
                  <a:solidFill>
                    <a:schemeClr val="dk1"/>
                  </a:solidFill>
                  <a:latin typeface="+mn-lt"/>
                  <a:ea typeface="+mn-ea"/>
                  <a:cs typeface="+mn-cs"/>
                </a:rPr>
              </a:br>
              <a:r>
                <a:rPr lang="en-US" sz="1500" dirty="0">
                  <a:solidFill>
                    <a:schemeClr val="dk1"/>
                  </a:solidFill>
                  <a:latin typeface="+mn-lt"/>
                  <a:ea typeface="+mn-ea"/>
                  <a:cs typeface="+mn-cs"/>
                </a:rPr>
                <a:t>describes live research comparisons</a:t>
              </a:r>
              <a:br>
                <a:rPr lang="en-US" sz="1500" dirty="0">
                  <a:solidFill>
                    <a:schemeClr val="dk1"/>
                  </a:solidFill>
                  <a:latin typeface="+mn-lt"/>
                  <a:ea typeface="+mn-ea"/>
                  <a:cs typeface="+mn-cs"/>
                </a:rPr>
              </a:br>
              <a:r>
                <a:rPr lang="en-US" sz="1500" dirty="0">
                  <a:solidFill>
                    <a:schemeClr val="dk1"/>
                  </a:solidFill>
                  <a:latin typeface="+mn-lt"/>
                  <a:ea typeface="+mn-ea"/>
                  <a:cs typeface="+mn-cs"/>
                </a:rPr>
                <a:t>and cost per useful insight,</a:t>
              </a:r>
              <a:br>
                <a:rPr lang="en-US" sz="1500" dirty="0">
                  <a:solidFill>
                    <a:schemeClr val="dk1"/>
                  </a:solidFill>
                  <a:latin typeface="+mn-lt"/>
                  <a:ea typeface="+mn-ea"/>
                  <a:cs typeface="+mn-cs"/>
                </a:rPr>
              </a:br>
              <a:r>
                <a:rPr lang="en-US" sz="1500" dirty="0">
                  <a:solidFill>
                    <a:schemeClr val="dk1"/>
                  </a:solidFill>
                  <a:latin typeface="+mn-lt"/>
                  <a:ea typeface="+mn-ea"/>
                  <a:cs typeface="+mn-cs"/>
                </a:rPr>
                <a:t>including repair effort. Define</a:t>
              </a:r>
              <a:br>
                <a:rPr lang="en-US" sz="1500" dirty="0">
                  <a:solidFill>
                    <a:schemeClr val="dk1"/>
                  </a:solidFill>
                  <a:latin typeface="+mn-lt"/>
                  <a:ea typeface="+mn-ea"/>
                  <a:cs typeface="+mn-cs"/>
                </a:rPr>
              </a:br>
              <a:r>
                <a:rPr lang="en-US" sz="1500" dirty="0">
                  <a:solidFill>
                    <a:schemeClr val="dk1"/>
                  </a:solidFill>
                  <a:latin typeface="+mn-lt"/>
                  <a:ea typeface="+mn-ea"/>
                  <a:cs typeface="+mn-cs"/>
                </a:rPr>
                <a:t>useful insight, eligible work and</a:t>
              </a:r>
              <a:br>
                <a:rPr lang="en-US" sz="1500" dirty="0">
                  <a:solidFill>
                    <a:schemeClr val="dk1"/>
                  </a:solidFill>
                  <a:latin typeface="+mn-lt"/>
                  <a:ea typeface="+mn-ea"/>
                  <a:cs typeface="+mn-cs"/>
                </a:rPr>
              </a:br>
              <a:r>
                <a:rPr lang="en-US" sz="1500" dirty="0">
                  <a:solidFill>
                    <a:schemeClr val="dk1"/>
                  </a:solidFill>
                  <a:latin typeface="+mn-lt"/>
                  <a:ea typeface="+mn-ea"/>
                  <a:cs typeface="+mn-cs"/>
                </a:rPr>
                <a:t>the comparison before looking at</a:t>
              </a:r>
              <a:br>
                <a:rPr lang="en-US" sz="1500" dirty="0">
                  <a:solidFill>
                    <a:schemeClr val="dk1"/>
                  </a:solidFill>
                  <a:latin typeface="+mn-lt"/>
                  <a:ea typeface="+mn-ea"/>
                  <a:cs typeface="+mn-cs"/>
                </a:rPr>
              </a:br>
              <a:r>
                <a:rPr lang="en-US" sz="1500" dirty="0">
                  <a:solidFill>
                    <a:schemeClr val="dk1"/>
                  </a:solidFill>
                  <a:latin typeface="+mn-lt"/>
                  <a:ea typeface="+mn-ea"/>
                  <a:cs typeface="+mn-cs"/>
                </a:rPr>
                <a:t>outcomes. Its description does not</a:t>
              </a:r>
              <a:br>
                <a:rPr lang="en-US" sz="1500" dirty="0">
                  <a:solidFill>
                    <a:schemeClr val="dk1"/>
                  </a:solidFill>
                  <a:latin typeface="+mn-lt"/>
                  <a:ea typeface="+mn-ea"/>
                  <a:cs typeface="+mn-cs"/>
                </a:rPr>
              </a:br>
              <a:r>
                <a:rPr lang="en-US" sz="1500" dirty="0">
                  <a:solidFill>
                    <a:schemeClr val="dk1"/>
                  </a:solidFill>
                  <a:latin typeface="+mn-lt"/>
                  <a:ea typeface="+mn-ea"/>
                  <a:cs typeface="+mn-cs"/>
                </a:rPr>
                <a:t>disclose enough assignment, sample</a:t>
              </a:r>
              <a:br>
                <a:rPr lang="en-US" sz="1500" dirty="0">
                  <a:solidFill>
                    <a:schemeClr val="dk1"/>
                  </a:solidFill>
                  <a:latin typeface="+mn-lt"/>
                  <a:ea typeface="+mn-ea"/>
                  <a:cs typeface="+mn-cs"/>
                </a:rPr>
              </a:br>
              <a:r>
                <a:rPr lang="en-US" sz="1500" dirty="0">
                  <a:solidFill>
                    <a:schemeClr val="dk1"/>
                  </a:solidFill>
                  <a:latin typeface="+mn-lt"/>
                  <a:ea typeface="+mn-ea"/>
                  <a:cs typeface="+mn-cs"/>
                </a:rPr>
                <a:t>or control detail to establish</a:t>
              </a:r>
              <a:br>
                <a:rPr lang="en-US" sz="1500" dirty="0">
                  <a:solidFill>
                    <a:schemeClr val="dk1"/>
                  </a:solidFill>
                  <a:latin typeface="+mn-lt"/>
                  <a:ea typeface="+mn-ea"/>
                  <a:cs typeface="+mn-cs"/>
                </a:rPr>
              </a:br>
              <a:r>
                <a:rPr lang="en-US" sz="1500" dirty="0">
                  <a:solidFill>
                    <a:schemeClr val="dk1"/>
                  </a:solidFill>
                  <a:latin typeface="+mn-lt"/>
                  <a:ea typeface="+mn-ea"/>
                  <a:cs typeface="+mn-cs"/>
                </a:rPr>
                <a:t>causal alpha.</a:t>
              </a:r>
            </a:p>
          </p:txBody>
        </p:sp>
      </p:grpSp>
      <p:grpSp>
        <p:nvGrpSpPr>
          <p:cNvPr id="20" name="analysis-2"/>
          <p:cNvGrpSpPr/>
          <p:nvPr/>
        </p:nvGrpSpPr>
        <p:grpSpPr>
          <a:xfrm>
            <a:off x="4296156" y="2438400"/>
            <a:ext cx="3002928" cy="2969895"/>
            <a:chOff x="4296156" y="2438400"/>
            <a:chExt cx="3002928" cy="2969895"/>
          </a:xfrm>
        </p:grpSpPr>
        <p:sp>
          <p:nvSpPr>
            <p:cNvPr id="18" name="TextBox 18"/>
            <p:cNvSpPr txBox="1"/>
            <p:nvPr/>
          </p:nvSpPr>
          <p:spPr>
            <a:xfrm>
              <a:off x="4296156" y="2438400"/>
              <a:ext cx="2759610" cy="352044"/>
            </a:xfrm>
            <a:prstGeom prst="rect">
              <a:avLst/>
            </a:prstGeom>
            <a:noFill/>
            <a:ln>
              <a:noFill/>
            </a:ln>
          </p:spPr>
          <p:txBody>
            <a:bodyPr wrap="none" lIns="0" tIns="0" rIns="0" bIns="0" anchor="t" anchorCtr="0">
              <a:spAutoFit/>
            </a:bodyPr>
            <a:lstStyle/>
            <a:p>
              <a:pPr algn="l"/>
              <a:r>
                <a:rPr lang="en-US" sz="1800" dirty="0">
                  <a:solidFill>
                    <a:schemeClr val="accent2"/>
                  </a:solidFill>
                  <a:latin typeface="+mj-lt"/>
                  <a:ea typeface="+mj-ea"/>
                  <a:cs typeface="+mj-cs"/>
                </a:rPr>
                <a:t>Keep the decision record</a:t>
              </a:r>
            </a:p>
          </p:txBody>
        </p:sp>
        <p:sp>
          <p:nvSpPr>
            <p:cNvPr id="19" name="TextBox 19"/>
            <p:cNvSpPr txBox="1"/>
            <p:nvPr/>
          </p:nvSpPr>
          <p:spPr>
            <a:xfrm>
              <a:off x="4297680" y="3057525"/>
              <a:ext cx="3001404" cy="2350770"/>
            </a:xfrm>
            <a:prstGeom prst="rect">
              <a:avLst/>
            </a:prstGeom>
            <a:noFill/>
            <a:ln>
              <a:noFill/>
            </a:ln>
          </p:spPr>
          <p:txBody>
            <a:bodyPr wrap="none" lIns="0" tIns="0" rIns="0" bIns="0" anchor="t" anchorCtr="0">
              <a:spAutoFit/>
            </a:bodyPr>
            <a:lstStyle/>
            <a:p>
              <a:pPr algn="l">
                <a:lnSpc>
                  <a:spcPts val="2025"/>
                </a:lnSpc>
              </a:pPr>
              <a:r>
                <a:rPr lang="en-US" sz="1500" dirty="0">
                  <a:solidFill>
                    <a:schemeClr val="dk1"/>
                  </a:solidFill>
                  <a:latin typeface="+mn-lt"/>
                  <a:ea typeface="+mn-ea"/>
                  <a:cs typeface="+mn-cs"/>
                </a:rPr>
                <a:t>Preserve what was known when an</a:t>
              </a:r>
              <a:br>
                <a:rPr lang="en-US" sz="1500" dirty="0">
                  <a:solidFill>
                    <a:schemeClr val="dk1"/>
                  </a:solidFill>
                  <a:latin typeface="+mn-lt"/>
                  <a:ea typeface="+mn-ea"/>
                  <a:cs typeface="+mn-cs"/>
                </a:rPr>
              </a:br>
              <a:r>
                <a:rPr lang="en-US" sz="1500" dirty="0">
                  <a:solidFill>
                    <a:schemeClr val="dk1"/>
                  </a:solidFill>
                  <a:latin typeface="+mn-lt"/>
                  <a:ea typeface="+mn-ea"/>
                  <a:cs typeface="+mn-cs"/>
                </a:rPr>
                <a:t>idea was proposed, its sources,</a:t>
              </a:r>
              <a:br>
                <a:rPr lang="en-US" sz="1500" dirty="0">
                  <a:solidFill>
                    <a:schemeClr val="dk1"/>
                  </a:solidFill>
                  <a:latin typeface="+mn-lt"/>
                  <a:ea typeface="+mn-ea"/>
                  <a:cs typeface="+mn-cs"/>
                </a:rPr>
              </a:br>
              <a:r>
                <a:rPr lang="en-US" sz="1500" dirty="0">
                  <a:solidFill>
                    <a:schemeClr val="dk1"/>
                  </a:solidFill>
                  <a:latin typeface="+mn-lt"/>
                  <a:ea typeface="+mn-ea"/>
                  <a:cs typeface="+mn-cs"/>
                </a:rPr>
                <a:t>reasoning, reviewer response and</a:t>
              </a:r>
              <a:br>
                <a:rPr lang="en-US" sz="1500" dirty="0">
                  <a:solidFill>
                    <a:schemeClr val="dk1"/>
                  </a:solidFill>
                  <a:latin typeface="+mn-lt"/>
                  <a:ea typeface="+mn-ea"/>
                  <a:cs typeface="+mn-cs"/>
                </a:rPr>
              </a:br>
              <a:r>
                <a:rPr lang="en-US" sz="1500" dirty="0">
                  <a:solidFill>
                    <a:schemeClr val="dk1"/>
                  </a:solidFill>
                  <a:latin typeface="+mn-lt"/>
                  <a:ea typeface="+mn-ea"/>
                  <a:cs typeface="+mn-cs"/>
                </a:rPr>
                <a:t>subsequent decision. Agents</a:t>
              </a:r>
              <a:br>
                <a:rPr lang="en-US" sz="1500" dirty="0">
                  <a:solidFill>
                    <a:schemeClr val="dk1"/>
                  </a:solidFill>
                  <a:latin typeface="+mn-lt"/>
                  <a:ea typeface="+mn-ea"/>
                  <a:cs typeface="+mn-cs"/>
                </a:rPr>
              </a:br>
              <a:r>
                <a:rPr lang="en-US" sz="1500" dirty="0">
                  <a:solidFill>
                    <a:schemeClr val="dk1"/>
                  </a:solidFill>
                  <a:latin typeface="+mn-lt"/>
                  <a:ea typeface="+mn-ea"/>
                  <a:cs typeface="+mn-cs"/>
                </a:rPr>
                <a:t>revisiting an old idea may improve</a:t>
              </a:r>
              <a:br>
                <a:rPr lang="en-US" sz="1500" dirty="0">
                  <a:solidFill>
                    <a:schemeClr val="dk1"/>
                  </a:solidFill>
                  <a:latin typeface="+mn-lt"/>
                  <a:ea typeface="+mn-ea"/>
                  <a:cs typeface="+mn-cs"/>
                </a:rPr>
              </a:br>
              <a:r>
                <a:rPr lang="en-US" sz="1500" dirty="0">
                  <a:solidFill>
                    <a:schemeClr val="dk1"/>
                  </a:solidFill>
                  <a:latin typeface="+mn-lt"/>
                  <a:ea typeface="+mn-ea"/>
                  <a:cs typeface="+mn-cs"/>
                </a:rPr>
                <a:t>timing or attention; a later</a:t>
              </a:r>
              <a:br>
                <a:rPr lang="en-US" sz="1500" dirty="0">
                  <a:solidFill>
                    <a:schemeClr val="dk1"/>
                  </a:solidFill>
                  <a:latin typeface="+mn-lt"/>
                  <a:ea typeface="+mn-ea"/>
                  <a:cs typeface="+mn-cs"/>
                </a:rPr>
              </a:br>
              <a:r>
                <a:rPr lang="en-US" sz="1500" dirty="0">
                  <a:solidFill>
                    <a:schemeClr val="dk1"/>
                  </a:solidFill>
                  <a:latin typeface="+mn-lt"/>
                  <a:ea typeface="+mn-ea"/>
                  <a:cs typeface="+mn-cs"/>
                </a:rPr>
                <a:t>profitable position still depends</a:t>
              </a:r>
              <a:br>
                <a:rPr lang="en-US" sz="1500" dirty="0">
                  <a:solidFill>
                    <a:schemeClr val="dk1"/>
                  </a:solidFill>
                  <a:latin typeface="+mn-lt"/>
                  <a:ea typeface="+mn-ea"/>
                  <a:cs typeface="+mn-cs"/>
                </a:rPr>
              </a:br>
              <a:r>
                <a:rPr lang="en-US" sz="1500" dirty="0">
                  <a:solidFill>
                    <a:schemeClr val="dk1"/>
                  </a:solidFill>
                  <a:latin typeface="+mn-lt"/>
                  <a:ea typeface="+mn-ea"/>
                  <a:cs typeface="+mn-cs"/>
                </a:rPr>
                <a:t>on markets, selection, sizing and</a:t>
              </a:r>
              <a:br>
                <a:rPr lang="en-US" sz="1500" dirty="0">
                  <a:solidFill>
                    <a:schemeClr val="dk1"/>
                  </a:solidFill>
                  <a:latin typeface="+mn-lt"/>
                  <a:ea typeface="+mn-ea"/>
                  <a:cs typeface="+mn-cs"/>
                </a:rPr>
              </a:br>
              <a:r>
                <a:rPr lang="en-US" sz="1500" dirty="0">
                  <a:solidFill>
                    <a:schemeClr val="dk1"/>
                  </a:solidFill>
                  <a:latin typeface="+mn-lt"/>
                  <a:ea typeface="+mn-ea"/>
                  <a:cs typeface="+mn-cs"/>
                </a:rPr>
                <a:t>human action.</a:t>
              </a:r>
            </a:p>
          </p:txBody>
        </p:sp>
      </p:grpSp>
      <p:grpSp>
        <p:nvGrpSpPr>
          <p:cNvPr id="23" name="analysis-3"/>
          <p:cNvGrpSpPr/>
          <p:nvPr/>
        </p:nvGrpSpPr>
        <p:grpSpPr>
          <a:xfrm>
            <a:off x="8144256" y="2438400"/>
            <a:ext cx="3225127" cy="2969895"/>
            <a:chOff x="8144256" y="2438400"/>
            <a:chExt cx="3225127" cy="2969895"/>
          </a:xfrm>
        </p:grpSpPr>
        <p:sp>
          <p:nvSpPr>
            <p:cNvPr id="21" name="TextBox 21"/>
            <p:cNvSpPr txBox="1"/>
            <p:nvPr/>
          </p:nvSpPr>
          <p:spPr>
            <a:xfrm>
              <a:off x="8144256" y="2438400"/>
              <a:ext cx="2740289" cy="352044"/>
            </a:xfrm>
            <a:prstGeom prst="rect">
              <a:avLst/>
            </a:prstGeom>
            <a:noFill/>
            <a:ln>
              <a:noFill/>
            </a:ln>
          </p:spPr>
          <p:txBody>
            <a:bodyPr wrap="none" lIns="0" tIns="0" rIns="0" bIns="0" anchor="t" anchorCtr="0">
              <a:spAutoFit/>
            </a:bodyPr>
            <a:lstStyle/>
            <a:p>
              <a:pPr algn="l"/>
              <a:r>
                <a:rPr lang="en-US" sz="1800" dirty="0">
                  <a:solidFill>
                    <a:schemeClr val="accent2"/>
                  </a:solidFill>
                  <a:latin typeface="+mj-lt"/>
                  <a:ea typeface="+mj-ea"/>
                  <a:cs typeface="+mj-cs"/>
                </a:rPr>
                <a:t>Inspect the denominator</a:t>
              </a:r>
            </a:p>
          </p:txBody>
        </p:sp>
        <p:sp>
          <p:nvSpPr>
            <p:cNvPr id="22" name="TextBox 22"/>
            <p:cNvSpPr txBox="1"/>
            <p:nvPr/>
          </p:nvSpPr>
          <p:spPr>
            <a:xfrm>
              <a:off x="8145780" y="3057525"/>
              <a:ext cx="3223603" cy="2350770"/>
            </a:xfrm>
            <a:prstGeom prst="rect">
              <a:avLst/>
            </a:prstGeom>
            <a:noFill/>
            <a:ln>
              <a:noFill/>
            </a:ln>
          </p:spPr>
          <p:txBody>
            <a:bodyPr wrap="none" lIns="0" tIns="0" rIns="0" bIns="0" anchor="t" anchorCtr="0">
              <a:spAutoFit/>
            </a:bodyPr>
            <a:lstStyle/>
            <a:p>
              <a:pPr algn="l">
                <a:lnSpc>
                  <a:spcPts val="2025"/>
                </a:lnSpc>
              </a:pPr>
              <a:r>
                <a:rPr lang="en-US" sz="1500" dirty="0">
                  <a:solidFill>
                    <a:schemeClr val="dk1"/>
                  </a:solidFill>
                  <a:latin typeface="+mn-lt"/>
                  <a:ea typeface="+mn-ea"/>
                  <a:cs typeface="+mn-cs"/>
                </a:rPr>
                <a:t>Jellyfish includes human salary and</a:t>
              </a:r>
              <a:br>
                <a:rPr lang="en-US" sz="1500" dirty="0">
                  <a:solidFill>
                    <a:schemeClr val="dk1"/>
                  </a:solidFill>
                  <a:latin typeface="+mn-lt"/>
                  <a:ea typeface="+mn-ea"/>
                  <a:cs typeface="+mn-cs"/>
                </a:rPr>
              </a:br>
              <a:r>
                <a:rPr lang="en-US" sz="1500" dirty="0">
                  <a:solidFill>
                    <a:schemeClr val="dk1"/>
                  </a:solidFill>
                  <a:latin typeface="+mn-lt"/>
                  <a:ea typeface="+mn-ea"/>
                  <a:cs typeface="+mn-cs"/>
                </a:rPr>
                <a:t>AI spend per merged PR, and</a:t>
              </a:r>
              <a:br>
                <a:rPr lang="en-US" sz="1500" dirty="0">
                  <a:solidFill>
                    <a:schemeClr val="dk1"/>
                  </a:solidFill>
                  <a:latin typeface="+mn-lt"/>
                  <a:ea typeface="+mn-ea"/>
                  <a:cs typeface="+mn-cs"/>
                </a:rPr>
              </a:br>
              <a:r>
                <a:rPr lang="en-US" sz="1500" dirty="0">
                  <a:solidFill>
                    <a:schemeClr val="dk1"/>
                  </a:solidFill>
                  <a:latin typeface="+mn-lt"/>
                  <a:ea typeface="+mn-ea"/>
                  <a:cs typeface="+mn-cs"/>
                </a:rPr>
                <a:t>inspects reverts/change size. That</a:t>
              </a:r>
              <a:br>
                <a:rPr lang="en-US" sz="1500" dirty="0">
                  <a:solidFill>
                    <a:schemeClr val="dk1"/>
                  </a:solidFill>
                  <a:latin typeface="+mn-lt"/>
                  <a:ea typeface="+mn-ea"/>
                  <a:cs typeface="+mn-cs"/>
                </a:rPr>
              </a:br>
              <a:r>
                <a:rPr lang="en-US" sz="1500" dirty="0">
                  <a:solidFill>
                    <a:schemeClr val="dk1"/>
                  </a:solidFill>
                  <a:latin typeface="+mn-lt"/>
                  <a:ea typeface="+mn-ea"/>
                  <a:cs typeface="+mn-cs"/>
                </a:rPr>
                <a:t>observational engineering proxy</a:t>
              </a:r>
              <a:br>
                <a:rPr lang="en-US" sz="1500" dirty="0">
                  <a:solidFill>
                    <a:schemeClr val="dk1"/>
                  </a:solidFill>
                  <a:latin typeface="+mn-lt"/>
                  <a:ea typeface="+mn-ea"/>
                  <a:cs typeface="+mn-cs"/>
                </a:rPr>
              </a:br>
              <a:r>
                <a:rPr lang="en-US" sz="1500" dirty="0">
                  <a:solidFill>
                    <a:schemeClr val="dk1"/>
                  </a:solidFill>
                  <a:latin typeface="+mn-lt"/>
                  <a:ea typeface="+mn-ea"/>
                  <a:cs typeface="+mn-cs"/>
                </a:rPr>
                <a:t>suggests measuring accepted work</a:t>
              </a:r>
              <a:br>
                <a:rPr lang="en-US" sz="1500" dirty="0">
                  <a:solidFill>
                    <a:schemeClr val="dk1"/>
                  </a:solidFill>
                  <a:latin typeface="+mn-lt"/>
                  <a:ea typeface="+mn-ea"/>
                  <a:cs typeface="+mn-cs"/>
                </a:rPr>
              </a:br>
              <a:r>
                <a:rPr lang="en-US" sz="1500" dirty="0">
                  <a:solidFill>
                    <a:schemeClr val="dk1"/>
                  </a:solidFill>
                  <a:latin typeface="+mn-lt"/>
                  <a:ea typeface="+mn-ea"/>
                  <a:cs typeface="+mn-cs"/>
                </a:rPr>
                <a:t>with quality counterchecks. It does</a:t>
              </a:r>
              <a:br>
                <a:rPr lang="en-US" sz="1500" dirty="0">
                  <a:solidFill>
                    <a:schemeClr val="dk1"/>
                  </a:solidFill>
                  <a:latin typeface="+mn-lt"/>
                  <a:ea typeface="+mn-ea"/>
                  <a:cs typeface="+mn-cs"/>
                </a:rPr>
              </a:br>
              <a:r>
                <a:rPr lang="en-US" sz="1500" dirty="0">
                  <a:solidFill>
                    <a:schemeClr val="dk1"/>
                  </a:solidFill>
                  <a:latin typeface="+mn-lt"/>
                  <a:ea typeface="+mn-ea"/>
                  <a:cs typeface="+mn-cs"/>
                </a:rPr>
                <a:t>not establish that spending more</a:t>
              </a:r>
              <a:br>
                <a:rPr lang="en-US" sz="1500" dirty="0">
                  <a:solidFill>
                    <a:schemeClr val="dk1"/>
                  </a:solidFill>
                  <a:latin typeface="+mn-lt"/>
                  <a:ea typeface="+mn-ea"/>
                  <a:cs typeface="+mn-cs"/>
                </a:rPr>
              </a:br>
              <a:r>
                <a:rPr lang="en-US" sz="1500" dirty="0">
                  <a:solidFill>
                    <a:schemeClr val="dk1"/>
                  </a:solidFill>
                  <a:latin typeface="+mn-lt"/>
                  <a:ea typeface="+mn-ea"/>
                  <a:cs typeface="+mn-cs"/>
                </a:rPr>
                <a:t>causes improvement or that a merged</a:t>
              </a:r>
              <a:br>
                <a:rPr lang="en-US" sz="1500" dirty="0">
                  <a:solidFill>
                    <a:schemeClr val="dk1"/>
                  </a:solidFill>
                  <a:latin typeface="+mn-lt"/>
                  <a:ea typeface="+mn-ea"/>
                  <a:cs typeface="+mn-cs"/>
                </a:rPr>
              </a:br>
              <a:r>
                <a:rPr lang="en-US" sz="1500" dirty="0">
                  <a:solidFill>
                    <a:schemeClr val="dk1"/>
                  </a:solidFill>
                  <a:latin typeface="+mn-lt"/>
                  <a:ea typeface="+mn-ea"/>
                  <a:cs typeface="+mn-cs"/>
                </a:rPr>
                <a:t>PR equals business value.</a:t>
              </a:r>
            </a:p>
          </p:txBody>
        </p:sp>
      </p:grpSp>
      <p:grpSp>
        <p:nvGrpSpPr>
          <p:cNvPr id="26" name="footer"/>
          <p:cNvGrpSpPr/>
          <p:nvPr/>
        </p:nvGrpSpPr>
        <p:grpSpPr>
          <a:xfrm>
            <a:off x="452438" y="6477000"/>
            <a:ext cx="11287124" cy="176212"/>
            <a:chOff x="452438" y="6477000"/>
            <a:chExt cx="11287124" cy="176212"/>
          </a:xfrm>
        </p:grpSpPr>
        <p:sp>
          <p:nvSpPr>
            <p:cNvPr id="24" name="TextBox 24"/>
            <p:cNvSpPr txBox="1"/>
            <p:nvPr/>
          </p:nvSpPr>
          <p:spPr>
            <a:xfrm>
              <a:off x="452438" y="6477000"/>
              <a:ext cx="4200414" cy="176212"/>
            </a:xfrm>
            <a:prstGeom prst="rect">
              <a:avLst/>
            </a:prstGeom>
            <a:noFill/>
            <a:ln>
              <a:noFill/>
            </a:ln>
          </p:spPr>
          <p:txBody>
            <a:bodyPr wrap="none" lIns="0" tIns="0" rIns="0" bIns="0" anchor="t" anchorCtr="0">
              <a:spAutoFit/>
            </a:bodyPr>
            <a:lstStyle/>
            <a:p>
              <a:pPr algn="l"/>
              <a:r>
                <a:rPr lang="en-US" sz="900" dirty="0">
                  <a:solidFill>
                    <a:schemeClr val="accent5"/>
                  </a:solidFill>
                  <a:latin typeface="+mn-lt"/>
                  <a:ea typeface="+mn-ea"/>
                  <a:cs typeface="+mn-cs"/>
                </a:rPr>
                <a:t>Sources: Contour Asset Management · Jellyfish | Reviewed October 25, 2026</a:t>
              </a:r>
            </a:p>
          </p:txBody>
        </p:sp>
        <p:sp>
          <p:nvSpPr>
            <p:cNvPr id="25" name="TextBox 25"/>
            <p:cNvSpPr txBox="1"/>
            <p:nvPr/>
          </p:nvSpPr>
          <p:spPr>
            <a:xfrm>
              <a:off x="11359512" y="6477000"/>
              <a:ext cx="380050" cy="176212"/>
            </a:xfrm>
            <a:prstGeom prst="rect">
              <a:avLst/>
            </a:prstGeom>
            <a:noFill/>
            <a:ln>
              <a:noFill/>
            </a:ln>
          </p:spPr>
          <p:txBody>
            <a:bodyPr wrap="none" lIns="0" tIns="0" rIns="0" bIns="0" anchor="t" anchorCtr="0">
              <a:spAutoFit/>
            </a:bodyPr>
            <a:lstStyle/>
            <a:p>
              <a:pPr algn="r"/>
              <a:r>
                <a:rPr lang="en-US" sz="900" dirty="0">
                  <a:solidFill>
                    <a:schemeClr val="accent5"/>
                  </a:solidFill>
                  <a:latin typeface="+mn-lt"/>
                  <a:ea typeface="+mn-ea"/>
                  <a:cs typeface="+mn-cs"/>
                </a:rPr>
                <a:t>06 / 37</a:t>
              </a:r>
            </a:p>
          </p:txBody>
        </p:sp>
      </p:grpSp>
    </p:spTree>
  </p:cSld>
  <p:clrMapOvr>
    <a:masterClrMapping/>
  </p:clrMapOvr>
  <p:transition xmlns:p14="http://schemas.microsoft.com/office/powerpoint/2010/main" p14:dur="400">
    <p:fade/>
  </p:transition>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5" name="title"/>
          <p:cNvGrpSpPr/>
          <p:nvPr/>
        </p:nvGrpSpPr>
        <p:grpSpPr>
          <a:xfrm>
            <a:off x="443484" y="361950"/>
            <a:ext cx="9400136" cy="1100582"/>
            <a:chOff x="443484" y="361950"/>
            <a:chExt cx="9400136" cy="1100582"/>
          </a:xfrm>
        </p:grpSpPr>
        <p:sp>
          <p:nvSpPr>
            <p:cNvPr id="2" name="TextBox 2"/>
            <p:cNvSpPr txBox="1"/>
            <p:nvPr/>
          </p:nvSpPr>
          <p:spPr>
            <a:xfrm>
              <a:off x="451104" y="361950"/>
              <a:ext cx="2060858" cy="234696"/>
            </a:xfrm>
            <a:prstGeom prst="rect">
              <a:avLst/>
            </a:prstGeom>
            <a:noFill/>
            <a:ln>
              <a:noFill/>
            </a:ln>
          </p:spPr>
          <p:txBody>
            <a:bodyPr wrap="none" lIns="0" tIns="0" rIns="0" bIns="0" anchor="t" anchorCtr="0">
              <a:spAutoFit/>
            </a:bodyPr>
            <a:lstStyle/>
            <a:p>
              <a:pPr algn="l"/>
              <a:r>
                <a:rPr lang="en-US" sz="1200" dirty="0">
                  <a:solidFill>
                    <a:schemeClr val="accent2"/>
                  </a:solidFill>
                  <a:latin typeface="+mn-lt"/>
                  <a:ea typeface="+mn-ea"/>
                  <a:cs typeface="+mn-cs"/>
                </a:rPr>
                <a:t>01 / FINANCE STRATEGY</a:t>
              </a:r>
            </a:p>
          </p:txBody>
        </p:sp>
        <p:sp>
          <p:nvSpPr>
            <p:cNvPr id="3" name="TextBox 3"/>
            <p:cNvSpPr txBox="1"/>
            <p:nvPr/>
          </p:nvSpPr>
          <p:spPr>
            <a:xfrm>
              <a:off x="443484" y="593725"/>
              <a:ext cx="5926307" cy="528066"/>
            </a:xfrm>
            <a:prstGeom prst="rect">
              <a:avLst/>
            </a:prstGeom>
            <a:noFill/>
            <a:ln>
              <a:noFill/>
            </a:ln>
          </p:spPr>
          <p:txBody>
            <a:bodyPr wrap="none" lIns="0" tIns="0" rIns="0" bIns="0" anchor="t" anchorCtr="0">
              <a:spAutoFit/>
            </a:bodyPr>
            <a:lstStyle/>
            <a:p>
              <a:pPr algn="l"/>
              <a:r>
                <a:rPr lang="en-US" sz="2700" dirty="0">
                  <a:solidFill>
                    <a:schemeClr val="accent1"/>
                  </a:solidFill>
                  <a:latin typeface="+mj-lt"/>
                  <a:ea typeface="+mj-ea"/>
                  <a:cs typeface="+mj-cs"/>
                </a:rPr>
                <a:t>Count the full cost of accepted work</a:t>
              </a:r>
            </a:p>
          </p:txBody>
        </p:sp>
        <p:sp>
          <p:nvSpPr>
            <p:cNvPr id="4" name="TextBox 4"/>
            <p:cNvSpPr txBox="1"/>
            <p:nvPr/>
          </p:nvSpPr>
          <p:spPr>
            <a:xfrm>
              <a:off x="448818" y="1139825"/>
              <a:ext cx="9394802" cy="322707"/>
            </a:xfrm>
            <a:prstGeom prst="rect">
              <a:avLst/>
            </a:prstGeom>
            <a:noFill/>
            <a:ln>
              <a:noFill/>
            </a:ln>
          </p:spPr>
          <p:txBody>
            <a:bodyPr wrap="none" lIns="0" tIns="0" rIns="0" bIns="0" anchor="t" anchorCtr="0">
              <a:spAutoFit/>
            </a:bodyPr>
            <a:lstStyle/>
            <a:p>
              <a:pPr algn="l"/>
              <a:r>
                <a:rPr lang="en-US" sz="1650" dirty="0">
                  <a:solidFill>
                    <a:schemeClr val="accent5"/>
                  </a:solidFill>
                  <a:latin typeface="+mn-lt"/>
                  <a:ea typeface="+mn-ea"/>
                  <a:cs typeface="+mn-cs"/>
                </a:rPr>
                <a:t>A smaller prompt or cheaper model is valuable only when the complete, reviewed job improves.</a:t>
              </a:r>
            </a:p>
          </p:txBody>
        </p:sp>
      </p:grpSp>
      <p:grpSp>
        <p:nvGrpSpPr>
          <p:cNvPr id="10" name="accepted-work-equation"/>
          <p:cNvGrpSpPr/>
          <p:nvPr/>
        </p:nvGrpSpPr>
        <p:grpSpPr>
          <a:xfrm>
            <a:off x="457200" y="1714500"/>
            <a:ext cx="5048250" cy="2381250"/>
            <a:chOff x="457200" y="1714500"/>
            <a:chExt cx="5048250" cy="2381250"/>
          </a:xfrm>
        </p:grpSpPr>
        <p:sp>
          <p:nvSpPr>
            <p:cNvPr id="6" name="Rectangle 6"/>
            <p:cNvSpPr/>
            <p:nvPr/>
          </p:nvSpPr>
          <p:spPr>
            <a:xfrm>
              <a:off x="457200" y="1714500"/>
              <a:ext cx="5048250" cy="2381250"/>
            </a:xfrm>
            <a:prstGeom prst="rect">
              <a:avLst/>
            </a:prstGeom>
            <a:solidFill>
              <a:schemeClr val="accent1"/>
            </a:solidFill>
            <a:ln>
              <a:noFill/>
            </a:ln>
          </p:spPr>
        </p:sp>
        <p:sp>
          <p:nvSpPr>
            <p:cNvPr id="7" name="TextBox 7"/>
            <p:cNvSpPr txBox="1"/>
            <p:nvPr/>
          </p:nvSpPr>
          <p:spPr>
            <a:xfrm>
              <a:off x="678942" y="1930400"/>
              <a:ext cx="2317466" cy="264033"/>
            </a:xfrm>
            <a:prstGeom prst="rect">
              <a:avLst/>
            </a:prstGeom>
            <a:noFill/>
            <a:ln>
              <a:noFill/>
            </a:ln>
          </p:spPr>
          <p:txBody>
            <a:bodyPr wrap="none" lIns="0" tIns="0" rIns="0" bIns="0" anchor="t" anchorCtr="0">
              <a:spAutoFit/>
            </a:bodyPr>
            <a:lstStyle/>
            <a:p>
              <a:pPr algn="l"/>
              <a:r>
                <a:rPr lang="en-US" sz="1350" b="1" dirty="0">
                  <a:solidFill>
                    <a:schemeClr val="accent3"/>
                  </a:solidFill>
                  <a:latin typeface="+mn-lt"/>
                  <a:ea typeface="+mn-ea"/>
                  <a:cs typeface="+mn-cs"/>
                </a:rPr>
                <a:t>FULL WORKFLOW COST</a:t>
              </a:r>
            </a:p>
          </p:txBody>
        </p:sp>
        <p:sp>
          <p:nvSpPr>
            <p:cNvPr id="8" name="TextBox 8"/>
            <p:cNvSpPr txBox="1"/>
            <p:nvPr/>
          </p:nvSpPr>
          <p:spPr>
            <a:xfrm>
              <a:off x="672084" y="2343150"/>
              <a:ext cx="2888864" cy="985266"/>
            </a:xfrm>
            <a:prstGeom prst="rect">
              <a:avLst/>
            </a:prstGeom>
            <a:noFill/>
            <a:ln>
              <a:noFill/>
            </a:ln>
          </p:spPr>
          <p:txBody>
            <a:bodyPr wrap="none" lIns="0" tIns="0" rIns="0" bIns="0" anchor="t" anchorCtr="0">
              <a:spAutoFit/>
            </a:bodyPr>
            <a:lstStyle/>
            <a:p>
              <a:pPr algn="l">
                <a:lnSpc>
                  <a:spcPts val="3600"/>
                </a:lnSpc>
              </a:pPr>
              <a:r>
                <a:rPr lang="en-US" sz="2700" dirty="0">
                  <a:solidFill>
                    <a:srgbClr val="FFFDF7"/>
                  </a:solidFill>
                  <a:latin typeface="+mj-lt"/>
                  <a:ea typeface="+mj-ea"/>
                  <a:cs typeface="+mj-cs"/>
                </a:rPr>
                <a:t>All costs ÷ accepted</a:t>
              </a:r>
              <a:br>
                <a:rPr lang="en-US" sz="2700" dirty="0">
                  <a:solidFill>
                    <a:srgbClr val="FFFDF7"/>
                  </a:solidFill>
                  <a:latin typeface="+mj-lt"/>
                  <a:ea typeface="+mj-ea"/>
                  <a:cs typeface="+mj-cs"/>
                </a:rPr>
              </a:br>
              <a:r>
                <a:rPr lang="en-US" sz="2700" dirty="0">
                  <a:solidFill>
                    <a:srgbClr val="FFFDF7"/>
                  </a:solidFill>
                  <a:latin typeface="+mj-lt"/>
                  <a:ea typeface="+mj-ea"/>
                  <a:cs typeface="+mj-cs"/>
                </a:rPr>
                <a:t>tasks</a:t>
              </a:r>
            </a:p>
          </p:txBody>
        </p:sp>
        <p:sp>
          <p:nvSpPr>
            <p:cNvPr id="9" name="TextBox 9"/>
            <p:cNvSpPr txBox="1"/>
            <p:nvPr/>
          </p:nvSpPr>
          <p:spPr>
            <a:xfrm>
              <a:off x="678180" y="3209925"/>
              <a:ext cx="4197538" cy="293370"/>
            </a:xfrm>
            <a:prstGeom prst="rect">
              <a:avLst/>
            </a:prstGeom>
            <a:noFill/>
            <a:ln>
              <a:noFill/>
            </a:ln>
          </p:spPr>
          <p:txBody>
            <a:bodyPr wrap="none" lIns="0" tIns="0" rIns="0" bIns="0" anchor="t" anchorCtr="0">
              <a:spAutoFit/>
            </a:bodyPr>
            <a:lstStyle/>
            <a:p>
              <a:pPr algn="l"/>
              <a:r>
                <a:rPr lang="en-US" sz="1500" dirty="0">
                  <a:solidFill>
                    <a:srgbClr val="FFFDF7"/>
                  </a:solidFill>
                  <a:latin typeface="+mn-lt"/>
                  <a:ea typeface="+mn-ea"/>
                  <a:cs typeface="+mn-cs"/>
                </a:rPr>
                <a:t>Attempts + tools + review + rework + operation</a:t>
              </a:r>
            </a:p>
          </p:txBody>
        </p:sp>
      </p:grpSp>
      <p:grpSp>
        <p:nvGrpSpPr>
          <p:cNvPr id="14" name="context-demo"/>
          <p:cNvGrpSpPr/>
          <p:nvPr/>
        </p:nvGrpSpPr>
        <p:grpSpPr>
          <a:xfrm>
            <a:off x="5948934" y="1819275"/>
            <a:ext cx="4574019" cy="1950720"/>
            <a:chOff x="5948934" y="1819275"/>
            <a:chExt cx="4574019" cy="1950720"/>
          </a:xfrm>
        </p:grpSpPr>
        <p:sp>
          <p:nvSpPr>
            <p:cNvPr id="11" name="TextBox 11"/>
            <p:cNvSpPr txBox="1"/>
            <p:nvPr/>
          </p:nvSpPr>
          <p:spPr>
            <a:xfrm>
              <a:off x="5953506" y="1819275"/>
              <a:ext cx="3216652" cy="352044"/>
            </a:xfrm>
            <a:prstGeom prst="rect">
              <a:avLst/>
            </a:prstGeom>
            <a:noFill/>
            <a:ln>
              <a:noFill/>
            </a:ln>
          </p:spPr>
          <p:txBody>
            <a:bodyPr wrap="none" lIns="0" tIns="0" rIns="0" bIns="0" anchor="t" anchorCtr="0">
              <a:spAutoFit/>
            </a:bodyPr>
            <a:lstStyle/>
            <a:p>
              <a:pPr algn="l"/>
              <a:r>
                <a:rPr lang="en-US" sz="1800" dirty="0">
                  <a:solidFill>
                    <a:schemeClr val="accent2"/>
                  </a:solidFill>
                  <a:latin typeface="+mj-lt"/>
                  <a:ea typeface="+mj-ea"/>
                  <a:cs typeface="+mj-cs"/>
                </a:rPr>
                <a:t>A context-use demonstration</a:t>
              </a:r>
            </a:p>
          </p:txBody>
        </p:sp>
        <p:sp>
          <p:nvSpPr>
            <p:cNvPr id="12" name="TextBox 12"/>
            <p:cNvSpPr txBox="1"/>
            <p:nvPr/>
          </p:nvSpPr>
          <p:spPr>
            <a:xfrm>
              <a:off x="5948934" y="2308225"/>
              <a:ext cx="3776201" cy="528066"/>
            </a:xfrm>
            <a:prstGeom prst="rect">
              <a:avLst/>
            </a:prstGeom>
            <a:noFill/>
            <a:ln>
              <a:noFill/>
            </a:ln>
          </p:spPr>
          <p:txBody>
            <a:bodyPr wrap="none" lIns="0" tIns="0" rIns="0" bIns="0" anchor="t" anchorCtr="0">
              <a:spAutoFit/>
            </a:bodyPr>
            <a:lstStyle/>
            <a:p>
              <a:pPr algn="l"/>
              <a:r>
                <a:rPr lang="en-US" sz="2700" dirty="0">
                  <a:solidFill>
                    <a:schemeClr val="accent1"/>
                  </a:solidFill>
                  <a:latin typeface="+mj-lt"/>
                  <a:ea typeface="+mj-ea"/>
                  <a:cs typeface="+mj-cs"/>
                </a:rPr>
                <a:t>24,000 → 2,400 tokens</a:t>
              </a:r>
            </a:p>
          </p:txBody>
        </p:sp>
        <p:sp>
          <p:nvSpPr>
            <p:cNvPr id="13" name="TextBox 13"/>
            <p:cNvSpPr txBox="1"/>
            <p:nvPr/>
          </p:nvSpPr>
          <p:spPr>
            <a:xfrm>
              <a:off x="5955030" y="2962275"/>
              <a:ext cx="4567923" cy="807720"/>
            </a:xfrm>
            <a:prstGeom prst="rect">
              <a:avLst/>
            </a:prstGeom>
            <a:noFill/>
            <a:ln>
              <a:noFill/>
            </a:ln>
          </p:spPr>
          <p:txBody>
            <a:bodyPr wrap="none" lIns="0" tIns="0" rIns="0" bIns="0" anchor="t" anchorCtr="0">
              <a:spAutoFit/>
            </a:bodyPr>
            <a:lstStyle/>
            <a:p>
              <a:pPr algn="l">
                <a:lnSpc>
                  <a:spcPts val="2025"/>
                </a:lnSpc>
              </a:pPr>
              <a:r>
                <a:rPr lang="en-US" sz="1500" dirty="0">
                  <a:solidFill>
                    <a:schemeClr val="dk1"/>
                  </a:solidFill>
                  <a:latin typeface="+mn-lt"/>
                  <a:ea typeface="+mn-ea"/>
                  <a:cs typeface="+mn-cs"/>
                </a:rPr>
                <a:t>Credit Karma’s Artifactory example motivates a paired</a:t>
              </a:r>
              <a:br>
                <a:rPr lang="en-US" sz="1500" dirty="0">
                  <a:solidFill>
                    <a:schemeClr val="dk1"/>
                  </a:solidFill>
                  <a:latin typeface="+mn-lt"/>
                  <a:ea typeface="+mn-ea"/>
                  <a:cs typeface="+mn-cs"/>
                </a:rPr>
              </a:br>
              <a:r>
                <a:rPr lang="en-US" sz="1500" dirty="0">
                  <a:solidFill>
                    <a:schemeClr val="dk1"/>
                  </a:solidFill>
                  <a:latin typeface="+mn-lt"/>
                  <a:ea typeface="+mn-ea"/>
                  <a:cs typeface="+mn-cs"/>
                </a:rPr>
                <a:t>quality test. It does not establish equal answers or a</a:t>
              </a:r>
              <a:br>
                <a:rPr lang="en-US" sz="1500" dirty="0">
                  <a:solidFill>
                    <a:schemeClr val="dk1"/>
                  </a:solidFill>
                  <a:latin typeface="+mn-lt"/>
                  <a:ea typeface="+mn-ea"/>
                  <a:cs typeface="+mn-cs"/>
                </a:rPr>
              </a:br>
              <a:r>
                <a:rPr lang="en-US" sz="1500" dirty="0">
                  <a:solidFill>
                    <a:schemeClr val="dk1"/>
                  </a:solidFill>
                  <a:latin typeface="+mn-lt"/>
                  <a:ea typeface="+mn-ea"/>
                  <a:cs typeface="+mn-cs"/>
                </a:rPr>
                <a:t>general latency improvement.</a:t>
              </a:r>
            </a:p>
          </p:txBody>
        </p:sp>
      </p:grpSp>
      <p:grpSp>
        <p:nvGrpSpPr>
          <p:cNvPr id="17" name="economic-acceptance"/>
          <p:cNvGrpSpPr/>
          <p:nvPr/>
        </p:nvGrpSpPr>
        <p:grpSpPr>
          <a:xfrm>
            <a:off x="448056" y="4591050"/>
            <a:ext cx="9535592" cy="1760220"/>
            <a:chOff x="448056" y="4591050"/>
            <a:chExt cx="9535592" cy="1760220"/>
          </a:xfrm>
        </p:grpSpPr>
        <p:sp>
          <p:nvSpPr>
            <p:cNvPr id="15" name="TextBox 15"/>
            <p:cNvSpPr txBox="1"/>
            <p:nvPr/>
          </p:nvSpPr>
          <p:spPr>
            <a:xfrm>
              <a:off x="448056" y="4591050"/>
              <a:ext cx="3246850" cy="352044"/>
            </a:xfrm>
            <a:prstGeom prst="rect">
              <a:avLst/>
            </a:prstGeom>
            <a:noFill/>
            <a:ln>
              <a:noFill/>
            </a:ln>
          </p:spPr>
          <p:txBody>
            <a:bodyPr wrap="none" lIns="0" tIns="0" rIns="0" bIns="0" anchor="t" anchorCtr="0">
              <a:spAutoFit/>
            </a:bodyPr>
            <a:lstStyle/>
            <a:p>
              <a:pPr algn="l"/>
              <a:r>
                <a:rPr lang="en-US" sz="1800" dirty="0">
                  <a:solidFill>
                    <a:schemeClr val="accent2"/>
                  </a:solidFill>
                  <a:latin typeface="+mj-lt"/>
                  <a:ea typeface="+mj-ea"/>
                  <a:cs typeface="+mj-cs"/>
                </a:rPr>
                <a:t>Count the work people retain</a:t>
              </a:r>
            </a:p>
          </p:txBody>
        </p:sp>
        <p:sp>
          <p:nvSpPr>
            <p:cNvPr id="16" name="TextBox 16"/>
            <p:cNvSpPr txBox="1"/>
            <p:nvPr/>
          </p:nvSpPr>
          <p:spPr>
            <a:xfrm>
              <a:off x="449580" y="5029200"/>
              <a:ext cx="9534068" cy="1322070"/>
            </a:xfrm>
            <a:prstGeom prst="rect">
              <a:avLst/>
            </a:prstGeom>
            <a:noFill/>
            <a:ln>
              <a:noFill/>
            </a:ln>
          </p:spPr>
          <p:txBody>
            <a:bodyPr wrap="none" lIns="0" tIns="0" rIns="0" bIns="0" anchor="t" anchorCtr="0">
              <a:spAutoFit/>
            </a:bodyPr>
            <a:lstStyle/>
            <a:p>
              <a:pPr algn="l">
                <a:lnSpc>
                  <a:spcPts val="2025"/>
                </a:lnSpc>
              </a:pPr>
              <a:r>
                <a:rPr lang="en-US" sz="1500" dirty="0">
                  <a:solidFill>
                    <a:schemeClr val="dk1"/>
                  </a:solidFill>
                  <a:latin typeface="+mn-lt"/>
                  <a:ea typeface="+mn-ea"/>
                  <a:cs typeface="+mn-cs"/>
                </a:rPr>
                <a:t>A reviewer’s correction, candidate selection and investigation time belong in the comparison. Include abandoned</a:t>
              </a:r>
              <a:br>
                <a:rPr lang="en-US" sz="1500" dirty="0">
                  <a:solidFill>
                    <a:schemeClr val="dk1"/>
                  </a:solidFill>
                  <a:latin typeface="+mn-lt"/>
                  <a:ea typeface="+mn-ea"/>
                  <a:cs typeface="+mn-cs"/>
                </a:rPr>
              </a:br>
              <a:r>
                <a:rPr lang="en-US" sz="1500" dirty="0">
                  <a:solidFill>
                    <a:schemeClr val="dk1"/>
                  </a:solidFill>
                  <a:latin typeface="+mn-lt"/>
                  <a:ea typeface="+mn-ea"/>
                  <a:cs typeface="+mn-cs"/>
                </a:rPr>
                <a:t>runs and retries in cost even when only one final output is accepted. Report accepted-task rate beside unit cost</a:t>
              </a:r>
              <a:br>
                <a:rPr lang="en-US" sz="1500" dirty="0">
                  <a:solidFill>
                    <a:schemeClr val="dk1"/>
                  </a:solidFill>
                  <a:latin typeface="+mn-lt"/>
                  <a:ea typeface="+mn-ea"/>
                  <a:cs typeface="+mn-cs"/>
                </a:rPr>
              </a:br>
              <a:r>
                <a:rPr lang="en-US" sz="1500" dirty="0">
                  <a:solidFill>
                    <a:schemeClr val="dk1"/>
                  </a:solidFill>
                  <a:latin typeface="+mn-lt"/>
                  <a:ea typeface="+mn-ea"/>
                  <a:cs typeface="+mn-cs"/>
                </a:rPr>
                <a:t>so narrower coverage cannot masquerade as improvement. Jellyfish’s salary-plus-AI framing and Ramp’s narrow</a:t>
              </a:r>
              <a:br>
                <a:rPr lang="en-US" sz="1500" dirty="0">
                  <a:solidFill>
                    <a:schemeClr val="dk1"/>
                  </a:solidFill>
                  <a:latin typeface="+mn-lt"/>
                  <a:ea typeface="+mn-ea"/>
                  <a:cs typeface="+mn-cs"/>
                </a:rPr>
              </a:br>
              <a:r>
                <a:rPr lang="en-US" sz="1500" dirty="0">
                  <a:solidFill>
                    <a:schemeClr val="dk1"/>
                  </a:solidFill>
                  <a:latin typeface="+mn-lt"/>
                  <a:ea typeface="+mn-ea"/>
                  <a:cs typeface="+mn-cs"/>
                </a:rPr>
                <a:t>specialist work both shift attention to end-to-end economics. Separate prefill, generation, tool and human</a:t>
              </a:r>
              <a:br>
                <a:rPr lang="en-US" sz="1500" dirty="0">
                  <a:solidFill>
                    <a:schemeClr val="dk1"/>
                  </a:solidFill>
                  <a:latin typeface="+mn-lt"/>
                  <a:ea typeface="+mn-ea"/>
                  <a:cs typeface="+mn-cs"/>
                </a:rPr>
              </a:br>
              <a:r>
                <a:rPr lang="en-US" sz="1500" dirty="0">
                  <a:solidFill>
                    <a:schemeClr val="dk1"/>
                  </a:solidFill>
                  <a:latin typeface="+mn-lt"/>
                  <a:ea typeface="+mn-ea"/>
                  <a:cs typeface="+mn-cs"/>
                </a:rPr>
                <a:t>delays. A smaller prompt or model can improve a stage while leaving total delivery time or quality worse.</a:t>
              </a:r>
            </a:p>
          </p:txBody>
        </p:sp>
      </p:grpSp>
      <p:grpSp>
        <p:nvGrpSpPr>
          <p:cNvPr id="20" name="footer"/>
          <p:cNvGrpSpPr/>
          <p:nvPr/>
        </p:nvGrpSpPr>
        <p:grpSpPr>
          <a:xfrm>
            <a:off x="452438" y="6477000"/>
            <a:ext cx="11287124" cy="176212"/>
            <a:chOff x="452438" y="6477000"/>
            <a:chExt cx="11287124" cy="176212"/>
          </a:xfrm>
        </p:grpSpPr>
        <p:sp>
          <p:nvSpPr>
            <p:cNvPr id="18" name="TextBox 18"/>
            <p:cNvSpPr txBox="1"/>
            <p:nvPr/>
          </p:nvSpPr>
          <p:spPr>
            <a:xfrm>
              <a:off x="452438" y="6477000"/>
              <a:ext cx="4137247" cy="176212"/>
            </a:xfrm>
            <a:prstGeom prst="rect">
              <a:avLst/>
            </a:prstGeom>
            <a:noFill/>
            <a:ln>
              <a:noFill/>
            </a:ln>
          </p:spPr>
          <p:txBody>
            <a:bodyPr wrap="none" lIns="0" tIns="0" rIns="0" bIns="0" anchor="t" anchorCtr="0">
              <a:spAutoFit/>
            </a:bodyPr>
            <a:lstStyle/>
            <a:p>
              <a:pPr algn="l"/>
              <a:r>
                <a:rPr lang="en-US" sz="900" dirty="0">
                  <a:solidFill>
                    <a:schemeClr val="accent5"/>
                  </a:solidFill>
                  <a:latin typeface="+mn-lt"/>
                  <a:ea typeface="+mn-ea"/>
                  <a:cs typeface="+mn-cs"/>
                </a:rPr>
                <a:t>Sources: Intuit Credit Karma · Jellyfish · Ramp | Reviewed October 25, 2026</a:t>
              </a:r>
            </a:p>
          </p:txBody>
        </p:sp>
        <p:sp>
          <p:nvSpPr>
            <p:cNvPr id="19" name="TextBox 19"/>
            <p:cNvSpPr txBox="1"/>
            <p:nvPr/>
          </p:nvSpPr>
          <p:spPr>
            <a:xfrm>
              <a:off x="11359512" y="6477000"/>
              <a:ext cx="380050" cy="176212"/>
            </a:xfrm>
            <a:prstGeom prst="rect">
              <a:avLst/>
            </a:prstGeom>
            <a:noFill/>
            <a:ln>
              <a:noFill/>
            </a:ln>
          </p:spPr>
          <p:txBody>
            <a:bodyPr wrap="none" lIns="0" tIns="0" rIns="0" bIns="0" anchor="t" anchorCtr="0">
              <a:spAutoFit/>
            </a:bodyPr>
            <a:lstStyle/>
            <a:p>
              <a:pPr algn="r"/>
              <a:r>
                <a:rPr lang="en-US" sz="900" dirty="0">
                  <a:solidFill>
                    <a:schemeClr val="accent5"/>
                  </a:solidFill>
                  <a:latin typeface="+mn-lt"/>
                  <a:ea typeface="+mn-ea"/>
                  <a:cs typeface="+mn-cs"/>
                </a:rPr>
                <a:t>07 / 37</a:t>
              </a:r>
            </a:p>
          </p:txBody>
        </p:sp>
      </p:grpSp>
    </p:spTree>
  </p:cSld>
  <p:clrMapOvr>
    <a:masterClrMapping/>
  </p:clrMapOvr>
  <p:transition xmlns:p14="http://schemas.microsoft.com/office/powerpoint/2010/main" p14:dur="400">
    <p:fade/>
  </p:transition>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5" name="title"/>
          <p:cNvGrpSpPr/>
          <p:nvPr/>
        </p:nvGrpSpPr>
        <p:grpSpPr>
          <a:xfrm>
            <a:off x="443484" y="361950"/>
            <a:ext cx="10364783" cy="1100582"/>
            <a:chOff x="443484" y="361950"/>
            <a:chExt cx="10364783" cy="1100582"/>
          </a:xfrm>
        </p:grpSpPr>
        <p:sp>
          <p:nvSpPr>
            <p:cNvPr id="2" name="TextBox 2"/>
            <p:cNvSpPr txBox="1"/>
            <p:nvPr/>
          </p:nvSpPr>
          <p:spPr>
            <a:xfrm>
              <a:off x="451104" y="361950"/>
              <a:ext cx="2260085" cy="234696"/>
            </a:xfrm>
            <a:prstGeom prst="rect">
              <a:avLst/>
            </a:prstGeom>
            <a:noFill/>
            <a:ln>
              <a:noFill/>
            </a:ln>
          </p:spPr>
          <p:txBody>
            <a:bodyPr wrap="none" lIns="0" tIns="0" rIns="0" bIns="0" anchor="t" anchorCtr="0">
              <a:spAutoFit/>
            </a:bodyPr>
            <a:lstStyle/>
            <a:p>
              <a:pPr algn="l"/>
              <a:r>
                <a:rPr lang="en-US" sz="1200" dirty="0">
                  <a:solidFill>
                    <a:schemeClr val="accent2"/>
                  </a:solidFill>
                  <a:latin typeface="+mn-lt"/>
                  <a:ea typeface="+mn-ea"/>
                  <a:cs typeface="+mn-cs"/>
                </a:rPr>
                <a:t>02 / GROUNDED EVIDENCE</a:t>
              </a:r>
            </a:p>
          </p:txBody>
        </p:sp>
        <p:sp>
          <p:nvSpPr>
            <p:cNvPr id="3" name="TextBox 3"/>
            <p:cNvSpPr txBox="1"/>
            <p:nvPr/>
          </p:nvSpPr>
          <p:spPr>
            <a:xfrm>
              <a:off x="443484" y="593725"/>
              <a:ext cx="7389575" cy="528066"/>
            </a:xfrm>
            <a:prstGeom prst="rect">
              <a:avLst/>
            </a:prstGeom>
            <a:noFill/>
            <a:ln>
              <a:noFill/>
            </a:ln>
          </p:spPr>
          <p:txBody>
            <a:bodyPr wrap="none" lIns="0" tIns="0" rIns="0" bIns="0" anchor="t" anchorCtr="0">
              <a:spAutoFit/>
            </a:bodyPr>
            <a:lstStyle/>
            <a:p>
              <a:pPr algn="l"/>
              <a:r>
                <a:rPr lang="en-US" sz="2700" dirty="0">
                  <a:solidFill>
                    <a:schemeClr val="accent1"/>
                  </a:solidFill>
                  <a:latin typeface="+mj-lt"/>
                  <a:ea typeface="+mj-ea"/>
                  <a:cs typeface="+mj-cs"/>
                </a:rPr>
                <a:t>Ground facts and memory in time and access</a:t>
              </a:r>
            </a:p>
          </p:txBody>
        </p:sp>
        <p:sp>
          <p:nvSpPr>
            <p:cNvPr id="4" name="TextBox 4"/>
            <p:cNvSpPr txBox="1"/>
            <p:nvPr/>
          </p:nvSpPr>
          <p:spPr>
            <a:xfrm>
              <a:off x="448818" y="1139825"/>
              <a:ext cx="10359449" cy="322707"/>
            </a:xfrm>
            <a:prstGeom prst="rect">
              <a:avLst/>
            </a:prstGeom>
            <a:noFill/>
            <a:ln>
              <a:noFill/>
            </a:ln>
          </p:spPr>
          <p:txBody>
            <a:bodyPr wrap="none" lIns="0" tIns="0" rIns="0" bIns="0" anchor="t" anchorCtr="0">
              <a:spAutoFit/>
            </a:bodyPr>
            <a:lstStyle/>
            <a:p>
              <a:pPr algn="l"/>
              <a:r>
                <a:rPr lang="en-US" sz="1650" dirty="0">
                  <a:solidFill>
                    <a:schemeClr val="accent5"/>
                  </a:solidFill>
                  <a:latin typeface="+mn-lt"/>
                  <a:ea typeface="+mn-ea"/>
                  <a:cs typeface="+mn-cs"/>
                </a:rPr>
                <a:t>Scope the question and keep changing beliefs attached to dated evidence, access and correction history.</a:t>
              </a:r>
            </a:p>
          </p:txBody>
        </p:sp>
      </p:grpSp>
      <p:grpSp>
        <p:nvGrpSpPr>
          <p:cNvPr id="8" name="analysis-1"/>
          <p:cNvGrpSpPr/>
          <p:nvPr/>
        </p:nvGrpSpPr>
        <p:grpSpPr>
          <a:xfrm>
            <a:off x="448056" y="1876425"/>
            <a:ext cx="2992412" cy="2979420"/>
            <a:chOff x="448056" y="1876425"/>
            <a:chExt cx="2992412" cy="2979420"/>
          </a:xfrm>
        </p:grpSpPr>
        <p:sp>
          <p:nvSpPr>
            <p:cNvPr id="6" name="TextBox 6"/>
            <p:cNvSpPr txBox="1"/>
            <p:nvPr/>
          </p:nvSpPr>
          <p:spPr>
            <a:xfrm>
              <a:off x="448056" y="1876425"/>
              <a:ext cx="2941905" cy="352044"/>
            </a:xfrm>
            <a:prstGeom prst="rect">
              <a:avLst/>
            </a:prstGeom>
            <a:noFill/>
            <a:ln>
              <a:noFill/>
            </a:ln>
          </p:spPr>
          <p:txBody>
            <a:bodyPr wrap="none" lIns="0" tIns="0" rIns="0" bIns="0" anchor="t" anchorCtr="0">
              <a:spAutoFit/>
            </a:bodyPr>
            <a:lstStyle/>
            <a:p>
              <a:pPr algn="l"/>
              <a:r>
                <a:rPr lang="en-US" sz="1800" dirty="0">
                  <a:solidFill>
                    <a:schemeClr val="accent2"/>
                  </a:solidFill>
                  <a:latin typeface="+mj-lt"/>
                  <a:ea typeface="+mj-ea"/>
                  <a:cs typeface="+mj-cs"/>
                </a:rPr>
                <a:t>Set the evidence boundary</a:t>
              </a:r>
            </a:p>
          </p:txBody>
        </p:sp>
        <p:sp>
          <p:nvSpPr>
            <p:cNvPr id="7" name="TextBox 7"/>
            <p:cNvSpPr txBox="1"/>
            <p:nvPr/>
          </p:nvSpPr>
          <p:spPr>
            <a:xfrm>
              <a:off x="449580" y="2505075"/>
              <a:ext cx="2990888" cy="2350770"/>
            </a:xfrm>
            <a:prstGeom prst="rect">
              <a:avLst/>
            </a:prstGeom>
            <a:noFill/>
            <a:ln>
              <a:noFill/>
            </a:ln>
          </p:spPr>
          <p:txBody>
            <a:bodyPr wrap="none" lIns="0" tIns="0" rIns="0" bIns="0" anchor="t" anchorCtr="0">
              <a:spAutoFit/>
            </a:bodyPr>
            <a:lstStyle/>
            <a:p>
              <a:pPr algn="l">
                <a:lnSpc>
                  <a:spcPts val="2025"/>
                </a:lnSpc>
              </a:pPr>
              <a:r>
                <a:rPr lang="en-US" sz="1500" dirty="0">
                  <a:solidFill>
                    <a:schemeClr val="dk1"/>
                  </a:solidFill>
                  <a:latin typeface="+mn-lt"/>
                  <a:ea typeface="+mn-ea"/>
                  <a:cs typeface="+mn-cs"/>
                </a:rPr>
                <a:t>Bridgewater’s Vault organizes</a:t>
              </a:r>
              <a:br>
                <a:rPr lang="en-US" sz="1500" dirty="0">
                  <a:solidFill>
                    <a:schemeClr val="dk1"/>
                  </a:solidFill>
                  <a:latin typeface="+mn-lt"/>
                  <a:ea typeface="+mn-ea"/>
                  <a:cs typeface="+mn-cs"/>
                </a:rPr>
              </a:br>
              <a:r>
                <a:rPr lang="en-US" sz="1500" dirty="0">
                  <a:solidFill>
                    <a:schemeClr val="dk1"/>
                  </a:solidFill>
                  <a:latin typeface="+mn-lt"/>
                  <a:ea typeface="+mn-ea"/>
                  <a:cs typeface="+mn-cs"/>
                </a:rPr>
                <a:t>research by source, market,</a:t>
              </a:r>
              <a:br>
                <a:rPr lang="en-US" sz="1500" dirty="0">
                  <a:solidFill>
                    <a:schemeClr val="dk1"/>
                  </a:solidFill>
                  <a:latin typeface="+mn-lt"/>
                  <a:ea typeface="+mn-ea"/>
                  <a:cs typeface="+mn-cs"/>
                </a:rPr>
              </a:br>
              <a:r>
                <a:rPr lang="en-US" sz="1500" dirty="0">
                  <a:solidFill>
                    <a:schemeClr val="dk1"/>
                  </a:solidFill>
                  <a:latin typeface="+mn-lt"/>
                  <a:ea typeface="+mn-ea"/>
                  <a:cs typeface="+mn-cs"/>
                </a:rPr>
                <a:t>country, concept and discussed</a:t>
              </a:r>
              <a:br>
                <a:rPr lang="en-US" sz="1500" dirty="0">
                  <a:solidFill>
                    <a:schemeClr val="dk1"/>
                  </a:solidFill>
                  <a:latin typeface="+mn-lt"/>
                  <a:ea typeface="+mn-ea"/>
                  <a:cs typeface="+mn-cs"/>
                </a:rPr>
              </a:br>
              <a:r>
                <a:rPr lang="en-US" sz="1500" dirty="0">
                  <a:solidFill>
                    <a:schemeClr val="dk1"/>
                  </a:solidFill>
                  <a:latin typeface="+mn-lt"/>
                  <a:ea typeface="+mn-ea"/>
                  <a:cs typeface="+mn-cs"/>
                </a:rPr>
                <a:t>period. Apply entitlements and time</a:t>
              </a:r>
              <a:br>
                <a:rPr lang="en-US" sz="1500" dirty="0">
                  <a:solidFill>
                    <a:schemeClr val="dk1"/>
                  </a:solidFill>
                  <a:latin typeface="+mn-lt"/>
                  <a:ea typeface="+mn-ea"/>
                  <a:cs typeface="+mn-cs"/>
                </a:rPr>
              </a:br>
              <a:r>
                <a:rPr lang="en-US" sz="1500" dirty="0">
                  <a:solidFill>
                    <a:schemeClr val="dk1"/>
                  </a:solidFill>
                  <a:latin typeface="+mn-lt"/>
                  <a:ea typeface="+mn-ea"/>
                  <a:cs typeface="+mn-cs"/>
                </a:rPr>
                <a:t>constraints before synthesis. A</a:t>
              </a:r>
              <a:br>
                <a:rPr lang="en-US" sz="1500" dirty="0">
                  <a:solidFill>
                    <a:schemeClr val="dk1"/>
                  </a:solidFill>
                  <a:latin typeface="+mn-lt"/>
                  <a:ea typeface="+mn-ea"/>
                  <a:cs typeface="+mn-cs"/>
                </a:rPr>
              </a:br>
              <a:r>
                <a:rPr lang="en-US" sz="1500" dirty="0">
                  <a:solidFill>
                    <a:schemeClr val="dk1"/>
                  </a:solidFill>
                  <a:latin typeface="+mn-lt"/>
                  <a:ea typeface="+mn-ea"/>
                  <a:cs typeface="+mn-cs"/>
                </a:rPr>
                <a:t>correct answer to a neighboring</a:t>
              </a:r>
              <a:br>
                <a:rPr lang="en-US" sz="1500" dirty="0">
                  <a:solidFill>
                    <a:schemeClr val="dk1"/>
                  </a:solidFill>
                  <a:latin typeface="+mn-lt"/>
                  <a:ea typeface="+mn-ea"/>
                  <a:cs typeface="+mn-cs"/>
                </a:rPr>
              </a:br>
              <a:r>
                <a:rPr lang="en-US" sz="1500" dirty="0">
                  <a:solidFill>
                    <a:schemeClr val="dk1"/>
                  </a:solidFill>
                  <a:latin typeface="+mn-lt"/>
                  <a:ea typeface="+mn-ea"/>
                  <a:cs typeface="+mn-cs"/>
                </a:rPr>
                <a:t>period, entity or definition is</a:t>
              </a:r>
              <a:br>
                <a:rPr lang="en-US" sz="1500" dirty="0">
                  <a:solidFill>
                    <a:schemeClr val="dk1"/>
                  </a:solidFill>
                  <a:latin typeface="+mn-lt"/>
                  <a:ea typeface="+mn-ea"/>
                  <a:cs typeface="+mn-cs"/>
                </a:rPr>
              </a:br>
              <a:r>
                <a:rPr lang="en-US" sz="1500" dirty="0">
                  <a:solidFill>
                    <a:schemeClr val="dk1"/>
                  </a:solidFill>
                  <a:latin typeface="+mn-lt"/>
                  <a:ea typeface="+mn-ea"/>
                  <a:cs typeface="+mn-cs"/>
                </a:rPr>
                <a:t>still a failure of the requested</a:t>
              </a:r>
              <a:br>
                <a:rPr lang="en-US" sz="1500" dirty="0">
                  <a:solidFill>
                    <a:schemeClr val="dk1"/>
                  </a:solidFill>
                  <a:latin typeface="+mn-lt"/>
                  <a:ea typeface="+mn-ea"/>
                  <a:cs typeface="+mn-cs"/>
                </a:rPr>
              </a:br>
              <a:r>
                <a:rPr lang="en-US" sz="1500" dirty="0">
                  <a:solidFill>
                    <a:schemeClr val="dk1"/>
                  </a:solidFill>
                  <a:latin typeface="+mn-lt"/>
                  <a:ea typeface="+mn-ea"/>
                  <a:cs typeface="+mn-cs"/>
                </a:rPr>
                <a:t>task.</a:t>
              </a:r>
            </a:p>
          </p:txBody>
        </p:sp>
      </p:grpSp>
      <p:grpSp>
        <p:nvGrpSpPr>
          <p:cNvPr id="11" name="analysis-2"/>
          <p:cNvGrpSpPr/>
          <p:nvPr/>
        </p:nvGrpSpPr>
        <p:grpSpPr>
          <a:xfrm>
            <a:off x="4296156" y="1876425"/>
            <a:ext cx="2939110" cy="3236595"/>
            <a:chOff x="4296156" y="1876425"/>
            <a:chExt cx="2939110" cy="3236595"/>
          </a:xfrm>
        </p:grpSpPr>
        <p:sp>
          <p:nvSpPr>
            <p:cNvPr id="9" name="TextBox 9"/>
            <p:cNvSpPr txBox="1"/>
            <p:nvPr/>
          </p:nvSpPr>
          <p:spPr>
            <a:xfrm>
              <a:off x="4296156" y="1876425"/>
              <a:ext cx="2835141" cy="352044"/>
            </a:xfrm>
            <a:prstGeom prst="rect">
              <a:avLst/>
            </a:prstGeom>
            <a:noFill/>
            <a:ln>
              <a:noFill/>
            </a:ln>
          </p:spPr>
          <p:txBody>
            <a:bodyPr wrap="none" lIns="0" tIns="0" rIns="0" bIns="0" anchor="t" anchorCtr="0">
              <a:spAutoFit/>
            </a:bodyPr>
            <a:lstStyle/>
            <a:p>
              <a:pPr algn="l"/>
              <a:r>
                <a:rPr lang="en-US" sz="1800" dirty="0">
                  <a:solidFill>
                    <a:schemeClr val="accent2"/>
                  </a:solidFill>
                  <a:latin typeface="+mj-lt"/>
                  <a:ea typeface="+mj-ea"/>
                  <a:cs typeface="+mj-cs"/>
                </a:rPr>
                <a:t>Preserve changing beliefs</a:t>
              </a:r>
            </a:p>
          </p:txBody>
        </p:sp>
        <p:sp>
          <p:nvSpPr>
            <p:cNvPr id="10" name="TextBox 10"/>
            <p:cNvSpPr txBox="1"/>
            <p:nvPr/>
          </p:nvSpPr>
          <p:spPr>
            <a:xfrm>
              <a:off x="4297680" y="2505075"/>
              <a:ext cx="2937586" cy="2607945"/>
            </a:xfrm>
            <a:prstGeom prst="rect">
              <a:avLst/>
            </a:prstGeom>
            <a:noFill/>
            <a:ln>
              <a:noFill/>
            </a:ln>
          </p:spPr>
          <p:txBody>
            <a:bodyPr wrap="none" lIns="0" tIns="0" rIns="0" bIns="0" anchor="t" anchorCtr="0">
              <a:spAutoFit/>
            </a:bodyPr>
            <a:lstStyle/>
            <a:p>
              <a:pPr algn="l">
                <a:lnSpc>
                  <a:spcPts val="2025"/>
                </a:lnSpc>
              </a:pPr>
              <a:r>
                <a:rPr lang="en-US" sz="1500" dirty="0">
                  <a:solidFill>
                    <a:schemeClr val="dk1"/>
                  </a:solidFill>
                  <a:latin typeface="+mn-lt"/>
                  <a:ea typeface="+mn-ea"/>
                  <a:cs typeface="+mn-cs"/>
                </a:rPr>
                <a:t>Citadel Securities separates</a:t>
              </a:r>
              <a:br>
                <a:rPr lang="en-US" sz="1500" dirty="0">
                  <a:solidFill>
                    <a:schemeClr val="dk1"/>
                  </a:solidFill>
                  <a:latin typeface="+mn-lt"/>
                  <a:ea typeface="+mn-ea"/>
                  <a:cs typeface="+mn-cs"/>
                </a:rPr>
              </a:br>
              <a:r>
                <a:rPr lang="en-US" sz="1500" dirty="0">
                  <a:solidFill>
                    <a:schemeClr val="dk1"/>
                  </a:solidFill>
                  <a:latin typeface="+mn-lt"/>
                  <a:ea typeface="+mn-ea"/>
                  <a:cs typeface="+mn-cs"/>
                </a:rPr>
                <a:t>reported project status from</a:t>
              </a:r>
              <a:br>
                <a:rPr lang="en-US" sz="1500" dirty="0">
                  <a:solidFill>
                    <a:schemeClr val="dk1"/>
                  </a:solidFill>
                  <a:latin typeface="+mn-lt"/>
                  <a:ea typeface="+mn-ea"/>
                  <a:cs typeface="+mn-cs"/>
                </a:rPr>
              </a:br>
              <a:r>
                <a:rPr lang="en-US" sz="1500" dirty="0">
                  <a:solidFill>
                    <a:schemeClr val="dk1"/>
                  </a:solidFill>
                  <a:latin typeface="+mn-lt"/>
                  <a:ea typeface="+mn-ea"/>
                  <a:cs typeface="+mn-cs"/>
                </a:rPr>
                <a:t>evidence-based status, keeps</a:t>
              </a:r>
              <a:br>
                <a:rPr lang="en-US" sz="1500" dirty="0">
                  <a:solidFill>
                    <a:schemeClr val="dk1"/>
                  </a:solidFill>
                  <a:latin typeface="+mn-lt"/>
                  <a:ea typeface="+mn-ea"/>
                  <a:cs typeface="+mn-cs"/>
                </a:rPr>
              </a:br>
              <a:r>
                <a:rPr lang="en-US" sz="1500" dirty="0">
                  <a:solidFill>
                    <a:schemeClr val="dk1"/>
                  </a:solidFill>
                  <a:latin typeface="+mn-lt"/>
                  <a:ea typeface="+mn-ea"/>
                  <a:cs typeface="+mn-cs"/>
                </a:rPr>
                <a:t>historical records, ages claims and</a:t>
              </a:r>
              <a:br>
                <a:rPr lang="en-US" sz="1500" dirty="0">
                  <a:solidFill>
                    <a:schemeClr val="dk1"/>
                  </a:solidFill>
                  <a:latin typeface="+mn-lt"/>
                  <a:ea typeface="+mn-ea"/>
                  <a:cs typeface="+mn-cs"/>
                </a:rPr>
              </a:br>
              <a:r>
                <a:rPr lang="en-US" sz="1500" dirty="0">
                  <a:solidFill>
                    <a:schemeClr val="dk1"/>
                  </a:solidFill>
                  <a:latin typeface="+mn-lt"/>
                  <a:ea typeface="+mn-ea"/>
                  <a:cs typeface="+mn-cs"/>
                </a:rPr>
                <a:t>compares earlier predictions with</a:t>
              </a:r>
              <a:br>
                <a:rPr lang="en-US" sz="1500" dirty="0">
                  <a:solidFill>
                    <a:schemeClr val="dk1"/>
                  </a:solidFill>
                  <a:latin typeface="+mn-lt"/>
                  <a:ea typeface="+mn-ea"/>
                  <a:cs typeface="+mn-cs"/>
                </a:rPr>
              </a:br>
              <a:r>
                <a:rPr lang="en-US" sz="1500" dirty="0">
                  <a:solidFill>
                    <a:schemeClr val="dk1"/>
                  </a:solidFill>
                  <a:latin typeface="+mn-lt"/>
                  <a:ea typeface="+mn-ea"/>
                  <a:cs typeface="+mn-cs"/>
                </a:rPr>
                <a:t>later outcomes. Models propose</a:t>
              </a:r>
              <a:br>
                <a:rPr lang="en-US" sz="1500" dirty="0">
                  <a:solidFill>
                    <a:schemeClr val="dk1"/>
                  </a:solidFill>
                  <a:latin typeface="+mn-lt"/>
                  <a:ea typeface="+mn-ea"/>
                  <a:cs typeface="+mn-cs"/>
                </a:rPr>
              </a:br>
              <a:r>
                <a:rPr lang="en-US" sz="1500" dirty="0">
                  <a:solidFill>
                    <a:schemeClr val="dk1"/>
                  </a:solidFill>
                  <a:latin typeface="+mn-lt"/>
                  <a:ea typeface="+mn-ea"/>
                  <a:cs typeface="+mn-cs"/>
                </a:rPr>
                <a:t>updates; code and people decide</a:t>
              </a:r>
              <a:br>
                <a:rPr lang="en-US" sz="1500" dirty="0">
                  <a:solidFill>
                    <a:schemeClr val="dk1"/>
                  </a:solidFill>
                  <a:latin typeface="+mn-lt"/>
                  <a:ea typeface="+mn-ea"/>
                  <a:cs typeface="+mn-cs"/>
                </a:rPr>
              </a:br>
              <a:r>
                <a:rPr lang="en-US" sz="1500" dirty="0">
                  <a:solidFill>
                    <a:schemeClr val="dk1"/>
                  </a:solidFill>
                  <a:latin typeface="+mn-lt"/>
                  <a:ea typeface="+mn-ea"/>
                  <a:cs typeface="+mn-cs"/>
                </a:rPr>
                <a:t>what enters the record. This is</a:t>
              </a:r>
              <a:br>
                <a:rPr lang="en-US" sz="1500" dirty="0">
                  <a:solidFill>
                    <a:schemeClr val="dk1"/>
                  </a:solidFill>
                  <a:latin typeface="+mn-lt"/>
                  <a:ea typeface="+mn-ea"/>
                  <a:cs typeface="+mn-cs"/>
                </a:rPr>
              </a:br>
              <a:r>
                <a:rPr lang="en-US" sz="1500" dirty="0">
                  <a:solidFill>
                    <a:schemeClr val="dk1"/>
                  </a:solidFill>
                  <a:latin typeface="+mn-lt"/>
                  <a:ea typeface="+mn-ea"/>
                  <a:cs typeface="+mn-cs"/>
                </a:rPr>
                <a:t>richer than retrieving the latest</a:t>
              </a:r>
              <a:br>
                <a:rPr lang="en-US" sz="1500" dirty="0">
                  <a:solidFill>
                    <a:schemeClr val="dk1"/>
                  </a:solidFill>
                  <a:latin typeface="+mn-lt"/>
                  <a:ea typeface="+mn-ea"/>
                  <a:cs typeface="+mn-cs"/>
                </a:rPr>
              </a:br>
              <a:r>
                <a:rPr lang="en-US" sz="1500" dirty="0">
                  <a:solidFill>
                    <a:schemeClr val="dk1"/>
                  </a:solidFill>
                  <a:latin typeface="+mn-lt"/>
                  <a:ea typeface="+mn-ea"/>
                  <a:cs typeface="+mn-cs"/>
                </a:rPr>
                <a:t>matching sentence.</a:t>
              </a:r>
            </a:p>
          </p:txBody>
        </p:sp>
      </p:grpSp>
      <p:grpSp>
        <p:nvGrpSpPr>
          <p:cNvPr id="14" name="analysis-3"/>
          <p:cNvGrpSpPr/>
          <p:nvPr/>
        </p:nvGrpSpPr>
        <p:grpSpPr>
          <a:xfrm>
            <a:off x="8144256" y="1876425"/>
            <a:ext cx="2886456" cy="3236595"/>
            <a:chOff x="8144256" y="1876425"/>
            <a:chExt cx="2886456" cy="3236595"/>
          </a:xfrm>
        </p:grpSpPr>
        <p:sp>
          <p:nvSpPr>
            <p:cNvPr id="12" name="TextBox 12"/>
            <p:cNvSpPr txBox="1"/>
            <p:nvPr/>
          </p:nvSpPr>
          <p:spPr>
            <a:xfrm>
              <a:off x="8144256" y="1876425"/>
              <a:ext cx="2077905" cy="656844"/>
            </a:xfrm>
            <a:prstGeom prst="rect">
              <a:avLst/>
            </a:prstGeom>
            <a:noFill/>
            <a:ln>
              <a:noFill/>
            </a:ln>
          </p:spPr>
          <p:txBody>
            <a:bodyPr wrap="none" lIns="0" tIns="0" rIns="0" bIns="0" anchor="t" anchorCtr="0">
              <a:spAutoFit/>
            </a:bodyPr>
            <a:lstStyle/>
            <a:p>
              <a:pPr algn="l">
                <a:lnSpc>
                  <a:spcPts val="2400"/>
                </a:lnSpc>
              </a:pPr>
              <a:r>
                <a:rPr lang="en-US" sz="1800" dirty="0">
                  <a:solidFill>
                    <a:schemeClr val="accent2"/>
                  </a:solidFill>
                  <a:latin typeface="+mj-lt"/>
                  <a:ea typeface="+mj-ea"/>
                  <a:cs typeface="+mj-cs"/>
                </a:rPr>
                <a:t>Treat missing signals</a:t>
              </a:r>
              <a:br>
                <a:rPr lang="en-US" sz="1800" dirty="0">
                  <a:solidFill>
                    <a:schemeClr val="accent2"/>
                  </a:solidFill>
                  <a:latin typeface="+mj-lt"/>
                  <a:ea typeface="+mj-ea"/>
                  <a:cs typeface="+mj-cs"/>
                </a:rPr>
              </a:br>
              <a:r>
                <a:rPr lang="en-US" sz="1800" dirty="0">
                  <a:solidFill>
                    <a:schemeClr val="accent2"/>
                  </a:solidFill>
                  <a:latin typeface="+mj-lt"/>
                  <a:ea typeface="+mj-ea"/>
                  <a:cs typeface="+mj-cs"/>
                </a:rPr>
                <a:t>honestly</a:t>
              </a:r>
            </a:p>
          </p:txBody>
        </p:sp>
        <p:sp>
          <p:nvSpPr>
            <p:cNvPr id="13" name="TextBox 13"/>
            <p:cNvSpPr txBox="1"/>
            <p:nvPr/>
          </p:nvSpPr>
          <p:spPr>
            <a:xfrm>
              <a:off x="8145780" y="2505075"/>
              <a:ext cx="2884932" cy="2607945"/>
            </a:xfrm>
            <a:prstGeom prst="rect">
              <a:avLst/>
            </a:prstGeom>
            <a:noFill/>
            <a:ln>
              <a:noFill/>
            </a:ln>
          </p:spPr>
          <p:txBody>
            <a:bodyPr wrap="none" lIns="0" tIns="0" rIns="0" bIns="0" anchor="t" anchorCtr="0">
              <a:spAutoFit/>
            </a:bodyPr>
            <a:lstStyle/>
            <a:p>
              <a:pPr algn="l">
                <a:lnSpc>
                  <a:spcPts val="2025"/>
                </a:lnSpc>
              </a:pPr>
              <a:r>
                <a:rPr lang="en-US" sz="1500" dirty="0">
                  <a:solidFill>
                    <a:schemeClr val="dk1"/>
                  </a:solidFill>
                  <a:latin typeface="+mn-lt"/>
                  <a:ea typeface="+mn-ea"/>
                  <a:cs typeface="+mn-cs"/>
                </a:rPr>
                <a:t>A quiet source can mean a</a:t>
              </a:r>
              <a:br>
                <a:rPr lang="en-US" sz="1500" dirty="0">
                  <a:solidFill>
                    <a:schemeClr val="dk1"/>
                  </a:solidFill>
                  <a:latin typeface="+mn-lt"/>
                  <a:ea typeface="+mn-ea"/>
                  <a:cs typeface="+mn-cs"/>
                </a:rPr>
              </a:br>
              <a:r>
                <a:rPr lang="en-US" sz="1500" dirty="0">
                  <a:solidFill>
                    <a:schemeClr val="dk1"/>
                  </a:solidFill>
                  <a:latin typeface="+mn-lt"/>
                  <a:ea typeface="+mn-ea"/>
                  <a:cs typeface="+mn-cs"/>
                </a:rPr>
                <a:t>collection problem rather than</a:t>
              </a:r>
              <a:br>
                <a:rPr lang="en-US" sz="1500" dirty="0">
                  <a:solidFill>
                    <a:schemeClr val="dk1"/>
                  </a:solidFill>
                  <a:latin typeface="+mn-lt"/>
                  <a:ea typeface="+mn-ea"/>
                  <a:cs typeface="+mn-cs"/>
                </a:rPr>
              </a:br>
              <a:r>
                <a:rPr lang="en-US" sz="1500" dirty="0">
                  <a:solidFill>
                    <a:schemeClr val="dk1"/>
                  </a:solidFill>
                  <a:latin typeface="+mn-lt"/>
                  <a:ea typeface="+mn-ea"/>
                  <a:cs typeface="+mn-cs"/>
                </a:rPr>
                <a:t>inactivity. Preserve last observed</a:t>
              </a:r>
              <a:br>
                <a:rPr lang="en-US" sz="1500" dirty="0">
                  <a:solidFill>
                    <a:schemeClr val="dk1"/>
                  </a:solidFill>
                  <a:latin typeface="+mn-lt"/>
                  <a:ea typeface="+mn-ea"/>
                  <a:cs typeface="+mn-cs"/>
                </a:rPr>
              </a:br>
              <a:r>
                <a:rPr lang="en-US" sz="1500" dirty="0">
                  <a:solidFill>
                    <a:schemeClr val="dk1"/>
                  </a:solidFill>
                  <a:latin typeface="+mn-lt"/>
                  <a:ea typeface="+mn-ea"/>
                  <a:cs typeface="+mn-cs"/>
                </a:rPr>
                <a:t>time, source health and correction</a:t>
              </a:r>
              <a:br>
                <a:rPr lang="en-US" sz="1500" dirty="0">
                  <a:solidFill>
                    <a:schemeClr val="dk1"/>
                  </a:solidFill>
                  <a:latin typeface="+mn-lt"/>
                  <a:ea typeface="+mn-ea"/>
                  <a:cs typeface="+mn-cs"/>
                </a:rPr>
              </a:br>
              <a:r>
                <a:rPr lang="en-US" sz="1500" dirty="0">
                  <a:solidFill>
                    <a:schemeClr val="dk1"/>
                  </a:solidFill>
                  <a:latin typeface="+mn-lt"/>
                  <a:ea typeface="+mn-ea"/>
                  <a:cs typeface="+mn-cs"/>
                </a:rPr>
                <a:t>history; unknown is not zero. Our</a:t>
              </a:r>
              <a:br>
                <a:rPr lang="en-US" sz="1500" dirty="0">
                  <a:solidFill>
                    <a:schemeClr val="dk1"/>
                  </a:solidFill>
                  <a:latin typeface="+mn-lt"/>
                  <a:ea typeface="+mn-ea"/>
                  <a:cs typeface="+mn-cs"/>
                </a:rPr>
              </a:br>
              <a:r>
                <a:rPr lang="en-US" sz="1500" dirty="0">
                  <a:solidFill>
                    <a:schemeClr val="dk1"/>
                  </a:solidFill>
                  <a:latin typeface="+mn-lt"/>
                  <a:ea typeface="+mn-ea"/>
                  <a:cs typeface="+mn-cs"/>
                </a:rPr>
                <a:t>combined evidence contract adds</a:t>
              </a:r>
              <a:br>
                <a:rPr lang="en-US" sz="1500" dirty="0">
                  <a:solidFill>
                    <a:schemeClr val="dk1"/>
                  </a:solidFill>
                  <a:latin typeface="+mn-lt"/>
                  <a:ea typeface="+mn-ea"/>
                  <a:cs typeface="+mn-cs"/>
                </a:rPr>
              </a:br>
              <a:r>
                <a:rPr lang="en-US" sz="1500" dirty="0">
                  <a:solidFill>
                    <a:schemeClr val="dk1"/>
                  </a:solidFill>
                  <a:latin typeface="+mn-lt"/>
                  <a:ea typeface="+mn-ea"/>
                  <a:cs typeface="+mn-cs"/>
                </a:rPr>
                <a:t>versioned definitions and as-of</a:t>
              </a:r>
              <a:br>
                <a:rPr lang="en-US" sz="1500" dirty="0">
                  <a:solidFill>
                    <a:schemeClr val="dk1"/>
                  </a:solidFill>
                  <a:latin typeface="+mn-lt"/>
                  <a:ea typeface="+mn-ea"/>
                  <a:cs typeface="+mn-cs"/>
                </a:rPr>
              </a:br>
              <a:r>
                <a:rPr lang="en-US" sz="1500" dirty="0">
                  <a:solidFill>
                    <a:schemeClr val="dk1"/>
                  </a:solidFill>
                  <a:latin typeface="+mn-lt"/>
                  <a:ea typeface="+mn-ea"/>
                  <a:cs typeface="+mn-cs"/>
                </a:rPr>
                <a:t>snapshots, without claiming a</a:t>
              </a:r>
              <a:br>
                <a:rPr lang="en-US" sz="1500" dirty="0">
                  <a:solidFill>
                    <a:schemeClr val="dk1"/>
                  </a:solidFill>
                  <a:latin typeface="+mn-lt"/>
                  <a:ea typeface="+mn-ea"/>
                  <a:cs typeface="+mn-cs"/>
                </a:rPr>
              </a:br>
              <a:r>
                <a:rPr lang="en-US" sz="1500" dirty="0">
                  <a:solidFill>
                    <a:schemeClr val="dk1"/>
                  </a:solidFill>
                  <a:latin typeface="+mn-lt"/>
                  <a:ea typeface="+mn-ea"/>
                  <a:cs typeface="+mn-cs"/>
                </a:rPr>
                <a:t>single firm implemented every</a:t>
              </a:r>
              <a:br>
                <a:rPr lang="en-US" sz="1500" dirty="0">
                  <a:solidFill>
                    <a:schemeClr val="dk1"/>
                  </a:solidFill>
                  <a:latin typeface="+mn-lt"/>
                  <a:ea typeface="+mn-ea"/>
                  <a:cs typeface="+mn-cs"/>
                </a:rPr>
              </a:br>
              <a:r>
                <a:rPr lang="en-US" sz="1500" dirty="0">
                  <a:solidFill>
                    <a:schemeClr val="dk1"/>
                  </a:solidFill>
                  <a:latin typeface="+mn-lt"/>
                  <a:ea typeface="+mn-ea"/>
                  <a:cs typeface="+mn-cs"/>
                </a:rPr>
                <a:t>field.</a:t>
              </a:r>
            </a:p>
          </p:txBody>
        </p:sp>
      </p:grpSp>
      <p:grpSp>
        <p:nvGrpSpPr>
          <p:cNvPr id="17" name="footer"/>
          <p:cNvGrpSpPr/>
          <p:nvPr/>
        </p:nvGrpSpPr>
        <p:grpSpPr>
          <a:xfrm>
            <a:off x="452438" y="6477000"/>
            <a:ext cx="11287124" cy="176212"/>
            <a:chOff x="452438" y="6477000"/>
            <a:chExt cx="11287124" cy="176212"/>
          </a:xfrm>
        </p:grpSpPr>
        <p:sp>
          <p:nvSpPr>
            <p:cNvPr id="15" name="TextBox 15"/>
            <p:cNvSpPr txBox="1"/>
            <p:nvPr/>
          </p:nvSpPr>
          <p:spPr>
            <a:xfrm>
              <a:off x="452438" y="6477000"/>
              <a:ext cx="3844972" cy="176212"/>
            </a:xfrm>
            <a:prstGeom prst="rect">
              <a:avLst/>
            </a:prstGeom>
            <a:noFill/>
            <a:ln>
              <a:noFill/>
            </a:ln>
          </p:spPr>
          <p:txBody>
            <a:bodyPr wrap="none" lIns="0" tIns="0" rIns="0" bIns="0" anchor="t" anchorCtr="0">
              <a:spAutoFit/>
            </a:bodyPr>
            <a:lstStyle/>
            <a:p>
              <a:pPr algn="l"/>
              <a:r>
                <a:rPr lang="en-US" sz="900" dirty="0">
                  <a:solidFill>
                    <a:schemeClr val="accent5"/>
                  </a:solidFill>
                  <a:latin typeface="+mn-lt"/>
                  <a:ea typeface="+mn-ea"/>
                  <a:cs typeface="+mn-cs"/>
                </a:rPr>
                <a:t>Sources: Bridgewater · Citadel Securities | Reviewed October 25, 2026</a:t>
              </a:r>
            </a:p>
          </p:txBody>
        </p:sp>
        <p:sp>
          <p:nvSpPr>
            <p:cNvPr id="16" name="TextBox 16"/>
            <p:cNvSpPr txBox="1"/>
            <p:nvPr/>
          </p:nvSpPr>
          <p:spPr>
            <a:xfrm>
              <a:off x="11359512" y="6477000"/>
              <a:ext cx="380050" cy="176212"/>
            </a:xfrm>
            <a:prstGeom prst="rect">
              <a:avLst/>
            </a:prstGeom>
            <a:noFill/>
            <a:ln>
              <a:noFill/>
            </a:ln>
          </p:spPr>
          <p:txBody>
            <a:bodyPr wrap="none" lIns="0" tIns="0" rIns="0" bIns="0" anchor="t" anchorCtr="0">
              <a:spAutoFit/>
            </a:bodyPr>
            <a:lstStyle/>
            <a:p>
              <a:pPr algn="r"/>
              <a:r>
                <a:rPr lang="en-US" sz="900" dirty="0">
                  <a:solidFill>
                    <a:schemeClr val="accent5"/>
                  </a:solidFill>
                  <a:latin typeface="+mn-lt"/>
                  <a:ea typeface="+mn-ea"/>
                  <a:cs typeface="+mn-cs"/>
                </a:rPr>
                <a:t>08 / 37</a:t>
              </a:r>
            </a:p>
          </p:txBody>
        </p:sp>
      </p:grpSp>
    </p:spTree>
  </p:cSld>
  <p:clrMapOvr>
    <a:masterClrMapping/>
  </p:clrMapOvr>
  <p:transition xmlns:p14="http://schemas.microsoft.com/office/powerpoint/2010/main" p14:dur="400">
    <p:fade/>
  </p:transition>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5" name="title"/>
          <p:cNvGrpSpPr/>
          <p:nvPr/>
        </p:nvGrpSpPr>
        <p:grpSpPr>
          <a:xfrm>
            <a:off x="443484" y="361950"/>
            <a:ext cx="9844011" cy="1100582"/>
            <a:chOff x="443484" y="361950"/>
            <a:chExt cx="9844011" cy="1100582"/>
          </a:xfrm>
        </p:grpSpPr>
        <p:sp>
          <p:nvSpPr>
            <p:cNvPr id="2" name="TextBox 2"/>
            <p:cNvSpPr txBox="1"/>
            <p:nvPr/>
          </p:nvSpPr>
          <p:spPr>
            <a:xfrm>
              <a:off x="451104" y="361950"/>
              <a:ext cx="2260085" cy="234696"/>
            </a:xfrm>
            <a:prstGeom prst="rect">
              <a:avLst/>
            </a:prstGeom>
            <a:noFill/>
            <a:ln>
              <a:noFill/>
            </a:ln>
          </p:spPr>
          <p:txBody>
            <a:bodyPr wrap="none" lIns="0" tIns="0" rIns="0" bIns="0" anchor="t" anchorCtr="0">
              <a:spAutoFit/>
            </a:bodyPr>
            <a:lstStyle/>
            <a:p>
              <a:pPr algn="l"/>
              <a:r>
                <a:rPr lang="en-US" sz="1200" dirty="0">
                  <a:solidFill>
                    <a:schemeClr val="accent2"/>
                  </a:solidFill>
                  <a:latin typeface="+mn-lt"/>
                  <a:ea typeface="+mn-ea"/>
                  <a:cs typeface="+mn-cs"/>
                </a:rPr>
                <a:t>02 / GROUNDED EVIDENCE</a:t>
              </a:r>
            </a:p>
          </p:txBody>
        </p:sp>
        <p:sp>
          <p:nvSpPr>
            <p:cNvPr id="3" name="TextBox 3"/>
            <p:cNvSpPr txBox="1"/>
            <p:nvPr/>
          </p:nvSpPr>
          <p:spPr>
            <a:xfrm>
              <a:off x="443484" y="593725"/>
              <a:ext cx="7621742" cy="528066"/>
            </a:xfrm>
            <a:prstGeom prst="rect">
              <a:avLst/>
            </a:prstGeom>
            <a:noFill/>
            <a:ln>
              <a:noFill/>
            </a:ln>
          </p:spPr>
          <p:txBody>
            <a:bodyPr wrap="none" lIns="0" tIns="0" rIns="0" bIns="0" anchor="t" anchorCtr="0">
              <a:spAutoFit/>
            </a:bodyPr>
            <a:lstStyle/>
            <a:p>
              <a:pPr algn="l"/>
              <a:r>
                <a:rPr lang="en-US" sz="2700" dirty="0">
                  <a:solidFill>
                    <a:schemeClr val="accent1"/>
                  </a:solidFill>
                  <a:latin typeface="+mj-lt"/>
                  <a:ea typeface="+mj-ea"/>
                  <a:cs typeface="+mj-cs"/>
                </a:rPr>
                <a:t>Test relevance, coverage and restrictive filters</a:t>
              </a:r>
            </a:p>
          </p:txBody>
        </p:sp>
        <p:sp>
          <p:nvSpPr>
            <p:cNvPr id="4" name="TextBox 4"/>
            <p:cNvSpPr txBox="1"/>
            <p:nvPr/>
          </p:nvSpPr>
          <p:spPr>
            <a:xfrm>
              <a:off x="448818" y="1139825"/>
              <a:ext cx="9838677" cy="322707"/>
            </a:xfrm>
            <a:prstGeom prst="rect">
              <a:avLst/>
            </a:prstGeom>
            <a:noFill/>
            <a:ln>
              <a:noFill/>
            </a:ln>
          </p:spPr>
          <p:txBody>
            <a:bodyPr wrap="none" lIns="0" tIns="0" rIns="0" bIns="0" anchor="t" anchorCtr="0">
              <a:spAutoFit/>
            </a:bodyPr>
            <a:lstStyle/>
            <a:p>
              <a:pPr algn="l"/>
              <a:r>
                <a:rPr lang="en-US" sz="1650" dirty="0">
                  <a:solidFill>
                    <a:schemeClr val="accent5"/>
                  </a:solidFill>
                  <a:latin typeface="+mn-lt"/>
                  <a:ea typeface="+mn-ea"/>
                  <a:cs typeface="+mn-cs"/>
                </a:rPr>
                <a:t>Bridgewater’s reported retrieval comparison is specific; it does not establish answer quality or alpha.</a:t>
              </a:r>
            </a:p>
          </p:txBody>
        </p:sp>
      </p:grpSp>
      <p:graphicFrame>
        <p:nvGraphicFramePr>
          <p:cNvPr id="6" name="retrieval-objectives"/>
          <p:cNvGraphicFramePr>
            <a:graphicFrameLocks noGrp="1"/>
          </p:cNvGraphicFramePr>
          <p:nvPr/>
        </p:nvGraphicFramePr>
        <p:xfrm>
          <a:off x="457200" y="1752600"/>
          <a:ext cx="11277600" cy="2495550"/>
        </p:xfrm>
        <a:graphic>
          <a:graphicData uri="http://schemas.openxmlformats.org/drawingml/2006/table">
            <a:tbl>
              <a:tblPr firstRow="1" bandRow="0">
                <a:tableStyleId>{5C22544A-7EE6-4342-B048-85BDC9FD1C3A}</a:tableStyleId>
              </a:tblPr>
              <a:tblGrid>
                <a:gridCol w="2286000"/>
                <a:gridCol w="4495800"/>
                <a:gridCol w="4495800"/>
              </a:tblGrid>
              <a:tr h="495300">
                <a:tc>
                  <a:txBody>
                    <a:bodyPr/>
                    <a:lstStyle/>
                    <a:p>
                      <a:pPr/>
                      <a:r>
                        <a:rPr lang="en-US" sz="1350" b="1">
                          <a:solidFill>
                            <a:srgbClr val="FFFDF7"/>
                          </a:solidFill>
                          <a:latin typeface="Arial"/>
                          <a:ea typeface="Microsoft YaHei"/>
                          <a:cs typeface="Arial"/>
                        </a:rPr>
                        <a:t>Design question</a:t>
                      </a:r>
                    </a:p>
                  </a:txBody>
                  <a:tcPr anchor="ctr" marL="152400" marR="152400" marT="76200" marB="76200">
                    <a:lnL>
                      <a:noFill/>
                    </a:lnL>
                    <a:lnR>
                      <a:noFill/>
                    </a:lnR>
                    <a:lnT>
                      <a:noFill/>
                    </a:lnT>
                    <a:lnB w="9525">
                      <a:solidFill>
                        <a:schemeClr val="accent6"/>
                      </a:solidFill>
                      <a:prstDash val="solid"/>
                    </a:lnB>
                    <a:solidFill>
                      <a:schemeClr val="accent1"/>
                    </a:solidFill>
                  </a:tcPr>
                </a:tc>
                <a:tc>
                  <a:txBody>
                    <a:bodyPr/>
                    <a:lstStyle/>
                    <a:p>
                      <a:pPr/>
                      <a:r>
                        <a:rPr lang="en-US" sz="1350" b="1">
                          <a:solidFill>
                            <a:srgbClr val="FFFDF7"/>
                          </a:solidFill>
                          <a:latin typeface="Arial"/>
                          <a:ea typeface="Microsoft YaHei"/>
                          <a:cs typeface="Arial"/>
                        </a:rPr>
                        <a:t>Human-facing search</a:t>
                      </a:r>
                    </a:p>
                  </a:txBody>
                  <a:tcPr anchor="ctr" marL="152400" marR="152400" marT="76200" marB="76200">
                    <a:lnL>
                      <a:noFill/>
                    </a:lnL>
                    <a:lnR>
                      <a:noFill/>
                    </a:lnR>
                    <a:lnT>
                      <a:noFill/>
                    </a:lnT>
                    <a:lnB w="9525">
                      <a:solidFill>
                        <a:schemeClr val="accent6"/>
                      </a:solidFill>
                      <a:prstDash val="solid"/>
                    </a:lnB>
                    <a:solidFill>
                      <a:schemeClr val="accent1"/>
                    </a:solidFill>
                  </a:tcPr>
                </a:tc>
                <a:tc>
                  <a:txBody>
                    <a:bodyPr/>
                    <a:lstStyle/>
                    <a:p>
                      <a:pPr/>
                      <a:r>
                        <a:rPr lang="en-US" sz="1350" b="1">
                          <a:solidFill>
                            <a:srgbClr val="FFFDF7"/>
                          </a:solidFill>
                          <a:latin typeface="Arial"/>
                          <a:ea typeface="Microsoft YaHei"/>
                          <a:cs typeface="Arial"/>
                        </a:rPr>
                        <a:t>Agent-facing retrieval</a:t>
                      </a:r>
                    </a:p>
                  </a:txBody>
                  <a:tcPr anchor="ctr" marL="152400" marR="152400" marT="76200" marB="76200">
                    <a:lnL>
                      <a:noFill/>
                    </a:lnL>
                    <a:lnR>
                      <a:noFill/>
                    </a:lnR>
                    <a:lnT>
                      <a:noFill/>
                    </a:lnT>
                    <a:lnB w="9525">
                      <a:solidFill>
                        <a:schemeClr val="accent6"/>
                      </a:solidFill>
                      <a:prstDash val="solid"/>
                    </a:lnB>
                    <a:solidFill>
                      <a:schemeClr val="accent1"/>
                    </a:solidFill>
                  </a:tcPr>
                </a:tc>
              </a:tr>
              <a:tr h="666750">
                <a:tc>
                  <a:txBody>
                    <a:bodyPr/>
                    <a:lstStyle/>
                    <a:p>
                      <a:pPr/>
                      <a:r>
                        <a:rPr lang="en-US" sz="1350" b="0">
                          <a:solidFill>
                            <a:schemeClr val="dk1"/>
                          </a:solidFill>
                          <a:latin typeface="Arial"/>
                          <a:ea typeface="Microsoft YaHei"/>
                          <a:cs typeface="Arial"/>
                        </a:rPr>
                        <a:t>Observed emphasis</a:t>
                      </a:r>
                    </a:p>
                  </a:txBody>
                  <a:tcPr anchor="ctr" marL="152400" marR="152400" marT="76200" marB="76200">
                    <a:lnL>
                      <a:noFill/>
                    </a:lnL>
                    <a:lnR>
                      <a:noFill/>
                    </a:lnR>
                    <a:lnT>
                      <a:noFill/>
                    </a:lnT>
                    <a:lnB w="9525">
                      <a:solidFill>
                        <a:schemeClr val="accent6"/>
                      </a:solidFill>
                      <a:prstDash val="solid"/>
                    </a:lnB>
                    <a:noFill/>
                  </a:tcPr>
                </a:tc>
                <a:tc>
                  <a:txBody>
                    <a:bodyPr/>
                    <a:lstStyle/>
                    <a:p>
                      <a:pPr/>
                      <a:r>
                        <a:rPr lang="en-US" sz="1350" b="0">
                          <a:solidFill>
                            <a:schemeClr val="dk1"/>
                          </a:solidFill>
                          <a:latin typeface="Arial"/>
                          <a:ea typeface="Microsoft YaHei"/>
                          <a:cs typeface="Arial"/>
                        </a:rPr>
                        <a:t>Precision and signal-to-noise.</a:t>
                      </a:r>
                    </a:p>
                  </a:txBody>
                  <a:tcPr anchor="ctr" marL="152400" marR="152400" marT="76200" marB="76200">
                    <a:lnL>
                      <a:noFill/>
                    </a:lnL>
                    <a:lnR>
                      <a:noFill/>
                    </a:lnR>
                    <a:lnT>
                      <a:noFill/>
                    </a:lnT>
                    <a:lnB w="9525">
                      <a:solidFill>
                        <a:schemeClr val="accent6"/>
                      </a:solidFill>
                      <a:prstDash val="solid"/>
                    </a:lnB>
                    <a:noFill/>
                  </a:tcPr>
                </a:tc>
                <a:tc>
                  <a:txBody>
                    <a:bodyPr/>
                    <a:lstStyle/>
                    <a:p>
                      <a:pPr/>
                      <a:r>
                        <a:rPr lang="en-US" sz="1350" b="0">
                          <a:solidFill>
                            <a:schemeClr val="dk1"/>
                          </a:solidFill>
                          <a:latin typeface="Arial"/>
                          <a:ea typeface="Microsoft YaHei"/>
                          <a:cs typeface="Arial"/>
                        </a:rPr>
                        <a:t>Recall and scale.</a:t>
                      </a:r>
                    </a:p>
                  </a:txBody>
                  <a:tcPr anchor="ctr" marL="152400" marR="152400" marT="76200" marB="76200">
                    <a:lnL>
                      <a:noFill/>
                    </a:lnL>
                    <a:lnR>
                      <a:noFill/>
                    </a:lnR>
                    <a:lnT>
                      <a:noFill/>
                    </a:lnT>
                    <a:lnB w="9525">
                      <a:solidFill>
                        <a:schemeClr val="accent6"/>
                      </a:solidFill>
                      <a:prstDash val="solid"/>
                    </a:lnB>
                    <a:noFill/>
                  </a:tcPr>
                </a:tc>
              </a:tr>
              <a:tr h="666750">
                <a:tc>
                  <a:txBody>
                    <a:bodyPr/>
                    <a:lstStyle/>
                    <a:p>
                      <a:pPr/>
                      <a:r>
                        <a:rPr lang="en-US" sz="1350" b="0">
                          <a:solidFill>
                            <a:schemeClr val="dk1"/>
                          </a:solidFill>
                          <a:latin typeface="Arial"/>
                          <a:ea typeface="Microsoft YaHei"/>
                          <a:cs typeface="Arial"/>
                        </a:rPr>
                        <a:t>Consumption</a:t>
                      </a:r>
                    </a:p>
                  </a:txBody>
                  <a:tcPr anchor="ctr" marL="152400" marR="152400" marT="76200" marB="76200">
                    <a:lnL>
                      <a:noFill/>
                    </a:lnL>
                    <a:lnR>
                      <a:noFill/>
                    </a:lnR>
                    <a:lnT>
                      <a:noFill/>
                    </a:lnT>
                    <a:lnB w="9525">
                      <a:solidFill>
                        <a:schemeClr val="accent6"/>
                      </a:solidFill>
                      <a:prstDash val="solid"/>
                    </a:lnB>
                    <a:noFill/>
                  </a:tcPr>
                </a:tc>
                <a:tc>
                  <a:txBody>
                    <a:bodyPr/>
                    <a:lstStyle/>
                    <a:p>
                      <a:pPr/>
                      <a:r>
                        <a:rPr lang="en-US" sz="1350" b="0">
                          <a:solidFill>
                            <a:schemeClr val="dk1"/>
                          </a:solidFill>
                          <a:latin typeface="Arial"/>
                          <a:ea typeface="Microsoft YaHei"/>
                          <a:cs typeface="Arial"/>
                        </a:rPr>
                        <a:t>A compact, reviewable result set.</a:t>
                      </a:r>
                    </a:p>
                  </a:txBody>
                  <a:tcPr anchor="ctr" marL="152400" marR="152400" marT="76200" marB="76200">
                    <a:lnL>
                      <a:noFill/>
                    </a:lnL>
                    <a:lnR>
                      <a:noFill/>
                    </a:lnR>
                    <a:lnT>
                      <a:noFill/>
                    </a:lnT>
                    <a:lnB w="9525">
                      <a:solidFill>
                        <a:schemeClr val="accent6"/>
                      </a:solidFill>
                      <a:prstDash val="solid"/>
                    </a:lnB>
                    <a:noFill/>
                  </a:tcPr>
                </a:tc>
                <a:tc>
                  <a:txBody>
                    <a:bodyPr/>
                    <a:lstStyle/>
                    <a:p>
                      <a:pPr/>
                      <a:r>
                        <a:rPr lang="en-US" sz="1350" b="0">
                          <a:solidFill>
                            <a:schemeClr val="dk1"/>
                          </a:solidFill>
                          <a:latin typeface="Arial"/>
                          <a:ea typeface="Microsoft YaHei"/>
                          <a:cs typeface="Arial"/>
                        </a:rPr>
                        <a:t>Fast processing of more evidence.</a:t>
                      </a:r>
                    </a:p>
                  </a:txBody>
                  <a:tcPr anchor="ctr" marL="152400" marR="152400" marT="76200" marB="76200">
                    <a:lnL>
                      <a:noFill/>
                    </a:lnL>
                    <a:lnR>
                      <a:noFill/>
                    </a:lnR>
                    <a:lnT>
                      <a:noFill/>
                    </a:lnT>
                    <a:lnB w="9525">
                      <a:solidFill>
                        <a:schemeClr val="accent6"/>
                      </a:solidFill>
                      <a:prstDash val="solid"/>
                    </a:lnB>
                    <a:noFill/>
                  </a:tcPr>
                </a:tc>
              </a:tr>
              <a:tr h="666750">
                <a:tc>
                  <a:txBody>
                    <a:bodyPr/>
                    <a:lstStyle/>
                    <a:p>
                      <a:pPr/>
                      <a:r>
                        <a:rPr lang="en-US" sz="1350" b="0">
                          <a:solidFill>
                            <a:schemeClr val="dk1"/>
                          </a:solidFill>
                          <a:latin typeface="Arial"/>
                          <a:ea typeface="Microsoft YaHei"/>
                          <a:cs typeface="Arial"/>
                        </a:rPr>
                        <a:t>Shared requirements</a:t>
                      </a:r>
                    </a:p>
                  </a:txBody>
                  <a:tcPr anchor="ctr" marL="152400" marR="152400" marT="76200" marB="76200">
                    <a:lnL>
                      <a:noFill/>
                    </a:lnL>
                    <a:lnR>
                      <a:noFill/>
                    </a:lnR>
                    <a:lnT>
                      <a:noFill/>
                    </a:lnT>
                    <a:lnB w="9525">
                      <a:solidFill>
                        <a:schemeClr val="accent6"/>
                      </a:solidFill>
                      <a:prstDash val="solid"/>
                    </a:lnB>
                    <a:noFill/>
                  </a:tcPr>
                </a:tc>
                <a:tc>
                  <a:txBody>
                    <a:bodyPr/>
                    <a:lstStyle/>
                    <a:p>
                      <a:pPr/>
                      <a:r>
                        <a:rPr lang="en-US" sz="1350" b="0">
                          <a:solidFill>
                            <a:schemeClr val="dk1"/>
                          </a:solidFill>
                          <a:latin typeface="Arial"/>
                          <a:ea typeface="Microsoft YaHei"/>
                          <a:cs typeface="Arial"/>
                        </a:rPr>
                        <a:t>Relevance, permission, meaning and freshness.</a:t>
                      </a:r>
                    </a:p>
                  </a:txBody>
                  <a:tcPr anchor="ctr" marL="152400" marR="152400" marT="76200" marB="76200">
                    <a:lnL>
                      <a:noFill/>
                    </a:lnL>
                    <a:lnR>
                      <a:noFill/>
                    </a:lnR>
                    <a:lnT>
                      <a:noFill/>
                    </a:lnT>
                    <a:lnB w="9525">
                      <a:solidFill>
                        <a:schemeClr val="accent6"/>
                      </a:solidFill>
                      <a:prstDash val="solid"/>
                    </a:lnB>
                    <a:noFill/>
                  </a:tcPr>
                </a:tc>
                <a:tc>
                  <a:txBody>
                    <a:bodyPr/>
                    <a:lstStyle/>
                    <a:p>
                      <a:pPr/>
                      <a:r>
                        <a:rPr lang="en-US" sz="1350" b="0">
                          <a:solidFill>
                            <a:schemeClr val="dk1"/>
                          </a:solidFill>
                          <a:latin typeface="Arial"/>
                          <a:ea typeface="Microsoft YaHei"/>
                          <a:cs typeface="Arial"/>
                        </a:rPr>
                        <a:t>Relevance, permission, meaning and freshness.</a:t>
                      </a:r>
                    </a:p>
                  </a:txBody>
                  <a:tcPr anchor="ctr" marL="152400" marR="152400" marT="76200" marB="76200">
                    <a:lnL>
                      <a:noFill/>
                    </a:lnL>
                    <a:lnR>
                      <a:noFill/>
                    </a:lnR>
                    <a:lnT>
                      <a:noFill/>
                    </a:lnT>
                    <a:lnB w="9525">
                      <a:solidFill>
                        <a:schemeClr val="accent6"/>
                      </a:solidFill>
                      <a:prstDash val="solid"/>
                    </a:lnB>
                    <a:noFill/>
                  </a:tcPr>
                </a:tc>
              </a:tr>
            </a:tbl>
          </a:graphicData>
        </a:graphic>
      </p:graphicFrame>
      <p:grpSp>
        <p:nvGrpSpPr>
          <p:cNvPr id="9" name="reported-benchmark"/>
          <p:cNvGrpSpPr/>
          <p:nvPr/>
        </p:nvGrpSpPr>
        <p:grpSpPr>
          <a:xfrm>
            <a:off x="448056" y="4552950"/>
            <a:ext cx="9710468" cy="712470"/>
            <a:chOff x="448056" y="4552950"/>
            <a:chExt cx="9710468" cy="712470"/>
          </a:xfrm>
        </p:grpSpPr>
        <p:sp>
          <p:nvSpPr>
            <p:cNvPr id="7" name="TextBox 7"/>
            <p:cNvSpPr txBox="1"/>
            <p:nvPr/>
          </p:nvSpPr>
          <p:spPr>
            <a:xfrm>
              <a:off x="448056" y="4552950"/>
              <a:ext cx="9710468" cy="352044"/>
            </a:xfrm>
            <a:prstGeom prst="rect">
              <a:avLst/>
            </a:prstGeom>
            <a:noFill/>
            <a:ln>
              <a:noFill/>
            </a:ln>
          </p:spPr>
          <p:txBody>
            <a:bodyPr wrap="none" lIns="0" tIns="0" rIns="0" bIns="0" anchor="t" anchorCtr="0">
              <a:spAutoFit/>
            </a:bodyPr>
            <a:lstStyle/>
            <a:p>
              <a:pPr algn="l"/>
              <a:r>
                <a:rPr lang="en-US" sz="1800" dirty="0">
                  <a:solidFill>
                    <a:schemeClr val="accent2"/>
                  </a:solidFill>
                  <a:latin typeface="+mj-lt"/>
                  <a:ea typeface="+mj-ea"/>
                  <a:cs typeface="+mj-cs"/>
                </a:rPr>
                <a:t>Reported internal benchmark: ~200 labeled questions; precision@10 ~60% → 90–95%.</a:t>
              </a:r>
            </a:p>
          </p:txBody>
        </p:sp>
        <p:sp>
          <p:nvSpPr>
            <p:cNvPr id="8" name="TextBox 8"/>
            <p:cNvSpPr txBox="1"/>
            <p:nvPr/>
          </p:nvSpPr>
          <p:spPr>
            <a:xfrm>
              <a:off x="449580" y="4972050"/>
              <a:ext cx="9477747" cy="293370"/>
            </a:xfrm>
            <a:prstGeom prst="rect">
              <a:avLst/>
            </a:prstGeom>
            <a:noFill/>
            <a:ln>
              <a:noFill/>
            </a:ln>
          </p:spPr>
          <p:txBody>
            <a:bodyPr wrap="none" lIns="0" tIns="0" rIns="0" bIns="0" anchor="t" anchorCtr="0">
              <a:spAutoFit/>
            </a:bodyPr>
            <a:lstStyle/>
            <a:p>
              <a:pPr algn="l"/>
              <a:r>
                <a:rPr lang="en-US" sz="1500" dirty="0">
                  <a:solidFill>
                    <a:schemeClr val="dk1"/>
                  </a:solidFill>
                  <a:latin typeface="+mn-lt"/>
                  <a:ea typeface="+mn-ea"/>
                  <a:cs typeface="+mn-cs"/>
                </a:rPr>
                <a:t>The speaker corrects “recall” to precision. No held-out design, uncertainty or investment result is supplied.</a:t>
              </a:r>
            </a:p>
          </p:txBody>
        </p:sp>
      </p:grpSp>
      <p:grpSp>
        <p:nvGrpSpPr>
          <p:cNvPr id="11" name="filter-and-synthesis-tests"/>
          <p:cNvGrpSpPr/>
          <p:nvPr/>
        </p:nvGrpSpPr>
        <p:grpSpPr>
          <a:xfrm>
            <a:off x="449580" y="5581650"/>
            <a:ext cx="9619336" cy="550545"/>
            <a:chOff x="449580" y="5581650"/>
            <a:chExt cx="9619336" cy="550545"/>
          </a:xfrm>
        </p:grpSpPr>
        <p:sp>
          <p:nvSpPr>
            <p:cNvPr id="10" name="TextBox 10"/>
            <p:cNvSpPr txBox="1"/>
            <p:nvPr/>
          </p:nvSpPr>
          <p:spPr>
            <a:xfrm>
              <a:off x="449580" y="5581650"/>
              <a:ext cx="9619336" cy="550545"/>
            </a:xfrm>
            <a:prstGeom prst="rect">
              <a:avLst/>
            </a:prstGeom>
            <a:noFill/>
            <a:ln>
              <a:noFill/>
            </a:ln>
          </p:spPr>
          <p:txBody>
            <a:bodyPr wrap="none" lIns="0" tIns="0" rIns="0" bIns="0" anchor="t" anchorCtr="0">
              <a:spAutoFit/>
            </a:bodyPr>
            <a:lstStyle/>
            <a:p>
              <a:pPr algn="l">
                <a:lnSpc>
                  <a:spcPts val="2025"/>
                </a:lnSpc>
              </a:pPr>
              <a:r>
                <a:rPr lang="en-US" sz="1500" dirty="0">
                  <a:solidFill>
                    <a:schemeClr val="dk1"/>
                  </a:solidFill>
                  <a:latin typeface="+mn-lt"/>
                  <a:ea typeface="+mn-ea"/>
                  <a:cs typeface="+mn-cs"/>
                </a:rPr>
                <a:t>Test sparse time/source/asset filters, no-evidence cases and required-source coverage before compression. Then</a:t>
              </a:r>
              <a:br>
                <a:rPr lang="en-US" sz="1500" dirty="0">
                  <a:solidFill>
                    <a:schemeClr val="dk1"/>
                  </a:solidFill>
                  <a:latin typeface="+mn-lt"/>
                  <a:ea typeface="+mn-ea"/>
                  <a:cs typeface="+mn-cs"/>
                </a:rPr>
              </a:br>
              <a:r>
                <a:rPr lang="en-US" sz="1500" dirty="0">
                  <a:solidFill>
                    <a:schemeClr val="dk1"/>
                  </a:solidFill>
                  <a:latin typeface="+mn-lt"/>
                  <a:ea typeface="+mn-ea"/>
                  <a:cs typeface="+mn-cs"/>
                </a:rPr>
                <a:t>inspect retained meaning, omissions and human review effort in the final brief.</a:t>
              </a:r>
            </a:p>
          </p:txBody>
        </p:sp>
      </p:grpSp>
      <p:grpSp>
        <p:nvGrpSpPr>
          <p:cNvPr id="14" name="footer"/>
          <p:cNvGrpSpPr/>
          <p:nvPr/>
        </p:nvGrpSpPr>
        <p:grpSpPr>
          <a:xfrm>
            <a:off x="452438" y="6477000"/>
            <a:ext cx="11287124" cy="176212"/>
            <a:chOff x="452438" y="6477000"/>
            <a:chExt cx="11287124" cy="176212"/>
          </a:xfrm>
        </p:grpSpPr>
        <p:sp>
          <p:nvSpPr>
            <p:cNvPr id="12" name="TextBox 12"/>
            <p:cNvSpPr txBox="1"/>
            <p:nvPr/>
          </p:nvSpPr>
          <p:spPr>
            <a:xfrm>
              <a:off x="452438" y="6477000"/>
              <a:ext cx="2787562" cy="176212"/>
            </a:xfrm>
            <a:prstGeom prst="rect">
              <a:avLst/>
            </a:prstGeom>
            <a:noFill/>
            <a:ln>
              <a:noFill/>
            </a:ln>
          </p:spPr>
          <p:txBody>
            <a:bodyPr wrap="none" lIns="0" tIns="0" rIns="0" bIns="0" anchor="t" anchorCtr="0">
              <a:spAutoFit/>
            </a:bodyPr>
            <a:lstStyle/>
            <a:p>
              <a:pPr algn="l"/>
              <a:r>
                <a:rPr lang="en-US" sz="900" dirty="0">
                  <a:solidFill>
                    <a:schemeClr val="accent5"/>
                  </a:solidFill>
                  <a:latin typeface="+mn-lt"/>
                  <a:ea typeface="+mn-ea"/>
                  <a:cs typeface="+mn-cs"/>
                </a:rPr>
                <a:t>Sources: Bridgewater | Reviewed October 25, 2026</a:t>
              </a:r>
            </a:p>
          </p:txBody>
        </p:sp>
        <p:sp>
          <p:nvSpPr>
            <p:cNvPr id="13" name="TextBox 13"/>
            <p:cNvSpPr txBox="1"/>
            <p:nvPr/>
          </p:nvSpPr>
          <p:spPr>
            <a:xfrm>
              <a:off x="11359512" y="6477000"/>
              <a:ext cx="380050" cy="176212"/>
            </a:xfrm>
            <a:prstGeom prst="rect">
              <a:avLst/>
            </a:prstGeom>
            <a:noFill/>
            <a:ln>
              <a:noFill/>
            </a:ln>
          </p:spPr>
          <p:txBody>
            <a:bodyPr wrap="none" lIns="0" tIns="0" rIns="0" bIns="0" anchor="t" anchorCtr="0">
              <a:spAutoFit/>
            </a:bodyPr>
            <a:lstStyle/>
            <a:p>
              <a:pPr algn="r"/>
              <a:r>
                <a:rPr lang="en-US" sz="900" dirty="0">
                  <a:solidFill>
                    <a:schemeClr val="accent5"/>
                  </a:solidFill>
                  <a:latin typeface="+mn-lt"/>
                  <a:ea typeface="+mn-ea"/>
                  <a:cs typeface="+mn-cs"/>
                </a:rPr>
                <a:t>09 / 37</a:t>
              </a:r>
            </a:p>
          </p:txBody>
        </p:sp>
      </p:grpSp>
    </p:spTree>
  </p:cSld>
  <p:clrMapOvr>
    <a:masterClrMapping/>
  </p:clrMapOvr>
  <p:transition xmlns:p14="http://schemas.microsoft.com/office/powerpoint/2010/main" p14:dur="400">
    <p:fade/>
  </p:transition>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5" name="title"/>
          <p:cNvGrpSpPr/>
          <p:nvPr/>
        </p:nvGrpSpPr>
        <p:grpSpPr>
          <a:xfrm>
            <a:off x="443484" y="361950"/>
            <a:ext cx="8189892" cy="1100582"/>
            <a:chOff x="443484" y="361950"/>
            <a:chExt cx="8189892" cy="1100582"/>
          </a:xfrm>
        </p:grpSpPr>
        <p:sp>
          <p:nvSpPr>
            <p:cNvPr id="2" name="TextBox 2"/>
            <p:cNvSpPr txBox="1"/>
            <p:nvPr/>
          </p:nvSpPr>
          <p:spPr>
            <a:xfrm>
              <a:off x="451104" y="361950"/>
              <a:ext cx="2260085" cy="234696"/>
            </a:xfrm>
            <a:prstGeom prst="rect">
              <a:avLst/>
            </a:prstGeom>
            <a:noFill/>
            <a:ln>
              <a:noFill/>
            </a:ln>
          </p:spPr>
          <p:txBody>
            <a:bodyPr wrap="none" lIns="0" tIns="0" rIns="0" bIns="0" anchor="t" anchorCtr="0">
              <a:spAutoFit/>
            </a:bodyPr>
            <a:lstStyle/>
            <a:p>
              <a:pPr algn="l"/>
              <a:r>
                <a:rPr lang="en-US" sz="1200" dirty="0">
                  <a:solidFill>
                    <a:schemeClr val="accent2"/>
                  </a:solidFill>
                  <a:latin typeface="+mn-lt"/>
                  <a:ea typeface="+mn-ea"/>
                  <a:cs typeface="+mn-cs"/>
                </a:rPr>
                <a:t>02 / GROUNDED EVIDENCE</a:t>
              </a:r>
            </a:p>
          </p:txBody>
        </p:sp>
        <p:sp>
          <p:nvSpPr>
            <p:cNvPr id="3" name="TextBox 3"/>
            <p:cNvSpPr txBox="1"/>
            <p:nvPr/>
          </p:nvSpPr>
          <p:spPr>
            <a:xfrm>
              <a:off x="443484" y="593725"/>
              <a:ext cx="7813132" cy="528066"/>
            </a:xfrm>
            <a:prstGeom prst="rect">
              <a:avLst/>
            </a:prstGeom>
            <a:noFill/>
            <a:ln>
              <a:noFill/>
            </a:ln>
          </p:spPr>
          <p:txBody>
            <a:bodyPr wrap="none" lIns="0" tIns="0" rIns="0" bIns="0" anchor="t" anchorCtr="0">
              <a:spAutoFit/>
            </a:bodyPr>
            <a:lstStyle/>
            <a:p>
              <a:pPr algn="l"/>
              <a:r>
                <a:rPr lang="en-US" sz="2700" dirty="0">
                  <a:solidFill>
                    <a:schemeClr val="accent1"/>
                  </a:solidFill>
                  <a:latin typeface="+mj-lt"/>
                  <a:ea typeface="+mj-ea"/>
                  <a:cs typeface="+mj-cs"/>
                </a:rPr>
                <a:t>Resolve the fact; compute; verify the final claim</a:t>
              </a:r>
            </a:p>
          </p:txBody>
        </p:sp>
        <p:sp>
          <p:nvSpPr>
            <p:cNvPr id="4" name="TextBox 4"/>
            <p:cNvSpPr txBox="1"/>
            <p:nvPr/>
          </p:nvSpPr>
          <p:spPr>
            <a:xfrm>
              <a:off x="448818" y="1139825"/>
              <a:ext cx="8184558" cy="322707"/>
            </a:xfrm>
            <a:prstGeom prst="rect">
              <a:avLst/>
            </a:prstGeom>
            <a:noFill/>
            <a:ln>
              <a:noFill/>
            </a:ln>
          </p:spPr>
          <p:txBody>
            <a:bodyPr wrap="none" lIns="0" tIns="0" rIns="0" bIns="0" anchor="t" anchorCtr="0">
              <a:spAutoFit/>
            </a:bodyPr>
            <a:lstStyle/>
            <a:p>
              <a:pPr algn="l"/>
              <a:r>
                <a:rPr lang="en-US" sz="1650" dirty="0">
                  <a:solidFill>
                    <a:schemeClr val="accent5"/>
                  </a:solidFill>
                  <a:latin typeface="+mn-lt"/>
                  <a:ea typeface="+mn-ea"/>
                  <a:cs typeface="+mn-cs"/>
                </a:rPr>
                <a:t>Wrong source, fact and arithmetic need different checks; verify final generation too.</a:t>
              </a:r>
            </a:p>
          </p:txBody>
        </p:sp>
      </p:grpSp>
      <p:grpSp>
        <p:nvGrpSpPr>
          <p:cNvPr id="14" name="method-sequence"/>
          <p:cNvGrpSpPr/>
          <p:nvPr/>
        </p:nvGrpSpPr>
        <p:grpSpPr>
          <a:xfrm>
            <a:off x="457200" y="1714500"/>
            <a:ext cx="11277600" cy="533400"/>
            <a:chOff x="457200" y="1714500"/>
            <a:chExt cx="11277600" cy="533400"/>
          </a:xfrm>
        </p:grpSpPr>
        <p:sp>
          <p:nvSpPr>
            <p:cNvPr id="6" name="Rectangle 6"/>
            <p:cNvSpPr/>
            <p:nvPr/>
          </p:nvSpPr>
          <p:spPr>
            <a:xfrm>
              <a:off x="457200" y="1714500"/>
              <a:ext cx="2719388" cy="533400"/>
            </a:xfrm>
            <a:prstGeom prst="rect">
              <a:avLst/>
            </a:prstGeom>
            <a:solidFill>
              <a:schemeClr val="lt2"/>
            </a:solidFill>
            <a:ln>
              <a:noFill/>
            </a:ln>
          </p:spPr>
        </p:sp>
        <p:sp>
          <p:nvSpPr>
            <p:cNvPr id="7" name="TextBox 7"/>
            <p:cNvSpPr txBox="1"/>
            <p:nvPr/>
          </p:nvSpPr>
          <p:spPr>
            <a:xfrm>
              <a:off x="583692" y="1882775"/>
              <a:ext cx="1311674" cy="264033"/>
            </a:xfrm>
            <a:prstGeom prst="rect">
              <a:avLst/>
            </a:prstGeom>
            <a:noFill/>
            <a:ln>
              <a:noFill/>
            </a:ln>
          </p:spPr>
          <p:txBody>
            <a:bodyPr wrap="none" lIns="0" tIns="0" rIns="0" bIns="0" anchor="t" anchorCtr="0">
              <a:spAutoFit/>
            </a:bodyPr>
            <a:lstStyle/>
            <a:p>
              <a:pPr algn="l"/>
              <a:r>
                <a:rPr lang="en-US" sz="1350" b="1" dirty="0">
                  <a:solidFill>
                    <a:schemeClr val="accent2"/>
                  </a:solidFill>
                  <a:latin typeface="+mn-lt"/>
                  <a:ea typeface="+mn-ea"/>
                  <a:cs typeface="+mn-cs"/>
                </a:rPr>
                <a:t>Eligible source</a:t>
              </a:r>
            </a:p>
          </p:txBody>
        </p:sp>
        <p:sp>
          <p:nvSpPr>
            <p:cNvPr id="8" name="Rectangle 8"/>
            <p:cNvSpPr/>
            <p:nvPr/>
          </p:nvSpPr>
          <p:spPr>
            <a:xfrm>
              <a:off x="3309938" y="1714500"/>
              <a:ext cx="2719388" cy="533400"/>
            </a:xfrm>
            <a:prstGeom prst="rect">
              <a:avLst/>
            </a:prstGeom>
            <a:solidFill>
              <a:schemeClr val="lt2"/>
            </a:solidFill>
            <a:ln>
              <a:noFill/>
            </a:ln>
          </p:spPr>
        </p:sp>
        <p:sp>
          <p:nvSpPr>
            <p:cNvPr id="9" name="TextBox 9"/>
            <p:cNvSpPr txBox="1"/>
            <p:nvPr/>
          </p:nvSpPr>
          <p:spPr>
            <a:xfrm>
              <a:off x="3436429" y="1882775"/>
              <a:ext cx="877787" cy="264033"/>
            </a:xfrm>
            <a:prstGeom prst="rect">
              <a:avLst/>
            </a:prstGeom>
            <a:noFill/>
            <a:ln>
              <a:noFill/>
            </a:ln>
          </p:spPr>
          <p:txBody>
            <a:bodyPr wrap="none" lIns="0" tIns="0" rIns="0" bIns="0" anchor="t" anchorCtr="0">
              <a:spAutoFit/>
            </a:bodyPr>
            <a:lstStyle/>
            <a:p>
              <a:pPr algn="l"/>
              <a:r>
                <a:rPr lang="en-US" sz="1350" b="1" dirty="0">
                  <a:solidFill>
                    <a:schemeClr val="accent2"/>
                  </a:solidFill>
                  <a:latin typeface="+mn-lt"/>
                  <a:ea typeface="+mn-ea"/>
                  <a:cs typeface="+mn-cs"/>
                </a:rPr>
                <a:t>Exact fact</a:t>
              </a:r>
            </a:p>
          </p:txBody>
        </p:sp>
        <p:sp>
          <p:nvSpPr>
            <p:cNvPr id="10" name="Rectangle 10"/>
            <p:cNvSpPr/>
            <p:nvPr/>
          </p:nvSpPr>
          <p:spPr>
            <a:xfrm>
              <a:off x="6162675" y="1714500"/>
              <a:ext cx="2719388" cy="533400"/>
            </a:xfrm>
            <a:prstGeom prst="rect">
              <a:avLst/>
            </a:prstGeom>
            <a:solidFill>
              <a:schemeClr val="lt2"/>
            </a:solidFill>
            <a:ln>
              <a:noFill/>
            </a:ln>
          </p:spPr>
        </p:sp>
        <p:sp>
          <p:nvSpPr>
            <p:cNvPr id="11" name="TextBox 11"/>
            <p:cNvSpPr txBox="1"/>
            <p:nvPr/>
          </p:nvSpPr>
          <p:spPr>
            <a:xfrm>
              <a:off x="6289167" y="1882775"/>
              <a:ext cx="1473354" cy="264033"/>
            </a:xfrm>
            <a:prstGeom prst="rect">
              <a:avLst/>
            </a:prstGeom>
            <a:noFill/>
            <a:ln>
              <a:noFill/>
            </a:ln>
          </p:spPr>
          <p:txBody>
            <a:bodyPr wrap="none" lIns="0" tIns="0" rIns="0" bIns="0" anchor="t" anchorCtr="0">
              <a:spAutoFit/>
            </a:bodyPr>
            <a:lstStyle/>
            <a:p>
              <a:pPr algn="l"/>
              <a:r>
                <a:rPr lang="en-US" sz="1350" b="1" dirty="0">
                  <a:solidFill>
                    <a:schemeClr val="accent2"/>
                  </a:solidFill>
                  <a:latin typeface="+mn-lt"/>
                  <a:ea typeface="+mn-ea"/>
                  <a:cs typeface="+mn-cs"/>
                </a:rPr>
                <a:t>Code calculation</a:t>
              </a:r>
            </a:p>
          </p:txBody>
        </p:sp>
        <p:sp>
          <p:nvSpPr>
            <p:cNvPr id="12" name="Rectangle 12"/>
            <p:cNvSpPr/>
            <p:nvPr/>
          </p:nvSpPr>
          <p:spPr>
            <a:xfrm>
              <a:off x="9015412" y="1714500"/>
              <a:ext cx="2719388" cy="533400"/>
            </a:xfrm>
            <a:prstGeom prst="rect">
              <a:avLst/>
            </a:prstGeom>
            <a:solidFill>
              <a:schemeClr val="lt2"/>
            </a:solidFill>
            <a:ln>
              <a:noFill/>
            </a:ln>
          </p:spPr>
        </p:sp>
        <p:sp>
          <p:nvSpPr>
            <p:cNvPr id="13" name="TextBox 13"/>
            <p:cNvSpPr txBox="1"/>
            <p:nvPr/>
          </p:nvSpPr>
          <p:spPr>
            <a:xfrm>
              <a:off x="9141904" y="1882775"/>
              <a:ext cx="1524505" cy="264033"/>
            </a:xfrm>
            <a:prstGeom prst="rect">
              <a:avLst/>
            </a:prstGeom>
            <a:noFill/>
            <a:ln>
              <a:noFill/>
            </a:ln>
          </p:spPr>
          <p:txBody>
            <a:bodyPr wrap="none" lIns="0" tIns="0" rIns="0" bIns="0" anchor="t" anchorCtr="0">
              <a:spAutoFit/>
            </a:bodyPr>
            <a:lstStyle/>
            <a:p>
              <a:pPr algn="l"/>
              <a:r>
                <a:rPr lang="en-US" sz="1350" b="1" dirty="0">
                  <a:solidFill>
                    <a:schemeClr val="accent2"/>
                  </a:solidFill>
                  <a:latin typeface="+mn-lt"/>
                  <a:ea typeface="+mn-ea"/>
                  <a:cs typeface="+mn-cs"/>
                </a:rPr>
                <a:t>Final claim check</a:t>
              </a:r>
            </a:p>
          </p:txBody>
        </p:sp>
      </p:grpSp>
      <p:grpSp>
        <p:nvGrpSpPr>
          <p:cNvPr id="17" name="analysis-1"/>
          <p:cNvGrpSpPr/>
          <p:nvPr/>
        </p:nvGrpSpPr>
        <p:grpSpPr>
          <a:xfrm>
            <a:off x="448056" y="2438400"/>
            <a:ext cx="3098673" cy="2969895"/>
            <a:chOff x="448056" y="2438400"/>
            <a:chExt cx="3098673" cy="2969895"/>
          </a:xfrm>
        </p:grpSpPr>
        <p:sp>
          <p:nvSpPr>
            <p:cNvPr id="15" name="TextBox 15"/>
            <p:cNvSpPr txBox="1"/>
            <p:nvPr/>
          </p:nvSpPr>
          <p:spPr>
            <a:xfrm>
              <a:off x="448056" y="2438400"/>
              <a:ext cx="2299850" cy="352044"/>
            </a:xfrm>
            <a:prstGeom prst="rect">
              <a:avLst/>
            </a:prstGeom>
            <a:noFill/>
            <a:ln>
              <a:noFill/>
            </a:ln>
          </p:spPr>
          <p:txBody>
            <a:bodyPr wrap="none" lIns="0" tIns="0" rIns="0" bIns="0" anchor="t" anchorCtr="0">
              <a:spAutoFit/>
            </a:bodyPr>
            <a:lstStyle/>
            <a:p>
              <a:pPr algn="l"/>
              <a:r>
                <a:rPr lang="en-US" sz="1800" dirty="0">
                  <a:solidFill>
                    <a:schemeClr val="accent2"/>
                  </a:solidFill>
                  <a:latin typeface="+mj-lt"/>
                  <a:ea typeface="+mj-ea"/>
                  <a:cs typeface="+mj-cs"/>
                </a:rPr>
                <a:t>Use a structured fact</a:t>
              </a:r>
            </a:p>
          </p:txBody>
        </p:sp>
        <p:sp>
          <p:nvSpPr>
            <p:cNvPr id="16" name="TextBox 16"/>
            <p:cNvSpPr txBox="1"/>
            <p:nvPr/>
          </p:nvSpPr>
          <p:spPr>
            <a:xfrm>
              <a:off x="449580" y="3057525"/>
              <a:ext cx="3097149" cy="2350770"/>
            </a:xfrm>
            <a:prstGeom prst="rect">
              <a:avLst/>
            </a:prstGeom>
            <a:noFill/>
            <a:ln>
              <a:noFill/>
            </a:ln>
          </p:spPr>
          <p:txBody>
            <a:bodyPr wrap="none" lIns="0" tIns="0" rIns="0" bIns="0" anchor="t" anchorCtr="0">
              <a:spAutoFit/>
            </a:bodyPr>
            <a:lstStyle/>
            <a:p>
              <a:pPr algn="l">
                <a:lnSpc>
                  <a:spcPts val="2025"/>
                </a:lnSpc>
              </a:pPr>
              <a:r>
                <a:rPr lang="en-US" sz="1500" dirty="0">
                  <a:solidFill>
                    <a:schemeClr val="dk1"/>
                  </a:solidFill>
                  <a:latin typeface="+mn-lt"/>
                  <a:ea typeface="+mn-ea"/>
                  <a:cs typeface="+mn-cs"/>
                </a:rPr>
                <a:t>The standalone breakout description</a:t>
              </a:r>
              <a:br>
                <a:rPr lang="en-US" sz="1500" dirty="0">
                  <a:solidFill>
                    <a:schemeClr val="dk1"/>
                  </a:solidFill>
                  <a:latin typeface="+mn-lt"/>
                  <a:ea typeface="+mn-ea"/>
                  <a:cs typeface="+mn-cs"/>
                </a:rPr>
              </a:br>
              <a:r>
                <a:rPr lang="en-US" sz="1500" dirty="0">
                  <a:solidFill>
                    <a:schemeClr val="dk1"/>
                  </a:solidFill>
                  <a:latin typeface="+mn-lt"/>
                  <a:ea typeface="+mn-ea"/>
                  <a:cs typeface="+mn-cs"/>
                </a:rPr>
                <a:t>names value, unit, scale and</a:t>
              </a:r>
              <a:br>
                <a:rPr lang="en-US" sz="1500" dirty="0">
                  <a:solidFill>
                    <a:schemeClr val="dk1"/>
                  </a:solidFill>
                  <a:latin typeface="+mn-lt"/>
                  <a:ea typeface="+mn-ea"/>
                  <a:cs typeface="+mn-cs"/>
                </a:rPr>
              </a:br>
              <a:r>
                <a:rPr lang="en-US" sz="1500" dirty="0">
                  <a:solidFill>
                    <a:schemeClr val="dk1"/>
                  </a:solidFill>
                  <a:latin typeface="+mn-lt"/>
                  <a:ea typeface="+mn-ea"/>
                  <a:cs typeface="+mn-cs"/>
                </a:rPr>
                <a:t>period. The next-day transcript</a:t>
              </a:r>
              <a:br>
                <a:rPr lang="en-US" sz="1500" dirty="0">
                  <a:solidFill>
                    <a:schemeClr val="dk1"/>
                  </a:solidFill>
                  <a:latin typeface="+mn-lt"/>
                  <a:ea typeface="+mn-ea"/>
                  <a:cs typeface="+mn-cs"/>
                </a:rPr>
              </a:br>
              <a:r>
                <a:rPr lang="en-US" sz="1500" dirty="0">
                  <a:solidFill>
                    <a:schemeClr val="dk1"/>
                  </a:solidFill>
                  <a:latin typeface="+mn-lt"/>
                  <a:ea typeface="+mn-ea"/>
                  <a:cs typeface="+mn-cs"/>
                </a:rPr>
                <a:t>describes fact identifiers resolved</a:t>
              </a:r>
              <a:br>
                <a:rPr lang="en-US" sz="1500" dirty="0">
                  <a:solidFill>
                    <a:schemeClr val="dk1"/>
                  </a:solidFill>
                  <a:latin typeface="+mn-lt"/>
                  <a:ea typeface="+mn-ea"/>
                  <a:cs typeface="+mn-cs"/>
                </a:rPr>
              </a:br>
              <a:r>
                <a:rPr lang="en-US" sz="1500" dirty="0">
                  <a:solidFill>
                    <a:schemeClr val="dk1"/>
                  </a:solidFill>
                  <a:latin typeface="+mn-lt"/>
                  <a:ea typeface="+mn-ea"/>
                  <a:cs typeface="+mn-cs"/>
                </a:rPr>
                <a:t>by software while a model plans.</a:t>
              </a:r>
              <a:br>
                <a:rPr lang="en-US" sz="1500" dirty="0">
                  <a:solidFill>
                    <a:schemeClr val="dk1"/>
                  </a:solidFill>
                  <a:latin typeface="+mn-lt"/>
                  <a:ea typeface="+mn-ea"/>
                  <a:cs typeface="+mn-cs"/>
                </a:rPr>
              </a:br>
              <a:r>
                <a:rPr lang="en-US" sz="1500" dirty="0">
                  <a:solidFill>
                    <a:schemeClr val="dk1"/>
                  </a:solidFill>
                  <a:latin typeface="+mn-lt"/>
                  <a:ea typeface="+mn-ea"/>
                  <a:cs typeface="+mn-cs"/>
                </a:rPr>
                <a:t>Preserve the source anchor and</a:t>
              </a:r>
              <a:br>
                <a:rPr lang="en-US" sz="1500" dirty="0">
                  <a:solidFill>
                    <a:schemeClr val="dk1"/>
                  </a:solidFill>
                  <a:latin typeface="+mn-lt"/>
                  <a:ea typeface="+mn-ea"/>
                  <a:cs typeface="+mn-cs"/>
                </a:rPr>
              </a:br>
              <a:r>
                <a:rPr lang="en-US" sz="1500" dirty="0">
                  <a:solidFill>
                    <a:schemeClr val="dk1"/>
                  </a:solidFill>
                  <a:latin typeface="+mn-lt"/>
                  <a:ea typeface="+mn-ea"/>
                  <a:cs typeface="+mn-cs"/>
                </a:rPr>
                <a:t>calculation inputs; a valid</a:t>
              </a:r>
              <a:br>
                <a:rPr lang="en-US" sz="1500" dirty="0">
                  <a:solidFill>
                    <a:schemeClr val="dk1"/>
                  </a:solidFill>
                  <a:latin typeface="+mn-lt"/>
                  <a:ea typeface="+mn-ea"/>
                  <a:cs typeface="+mn-cs"/>
                </a:rPr>
              </a:br>
              <a:r>
                <a:rPr lang="en-US" sz="1500" dirty="0">
                  <a:solidFill>
                    <a:schemeClr val="dk1"/>
                  </a:solidFill>
                  <a:latin typeface="+mn-lt"/>
                  <a:ea typeface="+mn-ea"/>
                  <a:cs typeface="+mn-cs"/>
                </a:rPr>
                <a:t>identifier still needs the correct</a:t>
              </a:r>
              <a:br>
                <a:rPr lang="en-US" sz="1500" dirty="0">
                  <a:solidFill>
                    <a:schemeClr val="dk1"/>
                  </a:solidFill>
                  <a:latin typeface="+mn-lt"/>
                  <a:ea typeface="+mn-ea"/>
                  <a:cs typeface="+mn-cs"/>
                </a:rPr>
              </a:br>
              <a:r>
                <a:rPr lang="en-US" sz="1500" dirty="0">
                  <a:solidFill>
                    <a:schemeClr val="dk1"/>
                  </a:solidFill>
                  <a:latin typeface="+mn-lt"/>
                  <a:ea typeface="+mn-ea"/>
                  <a:cs typeface="+mn-cs"/>
                </a:rPr>
                <a:t>entity, definition and version.</a:t>
              </a:r>
            </a:p>
          </p:txBody>
        </p:sp>
      </p:grpSp>
      <p:grpSp>
        <p:nvGrpSpPr>
          <p:cNvPr id="20" name="analysis-2"/>
          <p:cNvGrpSpPr/>
          <p:nvPr/>
        </p:nvGrpSpPr>
        <p:grpSpPr>
          <a:xfrm>
            <a:off x="4296156" y="2438400"/>
            <a:ext cx="2928785" cy="2969895"/>
            <a:chOff x="4296156" y="2438400"/>
            <a:chExt cx="2928785" cy="2969895"/>
          </a:xfrm>
        </p:grpSpPr>
        <p:sp>
          <p:nvSpPr>
            <p:cNvPr id="18" name="TextBox 18"/>
            <p:cNvSpPr txBox="1"/>
            <p:nvPr/>
          </p:nvSpPr>
          <p:spPr>
            <a:xfrm>
              <a:off x="4296156" y="2438400"/>
              <a:ext cx="2909908" cy="352044"/>
            </a:xfrm>
            <a:prstGeom prst="rect">
              <a:avLst/>
            </a:prstGeom>
            <a:noFill/>
            <a:ln>
              <a:noFill/>
            </a:ln>
          </p:spPr>
          <p:txBody>
            <a:bodyPr wrap="none" lIns="0" tIns="0" rIns="0" bIns="0" anchor="t" anchorCtr="0">
              <a:spAutoFit/>
            </a:bodyPr>
            <a:lstStyle/>
            <a:p>
              <a:pPr algn="l"/>
              <a:r>
                <a:rPr lang="en-US" sz="1800" dirty="0">
                  <a:solidFill>
                    <a:schemeClr val="accent2"/>
                  </a:solidFill>
                  <a:latin typeface="+mj-lt"/>
                  <a:ea typeface="+mj-ea"/>
                  <a:cs typeface="+mj-cs"/>
                </a:rPr>
                <a:t>Keep access on every path</a:t>
              </a:r>
            </a:p>
          </p:txBody>
        </p:sp>
        <p:sp>
          <p:nvSpPr>
            <p:cNvPr id="19" name="TextBox 19"/>
            <p:cNvSpPr txBox="1"/>
            <p:nvPr/>
          </p:nvSpPr>
          <p:spPr>
            <a:xfrm>
              <a:off x="4297680" y="3057525"/>
              <a:ext cx="2927261" cy="2350770"/>
            </a:xfrm>
            <a:prstGeom prst="rect">
              <a:avLst/>
            </a:prstGeom>
            <a:noFill/>
            <a:ln>
              <a:noFill/>
            </a:ln>
          </p:spPr>
          <p:txBody>
            <a:bodyPr wrap="none" lIns="0" tIns="0" rIns="0" bIns="0" anchor="t" anchorCtr="0">
              <a:spAutoFit/>
            </a:bodyPr>
            <a:lstStyle/>
            <a:p>
              <a:pPr algn="l">
                <a:lnSpc>
                  <a:spcPts val="2025"/>
                </a:lnSpc>
              </a:pPr>
              <a:r>
                <a:rPr lang="en-US" sz="1500" dirty="0">
                  <a:solidFill>
                    <a:schemeClr val="dk1"/>
                  </a:solidFill>
                  <a:latin typeface="+mn-lt"/>
                  <a:ea typeface="+mn-ea"/>
                  <a:cs typeface="+mn-cs"/>
                </a:rPr>
                <a:t>Exact lookup does not bypass</a:t>
              </a:r>
              <a:br>
                <a:rPr lang="en-US" sz="1500" dirty="0">
                  <a:solidFill>
                    <a:schemeClr val="dk1"/>
                  </a:solidFill>
                  <a:latin typeface="+mn-lt"/>
                  <a:ea typeface="+mn-ea"/>
                  <a:cs typeface="+mn-cs"/>
                </a:rPr>
              </a:br>
              <a:r>
                <a:rPr lang="en-US" sz="1500" dirty="0">
                  <a:solidFill>
                    <a:schemeClr val="dk1"/>
                  </a:solidFill>
                  <a:latin typeface="+mn-lt"/>
                  <a:ea typeface="+mn-ea"/>
                  <a:cs typeface="+mn-cs"/>
                </a:rPr>
                <a:t>authorization. Search, direct</a:t>
              </a:r>
              <a:br>
                <a:rPr lang="en-US" sz="1500" dirty="0">
                  <a:solidFill>
                    <a:schemeClr val="dk1"/>
                  </a:solidFill>
                  <a:latin typeface="+mn-lt"/>
                  <a:ea typeface="+mn-ea"/>
                  <a:cs typeface="+mn-cs"/>
                </a:rPr>
              </a:br>
              <a:r>
                <a:rPr lang="en-US" sz="1500" dirty="0">
                  <a:solidFill>
                    <a:schemeClr val="dk1"/>
                  </a:solidFill>
                  <a:latin typeface="+mn-lt"/>
                  <a:ea typeface="+mn-ea"/>
                  <a:cs typeface="+mn-cs"/>
                </a:rPr>
                <a:t>reads, calculation inputs and</a:t>
              </a:r>
              <a:br>
                <a:rPr lang="en-US" sz="1500" dirty="0">
                  <a:solidFill>
                    <a:schemeClr val="dk1"/>
                  </a:solidFill>
                  <a:latin typeface="+mn-lt"/>
                  <a:ea typeface="+mn-ea"/>
                  <a:cs typeface="+mn-cs"/>
                </a:rPr>
              </a:br>
              <a:r>
                <a:rPr lang="en-US" sz="1500" dirty="0">
                  <a:solidFill>
                    <a:schemeClr val="dk1"/>
                  </a:solidFill>
                  <a:latin typeface="+mn-lt"/>
                  <a:ea typeface="+mn-ea"/>
                  <a:cs typeface="+mn-cs"/>
                </a:rPr>
                <a:t>output references must remain</a:t>
              </a:r>
              <a:br>
                <a:rPr lang="en-US" sz="1500" dirty="0">
                  <a:solidFill>
                    <a:schemeClr val="dk1"/>
                  </a:solidFill>
                  <a:latin typeface="+mn-lt"/>
                  <a:ea typeface="+mn-ea"/>
                  <a:cs typeface="+mn-cs"/>
                </a:rPr>
              </a:br>
              <a:r>
                <a:rPr lang="en-US" sz="1500" dirty="0">
                  <a:solidFill>
                    <a:schemeClr val="dk1"/>
                  </a:solidFill>
                  <a:latin typeface="+mn-lt"/>
                  <a:ea typeface="+mn-ea"/>
                  <a:cs typeface="+mn-cs"/>
                </a:rPr>
                <a:t>within the user and tenant scope.</a:t>
              </a:r>
              <a:br>
                <a:rPr lang="en-US" sz="1500" dirty="0">
                  <a:solidFill>
                    <a:schemeClr val="dk1"/>
                  </a:solidFill>
                  <a:latin typeface="+mn-lt"/>
                  <a:ea typeface="+mn-ea"/>
                  <a:cs typeface="+mn-cs"/>
                </a:rPr>
              </a:br>
              <a:r>
                <a:rPr lang="en-US" sz="1500" dirty="0">
                  <a:solidFill>
                    <a:schemeClr val="dk1"/>
                  </a:solidFill>
                  <a:latin typeface="+mn-lt"/>
                  <a:ea typeface="+mn-ea"/>
                  <a:cs typeface="+mn-cs"/>
                </a:rPr>
                <a:t>Test revoked access and empty</a:t>
              </a:r>
              <a:br>
                <a:rPr lang="en-US" sz="1500" dirty="0">
                  <a:solidFill>
                    <a:schemeClr val="dk1"/>
                  </a:solidFill>
                  <a:latin typeface="+mn-lt"/>
                  <a:ea typeface="+mn-ea"/>
                  <a:cs typeface="+mn-cs"/>
                </a:rPr>
              </a:br>
              <a:r>
                <a:rPr lang="en-US" sz="1500" dirty="0">
                  <a:solidFill>
                    <a:schemeClr val="dk1"/>
                  </a:solidFill>
                  <a:latin typeface="+mn-lt"/>
                  <a:ea typeface="+mn-ea"/>
                  <a:cs typeface="+mn-cs"/>
                </a:rPr>
                <a:t>evidence as well as the successful</a:t>
              </a:r>
              <a:br>
                <a:rPr lang="en-US" sz="1500" dirty="0">
                  <a:solidFill>
                    <a:schemeClr val="dk1"/>
                  </a:solidFill>
                  <a:latin typeface="+mn-lt"/>
                  <a:ea typeface="+mn-ea"/>
                  <a:cs typeface="+mn-cs"/>
                </a:rPr>
              </a:br>
              <a:r>
                <a:rPr lang="en-US" sz="1500" dirty="0">
                  <a:solidFill>
                    <a:schemeClr val="dk1"/>
                  </a:solidFill>
                  <a:latin typeface="+mn-lt"/>
                  <a:ea typeface="+mn-ea"/>
                  <a:cs typeface="+mn-cs"/>
                </a:rPr>
                <a:t>path; a citation chip does not</a:t>
              </a:r>
              <a:br>
                <a:rPr lang="en-US" sz="1500" dirty="0">
                  <a:solidFill>
                    <a:schemeClr val="dk1"/>
                  </a:solidFill>
                  <a:latin typeface="+mn-lt"/>
                  <a:ea typeface="+mn-ea"/>
                  <a:cs typeface="+mn-cs"/>
                </a:rPr>
              </a:br>
              <a:r>
                <a:rPr lang="en-US" sz="1500" dirty="0">
                  <a:solidFill>
                    <a:schemeClr val="dk1"/>
                  </a:solidFill>
                  <a:latin typeface="+mn-lt"/>
                  <a:ea typeface="+mn-ea"/>
                  <a:cs typeface="+mn-cs"/>
                </a:rPr>
                <a:t>enforce permission.</a:t>
              </a:r>
            </a:p>
          </p:txBody>
        </p:sp>
      </p:grpSp>
      <p:grpSp>
        <p:nvGrpSpPr>
          <p:cNvPr id="23" name="analysis-3"/>
          <p:cNvGrpSpPr/>
          <p:nvPr/>
        </p:nvGrpSpPr>
        <p:grpSpPr>
          <a:xfrm>
            <a:off x="8144256" y="2438400"/>
            <a:ext cx="3223835" cy="3484245"/>
            <a:chOff x="8144256" y="2438400"/>
            <a:chExt cx="3223835" cy="3484245"/>
          </a:xfrm>
        </p:grpSpPr>
        <p:sp>
          <p:nvSpPr>
            <p:cNvPr id="21" name="TextBox 21"/>
            <p:cNvSpPr txBox="1"/>
            <p:nvPr/>
          </p:nvSpPr>
          <p:spPr>
            <a:xfrm>
              <a:off x="8144256" y="2438400"/>
              <a:ext cx="3223835" cy="352044"/>
            </a:xfrm>
            <a:prstGeom prst="rect">
              <a:avLst/>
            </a:prstGeom>
            <a:noFill/>
            <a:ln>
              <a:noFill/>
            </a:ln>
          </p:spPr>
          <p:txBody>
            <a:bodyPr wrap="none" lIns="0" tIns="0" rIns="0" bIns="0" anchor="t" anchorCtr="0">
              <a:spAutoFit/>
            </a:bodyPr>
            <a:lstStyle/>
            <a:p>
              <a:pPr algn="l"/>
              <a:r>
                <a:rPr lang="en-US" sz="1800" dirty="0">
                  <a:solidFill>
                    <a:schemeClr val="accent2"/>
                  </a:solidFill>
                  <a:latin typeface="+mj-lt"/>
                  <a:ea typeface="+mj-ea"/>
                  <a:cs typeface="+mj-cs"/>
                </a:rPr>
                <a:t>Verify what the user receives</a:t>
              </a:r>
            </a:p>
          </p:txBody>
        </p:sp>
        <p:sp>
          <p:nvSpPr>
            <p:cNvPr id="22" name="TextBox 22"/>
            <p:cNvSpPr txBox="1"/>
            <p:nvPr/>
          </p:nvSpPr>
          <p:spPr>
            <a:xfrm>
              <a:off x="8145780" y="3057525"/>
              <a:ext cx="3065221" cy="2865120"/>
            </a:xfrm>
            <a:prstGeom prst="rect">
              <a:avLst/>
            </a:prstGeom>
            <a:noFill/>
            <a:ln>
              <a:noFill/>
            </a:ln>
          </p:spPr>
          <p:txBody>
            <a:bodyPr wrap="none" lIns="0" tIns="0" rIns="0" bIns="0" anchor="t" anchorCtr="0">
              <a:spAutoFit/>
            </a:bodyPr>
            <a:lstStyle/>
            <a:p>
              <a:pPr algn="l">
                <a:lnSpc>
                  <a:spcPts val="2025"/>
                </a:lnSpc>
              </a:pPr>
              <a:r>
                <a:rPr lang="en-US" sz="1500" dirty="0">
                  <a:solidFill>
                    <a:schemeClr val="dk1"/>
                  </a:solidFill>
                  <a:latin typeface="+mn-lt"/>
                  <a:ea typeface="+mn-ea"/>
                  <a:cs typeface="+mn-cs"/>
                </a:rPr>
                <a:t>The main-stage transcript</a:t>
              </a:r>
              <a:br>
                <a:rPr lang="en-US" sz="1500" dirty="0">
                  <a:solidFill>
                    <a:schemeClr val="dk1"/>
                  </a:solidFill>
                  <a:latin typeface="+mn-lt"/>
                  <a:ea typeface="+mn-ea"/>
                  <a:cs typeface="+mn-cs"/>
                </a:rPr>
              </a:br>
              <a:r>
                <a:rPr lang="en-US" sz="1500" dirty="0">
                  <a:solidFill>
                    <a:schemeClr val="dk1"/>
                  </a:solidFill>
                  <a:latin typeface="+mn-lt"/>
                  <a:ea typeface="+mn-ea"/>
                  <a:cs typeface="+mn-cs"/>
                </a:rPr>
                <a:t>explicitly retains post-processing</a:t>
              </a:r>
              <a:br>
                <a:rPr lang="en-US" sz="1500" dirty="0">
                  <a:solidFill>
                    <a:schemeClr val="dk1"/>
                  </a:solidFill>
                  <a:latin typeface="+mn-lt"/>
                  <a:ea typeface="+mn-ea"/>
                  <a:cs typeface="+mn-cs"/>
                </a:rPr>
              </a:br>
              <a:r>
                <a:rPr lang="en-US" sz="1500" dirty="0">
                  <a:solidFill>
                    <a:schemeClr val="dk1"/>
                  </a:solidFill>
                  <a:latin typeface="+mn-lt"/>
                  <a:ea typeface="+mn-ea"/>
                  <a:cs typeface="+mn-cs"/>
                </a:rPr>
                <a:t>because generation can invent</a:t>
              </a:r>
              <a:br>
                <a:rPr lang="en-US" sz="1500" dirty="0">
                  <a:solidFill>
                    <a:schemeClr val="dk1"/>
                  </a:solidFill>
                  <a:latin typeface="+mn-lt"/>
                  <a:ea typeface="+mn-ea"/>
                  <a:cs typeface="+mn-cs"/>
                </a:rPr>
              </a:br>
              <a:r>
                <a:rPr lang="en-US" sz="1500" dirty="0">
                  <a:solidFill>
                    <a:schemeClr val="dk1"/>
                  </a:solidFill>
                  <a:latin typeface="+mn-lt"/>
                  <a:ea typeface="+mn-ea"/>
                  <a:cs typeface="+mn-cs"/>
                </a:rPr>
                <a:t>numbers afterward. The breakout</a:t>
              </a:r>
              <a:br>
                <a:rPr lang="en-US" sz="1500" dirty="0">
                  <a:solidFill>
                    <a:schemeClr val="dk1"/>
                  </a:solidFill>
                  <a:latin typeface="+mn-lt"/>
                  <a:ea typeface="+mn-ea"/>
                  <a:cs typeface="+mn-cs"/>
                </a:rPr>
              </a:br>
              <a:r>
                <a:rPr lang="en-US" sz="1500" dirty="0">
                  <a:solidFill>
                    <a:schemeClr val="dk1"/>
                  </a:solidFill>
                  <a:latin typeface="+mn-lt"/>
                  <a:ea typeface="+mn-ea"/>
                  <a:cs typeface="+mn-cs"/>
                </a:rPr>
                <a:t>description says unverifiable</a:t>
              </a:r>
              <a:br>
                <a:rPr lang="en-US" sz="1500" dirty="0">
                  <a:solidFill>
                    <a:schemeClr val="dk1"/>
                  </a:solidFill>
                  <a:latin typeface="+mn-lt"/>
                  <a:ea typeface="+mn-ea"/>
                  <a:cs typeface="+mn-cs"/>
                </a:rPr>
              </a:br>
              <a:r>
                <a:rPr lang="en-US" sz="1500" dirty="0">
                  <a:solidFill>
                    <a:schemeClr val="dk1"/>
                  </a:solidFill>
                  <a:latin typeface="+mn-lt"/>
                  <a:ea typeface="+mn-ea"/>
                  <a:cs typeface="+mn-cs"/>
                </a:rPr>
                <a:t>figures are stripped. Our</a:t>
              </a:r>
              <a:br>
                <a:rPr lang="en-US" sz="1500" dirty="0">
                  <a:solidFill>
                    <a:schemeClr val="dk1"/>
                  </a:solidFill>
                  <a:latin typeface="+mn-lt"/>
                  <a:ea typeface="+mn-ea"/>
                  <a:cs typeface="+mn-cs"/>
                </a:rPr>
              </a:br>
              <a:r>
                <a:rPr lang="en-US" sz="1500" dirty="0">
                  <a:solidFill>
                    <a:schemeClr val="dk1"/>
                  </a:solidFill>
                  <a:latin typeface="+mn-lt"/>
                  <a:ea typeface="+mn-ea"/>
                  <a:cs typeface="+mn-cs"/>
                </a:rPr>
                <a:t>requirement is stronger: correct,</a:t>
              </a:r>
              <a:br>
                <a:rPr lang="en-US" sz="1500" dirty="0">
                  <a:solidFill>
                    <a:schemeClr val="dk1"/>
                  </a:solidFill>
                  <a:latin typeface="+mn-lt"/>
                  <a:ea typeface="+mn-ea"/>
                  <a:cs typeface="+mn-cs"/>
                </a:rPr>
              </a:br>
              <a:r>
                <a:rPr lang="en-US" sz="1500" dirty="0">
                  <a:solidFill>
                    <a:schemeClr val="dk1"/>
                  </a:solidFill>
                  <a:latin typeface="+mn-lt"/>
                  <a:ea typeface="+mn-ea"/>
                  <a:cs typeface="+mn-cs"/>
                </a:rPr>
                <a:t>remove or escalate the unsupported</a:t>
              </a:r>
              <a:br>
                <a:rPr lang="en-US" sz="1500" dirty="0">
                  <a:solidFill>
                    <a:schemeClr val="dk1"/>
                  </a:solidFill>
                  <a:latin typeface="+mn-lt"/>
                  <a:ea typeface="+mn-ea"/>
                  <a:cs typeface="+mn-cs"/>
                </a:rPr>
              </a:br>
              <a:r>
                <a:rPr lang="en-US" sz="1500" dirty="0">
                  <a:solidFill>
                    <a:schemeClr val="dk1"/>
                  </a:solidFill>
                  <a:latin typeface="+mn-lt"/>
                  <a:ea typeface="+mn-ea"/>
                  <a:cs typeface="+mn-cs"/>
                </a:rPr>
                <a:t>material claim, rather than leave</a:t>
              </a:r>
              <a:br>
                <a:rPr lang="en-US" sz="1500" dirty="0">
                  <a:solidFill>
                    <a:schemeClr val="dk1"/>
                  </a:solidFill>
                  <a:latin typeface="+mn-lt"/>
                  <a:ea typeface="+mn-ea"/>
                  <a:cs typeface="+mn-cs"/>
                </a:rPr>
              </a:br>
              <a:r>
                <a:rPr lang="en-US" sz="1500" dirty="0">
                  <a:solidFill>
                    <a:schemeClr val="dk1"/>
                  </a:solidFill>
                  <a:latin typeface="+mn-lt"/>
                  <a:ea typeface="+mn-ea"/>
                  <a:cs typeface="+mn-cs"/>
                </a:rPr>
                <a:t>persuasive prose with broken</a:t>
              </a:r>
              <a:br>
                <a:rPr lang="en-US" sz="1500" dirty="0">
                  <a:solidFill>
                    <a:schemeClr val="dk1"/>
                  </a:solidFill>
                  <a:latin typeface="+mn-lt"/>
                  <a:ea typeface="+mn-ea"/>
                  <a:cs typeface="+mn-cs"/>
                </a:rPr>
              </a:br>
              <a:r>
                <a:rPr lang="en-US" sz="1500" dirty="0">
                  <a:solidFill>
                    <a:schemeClr val="dk1"/>
                  </a:solidFill>
                  <a:latin typeface="+mn-lt"/>
                  <a:ea typeface="+mn-ea"/>
                  <a:cs typeface="+mn-cs"/>
                </a:rPr>
                <a:t>support.</a:t>
              </a:r>
            </a:p>
          </p:txBody>
        </p:sp>
      </p:grpSp>
      <p:grpSp>
        <p:nvGrpSpPr>
          <p:cNvPr id="26" name="footer"/>
          <p:cNvGrpSpPr/>
          <p:nvPr/>
        </p:nvGrpSpPr>
        <p:grpSpPr>
          <a:xfrm>
            <a:off x="452438" y="6477000"/>
            <a:ext cx="11287124" cy="176212"/>
            <a:chOff x="452438" y="6477000"/>
            <a:chExt cx="11287124" cy="176212"/>
          </a:xfrm>
        </p:grpSpPr>
        <p:sp>
          <p:nvSpPr>
            <p:cNvPr id="24" name="TextBox 24"/>
            <p:cNvSpPr txBox="1"/>
            <p:nvPr/>
          </p:nvSpPr>
          <p:spPr>
            <a:xfrm>
              <a:off x="452438" y="6477000"/>
              <a:ext cx="2492267" cy="176212"/>
            </a:xfrm>
            <a:prstGeom prst="rect">
              <a:avLst/>
            </a:prstGeom>
            <a:noFill/>
            <a:ln>
              <a:noFill/>
            </a:ln>
          </p:spPr>
          <p:txBody>
            <a:bodyPr wrap="none" lIns="0" tIns="0" rIns="0" bIns="0" anchor="t" anchorCtr="0">
              <a:spAutoFit/>
            </a:bodyPr>
            <a:lstStyle/>
            <a:p>
              <a:pPr algn="l"/>
              <a:r>
                <a:rPr lang="en-US" sz="900" dirty="0">
                  <a:solidFill>
                    <a:schemeClr val="accent5"/>
                  </a:solidFill>
                  <a:latin typeface="+mn-lt"/>
                  <a:ea typeface="+mn-ea"/>
                  <a:cs typeface="+mn-cs"/>
                </a:rPr>
                <a:t>Sources: Kepler | Reviewed October 25, 2026</a:t>
              </a:r>
            </a:p>
          </p:txBody>
        </p:sp>
        <p:sp>
          <p:nvSpPr>
            <p:cNvPr id="25" name="TextBox 25"/>
            <p:cNvSpPr txBox="1"/>
            <p:nvPr/>
          </p:nvSpPr>
          <p:spPr>
            <a:xfrm>
              <a:off x="11359512" y="6477000"/>
              <a:ext cx="380050" cy="176212"/>
            </a:xfrm>
            <a:prstGeom prst="rect">
              <a:avLst/>
            </a:prstGeom>
            <a:noFill/>
            <a:ln>
              <a:noFill/>
            </a:ln>
          </p:spPr>
          <p:txBody>
            <a:bodyPr wrap="none" lIns="0" tIns="0" rIns="0" bIns="0" anchor="t" anchorCtr="0">
              <a:spAutoFit/>
            </a:bodyPr>
            <a:lstStyle/>
            <a:p>
              <a:pPr algn="r"/>
              <a:r>
                <a:rPr lang="en-US" sz="900" dirty="0">
                  <a:solidFill>
                    <a:schemeClr val="accent5"/>
                  </a:solidFill>
                  <a:latin typeface="+mn-lt"/>
                  <a:ea typeface="+mn-ea"/>
                  <a:cs typeface="+mn-cs"/>
                </a:rPr>
                <a:t>10 / 37</a:t>
              </a:r>
            </a:p>
          </p:txBody>
        </p:sp>
      </p:grpSp>
    </p:spTree>
  </p:cSld>
  <p:clrMapOvr>
    <a:masterClrMapping/>
  </p:clrMapOvr>
  <p:transition xmlns:p14="http://schemas.microsoft.com/office/powerpoint/2010/main" p14:dur="400">
    <p:fade/>
  </p:transition>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5" name="title"/>
          <p:cNvGrpSpPr/>
          <p:nvPr/>
        </p:nvGrpSpPr>
        <p:grpSpPr>
          <a:xfrm>
            <a:off x="443484" y="371475"/>
            <a:ext cx="9006787" cy="1110107"/>
            <a:chOff x="443484" y="371475"/>
            <a:chExt cx="9006787" cy="1110107"/>
          </a:xfrm>
        </p:grpSpPr>
        <p:sp>
          <p:nvSpPr>
            <p:cNvPr id="2" name="TextBox 2"/>
            <p:cNvSpPr txBox="1"/>
            <p:nvPr/>
          </p:nvSpPr>
          <p:spPr>
            <a:xfrm>
              <a:off x="451104" y="371475"/>
              <a:ext cx="7448215" cy="234696"/>
            </a:xfrm>
            <a:prstGeom prst="rect">
              <a:avLst/>
            </a:prstGeom>
            <a:noFill/>
            <a:ln>
              <a:noFill/>
            </a:ln>
          </p:spPr>
          <p:txBody>
            <a:bodyPr wrap="none" lIns="0" tIns="0" rIns="0" bIns="0" anchor="t" anchorCtr="0">
              <a:spAutoFit/>
            </a:bodyPr>
            <a:lstStyle/>
            <a:p>
              <a:pPr algn="l"/>
              <a:r>
                <a:rPr lang="en-US" sz="1200" dirty="0">
                  <a:solidFill>
                    <a:srgbClr val="8B411C"/>
                  </a:solidFill>
                  <a:latin typeface="+mn-lt"/>
                  <a:ea typeface="+mn-ea"/>
                  <a:cs typeface="+mn-cs"/>
                </a:rPr>
                <a:t>02 / SYNTHETIC EXAMPLE — ALL ENTITIES, DOCUMENTS, DATES AND VALUES INVENTED</a:t>
              </a:r>
            </a:p>
          </p:txBody>
        </p:sp>
        <p:sp>
          <p:nvSpPr>
            <p:cNvPr id="3" name="TextBox 3"/>
            <p:cNvSpPr txBox="1"/>
            <p:nvPr/>
          </p:nvSpPr>
          <p:spPr>
            <a:xfrm>
              <a:off x="443484" y="603250"/>
              <a:ext cx="9006787" cy="528066"/>
            </a:xfrm>
            <a:prstGeom prst="rect">
              <a:avLst/>
            </a:prstGeom>
            <a:noFill/>
            <a:ln>
              <a:noFill/>
            </a:ln>
          </p:spPr>
          <p:txBody>
            <a:bodyPr wrap="none" lIns="0" tIns="0" rIns="0" bIns="0" anchor="t" anchorCtr="0">
              <a:spAutoFit/>
            </a:bodyPr>
            <a:lstStyle/>
            <a:p>
              <a:pPr algn="l"/>
              <a:r>
                <a:rPr lang="en-US" sz="2700" dirty="0">
                  <a:solidFill>
                    <a:schemeClr val="accent1"/>
                  </a:solidFill>
                  <a:latin typeface="+mj-lt"/>
                  <a:ea typeface="+mj-ea"/>
                  <a:cs typeface="+mj-cs"/>
                </a:rPr>
                <a:t>Correct arithmetic can still answer the wrong question</a:t>
              </a:r>
            </a:p>
          </p:txBody>
        </p:sp>
        <p:sp>
          <p:nvSpPr>
            <p:cNvPr id="4" name="TextBox 4"/>
            <p:cNvSpPr txBox="1"/>
            <p:nvPr/>
          </p:nvSpPr>
          <p:spPr>
            <a:xfrm>
              <a:off x="448818" y="1158875"/>
              <a:ext cx="8700762" cy="322707"/>
            </a:xfrm>
            <a:prstGeom prst="rect">
              <a:avLst/>
            </a:prstGeom>
            <a:noFill/>
            <a:ln>
              <a:noFill/>
            </a:ln>
          </p:spPr>
          <p:txBody>
            <a:bodyPr wrap="none" lIns="0" tIns="0" rIns="0" bIns="0" anchor="t" anchorCtr="0">
              <a:spAutoFit/>
            </a:bodyPr>
            <a:lstStyle/>
            <a:p>
              <a:pPr algn="l"/>
              <a:r>
                <a:rPr lang="en-US" sz="1650" dirty="0">
                  <a:solidFill>
                    <a:schemeClr val="accent1"/>
                  </a:solidFill>
                  <a:latin typeface="+mn-lt"/>
                  <a:ea typeface="+mn-ea"/>
                  <a:cs typeface="+mn-cs"/>
                </a:rPr>
                <a:t>AsterCo: FY2025 revenue growth as of March 1, 2026? Values below are USD millions.</a:t>
              </a:r>
            </a:p>
          </p:txBody>
        </p:sp>
      </p:grpSp>
      <p:graphicFrame>
        <p:nvGraphicFramePr>
          <p:cNvPr id="6" name="source-versions"/>
          <p:cNvGraphicFramePr>
            <a:graphicFrameLocks noGrp="1"/>
          </p:cNvGraphicFramePr>
          <p:nvPr/>
        </p:nvGraphicFramePr>
        <p:xfrm>
          <a:off x="457200" y="1847850"/>
          <a:ext cx="11277600" cy="2324100"/>
        </p:xfrm>
        <a:graphic>
          <a:graphicData uri="http://schemas.openxmlformats.org/drawingml/2006/table">
            <a:tbl>
              <a:tblPr firstRow="1" bandRow="0">
                <a:tableStyleId>{5C22544A-7EE6-4342-B048-85BDC9FD1C3A}</a:tableStyleId>
              </a:tblPr>
              <a:tblGrid>
                <a:gridCol w="3810000"/>
                <a:gridCol w="1714500"/>
                <a:gridCol w="2857500"/>
                <a:gridCol w="2895600"/>
              </a:tblGrid>
              <a:tr h="495300">
                <a:tc>
                  <a:txBody>
                    <a:bodyPr/>
                    <a:lstStyle/>
                    <a:p>
                      <a:pPr/>
                      <a:r>
                        <a:rPr lang="en-US" sz="1350" b="1">
                          <a:solidFill>
                            <a:srgbClr val="FFFDF7"/>
                          </a:solidFill>
                          <a:latin typeface="Arial"/>
                          <a:ea typeface="Microsoft YaHei"/>
                          <a:cs typeface="Arial"/>
                        </a:rPr>
                        <a:t>Invented document</a:t>
                      </a:r>
                    </a:p>
                  </a:txBody>
                  <a:tcPr anchor="ctr" marL="152400" marR="152400" marT="76200" marB="76200">
                    <a:lnL>
                      <a:noFill/>
                    </a:lnL>
                    <a:lnR>
                      <a:noFill/>
                    </a:lnR>
                    <a:lnT>
                      <a:noFill/>
                    </a:lnT>
                    <a:lnB w="9525">
                      <a:solidFill>
                        <a:schemeClr val="accent6"/>
                      </a:solidFill>
                      <a:prstDash val="solid"/>
                    </a:lnB>
                    <a:solidFill>
                      <a:schemeClr val="accent1"/>
                    </a:solidFill>
                  </a:tcPr>
                </a:tc>
                <a:tc>
                  <a:txBody>
                    <a:bodyPr/>
                    <a:lstStyle/>
                    <a:p>
                      <a:pPr algn="r"/>
                      <a:r>
                        <a:rPr lang="en-US" sz="1350" b="1">
                          <a:solidFill>
                            <a:srgbClr val="FFFDF7"/>
                          </a:solidFill>
                          <a:latin typeface="Arial"/>
                          <a:ea typeface="Microsoft YaHei"/>
                          <a:cs typeface="Arial"/>
                        </a:rPr>
                        <a:t>USD m</a:t>
                      </a:r>
                    </a:p>
                  </a:txBody>
                  <a:tcPr anchor="ctr" marL="152400" marR="152400" marT="76200" marB="76200">
                    <a:lnL>
                      <a:noFill/>
                    </a:lnL>
                    <a:lnR>
                      <a:noFill/>
                    </a:lnR>
                    <a:lnT>
                      <a:noFill/>
                    </a:lnT>
                    <a:lnB w="9525">
                      <a:solidFill>
                        <a:schemeClr val="accent6"/>
                      </a:solidFill>
                      <a:prstDash val="solid"/>
                    </a:lnB>
                    <a:solidFill>
                      <a:schemeClr val="accent1"/>
                    </a:solidFill>
                  </a:tcPr>
                </a:tc>
                <a:tc>
                  <a:txBody>
                    <a:bodyPr/>
                    <a:lstStyle/>
                    <a:p>
                      <a:pPr/>
                      <a:r>
                        <a:rPr lang="en-US" sz="1350" b="1">
                          <a:solidFill>
                            <a:srgbClr val="FFFDF7"/>
                          </a:solidFill>
                          <a:latin typeface="Arial"/>
                          <a:ea typeface="Microsoft YaHei"/>
                          <a:cs typeface="Arial"/>
                        </a:rPr>
                        <a:t>Published</a:t>
                      </a:r>
                    </a:p>
                  </a:txBody>
                  <a:tcPr anchor="ctr" marL="152400" marR="152400" marT="76200" marB="76200">
                    <a:lnL>
                      <a:noFill/>
                    </a:lnL>
                    <a:lnR>
                      <a:noFill/>
                    </a:lnR>
                    <a:lnT>
                      <a:noFill/>
                    </a:lnT>
                    <a:lnB w="9525">
                      <a:solidFill>
                        <a:schemeClr val="accent6"/>
                      </a:solidFill>
                      <a:prstDash val="solid"/>
                    </a:lnB>
                    <a:solidFill>
                      <a:schemeClr val="accent1"/>
                    </a:solidFill>
                  </a:tcPr>
                </a:tc>
                <a:tc>
                  <a:txBody>
                    <a:bodyPr/>
                    <a:lstStyle/>
                    <a:p>
                      <a:pPr/>
                      <a:r>
                        <a:rPr lang="en-US" sz="1350" b="1">
                          <a:solidFill>
                            <a:srgbClr val="FFFDF7"/>
                          </a:solidFill>
                          <a:latin typeface="Arial"/>
                          <a:ea typeface="Microsoft YaHei"/>
                          <a:cs typeface="Arial"/>
                        </a:rPr>
                        <a:t>Treatment at cutoff</a:t>
                      </a:r>
                    </a:p>
                  </a:txBody>
                  <a:tcPr anchor="ctr" marL="152400" marR="152400" marT="76200" marB="76200">
                    <a:lnL>
                      <a:noFill/>
                    </a:lnL>
                    <a:lnR>
                      <a:noFill/>
                    </a:lnR>
                    <a:lnT>
                      <a:noFill/>
                    </a:lnT>
                    <a:lnB w="9525">
                      <a:solidFill>
                        <a:schemeClr val="accent6"/>
                      </a:solidFill>
                      <a:prstDash val="solid"/>
                    </a:lnB>
                    <a:solidFill>
                      <a:schemeClr val="accent1"/>
                    </a:solidFill>
                  </a:tcPr>
                </a:tc>
              </a:tr>
              <a:tr h="609600">
                <a:tc>
                  <a:txBody>
                    <a:bodyPr/>
                    <a:lstStyle/>
                    <a:p>
                      <a:pPr/>
                      <a:r>
                        <a:rPr lang="en-US" sz="1350" b="0">
                          <a:solidFill>
                            <a:schemeClr val="dk1"/>
                          </a:solidFill>
                          <a:latin typeface="Arial"/>
                          <a:ea typeface="Microsoft YaHei"/>
                          <a:cs typeface="Arial"/>
                        </a:rPr>
                        <a:t>D1 / FY2024 final</a:t>
                      </a:r>
                    </a:p>
                  </a:txBody>
                  <a:tcPr anchor="ctr" marL="152400" marR="152400" marT="76200" marB="76200">
                    <a:lnL>
                      <a:noFill/>
                    </a:lnL>
                    <a:lnR>
                      <a:noFill/>
                    </a:lnR>
                    <a:lnT>
                      <a:noFill/>
                    </a:lnT>
                    <a:lnB w="9525">
                      <a:solidFill>
                        <a:schemeClr val="accent6"/>
                      </a:solidFill>
                      <a:prstDash val="solid"/>
                    </a:lnB>
                    <a:noFill/>
                  </a:tcPr>
                </a:tc>
                <a:tc>
                  <a:txBody>
                    <a:bodyPr/>
                    <a:lstStyle/>
                    <a:p>
                      <a:pPr algn="r"/>
                      <a:r>
                        <a:rPr lang="en-US" sz="1350" b="0">
                          <a:solidFill>
                            <a:schemeClr val="dk1"/>
                          </a:solidFill>
                          <a:latin typeface="Arial"/>
                          <a:ea typeface="Microsoft YaHei"/>
                          <a:cs typeface="Arial"/>
                        </a:rPr>
                        <a:t>100</a:t>
                      </a:r>
                    </a:p>
                  </a:txBody>
                  <a:tcPr anchor="ctr" marL="152400" marR="152400" marT="76200" marB="76200">
                    <a:lnL>
                      <a:noFill/>
                    </a:lnL>
                    <a:lnR>
                      <a:noFill/>
                    </a:lnR>
                    <a:lnT>
                      <a:noFill/>
                    </a:lnT>
                    <a:lnB w="9525">
                      <a:solidFill>
                        <a:schemeClr val="accent6"/>
                      </a:solidFill>
                      <a:prstDash val="solid"/>
                    </a:lnB>
                    <a:noFill/>
                  </a:tcPr>
                </a:tc>
                <a:tc>
                  <a:txBody>
                    <a:bodyPr/>
                    <a:lstStyle/>
                    <a:p>
                      <a:pPr/>
                      <a:r>
                        <a:rPr lang="en-US" sz="1350" b="0">
                          <a:solidFill>
                            <a:schemeClr val="dk1"/>
                          </a:solidFill>
                          <a:latin typeface="Arial"/>
                          <a:ea typeface="Microsoft YaHei"/>
                          <a:cs typeface="Arial"/>
                        </a:rPr>
                        <a:t>February 1, 2025</a:t>
                      </a:r>
                    </a:p>
                  </a:txBody>
                  <a:tcPr anchor="ctr" marL="152400" marR="152400" marT="76200" marB="76200">
                    <a:lnL>
                      <a:noFill/>
                    </a:lnL>
                    <a:lnR>
                      <a:noFill/>
                    </a:lnR>
                    <a:lnT>
                      <a:noFill/>
                    </a:lnT>
                    <a:lnB w="9525">
                      <a:solidFill>
                        <a:schemeClr val="accent6"/>
                      </a:solidFill>
                      <a:prstDash val="solid"/>
                    </a:lnB>
                    <a:noFill/>
                  </a:tcPr>
                </a:tc>
                <a:tc>
                  <a:txBody>
                    <a:bodyPr/>
                    <a:lstStyle/>
                    <a:p>
                      <a:pPr/>
                      <a:r>
                        <a:rPr lang="en-US" sz="1350" b="0">
                          <a:solidFill>
                            <a:schemeClr val="dk1"/>
                          </a:solidFill>
                          <a:latin typeface="Arial"/>
                          <a:ea typeface="Microsoft YaHei"/>
                          <a:cs typeface="Arial"/>
                        </a:rPr>
                        <a:t>Prior-year input</a:t>
                      </a:r>
                    </a:p>
                  </a:txBody>
                  <a:tcPr anchor="ctr" marL="152400" marR="152400" marT="76200" marB="76200">
                    <a:lnL>
                      <a:noFill/>
                    </a:lnL>
                    <a:lnR>
                      <a:noFill/>
                    </a:lnR>
                    <a:lnT>
                      <a:noFill/>
                    </a:lnT>
                    <a:lnB w="9525">
                      <a:solidFill>
                        <a:schemeClr val="accent6"/>
                      </a:solidFill>
                      <a:prstDash val="solid"/>
                    </a:lnB>
                    <a:noFill/>
                  </a:tcPr>
                </a:tc>
              </a:tr>
              <a:tr h="609600">
                <a:tc>
                  <a:txBody>
                    <a:bodyPr/>
                    <a:lstStyle/>
                    <a:p>
                      <a:pPr/>
                      <a:r>
                        <a:rPr lang="en-US" sz="1350" b="0">
                          <a:solidFill>
                            <a:schemeClr val="dk1"/>
                          </a:solidFill>
                          <a:latin typeface="Arial"/>
                          <a:ea typeface="Microsoft YaHei"/>
                          <a:cs typeface="Arial"/>
                        </a:rPr>
                        <a:t>D2 / FY2025 preliminary</a:t>
                      </a:r>
                    </a:p>
                  </a:txBody>
                  <a:tcPr anchor="ctr" marL="152400" marR="152400" marT="76200" marB="76200">
                    <a:lnL>
                      <a:noFill/>
                    </a:lnL>
                    <a:lnR>
                      <a:noFill/>
                    </a:lnR>
                    <a:lnT>
                      <a:noFill/>
                    </a:lnT>
                    <a:lnB w="9525">
                      <a:solidFill>
                        <a:schemeClr val="accent6"/>
                      </a:solidFill>
                      <a:prstDash val="solid"/>
                    </a:lnB>
                    <a:noFill/>
                  </a:tcPr>
                </a:tc>
                <a:tc>
                  <a:txBody>
                    <a:bodyPr/>
                    <a:lstStyle/>
                    <a:p>
                      <a:pPr algn="r"/>
                      <a:r>
                        <a:rPr lang="en-US" sz="1350" b="0">
                          <a:solidFill>
                            <a:schemeClr val="dk1"/>
                          </a:solidFill>
                          <a:latin typeface="Arial"/>
                          <a:ea typeface="Microsoft YaHei"/>
                          <a:cs typeface="Arial"/>
                        </a:rPr>
                        <a:t>118</a:t>
                      </a:r>
                    </a:p>
                  </a:txBody>
                  <a:tcPr anchor="ctr" marL="152400" marR="152400" marT="76200" marB="76200">
                    <a:lnL>
                      <a:noFill/>
                    </a:lnL>
                    <a:lnR>
                      <a:noFill/>
                    </a:lnR>
                    <a:lnT>
                      <a:noFill/>
                    </a:lnT>
                    <a:lnB w="9525">
                      <a:solidFill>
                        <a:schemeClr val="accent6"/>
                      </a:solidFill>
                      <a:prstDash val="solid"/>
                    </a:lnB>
                    <a:noFill/>
                  </a:tcPr>
                </a:tc>
                <a:tc>
                  <a:txBody>
                    <a:bodyPr/>
                    <a:lstStyle/>
                    <a:p>
                      <a:pPr/>
                      <a:r>
                        <a:rPr lang="en-US" sz="1350" b="0">
                          <a:solidFill>
                            <a:schemeClr val="dk1"/>
                          </a:solidFill>
                          <a:latin typeface="Arial"/>
                          <a:ea typeface="Microsoft YaHei"/>
                          <a:cs typeface="Arial"/>
                        </a:rPr>
                        <a:t>January 15, 2026</a:t>
                      </a:r>
                    </a:p>
                  </a:txBody>
                  <a:tcPr anchor="ctr" marL="152400" marR="152400" marT="76200" marB="76200">
                    <a:lnL>
                      <a:noFill/>
                    </a:lnL>
                    <a:lnR>
                      <a:noFill/>
                    </a:lnR>
                    <a:lnT>
                      <a:noFill/>
                    </a:lnT>
                    <a:lnB w="9525">
                      <a:solidFill>
                        <a:schemeClr val="accent6"/>
                      </a:solidFill>
                      <a:prstDash val="solid"/>
                    </a:lnB>
                    <a:noFill/>
                  </a:tcPr>
                </a:tc>
                <a:tc>
                  <a:txBody>
                    <a:bodyPr/>
                    <a:lstStyle/>
                    <a:p>
                      <a:pPr/>
                      <a:r>
                        <a:rPr lang="en-US" sz="1350" b="0">
                          <a:solidFill>
                            <a:schemeClr val="dk1"/>
                          </a:solidFill>
                          <a:latin typeface="Arial"/>
                          <a:ea typeface="Microsoft YaHei"/>
                          <a:cs typeface="Arial"/>
                        </a:rPr>
                        <a:t>Superseded</a:t>
                      </a:r>
                    </a:p>
                  </a:txBody>
                  <a:tcPr anchor="ctr" marL="152400" marR="152400" marT="76200" marB="76200">
                    <a:lnL>
                      <a:noFill/>
                    </a:lnL>
                    <a:lnR>
                      <a:noFill/>
                    </a:lnR>
                    <a:lnT>
                      <a:noFill/>
                    </a:lnT>
                    <a:lnB w="9525">
                      <a:solidFill>
                        <a:schemeClr val="accent6"/>
                      </a:solidFill>
                      <a:prstDash val="solid"/>
                    </a:lnB>
                    <a:noFill/>
                  </a:tcPr>
                </a:tc>
              </a:tr>
              <a:tr h="609600">
                <a:tc>
                  <a:txBody>
                    <a:bodyPr/>
                    <a:lstStyle/>
                    <a:p>
                      <a:pPr/>
                      <a:r>
                        <a:rPr lang="en-US" sz="1350" b="0">
                          <a:solidFill>
                            <a:schemeClr val="dk1"/>
                          </a:solidFill>
                          <a:latin typeface="Arial"/>
                          <a:ea typeface="Microsoft YaHei"/>
                          <a:cs typeface="Arial"/>
                        </a:rPr>
                        <a:t>D3 / FY2025 final</a:t>
                      </a:r>
                    </a:p>
                  </a:txBody>
                  <a:tcPr anchor="ctr" marL="152400" marR="152400" marT="76200" marB="76200">
                    <a:lnL>
                      <a:noFill/>
                    </a:lnL>
                    <a:lnR>
                      <a:noFill/>
                    </a:lnR>
                    <a:lnT>
                      <a:noFill/>
                    </a:lnT>
                    <a:lnB w="9525">
                      <a:solidFill>
                        <a:schemeClr val="accent6"/>
                      </a:solidFill>
                      <a:prstDash val="solid"/>
                    </a:lnB>
                    <a:noFill/>
                  </a:tcPr>
                </a:tc>
                <a:tc>
                  <a:txBody>
                    <a:bodyPr/>
                    <a:lstStyle/>
                    <a:p>
                      <a:pPr algn="r"/>
                      <a:r>
                        <a:rPr lang="en-US" sz="1350" b="0">
                          <a:solidFill>
                            <a:schemeClr val="dk1"/>
                          </a:solidFill>
                          <a:latin typeface="Arial"/>
                          <a:ea typeface="Microsoft YaHei"/>
                          <a:cs typeface="Arial"/>
                        </a:rPr>
                        <a:t>120</a:t>
                      </a:r>
                    </a:p>
                  </a:txBody>
                  <a:tcPr anchor="ctr" marL="152400" marR="152400" marT="76200" marB="76200">
                    <a:lnL>
                      <a:noFill/>
                    </a:lnL>
                    <a:lnR>
                      <a:noFill/>
                    </a:lnR>
                    <a:lnT>
                      <a:noFill/>
                    </a:lnT>
                    <a:lnB w="9525">
                      <a:solidFill>
                        <a:schemeClr val="accent6"/>
                      </a:solidFill>
                      <a:prstDash val="solid"/>
                    </a:lnB>
                    <a:noFill/>
                  </a:tcPr>
                </a:tc>
                <a:tc>
                  <a:txBody>
                    <a:bodyPr/>
                    <a:lstStyle/>
                    <a:p>
                      <a:pPr/>
                      <a:r>
                        <a:rPr lang="en-US" sz="1350" b="0">
                          <a:solidFill>
                            <a:schemeClr val="dk1"/>
                          </a:solidFill>
                          <a:latin typeface="Arial"/>
                          <a:ea typeface="Microsoft YaHei"/>
                          <a:cs typeface="Arial"/>
                        </a:rPr>
                        <a:t>February 1, 2026</a:t>
                      </a:r>
                    </a:p>
                  </a:txBody>
                  <a:tcPr anchor="ctr" marL="152400" marR="152400" marT="76200" marB="76200">
                    <a:lnL>
                      <a:noFill/>
                    </a:lnL>
                    <a:lnR>
                      <a:noFill/>
                    </a:lnR>
                    <a:lnT>
                      <a:noFill/>
                    </a:lnT>
                    <a:lnB w="9525">
                      <a:solidFill>
                        <a:schemeClr val="accent6"/>
                      </a:solidFill>
                      <a:prstDash val="solid"/>
                    </a:lnB>
                    <a:noFill/>
                  </a:tcPr>
                </a:tc>
                <a:tc>
                  <a:txBody>
                    <a:bodyPr/>
                    <a:lstStyle/>
                    <a:p>
                      <a:pPr/>
                      <a:r>
                        <a:rPr lang="en-US" sz="1350" b="0">
                          <a:solidFill>
                            <a:schemeClr val="dk1"/>
                          </a:solidFill>
                          <a:latin typeface="Arial"/>
                          <a:ea typeface="Microsoft YaHei"/>
                          <a:cs typeface="Arial"/>
                        </a:rPr>
                        <a:t>Eligible current-year input</a:t>
                      </a:r>
                    </a:p>
                  </a:txBody>
                  <a:tcPr anchor="ctr" marL="152400" marR="152400" marT="76200" marB="76200">
                    <a:lnL>
                      <a:noFill/>
                    </a:lnL>
                    <a:lnR>
                      <a:noFill/>
                    </a:lnR>
                    <a:lnT>
                      <a:noFill/>
                    </a:lnT>
                    <a:lnB w="9525">
                      <a:solidFill>
                        <a:schemeClr val="accent6"/>
                      </a:solidFill>
                      <a:prstDash val="solid"/>
                    </a:lnB>
                    <a:noFill/>
                  </a:tcPr>
                </a:tc>
              </a:tr>
            </a:tbl>
          </a:graphicData>
        </a:graphic>
      </p:graphicFrame>
      <p:grpSp>
        <p:nvGrpSpPr>
          <p:cNvPr id="10" name="stale-calculation"/>
          <p:cNvGrpSpPr/>
          <p:nvPr/>
        </p:nvGrpSpPr>
        <p:grpSpPr>
          <a:xfrm>
            <a:off x="457200" y="4438650"/>
            <a:ext cx="5334000" cy="1038225"/>
            <a:chOff x="457200" y="4438650"/>
            <a:chExt cx="5334000" cy="1038225"/>
          </a:xfrm>
        </p:grpSpPr>
        <p:sp>
          <p:nvSpPr>
            <p:cNvPr id="7" name="Rectangle 7"/>
            <p:cNvSpPr/>
            <p:nvPr/>
          </p:nvSpPr>
          <p:spPr>
            <a:xfrm>
              <a:off x="457200" y="4438650"/>
              <a:ext cx="5334000" cy="1038225"/>
            </a:xfrm>
            <a:prstGeom prst="rect">
              <a:avLst/>
            </a:prstGeom>
            <a:solidFill>
              <a:srgbClr val="F1F4EE"/>
            </a:solidFill>
            <a:ln>
              <a:noFill/>
            </a:ln>
          </p:spPr>
        </p:sp>
        <p:sp>
          <p:nvSpPr>
            <p:cNvPr id="8" name="TextBox 8"/>
            <p:cNvSpPr txBox="1"/>
            <p:nvPr/>
          </p:nvSpPr>
          <p:spPr>
            <a:xfrm>
              <a:off x="657606" y="4581525"/>
              <a:ext cx="2748306" cy="352044"/>
            </a:xfrm>
            <a:prstGeom prst="rect">
              <a:avLst/>
            </a:prstGeom>
            <a:noFill/>
            <a:ln>
              <a:noFill/>
            </a:ln>
          </p:spPr>
          <p:txBody>
            <a:bodyPr wrap="none" lIns="0" tIns="0" rIns="0" bIns="0" anchor="t" anchorCtr="0">
              <a:spAutoFit/>
            </a:bodyPr>
            <a:lstStyle/>
            <a:p>
              <a:pPr algn="l"/>
              <a:r>
                <a:rPr lang="en-US" sz="1800" dirty="0">
                  <a:solidFill>
                    <a:srgbClr val="9B3025"/>
                  </a:solidFill>
                  <a:latin typeface="+mj-lt"/>
                  <a:ea typeface="+mj-ea"/>
                  <a:cs typeface="+mj-cs"/>
                </a:rPr>
                <a:t>(118 − 100) / 100 = 18%</a:t>
              </a:r>
            </a:p>
          </p:txBody>
        </p:sp>
        <p:sp>
          <p:nvSpPr>
            <p:cNvPr id="9" name="TextBox 9"/>
            <p:cNvSpPr txBox="1"/>
            <p:nvPr/>
          </p:nvSpPr>
          <p:spPr>
            <a:xfrm>
              <a:off x="659130" y="5010150"/>
              <a:ext cx="3500462" cy="293370"/>
            </a:xfrm>
            <a:prstGeom prst="rect">
              <a:avLst/>
            </a:prstGeom>
            <a:noFill/>
            <a:ln>
              <a:noFill/>
            </a:ln>
          </p:spPr>
          <p:txBody>
            <a:bodyPr wrap="none" lIns="0" tIns="0" rIns="0" bIns="0" anchor="t" anchorCtr="0">
              <a:spAutoFit/>
            </a:bodyPr>
            <a:lstStyle/>
            <a:p>
              <a:pPr algn="l"/>
              <a:r>
                <a:rPr lang="en-US" sz="1500" dirty="0">
                  <a:solidFill>
                    <a:schemeClr val="dk1"/>
                  </a:solidFill>
                  <a:latin typeface="+mn-lt"/>
                  <a:ea typeface="+mn-ea"/>
                  <a:cs typeface="+mn-cs"/>
                </a:rPr>
                <a:t>Correct arithmetic; superseded source.</a:t>
              </a:r>
            </a:p>
          </p:txBody>
        </p:sp>
      </p:grpSp>
      <p:grpSp>
        <p:nvGrpSpPr>
          <p:cNvPr id="14" name="current-calculation"/>
          <p:cNvGrpSpPr/>
          <p:nvPr/>
        </p:nvGrpSpPr>
        <p:grpSpPr>
          <a:xfrm>
            <a:off x="6096000" y="4438650"/>
            <a:ext cx="5638800" cy="1038225"/>
            <a:chOff x="6096000" y="4438650"/>
            <a:chExt cx="5638800" cy="1038225"/>
          </a:xfrm>
        </p:grpSpPr>
        <p:sp>
          <p:nvSpPr>
            <p:cNvPr id="11" name="Rectangle 11"/>
            <p:cNvSpPr/>
            <p:nvPr/>
          </p:nvSpPr>
          <p:spPr>
            <a:xfrm>
              <a:off x="6096000" y="4438650"/>
              <a:ext cx="5638800" cy="1038225"/>
            </a:xfrm>
            <a:prstGeom prst="rect">
              <a:avLst/>
            </a:prstGeom>
            <a:solidFill>
              <a:schemeClr val="accent1"/>
            </a:solidFill>
            <a:ln>
              <a:noFill/>
            </a:ln>
          </p:spPr>
        </p:sp>
        <p:sp>
          <p:nvSpPr>
            <p:cNvPr id="12" name="TextBox 12"/>
            <p:cNvSpPr txBox="1"/>
            <p:nvPr/>
          </p:nvSpPr>
          <p:spPr>
            <a:xfrm>
              <a:off x="6296406" y="4581525"/>
              <a:ext cx="2748306" cy="352044"/>
            </a:xfrm>
            <a:prstGeom prst="rect">
              <a:avLst/>
            </a:prstGeom>
            <a:noFill/>
            <a:ln>
              <a:noFill/>
            </a:ln>
          </p:spPr>
          <p:txBody>
            <a:bodyPr wrap="none" lIns="0" tIns="0" rIns="0" bIns="0" anchor="t" anchorCtr="0">
              <a:spAutoFit/>
            </a:bodyPr>
            <a:lstStyle/>
            <a:p>
              <a:pPr algn="l"/>
              <a:r>
                <a:rPr lang="en-US" sz="1800" dirty="0">
                  <a:solidFill>
                    <a:schemeClr val="accent3"/>
                  </a:solidFill>
                  <a:latin typeface="+mj-lt"/>
                  <a:ea typeface="+mj-ea"/>
                  <a:cs typeface="+mj-cs"/>
                </a:rPr>
                <a:t>(120 − 100) / 100 = 20%</a:t>
              </a:r>
            </a:p>
          </p:txBody>
        </p:sp>
        <p:sp>
          <p:nvSpPr>
            <p:cNvPr id="13" name="TextBox 13"/>
            <p:cNvSpPr txBox="1"/>
            <p:nvPr/>
          </p:nvSpPr>
          <p:spPr>
            <a:xfrm>
              <a:off x="6297930" y="5010150"/>
              <a:ext cx="3814833" cy="293370"/>
            </a:xfrm>
            <a:prstGeom prst="rect">
              <a:avLst/>
            </a:prstGeom>
            <a:noFill/>
            <a:ln>
              <a:noFill/>
            </a:ln>
          </p:spPr>
          <p:txBody>
            <a:bodyPr wrap="none" lIns="0" tIns="0" rIns="0" bIns="0" anchor="t" anchorCtr="0">
              <a:spAutoFit/>
            </a:bodyPr>
            <a:lstStyle/>
            <a:p>
              <a:pPr algn="l"/>
              <a:r>
                <a:rPr lang="en-US" sz="1500" dirty="0">
                  <a:solidFill>
                    <a:srgbClr val="FFFDF7"/>
                  </a:solidFill>
                  <a:latin typeface="+mn-lt"/>
                  <a:ea typeface="+mn-ea"/>
                  <a:cs typeface="+mn-cs"/>
                </a:rPr>
                <a:t>Eligible final source answers this question.</a:t>
              </a:r>
            </a:p>
          </p:txBody>
        </p:sp>
      </p:grpSp>
      <p:grpSp>
        <p:nvGrpSpPr>
          <p:cNvPr id="16" name="version-lesson"/>
          <p:cNvGrpSpPr/>
          <p:nvPr/>
        </p:nvGrpSpPr>
        <p:grpSpPr>
          <a:xfrm>
            <a:off x="450342" y="5734050"/>
            <a:ext cx="9077420" cy="511683"/>
            <a:chOff x="450342" y="5734050"/>
            <a:chExt cx="9077420" cy="511683"/>
          </a:xfrm>
        </p:grpSpPr>
        <p:sp>
          <p:nvSpPr>
            <p:cNvPr id="15" name="TextBox 15"/>
            <p:cNvSpPr txBox="1"/>
            <p:nvPr/>
          </p:nvSpPr>
          <p:spPr>
            <a:xfrm>
              <a:off x="450342" y="5734050"/>
              <a:ext cx="9077420" cy="511683"/>
            </a:xfrm>
            <a:prstGeom prst="rect">
              <a:avLst/>
            </a:prstGeom>
            <a:noFill/>
            <a:ln>
              <a:noFill/>
            </a:ln>
          </p:spPr>
          <p:txBody>
            <a:bodyPr wrap="none" lIns="0" tIns="0" rIns="0" bIns="0" anchor="t" anchorCtr="0">
              <a:spAutoFit/>
            </a:bodyPr>
            <a:lstStyle/>
            <a:p>
              <a:pPr algn="l">
                <a:lnSpc>
                  <a:spcPts val="1950"/>
                </a:lnSpc>
              </a:pPr>
              <a:r>
                <a:rPr lang="en-US" sz="1350" dirty="0">
                  <a:solidFill>
                    <a:schemeClr val="dk1"/>
                  </a:solidFill>
                  <a:latin typeface="+mn-lt"/>
                  <a:ea typeface="+mn-ea"/>
                  <a:cs typeface="+mn-cs"/>
                </a:rPr>
                <a:t>Retain selected and rejected versions, publication dates and calculation lineage. Propagate corrections to narrative,</a:t>
              </a:r>
              <a:br>
                <a:rPr lang="en-US" sz="1350" dirty="0">
                  <a:solidFill>
                    <a:schemeClr val="dk1"/>
                  </a:solidFill>
                  <a:latin typeface="+mn-lt"/>
                  <a:ea typeface="+mn-ea"/>
                  <a:cs typeface="+mn-cs"/>
                </a:rPr>
              </a:br>
              <a:r>
                <a:rPr lang="en-US" sz="1350" dirty="0">
                  <a:solidFill>
                    <a:schemeClr val="dk1"/>
                  </a:solidFill>
                  <a:latin typeface="+mn-lt"/>
                  <a:ea typeface="+mn-ea"/>
                  <a:cs typeface="+mn-cs"/>
                </a:rPr>
                <a:t>table and chart. Test missing, conflicting, restated and unauthorized evidence; historical cutoffs can change the answer.</a:t>
              </a:r>
            </a:p>
          </p:txBody>
        </p:sp>
      </p:grpSp>
      <p:grpSp>
        <p:nvGrpSpPr>
          <p:cNvPr id="19" name="footer"/>
          <p:cNvGrpSpPr/>
          <p:nvPr/>
        </p:nvGrpSpPr>
        <p:grpSpPr>
          <a:xfrm>
            <a:off x="452438" y="6457950"/>
            <a:ext cx="11287124" cy="176212"/>
            <a:chOff x="452438" y="6457950"/>
            <a:chExt cx="11287124" cy="176212"/>
          </a:xfrm>
        </p:grpSpPr>
        <p:sp>
          <p:nvSpPr>
            <p:cNvPr id="17" name="TextBox 17"/>
            <p:cNvSpPr txBox="1"/>
            <p:nvPr/>
          </p:nvSpPr>
          <p:spPr>
            <a:xfrm>
              <a:off x="452438" y="6457950"/>
              <a:ext cx="6206190" cy="176212"/>
            </a:xfrm>
            <a:prstGeom prst="rect">
              <a:avLst/>
            </a:prstGeom>
            <a:noFill/>
            <a:ln>
              <a:noFill/>
            </a:ln>
          </p:spPr>
          <p:txBody>
            <a:bodyPr wrap="none" lIns="0" tIns="0" rIns="0" bIns="0" anchor="t" anchorCtr="0">
              <a:spAutoFit/>
            </a:bodyPr>
            <a:lstStyle/>
            <a:p>
              <a:pPr algn="l"/>
              <a:r>
                <a:rPr lang="en-US" sz="900" dirty="0">
                  <a:solidFill>
                    <a:schemeClr val="accent5"/>
                  </a:solidFill>
                  <a:latin typeface="+mn-lt"/>
                  <a:ea typeface="+mn-ea"/>
                  <a:cs typeface="+mn-cs"/>
                </a:rPr>
                <a:t>Teaching case informed by numerical-evidence discussions. It is not a result achieved by any conference company.</a:t>
              </a:r>
            </a:p>
          </p:txBody>
        </p:sp>
        <p:sp>
          <p:nvSpPr>
            <p:cNvPr id="18" name="TextBox 18"/>
            <p:cNvSpPr txBox="1"/>
            <p:nvPr/>
          </p:nvSpPr>
          <p:spPr>
            <a:xfrm>
              <a:off x="11359512" y="6457950"/>
              <a:ext cx="380050" cy="176212"/>
            </a:xfrm>
            <a:prstGeom prst="rect">
              <a:avLst/>
            </a:prstGeom>
            <a:noFill/>
            <a:ln>
              <a:noFill/>
            </a:ln>
          </p:spPr>
          <p:txBody>
            <a:bodyPr wrap="none" lIns="0" tIns="0" rIns="0" bIns="0" anchor="t" anchorCtr="0">
              <a:spAutoFit/>
            </a:bodyPr>
            <a:lstStyle/>
            <a:p>
              <a:pPr algn="r"/>
              <a:r>
                <a:rPr lang="en-US" sz="900" dirty="0">
                  <a:solidFill>
                    <a:schemeClr val="accent5"/>
                  </a:solidFill>
                  <a:latin typeface="+mn-lt"/>
                  <a:ea typeface="+mn-ea"/>
                  <a:cs typeface="+mn-cs"/>
                </a:rPr>
                <a:t>11 / 37</a:t>
              </a:r>
            </a:p>
          </p:txBody>
        </p:sp>
      </p:grpSp>
    </p:spTree>
  </p:cSld>
  <p:clrMapOvr>
    <a:masterClrMapping/>
  </p:clrMapOvr>
  <p:transition xmlns:p14="http://schemas.microsoft.com/office/powerpoint/2010/main" p14:dur="400">
    <p:fade/>
  </p:transition>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5" name="title"/>
          <p:cNvGrpSpPr/>
          <p:nvPr/>
        </p:nvGrpSpPr>
        <p:grpSpPr>
          <a:xfrm>
            <a:off x="443484" y="361950"/>
            <a:ext cx="9340619" cy="1364107"/>
            <a:chOff x="443484" y="361950"/>
            <a:chExt cx="9340619" cy="1364107"/>
          </a:xfrm>
        </p:grpSpPr>
        <p:sp>
          <p:nvSpPr>
            <p:cNvPr id="2" name="TextBox 2"/>
            <p:cNvSpPr txBox="1"/>
            <p:nvPr/>
          </p:nvSpPr>
          <p:spPr>
            <a:xfrm>
              <a:off x="451104" y="361950"/>
              <a:ext cx="2260085" cy="234696"/>
            </a:xfrm>
            <a:prstGeom prst="rect">
              <a:avLst/>
            </a:prstGeom>
            <a:noFill/>
            <a:ln>
              <a:noFill/>
            </a:ln>
          </p:spPr>
          <p:txBody>
            <a:bodyPr wrap="none" lIns="0" tIns="0" rIns="0" bIns="0" anchor="t" anchorCtr="0">
              <a:spAutoFit/>
            </a:bodyPr>
            <a:lstStyle/>
            <a:p>
              <a:pPr algn="l"/>
              <a:r>
                <a:rPr lang="en-US" sz="1200" dirty="0">
                  <a:solidFill>
                    <a:schemeClr val="accent2"/>
                  </a:solidFill>
                  <a:latin typeface="+mn-lt"/>
                  <a:ea typeface="+mn-ea"/>
                  <a:cs typeface="+mn-cs"/>
                </a:rPr>
                <a:t>02 / GROUNDED EVIDENCE</a:t>
              </a:r>
            </a:p>
          </p:txBody>
        </p:sp>
        <p:sp>
          <p:nvSpPr>
            <p:cNvPr id="3" name="TextBox 3"/>
            <p:cNvSpPr txBox="1"/>
            <p:nvPr/>
          </p:nvSpPr>
          <p:spPr>
            <a:xfrm>
              <a:off x="443484" y="593725"/>
              <a:ext cx="8315029" cy="528066"/>
            </a:xfrm>
            <a:prstGeom prst="rect">
              <a:avLst/>
            </a:prstGeom>
            <a:noFill/>
            <a:ln>
              <a:noFill/>
            </a:ln>
          </p:spPr>
          <p:txBody>
            <a:bodyPr wrap="none" lIns="0" tIns="0" rIns="0" bIns="0" anchor="t" anchorCtr="0">
              <a:spAutoFit/>
            </a:bodyPr>
            <a:lstStyle/>
            <a:p>
              <a:pPr algn="l"/>
              <a:r>
                <a:rPr lang="en-US" sz="2700" dirty="0">
                  <a:solidFill>
                    <a:schemeClr val="accent1"/>
                  </a:solidFill>
                  <a:latin typeface="+mj-lt"/>
                  <a:ea typeface="+mj-ea"/>
                  <a:cs typeface="+mj-cs"/>
                </a:rPr>
                <a:t>Keep evidence intact through the exported artifact</a:t>
              </a:r>
            </a:p>
          </p:txBody>
        </p:sp>
        <p:sp>
          <p:nvSpPr>
            <p:cNvPr id="4" name="TextBox 4"/>
            <p:cNvSpPr txBox="1"/>
            <p:nvPr/>
          </p:nvSpPr>
          <p:spPr>
            <a:xfrm>
              <a:off x="448818" y="1127125"/>
              <a:ext cx="9335285" cy="598932"/>
            </a:xfrm>
            <a:prstGeom prst="rect">
              <a:avLst/>
            </a:prstGeom>
            <a:noFill/>
            <a:ln>
              <a:noFill/>
            </a:ln>
          </p:spPr>
          <p:txBody>
            <a:bodyPr wrap="none" lIns="0" tIns="0" rIns="0" bIns="0" anchor="t" anchorCtr="0">
              <a:spAutoFit/>
            </a:bodyPr>
            <a:lstStyle/>
            <a:p>
              <a:pPr algn="l">
                <a:lnSpc>
                  <a:spcPts val="2175"/>
                </a:lnSpc>
              </a:pPr>
              <a:r>
                <a:rPr lang="en-US" sz="1650" dirty="0">
                  <a:solidFill>
                    <a:schemeClr val="accent5"/>
                  </a:solidFill>
                  <a:latin typeface="+mn-lt"/>
                  <a:ea typeface="+mn-ea"/>
                  <a:cs typeface="+mn-cs"/>
                </a:rPr>
                <a:t>A source-backed chat response is insufficient if the saved workbook, report or presentation becomes</a:t>
              </a:r>
              <a:br>
                <a:rPr lang="en-US" sz="1650" dirty="0">
                  <a:solidFill>
                    <a:schemeClr val="accent5"/>
                  </a:solidFill>
                  <a:latin typeface="+mn-lt"/>
                  <a:ea typeface="+mn-ea"/>
                  <a:cs typeface="+mn-cs"/>
                </a:rPr>
              </a:br>
              <a:r>
                <a:rPr lang="en-US" sz="1650" dirty="0">
                  <a:solidFill>
                    <a:schemeClr val="accent5"/>
                  </a:solidFill>
                  <a:latin typeface="+mn-lt"/>
                  <a:ea typeface="+mn-ea"/>
                  <a:cs typeface="+mn-cs"/>
                </a:rPr>
                <a:t>stale.</a:t>
              </a:r>
            </a:p>
          </p:txBody>
        </p:sp>
      </p:grpSp>
      <p:grpSp>
        <p:nvGrpSpPr>
          <p:cNvPr id="14" name="method-sequence"/>
          <p:cNvGrpSpPr/>
          <p:nvPr/>
        </p:nvGrpSpPr>
        <p:grpSpPr>
          <a:xfrm>
            <a:off x="457200" y="1714500"/>
            <a:ext cx="11277600" cy="533400"/>
            <a:chOff x="457200" y="1714500"/>
            <a:chExt cx="11277600" cy="533400"/>
          </a:xfrm>
        </p:grpSpPr>
        <p:sp>
          <p:nvSpPr>
            <p:cNvPr id="6" name="Rectangle 6"/>
            <p:cNvSpPr/>
            <p:nvPr/>
          </p:nvSpPr>
          <p:spPr>
            <a:xfrm>
              <a:off x="457200" y="1714500"/>
              <a:ext cx="2719388" cy="533400"/>
            </a:xfrm>
            <a:prstGeom prst="rect">
              <a:avLst/>
            </a:prstGeom>
            <a:solidFill>
              <a:schemeClr val="lt2"/>
            </a:solidFill>
            <a:ln>
              <a:noFill/>
            </a:ln>
          </p:spPr>
        </p:sp>
        <p:sp>
          <p:nvSpPr>
            <p:cNvPr id="7" name="TextBox 7"/>
            <p:cNvSpPr txBox="1"/>
            <p:nvPr/>
          </p:nvSpPr>
          <p:spPr>
            <a:xfrm>
              <a:off x="583692" y="1882775"/>
              <a:ext cx="1591053" cy="264033"/>
            </a:xfrm>
            <a:prstGeom prst="rect">
              <a:avLst/>
            </a:prstGeom>
            <a:noFill/>
            <a:ln>
              <a:noFill/>
            </a:ln>
          </p:spPr>
          <p:txBody>
            <a:bodyPr wrap="none" lIns="0" tIns="0" rIns="0" bIns="0" anchor="t" anchorCtr="0">
              <a:spAutoFit/>
            </a:bodyPr>
            <a:lstStyle/>
            <a:p>
              <a:pPr algn="l"/>
              <a:r>
                <a:rPr lang="en-US" sz="1350" b="1" dirty="0">
                  <a:solidFill>
                    <a:schemeClr val="accent2"/>
                  </a:solidFill>
                  <a:latin typeface="+mn-lt"/>
                  <a:ea typeface="+mn-ea"/>
                  <a:cs typeface="+mn-cs"/>
                </a:rPr>
                <a:t>Source + meaning</a:t>
              </a:r>
            </a:p>
          </p:txBody>
        </p:sp>
        <p:sp>
          <p:nvSpPr>
            <p:cNvPr id="8" name="Rectangle 8"/>
            <p:cNvSpPr/>
            <p:nvPr/>
          </p:nvSpPr>
          <p:spPr>
            <a:xfrm>
              <a:off x="3309938" y="1714500"/>
              <a:ext cx="2719388" cy="533400"/>
            </a:xfrm>
            <a:prstGeom prst="rect">
              <a:avLst/>
            </a:prstGeom>
            <a:solidFill>
              <a:schemeClr val="lt2"/>
            </a:solidFill>
            <a:ln>
              <a:noFill/>
            </a:ln>
          </p:spPr>
        </p:sp>
        <p:sp>
          <p:nvSpPr>
            <p:cNvPr id="9" name="TextBox 9"/>
            <p:cNvSpPr txBox="1"/>
            <p:nvPr/>
          </p:nvSpPr>
          <p:spPr>
            <a:xfrm>
              <a:off x="3436429" y="1882775"/>
              <a:ext cx="998246" cy="264033"/>
            </a:xfrm>
            <a:prstGeom prst="rect">
              <a:avLst/>
            </a:prstGeom>
            <a:noFill/>
            <a:ln>
              <a:noFill/>
            </a:ln>
          </p:spPr>
          <p:txBody>
            <a:bodyPr wrap="none" lIns="0" tIns="0" rIns="0" bIns="0" anchor="t" anchorCtr="0">
              <a:spAutoFit/>
            </a:bodyPr>
            <a:lstStyle/>
            <a:p>
              <a:pPr algn="l"/>
              <a:r>
                <a:rPr lang="en-US" sz="1350" b="1" dirty="0">
                  <a:solidFill>
                    <a:schemeClr val="accent2"/>
                  </a:solidFill>
                  <a:latin typeface="+mn-lt"/>
                  <a:ea typeface="+mn-ea"/>
                  <a:cs typeface="+mn-cs"/>
                </a:rPr>
                <a:t>Calculation</a:t>
              </a:r>
            </a:p>
          </p:txBody>
        </p:sp>
        <p:sp>
          <p:nvSpPr>
            <p:cNvPr id="10" name="Rectangle 10"/>
            <p:cNvSpPr/>
            <p:nvPr/>
          </p:nvSpPr>
          <p:spPr>
            <a:xfrm>
              <a:off x="6162675" y="1714500"/>
              <a:ext cx="2719388" cy="533400"/>
            </a:xfrm>
            <a:prstGeom prst="rect">
              <a:avLst/>
            </a:prstGeom>
            <a:solidFill>
              <a:schemeClr val="lt2"/>
            </a:solidFill>
            <a:ln>
              <a:noFill/>
            </a:ln>
          </p:spPr>
        </p:sp>
        <p:sp>
          <p:nvSpPr>
            <p:cNvPr id="11" name="TextBox 11"/>
            <p:cNvSpPr txBox="1"/>
            <p:nvPr/>
          </p:nvSpPr>
          <p:spPr>
            <a:xfrm>
              <a:off x="6289167" y="1882775"/>
              <a:ext cx="645963" cy="264033"/>
            </a:xfrm>
            <a:prstGeom prst="rect">
              <a:avLst/>
            </a:prstGeom>
            <a:noFill/>
            <a:ln>
              <a:noFill/>
            </a:ln>
          </p:spPr>
          <p:txBody>
            <a:bodyPr wrap="none" lIns="0" tIns="0" rIns="0" bIns="0" anchor="t" anchorCtr="0">
              <a:spAutoFit/>
            </a:bodyPr>
            <a:lstStyle/>
            <a:p>
              <a:pPr algn="l"/>
              <a:r>
                <a:rPr lang="en-US" sz="1350" b="1" dirty="0">
                  <a:solidFill>
                    <a:schemeClr val="accent2"/>
                  </a:solidFill>
                  <a:latin typeface="+mn-lt"/>
                  <a:ea typeface="+mn-ea"/>
                  <a:cs typeface="+mn-cs"/>
                </a:rPr>
                <a:t>Review</a:t>
              </a:r>
            </a:p>
          </p:txBody>
        </p:sp>
        <p:sp>
          <p:nvSpPr>
            <p:cNvPr id="12" name="Rectangle 12"/>
            <p:cNvSpPr/>
            <p:nvPr/>
          </p:nvSpPr>
          <p:spPr>
            <a:xfrm>
              <a:off x="9015412" y="1714500"/>
              <a:ext cx="2719388" cy="533400"/>
            </a:xfrm>
            <a:prstGeom prst="rect">
              <a:avLst/>
            </a:prstGeom>
            <a:solidFill>
              <a:schemeClr val="lt2"/>
            </a:solidFill>
            <a:ln>
              <a:noFill/>
            </a:ln>
          </p:spPr>
        </p:sp>
        <p:sp>
          <p:nvSpPr>
            <p:cNvPr id="13" name="TextBox 13"/>
            <p:cNvSpPr txBox="1"/>
            <p:nvPr/>
          </p:nvSpPr>
          <p:spPr>
            <a:xfrm>
              <a:off x="9141904" y="1882775"/>
              <a:ext cx="1331502" cy="264033"/>
            </a:xfrm>
            <a:prstGeom prst="rect">
              <a:avLst/>
            </a:prstGeom>
            <a:noFill/>
            <a:ln>
              <a:noFill/>
            </a:ln>
          </p:spPr>
          <p:txBody>
            <a:bodyPr wrap="none" lIns="0" tIns="0" rIns="0" bIns="0" anchor="t" anchorCtr="0">
              <a:spAutoFit/>
            </a:bodyPr>
            <a:lstStyle/>
            <a:p>
              <a:pPr algn="l"/>
              <a:r>
                <a:rPr lang="en-US" sz="1350" b="1" dirty="0">
                  <a:solidFill>
                    <a:schemeClr val="accent2"/>
                  </a:solidFill>
                  <a:latin typeface="+mn-lt"/>
                  <a:ea typeface="+mn-ea"/>
                  <a:cs typeface="+mn-cs"/>
                </a:rPr>
                <a:t>Current artifact</a:t>
              </a:r>
            </a:p>
          </p:txBody>
        </p:sp>
      </p:grpSp>
      <p:grpSp>
        <p:nvGrpSpPr>
          <p:cNvPr id="17" name="analysis-1"/>
          <p:cNvGrpSpPr/>
          <p:nvPr/>
        </p:nvGrpSpPr>
        <p:grpSpPr>
          <a:xfrm>
            <a:off x="448056" y="2438400"/>
            <a:ext cx="3204515" cy="2969895"/>
            <a:chOff x="448056" y="2438400"/>
            <a:chExt cx="3204515" cy="2969895"/>
          </a:xfrm>
        </p:grpSpPr>
        <p:sp>
          <p:nvSpPr>
            <p:cNvPr id="15" name="TextBox 15"/>
            <p:cNvSpPr txBox="1"/>
            <p:nvPr/>
          </p:nvSpPr>
          <p:spPr>
            <a:xfrm>
              <a:off x="448056" y="2438400"/>
              <a:ext cx="2723219" cy="352044"/>
            </a:xfrm>
            <a:prstGeom prst="rect">
              <a:avLst/>
            </a:prstGeom>
            <a:noFill/>
            <a:ln>
              <a:noFill/>
            </a:ln>
          </p:spPr>
          <p:txBody>
            <a:bodyPr wrap="none" lIns="0" tIns="0" rIns="0" bIns="0" anchor="t" anchorCtr="0">
              <a:spAutoFit/>
            </a:bodyPr>
            <a:lstStyle/>
            <a:p>
              <a:pPr algn="l"/>
              <a:r>
                <a:rPr lang="en-US" sz="1800" dirty="0">
                  <a:solidFill>
                    <a:schemeClr val="accent2"/>
                  </a:solidFill>
                  <a:latin typeface="+mj-lt"/>
                  <a:ea typeface="+mj-ea"/>
                  <a:cs typeface="+mj-cs"/>
                </a:rPr>
                <a:t>Preserve the claim chain</a:t>
              </a:r>
            </a:p>
          </p:txBody>
        </p:sp>
        <p:sp>
          <p:nvSpPr>
            <p:cNvPr id="16" name="TextBox 16"/>
            <p:cNvSpPr txBox="1"/>
            <p:nvPr/>
          </p:nvSpPr>
          <p:spPr>
            <a:xfrm>
              <a:off x="449580" y="3057525"/>
              <a:ext cx="3202991" cy="2350770"/>
            </a:xfrm>
            <a:prstGeom prst="rect">
              <a:avLst/>
            </a:prstGeom>
            <a:noFill/>
            <a:ln>
              <a:noFill/>
            </a:ln>
          </p:spPr>
          <p:txBody>
            <a:bodyPr wrap="none" lIns="0" tIns="0" rIns="0" bIns="0" anchor="t" anchorCtr="0">
              <a:spAutoFit/>
            </a:bodyPr>
            <a:lstStyle/>
            <a:p>
              <a:pPr algn="l">
                <a:lnSpc>
                  <a:spcPts val="2025"/>
                </a:lnSpc>
              </a:pPr>
              <a:r>
                <a:rPr lang="en-US" sz="1500" dirty="0">
                  <a:solidFill>
                    <a:schemeClr val="dk1"/>
                  </a:solidFill>
                  <a:latin typeface="+mn-lt"/>
                  <a:ea typeface="+mn-ea"/>
                  <a:cs typeface="+mn-cs"/>
                </a:rPr>
                <a:t>OpenAI’s finance presentation</a:t>
              </a:r>
              <a:br>
                <a:rPr lang="en-US" sz="1500" dirty="0">
                  <a:solidFill>
                    <a:schemeClr val="dk1"/>
                  </a:solidFill>
                  <a:latin typeface="+mn-lt"/>
                  <a:ea typeface="+mn-ea"/>
                  <a:cs typeface="+mn-cs"/>
                </a:rPr>
              </a:br>
              <a:r>
                <a:rPr lang="en-US" sz="1500" dirty="0">
                  <a:solidFill>
                    <a:schemeClr val="dk1"/>
                  </a:solidFill>
                  <a:latin typeface="+mn-lt"/>
                  <a:ea typeface="+mn-ea"/>
                  <a:cs typeface="+mn-cs"/>
                </a:rPr>
                <a:t>connects source passages and tables</a:t>
              </a:r>
              <a:br>
                <a:rPr lang="en-US" sz="1500" dirty="0">
                  <a:solidFill>
                    <a:schemeClr val="dk1"/>
                  </a:solidFill>
                  <a:latin typeface="+mn-lt"/>
                  <a:ea typeface="+mn-ea"/>
                  <a:cs typeface="+mn-cs"/>
                </a:rPr>
              </a:br>
              <a:r>
                <a:rPr lang="en-US" sz="1500" dirty="0">
                  <a:solidFill>
                    <a:schemeClr val="dk1"/>
                  </a:solidFill>
                  <a:latin typeface="+mn-lt"/>
                  <a:ea typeface="+mn-ea"/>
                  <a:cs typeface="+mn-cs"/>
                </a:rPr>
                <a:t>to charts and reusable artifacts.</a:t>
              </a:r>
              <a:br>
                <a:rPr lang="en-US" sz="1500" dirty="0">
                  <a:solidFill>
                    <a:schemeClr val="dk1"/>
                  </a:solidFill>
                  <a:latin typeface="+mn-lt"/>
                  <a:ea typeface="+mn-ea"/>
                  <a:cs typeface="+mn-cs"/>
                </a:rPr>
              </a:br>
              <a:r>
                <a:rPr lang="en-US" sz="1500" dirty="0">
                  <a:solidFill>
                    <a:schemeClr val="dk1"/>
                  </a:solidFill>
                  <a:latin typeface="+mn-lt"/>
                  <a:ea typeface="+mn-ea"/>
                  <a:cs typeface="+mn-cs"/>
                </a:rPr>
                <a:t>Carry the material value, period,</a:t>
              </a:r>
              <a:br>
                <a:rPr lang="en-US" sz="1500" dirty="0">
                  <a:solidFill>
                    <a:schemeClr val="dk1"/>
                  </a:solidFill>
                  <a:latin typeface="+mn-lt"/>
                  <a:ea typeface="+mn-ea"/>
                  <a:cs typeface="+mn-cs"/>
                </a:rPr>
              </a:br>
              <a:r>
                <a:rPr lang="en-US" sz="1500" dirty="0">
                  <a:solidFill>
                    <a:schemeClr val="dk1"/>
                  </a:solidFill>
                  <a:latin typeface="+mn-lt"/>
                  <a:ea typeface="+mn-ea"/>
                  <a:cs typeface="+mn-cs"/>
                </a:rPr>
                <a:t>unit and source into the</a:t>
              </a:r>
              <a:br>
                <a:rPr lang="en-US" sz="1500" dirty="0">
                  <a:solidFill>
                    <a:schemeClr val="dk1"/>
                  </a:solidFill>
                  <a:latin typeface="+mn-lt"/>
                  <a:ea typeface="+mn-ea"/>
                  <a:cs typeface="+mn-cs"/>
                </a:rPr>
              </a:br>
              <a:r>
                <a:rPr lang="en-US" sz="1500" dirty="0">
                  <a:solidFill>
                    <a:schemeClr val="dk1"/>
                  </a:solidFill>
                  <a:latin typeface="+mn-lt"/>
                  <a:ea typeface="+mn-ea"/>
                  <a:cs typeface="+mn-cs"/>
                </a:rPr>
                <a:t>deliverable. Reconcile the document</a:t>
              </a:r>
              <a:br>
                <a:rPr lang="en-US" sz="1500" dirty="0">
                  <a:solidFill>
                    <a:schemeClr val="dk1"/>
                  </a:solidFill>
                  <a:latin typeface="+mn-lt"/>
                  <a:ea typeface="+mn-ea"/>
                  <a:cs typeface="+mn-cs"/>
                </a:rPr>
              </a:br>
              <a:r>
                <a:rPr lang="en-US" sz="1500" dirty="0">
                  <a:solidFill>
                    <a:schemeClr val="dk1"/>
                  </a:solidFill>
                  <a:latin typeface="+mn-lt"/>
                  <a:ea typeface="+mn-ea"/>
                  <a:cs typeface="+mn-cs"/>
                </a:rPr>
                <a:t>with the current evidence after a</a:t>
              </a:r>
              <a:br>
                <a:rPr lang="en-US" sz="1500" dirty="0">
                  <a:solidFill>
                    <a:schemeClr val="dk1"/>
                  </a:solidFill>
                  <a:latin typeface="+mn-lt"/>
                  <a:ea typeface="+mn-ea"/>
                  <a:cs typeface="+mn-cs"/>
                </a:rPr>
              </a:br>
              <a:r>
                <a:rPr lang="en-US" sz="1500" dirty="0">
                  <a:solidFill>
                    <a:schemeClr val="dk1"/>
                  </a:solidFill>
                  <a:latin typeface="+mn-lt"/>
                  <a:ea typeface="+mn-ea"/>
                  <a:cs typeface="+mn-cs"/>
                </a:rPr>
                <a:t>correction rather than treating</a:t>
              </a:r>
              <a:br>
                <a:rPr lang="en-US" sz="1500" dirty="0">
                  <a:solidFill>
                    <a:schemeClr val="dk1"/>
                  </a:solidFill>
                  <a:latin typeface="+mn-lt"/>
                  <a:ea typeface="+mn-ea"/>
                  <a:cs typeface="+mn-cs"/>
                </a:rPr>
              </a:br>
              <a:r>
                <a:rPr lang="en-US" sz="1500" dirty="0">
                  <a:solidFill>
                    <a:schemeClr val="dk1"/>
                  </a:solidFill>
                  <a:latin typeface="+mn-lt"/>
                  <a:ea typeface="+mn-ea"/>
                  <a:cs typeface="+mn-cs"/>
                </a:rPr>
                <a:t>export as a cosmetic step.</a:t>
              </a:r>
            </a:p>
          </p:txBody>
        </p:sp>
      </p:grpSp>
      <p:grpSp>
        <p:nvGrpSpPr>
          <p:cNvPr id="20" name="analysis-2"/>
          <p:cNvGrpSpPr/>
          <p:nvPr/>
        </p:nvGrpSpPr>
        <p:grpSpPr>
          <a:xfrm>
            <a:off x="4296156" y="2438400"/>
            <a:ext cx="3098483" cy="3227070"/>
            <a:chOff x="4296156" y="2438400"/>
            <a:chExt cx="3098483" cy="3227070"/>
          </a:xfrm>
        </p:grpSpPr>
        <p:sp>
          <p:nvSpPr>
            <p:cNvPr id="18" name="TextBox 18"/>
            <p:cNvSpPr txBox="1"/>
            <p:nvPr/>
          </p:nvSpPr>
          <p:spPr>
            <a:xfrm>
              <a:off x="4296156" y="2438400"/>
              <a:ext cx="2872301" cy="352044"/>
            </a:xfrm>
            <a:prstGeom prst="rect">
              <a:avLst/>
            </a:prstGeom>
            <a:noFill/>
            <a:ln>
              <a:noFill/>
            </a:ln>
          </p:spPr>
          <p:txBody>
            <a:bodyPr wrap="none" lIns="0" tIns="0" rIns="0" bIns="0" anchor="t" anchorCtr="0">
              <a:spAutoFit/>
            </a:bodyPr>
            <a:lstStyle/>
            <a:p>
              <a:pPr algn="l"/>
              <a:r>
                <a:rPr lang="en-US" sz="1800" dirty="0">
                  <a:solidFill>
                    <a:schemeClr val="accent2"/>
                  </a:solidFill>
                  <a:latin typeface="+mj-lt"/>
                  <a:ea typeface="+mj-ea"/>
                  <a:cs typeface="+mj-cs"/>
                </a:rPr>
                <a:t>Check collaborative scope</a:t>
              </a:r>
            </a:p>
          </p:txBody>
        </p:sp>
        <p:sp>
          <p:nvSpPr>
            <p:cNvPr id="19" name="TextBox 19"/>
            <p:cNvSpPr txBox="1"/>
            <p:nvPr/>
          </p:nvSpPr>
          <p:spPr>
            <a:xfrm>
              <a:off x="4297680" y="3057525"/>
              <a:ext cx="3096959" cy="2607945"/>
            </a:xfrm>
            <a:prstGeom prst="rect">
              <a:avLst/>
            </a:prstGeom>
            <a:noFill/>
            <a:ln>
              <a:noFill/>
            </a:ln>
          </p:spPr>
          <p:txBody>
            <a:bodyPr wrap="none" lIns="0" tIns="0" rIns="0" bIns="0" anchor="t" anchorCtr="0">
              <a:spAutoFit/>
            </a:bodyPr>
            <a:lstStyle/>
            <a:p>
              <a:pPr algn="l">
                <a:lnSpc>
                  <a:spcPts val="2025"/>
                </a:lnSpc>
              </a:pPr>
              <a:r>
                <a:rPr lang="en-US" sz="1500" dirty="0">
                  <a:solidFill>
                    <a:schemeClr val="dk1"/>
                  </a:solidFill>
                  <a:latin typeface="+mn-lt"/>
                  <a:ea typeface="+mn-ea"/>
                  <a:cs typeface="+mn-cs"/>
                </a:rPr>
                <a:t>Compound AI describes shared deal</a:t>
              </a:r>
              <a:br>
                <a:rPr lang="en-US" sz="1500" dirty="0">
                  <a:solidFill>
                    <a:schemeClr val="dk1"/>
                  </a:solidFill>
                  <a:latin typeface="+mn-lt"/>
                  <a:ea typeface="+mn-ea"/>
                  <a:cs typeface="+mn-cs"/>
                </a:rPr>
              </a:br>
              <a:r>
                <a:rPr lang="en-US" sz="1500" dirty="0">
                  <a:solidFill>
                    <a:schemeClr val="dk1"/>
                  </a:solidFill>
                  <a:latin typeface="+mn-lt"/>
                  <a:ea typeface="+mn-ea"/>
                  <a:cs typeface="+mn-cs"/>
                </a:rPr>
                <a:t>threads, an agent inbox and longer</a:t>
              </a:r>
              <a:br>
                <a:rPr lang="en-US" sz="1500" dirty="0">
                  <a:solidFill>
                    <a:schemeClr val="dk1"/>
                  </a:solidFill>
                  <a:latin typeface="+mn-lt"/>
                  <a:ea typeface="+mn-ea"/>
                  <a:cs typeface="+mn-cs"/>
                </a:rPr>
              </a:br>
              <a:r>
                <a:rPr lang="en-US" sz="1500" dirty="0">
                  <a:solidFill>
                    <a:schemeClr val="dk1"/>
                  </a:solidFill>
                  <a:latin typeface="+mn-lt"/>
                  <a:ea typeface="+mn-ea"/>
                  <a:cs typeface="+mn-cs"/>
                </a:rPr>
                <a:t>artifact work. Permissions must</a:t>
              </a:r>
              <a:br>
                <a:rPr lang="en-US" sz="1500" dirty="0">
                  <a:solidFill>
                    <a:schemeClr val="dk1"/>
                  </a:solidFill>
                  <a:latin typeface="+mn-lt"/>
                  <a:ea typeface="+mn-ea"/>
                  <a:cs typeface="+mn-cs"/>
                </a:rPr>
              </a:br>
              <a:r>
                <a:rPr lang="en-US" sz="1500" dirty="0">
                  <a:solidFill>
                    <a:schemeClr val="dk1"/>
                  </a:solidFill>
                  <a:latin typeface="+mn-lt"/>
                  <a:ea typeface="+mn-ea"/>
                  <a:cs typeface="+mn-cs"/>
                </a:rPr>
                <a:t>follow participants and source</a:t>
              </a:r>
              <a:br>
                <a:rPr lang="en-US" sz="1500" dirty="0">
                  <a:solidFill>
                    <a:schemeClr val="dk1"/>
                  </a:solidFill>
                  <a:latin typeface="+mn-lt"/>
                  <a:ea typeface="+mn-ea"/>
                  <a:cs typeface="+mn-cs"/>
                </a:rPr>
              </a:br>
              <a:r>
                <a:rPr lang="en-US" sz="1500" dirty="0">
                  <a:solidFill>
                    <a:schemeClr val="dk1"/>
                  </a:solidFill>
                  <a:latin typeface="+mn-lt"/>
                  <a:ea typeface="+mn-ea"/>
                  <a:cs typeface="+mn-cs"/>
                </a:rPr>
                <a:t>material, not only the connector.</a:t>
              </a:r>
              <a:br>
                <a:rPr lang="en-US" sz="1500" dirty="0">
                  <a:solidFill>
                    <a:schemeClr val="dk1"/>
                  </a:solidFill>
                  <a:latin typeface="+mn-lt"/>
                  <a:ea typeface="+mn-ea"/>
                  <a:cs typeface="+mn-cs"/>
                </a:rPr>
              </a:br>
              <a:r>
                <a:rPr lang="en-US" sz="1500" dirty="0">
                  <a:solidFill>
                    <a:schemeClr val="dk1"/>
                  </a:solidFill>
                  <a:latin typeface="+mn-lt"/>
                  <a:ea typeface="+mn-ea"/>
                  <a:cs typeface="+mn-cs"/>
                </a:rPr>
                <a:t>Inspect workbook depth, file</a:t>
              </a:r>
              <a:br>
                <a:rPr lang="en-US" sz="1500" dirty="0">
                  <a:solidFill>
                    <a:schemeClr val="dk1"/>
                  </a:solidFill>
                  <a:latin typeface="+mn-lt"/>
                  <a:ea typeface="+mn-ea"/>
                  <a:cs typeface="+mn-cs"/>
                </a:rPr>
              </a:br>
              <a:r>
                <a:rPr lang="en-US" sz="1500" dirty="0">
                  <a:solidFill>
                    <a:schemeClr val="dk1"/>
                  </a:solidFill>
                  <a:latin typeface="+mn-lt"/>
                  <a:ea typeface="+mn-ea"/>
                  <a:cs typeface="+mn-cs"/>
                </a:rPr>
                <a:t>coverage and final fidelity</a:t>
              </a:r>
              <a:br>
                <a:rPr lang="en-US" sz="1500" dirty="0">
                  <a:solidFill>
                    <a:schemeClr val="dk1"/>
                  </a:solidFill>
                  <a:latin typeface="+mn-lt"/>
                  <a:ea typeface="+mn-ea"/>
                  <a:cs typeface="+mn-cs"/>
                </a:rPr>
              </a:br>
              <a:r>
                <a:rPr lang="en-US" sz="1500" dirty="0">
                  <a:solidFill>
                    <a:schemeClr val="dk1"/>
                  </a:solidFill>
                  <a:latin typeface="+mn-lt"/>
                  <a:ea typeface="+mn-ea"/>
                  <a:cs typeface="+mn-cs"/>
                </a:rPr>
                <a:t>separately; vendor architecture is</a:t>
              </a:r>
              <a:br>
                <a:rPr lang="en-US" sz="1500" dirty="0">
                  <a:solidFill>
                    <a:schemeClr val="dk1"/>
                  </a:solidFill>
                  <a:latin typeface="+mn-lt"/>
                  <a:ea typeface="+mn-ea"/>
                  <a:cs typeface="+mn-cs"/>
                </a:rPr>
              </a:br>
              <a:r>
                <a:rPr lang="en-US" sz="1500" dirty="0">
                  <a:solidFill>
                    <a:schemeClr val="dk1"/>
                  </a:solidFill>
                  <a:latin typeface="+mn-lt"/>
                  <a:ea typeface="+mn-ea"/>
                  <a:cs typeface="+mn-cs"/>
                </a:rPr>
                <a:t>not independently verified Office</a:t>
              </a:r>
              <a:br>
                <a:rPr lang="en-US" sz="1500" dirty="0">
                  <a:solidFill>
                    <a:schemeClr val="dk1"/>
                  </a:solidFill>
                  <a:latin typeface="+mn-lt"/>
                  <a:ea typeface="+mn-ea"/>
                  <a:cs typeface="+mn-cs"/>
                </a:rPr>
              </a:br>
              <a:r>
                <a:rPr lang="en-US" sz="1500" dirty="0">
                  <a:solidFill>
                    <a:schemeClr val="dk1"/>
                  </a:solidFill>
                  <a:latin typeface="+mn-lt"/>
                  <a:ea typeface="+mn-ea"/>
                  <a:cs typeface="+mn-cs"/>
                </a:rPr>
                <a:t>parity.</a:t>
              </a:r>
            </a:p>
          </p:txBody>
        </p:sp>
      </p:grpSp>
      <p:grpSp>
        <p:nvGrpSpPr>
          <p:cNvPr id="23" name="analysis-3"/>
          <p:cNvGrpSpPr/>
          <p:nvPr/>
        </p:nvGrpSpPr>
        <p:grpSpPr>
          <a:xfrm>
            <a:off x="8144256" y="2438400"/>
            <a:ext cx="3108770" cy="2969895"/>
            <a:chOff x="8144256" y="2438400"/>
            <a:chExt cx="3108770" cy="2969895"/>
          </a:xfrm>
        </p:grpSpPr>
        <p:sp>
          <p:nvSpPr>
            <p:cNvPr id="21" name="TextBox 21"/>
            <p:cNvSpPr txBox="1"/>
            <p:nvPr/>
          </p:nvSpPr>
          <p:spPr>
            <a:xfrm>
              <a:off x="8144256" y="2438400"/>
              <a:ext cx="2500998" cy="656844"/>
            </a:xfrm>
            <a:prstGeom prst="rect">
              <a:avLst/>
            </a:prstGeom>
            <a:noFill/>
            <a:ln>
              <a:noFill/>
            </a:ln>
          </p:spPr>
          <p:txBody>
            <a:bodyPr wrap="none" lIns="0" tIns="0" rIns="0" bIns="0" anchor="t" anchorCtr="0">
              <a:spAutoFit/>
            </a:bodyPr>
            <a:lstStyle/>
            <a:p>
              <a:pPr algn="l">
                <a:lnSpc>
                  <a:spcPts val="2400"/>
                </a:lnSpc>
              </a:pPr>
              <a:r>
                <a:rPr lang="en-US" sz="1800" dirty="0">
                  <a:solidFill>
                    <a:schemeClr val="accent2"/>
                  </a:solidFill>
                  <a:latin typeface="+mj-lt"/>
                  <a:ea typeface="+mj-ea"/>
                  <a:cs typeface="+mj-cs"/>
                </a:rPr>
                <a:t>Review the current saved</a:t>
              </a:r>
              <a:br>
                <a:rPr lang="en-US" sz="1800" dirty="0">
                  <a:solidFill>
                    <a:schemeClr val="accent2"/>
                  </a:solidFill>
                  <a:latin typeface="+mj-lt"/>
                  <a:ea typeface="+mj-ea"/>
                  <a:cs typeface="+mj-cs"/>
                </a:rPr>
              </a:br>
              <a:r>
                <a:rPr lang="en-US" sz="1800" dirty="0">
                  <a:solidFill>
                    <a:schemeClr val="accent2"/>
                  </a:solidFill>
                  <a:latin typeface="+mj-lt"/>
                  <a:ea typeface="+mj-ea"/>
                  <a:cs typeface="+mj-cs"/>
                </a:rPr>
                <a:t>artifact</a:t>
              </a:r>
            </a:p>
          </p:txBody>
        </p:sp>
        <p:sp>
          <p:nvSpPr>
            <p:cNvPr id="22" name="TextBox 22"/>
            <p:cNvSpPr txBox="1"/>
            <p:nvPr/>
          </p:nvSpPr>
          <p:spPr>
            <a:xfrm>
              <a:off x="8145780" y="3057525"/>
              <a:ext cx="3107246" cy="2350770"/>
            </a:xfrm>
            <a:prstGeom prst="rect">
              <a:avLst/>
            </a:prstGeom>
            <a:noFill/>
            <a:ln>
              <a:noFill/>
            </a:ln>
          </p:spPr>
          <p:txBody>
            <a:bodyPr wrap="none" lIns="0" tIns="0" rIns="0" bIns="0" anchor="t" anchorCtr="0">
              <a:spAutoFit/>
            </a:bodyPr>
            <a:lstStyle/>
            <a:p>
              <a:pPr algn="l">
                <a:lnSpc>
                  <a:spcPts val="2025"/>
                </a:lnSpc>
              </a:pPr>
              <a:r>
                <a:rPr lang="en-US" sz="1500" dirty="0">
                  <a:solidFill>
                    <a:schemeClr val="dk1"/>
                  </a:solidFill>
                  <a:latin typeface="+mn-lt"/>
                  <a:ea typeface="+mn-ea"/>
                  <a:cs typeface="+mn-cs"/>
                </a:rPr>
                <a:t>Use a write–render–check–fix loop</a:t>
              </a:r>
              <a:br>
                <a:rPr lang="en-US" sz="1500" dirty="0">
                  <a:solidFill>
                    <a:schemeClr val="dk1"/>
                  </a:solidFill>
                  <a:latin typeface="+mn-lt"/>
                  <a:ea typeface="+mn-ea"/>
                  <a:cs typeface="+mn-cs"/>
                </a:rPr>
              </a:br>
              <a:r>
                <a:rPr lang="en-US" sz="1500" dirty="0">
                  <a:solidFill>
                    <a:schemeClr val="dk1"/>
                  </a:solidFill>
                  <a:latin typeface="+mn-lt"/>
                  <a:ea typeface="+mn-ea"/>
                  <a:cs typeface="+mn-cs"/>
                </a:rPr>
                <a:t>and inspect again after the final</a:t>
              </a:r>
              <a:br>
                <a:rPr lang="en-US" sz="1500" dirty="0">
                  <a:solidFill>
                    <a:schemeClr val="dk1"/>
                  </a:solidFill>
                  <a:latin typeface="+mn-lt"/>
                  <a:ea typeface="+mn-ea"/>
                  <a:cs typeface="+mn-cs"/>
                </a:rPr>
              </a:br>
              <a:r>
                <a:rPr lang="en-US" sz="1500" dirty="0">
                  <a:solidFill>
                    <a:schemeClr val="dk1"/>
                  </a:solidFill>
                  <a:latin typeface="+mn-lt"/>
                  <a:ea typeface="+mn-ea"/>
                  <a:cs typeface="+mn-cs"/>
                </a:rPr>
                <a:t>edit. Our acceptance contract</a:t>
              </a:r>
              <a:br>
                <a:rPr lang="en-US" sz="1500" dirty="0">
                  <a:solidFill>
                    <a:schemeClr val="dk1"/>
                  </a:solidFill>
                  <a:latin typeface="+mn-lt"/>
                  <a:ea typeface="+mn-ea"/>
                  <a:cs typeface="+mn-cs"/>
                </a:rPr>
              </a:br>
              <a:r>
                <a:rPr lang="en-US" sz="1500" dirty="0">
                  <a:solidFill>
                    <a:schemeClr val="dk1"/>
                  </a:solidFill>
                  <a:latin typeface="+mn-lt"/>
                  <a:ea typeface="+mn-ea"/>
                  <a:cs typeface="+mn-cs"/>
                </a:rPr>
                <a:t>checks the actual report the team</a:t>
              </a:r>
              <a:br>
                <a:rPr lang="en-US" sz="1500" dirty="0">
                  <a:solidFill>
                    <a:schemeClr val="dk1"/>
                  </a:solidFill>
                  <a:latin typeface="+mn-lt"/>
                  <a:ea typeface="+mn-ea"/>
                  <a:cs typeface="+mn-cs"/>
                </a:rPr>
              </a:br>
              <a:r>
                <a:rPr lang="en-US" sz="1500" dirty="0">
                  <a:solidFill>
                    <a:schemeClr val="dk1"/>
                  </a:solidFill>
                  <a:latin typeface="+mn-lt"/>
                  <a:ea typeface="+mn-ea"/>
                  <a:cs typeface="+mn-cs"/>
                </a:rPr>
                <a:t>will share, including stale</a:t>
              </a:r>
              <a:br>
                <a:rPr lang="en-US" sz="1500" dirty="0">
                  <a:solidFill>
                    <a:schemeClr val="dk1"/>
                  </a:solidFill>
                  <a:latin typeface="+mn-lt"/>
                  <a:ea typeface="+mn-ea"/>
                  <a:cs typeface="+mn-cs"/>
                </a:rPr>
              </a:br>
              <a:r>
                <a:rPr lang="en-US" sz="1500" dirty="0">
                  <a:solidFill>
                    <a:schemeClr val="dk1"/>
                  </a:solidFill>
                  <a:latin typeface="+mn-lt"/>
                  <a:ea typeface="+mn-ea"/>
                  <a:cs typeface="+mn-cs"/>
                </a:rPr>
                <a:t>sources, truncated tables and</a:t>
              </a:r>
              <a:br>
                <a:rPr lang="en-US" sz="1500" dirty="0">
                  <a:solidFill>
                    <a:schemeClr val="dk1"/>
                  </a:solidFill>
                  <a:latin typeface="+mn-lt"/>
                  <a:ea typeface="+mn-ea"/>
                  <a:cs typeface="+mn-cs"/>
                </a:rPr>
              </a:br>
              <a:r>
                <a:rPr lang="en-US" sz="1500" dirty="0">
                  <a:solidFill>
                    <a:schemeClr val="dk1"/>
                  </a:solidFill>
                  <a:latin typeface="+mn-lt"/>
                  <a:ea typeface="+mn-ea"/>
                  <a:cs typeface="+mn-cs"/>
                </a:rPr>
                <a:t>missing caveats. Passing code or an</a:t>
              </a:r>
              <a:br>
                <a:rPr lang="en-US" sz="1500" dirty="0">
                  <a:solidFill>
                    <a:schemeClr val="dk1"/>
                  </a:solidFill>
                  <a:latin typeface="+mn-lt"/>
                  <a:ea typeface="+mn-ea"/>
                  <a:cs typeface="+mn-cs"/>
                </a:rPr>
              </a:br>
              <a:r>
                <a:rPr lang="en-US" sz="1500" dirty="0">
                  <a:solidFill>
                    <a:schemeClr val="dk1"/>
                  </a:solidFill>
                  <a:latin typeface="+mn-lt"/>
                  <a:ea typeface="+mn-ea"/>
                  <a:cs typeface="+mn-cs"/>
                </a:rPr>
                <a:t>older preview cannot establish that</a:t>
              </a:r>
              <a:br>
                <a:rPr lang="en-US" sz="1500" dirty="0">
                  <a:solidFill>
                    <a:schemeClr val="dk1"/>
                  </a:solidFill>
                  <a:latin typeface="+mn-lt"/>
                  <a:ea typeface="+mn-ea"/>
                  <a:cs typeface="+mn-cs"/>
                </a:rPr>
              </a:br>
              <a:r>
                <a:rPr lang="en-US" sz="1500" dirty="0">
                  <a:solidFill>
                    <a:schemeClr val="dk1"/>
                  </a:solidFill>
                  <a:latin typeface="+mn-lt"/>
                  <a:ea typeface="+mn-ea"/>
                  <a:cs typeface="+mn-cs"/>
                </a:rPr>
                <a:t>the current artifact is usable.</a:t>
              </a:r>
            </a:p>
          </p:txBody>
        </p:sp>
      </p:grpSp>
      <p:grpSp>
        <p:nvGrpSpPr>
          <p:cNvPr id="26" name="footer"/>
          <p:cNvGrpSpPr/>
          <p:nvPr/>
        </p:nvGrpSpPr>
        <p:grpSpPr>
          <a:xfrm>
            <a:off x="452438" y="6477000"/>
            <a:ext cx="11287124" cy="176212"/>
            <a:chOff x="452438" y="6477000"/>
            <a:chExt cx="11287124" cy="176212"/>
          </a:xfrm>
        </p:grpSpPr>
        <p:sp>
          <p:nvSpPr>
            <p:cNvPr id="24" name="TextBox 24"/>
            <p:cNvSpPr txBox="1"/>
            <p:nvPr/>
          </p:nvSpPr>
          <p:spPr>
            <a:xfrm>
              <a:off x="452438" y="6477000"/>
              <a:ext cx="3426727" cy="176212"/>
            </a:xfrm>
            <a:prstGeom prst="rect">
              <a:avLst/>
            </a:prstGeom>
            <a:noFill/>
            <a:ln>
              <a:noFill/>
            </a:ln>
          </p:spPr>
          <p:txBody>
            <a:bodyPr wrap="none" lIns="0" tIns="0" rIns="0" bIns="0" anchor="t" anchorCtr="0">
              <a:spAutoFit/>
            </a:bodyPr>
            <a:lstStyle/>
            <a:p>
              <a:pPr algn="l"/>
              <a:r>
                <a:rPr lang="en-US" sz="900" dirty="0">
                  <a:solidFill>
                    <a:schemeClr val="accent5"/>
                  </a:solidFill>
                  <a:latin typeface="+mn-lt"/>
                  <a:ea typeface="+mn-ea"/>
                  <a:cs typeface="+mn-cs"/>
                </a:rPr>
                <a:t>Sources: OpenAI · Compound AI | Reviewed October 25, 2026</a:t>
              </a:r>
            </a:p>
          </p:txBody>
        </p:sp>
        <p:sp>
          <p:nvSpPr>
            <p:cNvPr id="25" name="TextBox 25"/>
            <p:cNvSpPr txBox="1"/>
            <p:nvPr/>
          </p:nvSpPr>
          <p:spPr>
            <a:xfrm>
              <a:off x="11359512" y="6477000"/>
              <a:ext cx="380050" cy="176212"/>
            </a:xfrm>
            <a:prstGeom prst="rect">
              <a:avLst/>
            </a:prstGeom>
            <a:noFill/>
            <a:ln>
              <a:noFill/>
            </a:ln>
          </p:spPr>
          <p:txBody>
            <a:bodyPr wrap="none" lIns="0" tIns="0" rIns="0" bIns="0" anchor="t" anchorCtr="0">
              <a:spAutoFit/>
            </a:bodyPr>
            <a:lstStyle/>
            <a:p>
              <a:pPr algn="r"/>
              <a:r>
                <a:rPr lang="en-US" sz="900" dirty="0">
                  <a:solidFill>
                    <a:schemeClr val="accent5"/>
                  </a:solidFill>
                  <a:latin typeface="+mn-lt"/>
                  <a:ea typeface="+mn-ea"/>
                  <a:cs typeface="+mn-cs"/>
                </a:rPr>
                <a:t>12 / 37</a:t>
              </a:r>
            </a:p>
          </p:txBody>
        </p:sp>
      </p:grpSp>
    </p:spTree>
  </p:cSld>
  <p:clrMapOvr>
    <a:masterClrMapping/>
  </p:clrMapOvr>
  <p:transition xmlns:p14="http://schemas.microsoft.com/office/powerpoint/2010/main" p14:dur="400">
    <p:fade/>
  </p:transition>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5" name="title"/>
          <p:cNvGrpSpPr/>
          <p:nvPr/>
        </p:nvGrpSpPr>
        <p:grpSpPr>
          <a:xfrm>
            <a:off x="443484" y="361950"/>
            <a:ext cx="10252938" cy="1100582"/>
            <a:chOff x="443484" y="361950"/>
            <a:chExt cx="10252938" cy="1100582"/>
          </a:xfrm>
        </p:grpSpPr>
        <p:sp>
          <p:nvSpPr>
            <p:cNvPr id="2" name="TextBox 2"/>
            <p:cNvSpPr txBox="1"/>
            <p:nvPr/>
          </p:nvSpPr>
          <p:spPr>
            <a:xfrm>
              <a:off x="451104" y="361950"/>
              <a:ext cx="2668029" cy="234696"/>
            </a:xfrm>
            <a:prstGeom prst="rect">
              <a:avLst/>
            </a:prstGeom>
            <a:noFill/>
            <a:ln>
              <a:noFill/>
            </a:ln>
          </p:spPr>
          <p:txBody>
            <a:bodyPr wrap="none" lIns="0" tIns="0" rIns="0" bIns="0" anchor="t" anchorCtr="0">
              <a:spAutoFit/>
            </a:bodyPr>
            <a:lstStyle/>
            <a:p>
              <a:pPr algn="l"/>
              <a:r>
                <a:rPr lang="en-US" sz="1200" dirty="0">
                  <a:solidFill>
                    <a:schemeClr val="accent2"/>
                  </a:solidFill>
                  <a:latin typeface="+mn-lt"/>
                  <a:ea typeface="+mn-ea"/>
                  <a:cs typeface="+mn-cs"/>
                </a:rPr>
                <a:t>03 / EVALUATION ENGINEERING</a:t>
              </a:r>
            </a:p>
          </p:txBody>
        </p:sp>
        <p:sp>
          <p:nvSpPr>
            <p:cNvPr id="3" name="TextBox 3"/>
            <p:cNvSpPr txBox="1"/>
            <p:nvPr/>
          </p:nvSpPr>
          <p:spPr>
            <a:xfrm>
              <a:off x="443484" y="593725"/>
              <a:ext cx="7558831" cy="528066"/>
            </a:xfrm>
            <a:prstGeom prst="rect">
              <a:avLst/>
            </a:prstGeom>
            <a:noFill/>
            <a:ln>
              <a:noFill/>
            </a:ln>
          </p:spPr>
          <p:txBody>
            <a:bodyPr wrap="none" lIns="0" tIns="0" rIns="0" bIns="0" anchor="t" anchorCtr="0">
              <a:spAutoFit/>
            </a:bodyPr>
            <a:lstStyle/>
            <a:p>
              <a:pPr algn="l"/>
              <a:r>
                <a:rPr lang="en-US" sz="2700" dirty="0">
                  <a:solidFill>
                    <a:schemeClr val="accent1"/>
                  </a:solidFill>
                  <a:latin typeface="+mj-lt"/>
                  <a:ea typeface="+mj-ea"/>
                  <a:cs typeface="+mj-cs"/>
                </a:rPr>
                <a:t>Evaluate the outcome, behavior and authority</a:t>
              </a:r>
            </a:p>
          </p:txBody>
        </p:sp>
        <p:sp>
          <p:nvSpPr>
            <p:cNvPr id="4" name="TextBox 4"/>
            <p:cNvSpPr txBox="1"/>
            <p:nvPr/>
          </p:nvSpPr>
          <p:spPr>
            <a:xfrm>
              <a:off x="448818" y="1139825"/>
              <a:ext cx="10247604" cy="322707"/>
            </a:xfrm>
            <a:prstGeom prst="rect">
              <a:avLst/>
            </a:prstGeom>
            <a:noFill/>
            <a:ln>
              <a:noFill/>
            </a:ln>
          </p:spPr>
          <p:txBody>
            <a:bodyPr wrap="none" lIns="0" tIns="0" rIns="0" bIns="0" anchor="t" anchorCtr="0">
              <a:spAutoFit/>
            </a:bodyPr>
            <a:lstStyle/>
            <a:p>
              <a:pPr algn="l"/>
              <a:r>
                <a:rPr lang="en-US" sz="1650" dirty="0">
                  <a:solidFill>
                    <a:schemeClr val="accent5"/>
                  </a:solidFill>
                  <a:latin typeface="+mn-lt"/>
                  <a:ea typeface="+mn-ea"/>
                  <a:cs typeface="+mn-cs"/>
                </a:rPr>
                <a:t>A correct total cannot compensate for fabricated evidence, a prohibited shortcut or an unapproved send.</a:t>
              </a:r>
            </a:p>
          </p:txBody>
        </p:sp>
      </p:grpSp>
      <p:grpSp>
        <p:nvGrpSpPr>
          <p:cNvPr id="14" name="method-sequence"/>
          <p:cNvGrpSpPr/>
          <p:nvPr/>
        </p:nvGrpSpPr>
        <p:grpSpPr>
          <a:xfrm>
            <a:off x="457200" y="1714500"/>
            <a:ext cx="11277600" cy="533400"/>
            <a:chOff x="457200" y="1714500"/>
            <a:chExt cx="11277600" cy="533400"/>
          </a:xfrm>
        </p:grpSpPr>
        <p:sp>
          <p:nvSpPr>
            <p:cNvPr id="6" name="Rectangle 6"/>
            <p:cNvSpPr/>
            <p:nvPr/>
          </p:nvSpPr>
          <p:spPr>
            <a:xfrm>
              <a:off x="457200" y="1714500"/>
              <a:ext cx="2719388" cy="533400"/>
            </a:xfrm>
            <a:prstGeom prst="rect">
              <a:avLst/>
            </a:prstGeom>
            <a:solidFill>
              <a:schemeClr val="lt2"/>
            </a:solidFill>
            <a:ln>
              <a:noFill/>
            </a:ln>
          </p:spPr>
        </p:sp>
        <p:sp>
          <p:nvSpPr>
            <p:cNvPr id="7" name="TextBox 7"/>
            <p:cNvSpPr txBox="1"/>
            <p:nvPr/>
          </p:nvSpPr>
          <p:spPr>
            <a:xfrm>
              <a:off x="583692" y="1882775"/>
              <a:ext cx="807733" cy="264033"/>
            </a:xfrm>
            <a:prstGeom prst="rect">
              <a:avLst/>
            </a:prstGeom>
            <a:noFill/>
            <a:ln>
              <a:noFill/>
            </a:ln>
          </p:spPr>
          <p:txBody>
            <a:bodyPr wrap="none" lIns="0" tIns="0" rIns="0" bIns="0" anchor="t" anchorCtr="0">
              <a:spAutoFit/>
            </a:bodyPr>
            <a:lstStyle/>
            <a:p>
              <a:pPr algn="l"/>
              <a:r>
                <a:rPr lang="en-US" sz="1350" b="1" dirty="0">
                  <a:solidFill>
                    <a:schemeClr val="accent2"/>
                  </a:solidFill>
                  <a:latin typeface="+mn-lt"/>
                  <a:ea typeface="+mn-ea"/>
                  <a:cs typeface="+mn-cs"/>
                </a:rPr>
                <a:t>Outcome</a:t>
              </a:r>
            </a:p>
          </p:txBody>
        </p:sp>
        <p:sp>
          <p:nvSpPr>
            <p:cNvPr id="8" name="Rectangle 8"/>
            <p:cNvSpPr/>
            <p:nvPr/>
          </p:nvSpPr>
          <p:spPr>
            <a:xfrm>
              <a:off x="3309938" y="1714500"/>
              <a:ext cx="2719388" cy="533400"/>
            </a:xfrm>
            <a:prstGeom prst="rect">
              <a:avLst/>
            </a:prstGeom>
            <a:solidFill>
              <a:schemeClr val="lt2"/>
            </a:solidFill>
            <a:ln>
              <a:noFill/>
            </a:ln>
          </p:spPr>
        </p:sp>
        <p:sp>
          <p:nvSpPr>
            <p:cNvPr id="9" name="TextBox 9"/>
            <p:cNvSpPr txBox="1"/>
            <p:nvPr/>
          </p:nvSpPr>
          <p:spPr>
            <a:xfrm>
              <a:off x="3436429" y="1882775"/>
              <a:ext cx="796944" cy="264033"/>
            </a:xfrm>
            <a:prstGeom prst="rect">
              <a:avLst/>
            </a:prstGeom>
            <a:noFill/>
            <a:ln>
              <a:noFill/>
            </a:ln>
          </p:spPr>
          <p:txBody>
            <a:bodyPr wrap="none" lIns="0" tIns="0" rIns="0" bIns="0" anchor="t" anchorCtr="0">
              <a:spAutoFit/>
            </a:bodyPr>
            <a:lstStyle/>
            <a:p>
              <a:pPr algn="l"/>
              <a:r>
                <a:rPr lang="en-US" sz="1350" b="1" dirty="0">
                  <a:solidFill>
                    <a:schemeClr val="accent2"/>
                  </a:solidFill>
                  <a:latin typeface="+mn-lt"/>
                  <a:ea typeface="+mn-ea"/>
                  <a:cs typeface="+mn-cs"/>
                </a:rPr>
                <a:t>Behavior</a:t>
              </a:r>
            </a:p>
          </p:txBody>
        </p:sp>
        <p:sp>
          <p:nvSpPr>
            <p:cNvPr id="10" name="Rectangle 10"/>
            <p:cNvSpPr/>
            <p:nvPr/>
          </p:nvSpPr>
          <p:spPr>
            <a:xfrm>
              <a:off x="6162675" y="1714500"/>
              <a:ext cx="2719388" cy="533400"/>
            </a:xfrm>
            <a:prstGeom prst="rect">
              <a:avLst/>
            </a:prstGeom>
            <a:solidFill>
              <a:schemeClr val="lt2"/>
            </a:solidFill>
            <a:ln>
              <a:noFill/>
            </a:ln>
          </p:spPr>
        </p:sp>
        <p:sp>
          <p:nvSpPr>
            <p:cNvPr id="11" name="TextBox 11"/>
            <p:cNvSpPr txBox="1"/>
            <p:nvPr/>
          </p:nvSpPr>
          <p:spPr>
            <a:xfrm>
              <a:off x="6289167" y="1882775"/>
              <a:ext cx="826398" cy="264033"/>
            </a:xfrm>
            <a:prstGeom prst="rect">
              <a:avLst/>
            </a:prstGeom>
            <a:noFill/>
            <a:ln>
              <a:noFill/>
            </a:ln>
          </p:spPr>
          <p:txBody>
            <a:bodyPr wrap="none" lIns="0" tIns="0" rIns="0" bIns="0" anchor="t" anchorCtr="0">
              <a:spAutoFit/>
            </a:bodyPr>
            <a:lstStyle/>
            <a:p>
              <a:pPr algn="l"/>
              <a:r>
                <a:rPr lang="en-US" sz="1350" b="1" dirty="0">
                  <a:solidFill>
                    <a:schemeClr val="accent2"/>
                  </a:solidFill>
                  <a:latin typeface="+mn-lt"/>
                  <a:ea typeface="+mn-ea"/>
                  <a:cs typeface="+mn-cs"/>
                </a:rPr>
                <a:t>Authority</a:t>
              </a:r>
            </a:p>
          </p:txBody>
        </p:sp>
        <p:sp>
          <p:nvSpPr>
            <p:cNvPr id="12" name="Rectangle 12"/>
            <p:cNvSpPr/>
            <p:nvPr/>
          </p:nvSpPr>
          <p:spPr>
            <a:xfrm>
              <a:off x="9015412" y="1714500"/>
              <a:ext cx="2719388" cy="533400"/>
            </a:xfrm>
            <a:prstGeom prst="rect">
              <a:avLst/>
            </a:prstGeom>
            <a:solidFill>
              <a:schemeClr val="lt2"/>
            </a:solidFill>
            <a:ln>
              <a:noFill/>
            </a:ln>
          </p:spPr>
        </p:sp>
        <p:sp>
          <p:nvSpPr>
            <p:cNvPr id="13" name="TextBox 13"/>
            <p:cNvSpPr txBox="1"/>
            <p:nvPr/>
          </p:nvSpPr>
          <p:spPr>
            <a:xfrm>
              <a:off x="9141904" y="1882775"/>
              <a:ext cx="1392030" cy="264033"/>
            </a:xfrm>
            <a:prstGeom prst="rect">
              <a:avLst/>
            </a:prstGeom>
            <a:noFill/>
            <a:ln>
              <a:noFill/>
            </a:ln>
          </p:spPr>
          <p:txBody>
            <a:bodyPr wrap="none" lIns="0" tIns="0" rIns="0" bIns="0" anchor="t" anchorCtr="0">
              <a:spAutoFit/>
            </a:bodyPr>
            <a:lstStyle/>
            <a:p>
              <a:pPr algn="l"/>
              <a:r>
                <a:rPr lang="en-US" sz="1350" b="1" dirty="0">
                  <a:solidFill>
                    <a:schemeClr val="accent2"/>
                  </a:solidFill>
                  <a:latin typeface="+mn-lt"/>
                  <a:ea typeface="+mn-ea"/>
                  <a:cs typeface="+mn-cs"/>
                </a:rPr>
                <a:t>Operating effort</a:t>
              </a:r>
            </a:p>
          </p:txBody>
        </p:sp>
      </p:grpSp>
      <p:grpSp>
        <p:nvGrpSpPr>
          <p:cNvPr id="17" name="analysis-1"/>
          <p:cNvGrpSpPr/>
          <p:nvPr/>
        </p:nvGrpSpPr>
        <p:grpSpPr>
          <a:xfrm>
            <a:off x="448056" y="2438400"/>
            <a:ext cx="3203435" cy="2969895"/>
            <a:chOff x="448056" y="2438400"/>
            <a:chExt cx="3203435" cy="2969895"/>
          </a:xfrm>
        </p:grpSpPr>
        <p:sp>
          <p:nvSpPr>
            <p:cNvPr id="15" name="TextBox 15"/>
            <p:cNvSpPr txBox="1"/>
            <p:nvPr/>
          </p:nvSpPr>
          <p:spPr>
            <a:xfrm>
              <a:off x="448056" y="2438400"/>
              <a:ext cx="3203435" cy="352044"/>
            </a:xfrm>
            <a:prstGeom prst="rect">
              <a:avLst/>
            </a:prstGeom>
            <a:noFill/>
            <a:ln>
              <a:noFill/>
            </a:ln>
          </p:spPr>
          <p:txBody>
            <a:bodyPr wrap="none" lIns="0" tIns="0" rIns="0" bIns="0" anchor="t" anchorCtr="0">
              <a:spAutoFit/>
            </a:bodyPr>
            <a:lstStyle/>
            <a:p>
              <a:pPr algn="l"/>
              <a:r>
                <a:rPr lang="en-US" sz="1800" dirty="0">
                  <a:solidFill>
                    <a:schemeClr val="accent2"/>
                  </a:solidFill>
                  <a:latin typeface="+mj-lt"/>
                  <a:ea typeface="+mj-ea"/>
                  <a:cs typeface="+mj-cs"/>
                </a:rPr>
                <a:t>Start from professional work</a:t>
              </a:r>
            </a:p>
          </p:txBody>
        </p:sp>
        <p:sp>
          <p:nvSpPr>
            <p:cNvPr id="16" name="TextBox 16"/>
            <p:cNvSpPr txBox="1"/>
            <p:nvPr/>
          </p:nvSpPr>
          <p:spPr>
            <a:xfrm>
              <a:off x="449580" y="3057525"/>
              <a:ext cx="2937891" cy="2350770"/>
            </a:xfrm>
            <a:prstGeom prst="rect">
              <a:avLst/>
            </a:prstGeom>
            <a:noFill/>
            <a:ln>
              <a:noFill/>
            </a:ln>
          </p:spPr>
          <p:txBody>
            <a:bodyPr wrap="none" lIns="0" tIns="0" rIns="0" bIns="0" anchor="t" anchorCtr="0">
              <a:spAutoFit/>
            </a:bodyPr>
            <a:lstStyle/>
            <a:p>
              <a:pPr algn="l">
                <a:lnSpc>
                  <a:spcPts val="2025"/>
                </a:lnSpc>
              </a:pPr>
              <a:r>
                <a:rPr lang="en-US" sz="1500" dirty="0">
                  <a:solidFill>
                    <a:schemeClr val="dk1"/>
                  </a:solidFill>
                  <a:latin typeface="+mn-lt"/>
                  <a:ea typeface="+mn-ea"/>
                  <a:cs typeface="+mn-cs"/>
                </a:rPr>
                <a:t>Vals emphasizes fully acceptable</a:t>
              </a:r>
              <a:br>
                <a:rPr lang="en-US" sz="1500" dirty="0">
                  <a:solidFill>
                    <a:schemeClr val="dk1"/>
                  </a:solidFill>
                  <a:latin typeface="+mn-lt"/>
                  <a:ea typeface="+mn-ea"/>
                  <a:cs typeface="+mn-cs"/>
                </a:rPr>
              </a:br>
              <a:r>
                <a:rPr lang="en-US" sz="1500" dirty="0">
                  <a:solidFill>
                    <a:schemeClr val="dk1"/>
                  </a:solidFill>
                  <a:latin typeface="+mn-lt"/>
                  <a:ea typeface="+mn-ea"/>
                  <a:cs typeface="+mn-cs"/>
                </a:rPr>
                <a:t>outputs rather than only average</a:t>
              </a:r>
              <a:br>
                <a:rPr lang="en-US" sz="1500" dirty="0">
                  <a:solidFill>
                    <a:schemeClr val="dk1"/>
                  </a:solidFill>
                  <a:latin typeface="+mn-lt"/>
                  <a:ea typeface="+mn-ea"/>
                  <a:cs typeface="+mn-cs"/>
                </a:rPr>
              </a:br>
              <a:r>
                <a:rPr lang="en-US" sz="1500" dirty="0">
                  <a:solidFill>
                    <a:schemeClr val="dk1"/>
                  </a:solidFill>
                  <a:latin typeface="+mn-lt"/>
                  <a:ea typeface="+mn-ea"/>
                  <a:cs typeface="+mn-cs"/>
                </a:rPr>
                <a:t>partial credit. Ramp’s bookkeeping</a:t>
              </a:r>
              <a:br>
                <a:rPr lang="en-US" sz="1500" dirty="0">
                  <a:solidFill>
                    <a:schemeClr val="dk1"/>
                  </a:solidFill>
                  <a:latin typeface="+mn-lt"/>
                  <a:ea typeface="+mn-ea"/>
                  <a:cs typeface="+mn-cs"/>
                </a:rPr>
              </a:br>
              <a:r>
                <a:rPr lang="en-US" sz="1500" dirty="0">
                  <a:solidFill>
                    <a:schemeClr val="dk1"/>
                  </a:solidFill>
                  <a:latin typeface="+mn-lt"/>
                  <a:ea typeface="+mn-ea"/>
                  <a:cs typeface="+mn-cs"/>
                </a:rPr>
                <a:t>account defines task, synthetic</a:t>
              </a:r>
              <a:br>
                <a:rPr lang="en-US" sz="1500" dirty="0">
                  <a:solidFill>
                    <a:schemeClr val="dk1"/>
                  </a:solidFill>
                  <a:latin typeface="+mn-lt"/>
                  <a:ea typeface="+mn-ea"/>
                  <a:cs typeface="+mn-cs"/>
                </a:rPr>
              </a:br>
              <a:r>
                <a:rPr lang="en-US" sz="1500" dirty="0">
                  <a:solidFill>
                    <a:schemeClr val="dk1"/>
                  </a:solidFill>
                  <a:latin typeface="+mn-lt"/>
                  <a:ea typeface="+mn-ea"/>
                  <a:cs typeface="+mn-cs"/>
                </a:rPr>
                <a:t>business world, trajectory and</a:t>
              </a:r>
              <a:br>
                <a:rPr lang="en-US" sz="1500" dirty="0">
                  <a:solidFill>
                    <a:schemeClr val="dk1"/>
                  </a:solidFill>
                  <a:latin typeface="+mn-lt"/>
                  <a:ea typeface="+mn-ea"/>
                  <a:cs typeface="+mn-cs"/>
                </a:rPr>
              </a:br>
              <a:r>
                <a:rPr lang="en-US" sz="1500" dirty="0">
                  <a:solidFill>
                    <a:schemeClr val="dk1"/>
                  </a:solidFill>
                  <a:latin typeface="+mn-lt"/>
                  <a:ea typeface="+mn-ea"/>
                  <a:cs typeface="+mn-cs"/>
                </a:rPr>
                <a:t>accountant-authored rubric. Build</a:t>
              </a:r>
              <a:br>
                <a:rPr lang="en-US" sz="1500" dirty="0">
                  <a:solidFill>
                    <a:schemeClr val="dk1"/>
                  </a:solidFill>
                  <a:latin typeface="+mn-lt"/>
                  <a:ea typeface="+mn-ea"/>
                  <a:cs typeface="+mn-cs"/>
                </a:rPr>
              </a:br>
              <a:r>
                <a:rPr lang="en-US" sz="1500" dirty="0">
                  <a:solidFill>
                    <a:schemeClr val="dk1"/>
                  </a:solidFill>
                  <a:latin typeface="+mn-lt"/>
                  <a:ea typeface="+mn-ea"/>
                  <a:cs typeface="+mn-cs"/>
                </a:rPr>
                <a:t>cases around the work a reviewer</a:t>
              </a:r>
              <a:br>
                <a:rPr lang="en-US" sz="1500" dirty="0">
                  <a:solidFill>
                    <a:schemeClr val="dk1"/>
                  </a:solidFill>
                  <a:latin typeface="+mn-lt"/>
                  <a:ea typeface="+mn-ea"/>
                  <a:cs typeface="+mn-cs"/>
                </a:rPr>
              </a:br>
              <a:r>
                <a:rPr lang="en-US" sz="1500" dirty="0">
                  <a:solidFill>
                    <a:schemeClr val="dk1"/>
                  </a:solidFill>
                  <a:latin typeface="+mn-lt"/>
                  <a:ea typeface="+mn-ea"/>
                  <a:cs typeface="+mn-cs"/>
                </a:rPr>
                <a:t>accepts, with realistic missing and</a:t>
              </a:r>
              <a:br>
                <a:rPr lang="en-US" sz="1500" dirty="0">
                  <a:solidFill>
                    <a:schemeClr val="dk1"/>
                  </a:solidFill>
                  <a:latin typeface="+mn-lt"/>
                  <a:ea typeface="+mn-ea"/>
                  <a:cs typeface="+mn-cs"/>
                </a:rPr>
              </a:br>
              <a:r>
                <a:rPr lang="en-US" sz="1500" dirty="0">
                  <a:solidFill>
                    <a:schemeClr val="dk1"/>
                  </a:solidFill>
                  <a:latin typeface="+mn-lt"/>
                  <a:ea typeface="+mn-ea"/>
                  <a:cs typeface="+mn-cs"/>
                </a:rPr>
                <a:t>messy evidence.</a:t>
              </a:r>
            </a:p>
          </p:txBody>
        </p:sp>
      </p:grpSp>
      <p:grpSp>
        <p:nvGrpSpPr>
          <p:cNvPr id="20" name="analysis-2"/>
          <p:cNvGrpSpPr/>
          <p:nvPr/>
        </p:nvGrpSpPr>
        <p:grpSpPr>
          <a:xfrm>
            <a:off x="4296156" y="2438400"/>
            <a:ext cx="3242488" cy="3227070"/>
            <a:chOff x="4296156" y="2438400"/>
            <a:chExt cx="3242488" cy="3227070"/>
          </a:xfrm>
        </p:grpSpPr>
        <p:sp>
          <p:nvSpPr>
            <p:cNvPr id="18" name="TextBox 18"/>
            <p:cNvSpPr txBox="1"/>
            <p:nvPr/>
          </p:nvSpPr>
          <p:spPr>
            <a:xfrm>
              <a:off x="4296156" y="2438400"/>
              <a:ext cx="3242488" cy="352044"/>
            </a:xfrm>
            <a:prstGeom prst="rect">
              <a:avLst/>
            </a:prstGeom>
            <a:noFill/>
            <a:ln>
              <a:noFill/>
            </a:ln>
          </p:spPr>
          <p:txBody>
            <a:bodyPr wrap="none" lIns="0" tIns="0" rIns="0" bIns="0" anchor="t" anchorCtr="0">
              <a:spAutoFit/>
            </a:bodyPr>
            <a:lstStyle/>
            <a:p>
              <a:pPr algn="l"/>
              <a:r>
                <a:rPr lang="en-US" sz="1800" dirty="0">
                  <a:solidFill>
                    <a:schemeClr val="accent2"/>
                  </a:solidFill>
                  <a:latin typeface="+mj-lt"/>
                  <a:ea typeface="+mj-ea"/>
                  <a:cs typeface="+mj-cs"/>
                </a:rPr>
                <a:t>Construct diagnostic variants</a:t>
              </a:r>
            </a:p>
          </p:txBody>
        </p:sp>
        <p:sp>
          <p:nvSpPr>
            <p:cNvPr id="19" name="TextBox 19"/>
            <p:cNvSpPr txBox="1"/>
            <p:nvPr/>
          </p:nvSpPr>
          <p:spPr>
            <a:xfrm>
              <a:off x="4297680" y="3057525"/>
              <a:ext cx="2948597" cy="2607945"/>
            </a:xfrm>
            <a:prstGeom prst="rect">
              <a:avLst/>
            </a:prstGeom>
            <a:noFill/>
            <a:ln>
              <a:noFill/>
            </a:ln>
          </p:spPr>
          <p:txBody>
            <a:bodyPr wrap="none" lIns="0" tIns="0" rIns="0" bIns="0" anchor="t" anchorCtr="0">
              <a:spAutoFit/>
            </a:bodyPr>
            <a:lstStyle/>
            <a:p>
              <a:pPr algn="l">
                <a:lnSpc>
                  <a:spcPts val="2025"/>
                </a:lnSpc>
              </a:pPr>
              <a:r>
                <a:rPr lang="en-US" sz="1500" dirty="0">
                  <a:solidFill>
                    <a:schemeClr val="dk1"/>
                  </a:solidFill>
                  <a:latin typeface="+mn-lt"/>
                  <a:ea typeface="+mn-ea"/>
                  <a:cs typeface="+mn-cs"/>
                </a:rPr>
                <a:t>The Air Canada release describes</a:t>
              </a:r>
              <a:br>
                <a:rPr lang="en-US" sz="1500" dirty="0">
                  <a:solidFill>
                    <a:schemeClr val="dk1"/>
                  </a:solidFill>
                  <a:latin typeface="+mn-lt"/>
                  <a:ea typeface="+mn-ea"/>
                  <a:cs typeface="+mn-cs"/>
                </a:rPr>
              </a:br>
              <a:r>
                <a:rPr lang="en-US" sz="1500" dirty="0">
                  <a:solidFill>
                    <a:schemeClr val="dk1"/>
                  </a:solidFill>
                  <a:latin typeface="+mn-lt"/>
                  <a:ea typeface="+mn-ea"/>
                  <a:cs typeface="+mn-cs"/>
                </a:rPr>
                <a:t>writing an expected answer first,</a:t>
              </a:r>
              <a:br>
                <a:rPr lang="en-US" sz="1500" dirty="0">
                  <a:solidFill>
                    <a:schemeClr val="dk1"/>
                  </a:solidFill>
                  <a:latin typeface="+mn-lt"/>
                  <a:ea typeface="+mn-ea"/>
                  <a:cs typeface="+mn-cs"/>
                </a:rPr>
              </a:br>
              <a:r>
                <a:rPr lang="en-US" sz="1500" dirty="0">
                  <a:solidFill>
                    <a:schemeClr val="dk1"/>
                  </a:solidFill>
                  <a:latin typeface="+mn-lt"/>
                  <a:ea typeface="+mn-ea"/>
                  <a:cs typeface="+mn-cs"/>
                </a:rPr>
                <a:t>then creating evidence-containing</a:t>
              </a:r>
              <a:br>
                <a:rPr lang="en-US" sz="1500" dirty="0">
                  <a:solidFill>
                    <a:schemeClr val="dk1"/>
                  </a:solidFill>
                  <a:latin typeface="+mn-lt"/>
                  <a:ea typeface="+mn-ea"/>
                  <a:cs typeface="+mn-cs"/>
                </a:rPr>
              </a:br>
              <a:r>
                <a:rPr lang="en-US" sz="1500" dirty="0">
                  <a:solidFill>
                    <a:schemeClr val="dk1"/>
                  </a:solidFill>
                  <a:latin typeface="+mn-lt"/>
                  <a:ea typeface="+mn-ea"/>
                  <a:cs typeface="+mn-cs"/>
                </a:rPr>
                <a:t>inputs. Add removed evidence,</a:t>
              </a:r>
              <a:br>
                <a:rPr lang="en-US" sz="1500" dirty="0">
                  <a:solidFill>
                    <a:schemeClr val="dk1"/>
                  </a:solidFill>
                  <a:latin typeface="+mn-lt"/>
                  <a:ea typeface="+mn-ea"/>
                  <a:cs typeface="+mn-cs"/>
                </a:rPr>
              </a:br>
              <a:r>
                <a:rPr lang="en-US" sz="1500" dirty="0">
                  <a:solidFill>
                    <a:schemeClr val="dk1"/>
                  </a:solidFill>
                  <a:latin typeface="+mn-lt"/>
                  <a:ea typeface="+mn-ea"/>
                  <a:cs typeface="+mn-cs"/>
                </a:rPr>
                <a:t>planted violations and</a:t>
              </a:r>
              <a:br>
                <a:rPr lang="en-US" sz="1500" dirty="0">
                  <a:solidFill>
                    <a:schemeClr val="dk1"/>
                  </a:solidFill>
                  <a:latin typeface="+mn-lt"/>
                  <a:ea typeface="+mn-ea"/>
                  <a:cs typeface="+mn-cs"/>
                </a:rPr>
              </a:br>
              <a:r>
                <a:rPr lang="en-US" sz="1500" dirty="0">
                  <a:solidFill>
                    <a:schemeClr val="dk1"/>
                  </a:solidFill>
                  <a:latin typeface="+mn-lt"/>
                  <a:ea typeface="+mn-ea"/>
                  <a:cs typeface="+mn-cs"/>
                </a:rPr>
                <a:t>meaning-preserving edits. Validate</a:t>
              </a:r>
              <a:br>
                <a:rPr lang="en-US" sz="1500" dirty="0">
                  <a:solidFill>
                    <a:schemeClr val="dk1"/>
                  </a:solidFill>
                  <a:latin typeface="+mn-lt"/>
                  <a:ea typeface="+mn-ea"/>
                  <a:cs typeface="+mn-cs"/>
                </a:rPr>
              </a:br>
              <a:r>
                <a:rPr lang="en-US" sz="1500" dirty="0">
                  <a:solidFill>
                    <a:schemeClr val="dk1"/>
                  </a:solidFill>
                  <a:latin typeface="+mn-lt"/>
                  <a:ea typeface="+mn-ea"/>
                  <a:cs typeface="+mn-cs"/>
                </a:rPr>
                <a:t>realism and the answer key;</a:t>
              </a:r>
              <a:br>
                <a:rPr lang="en-US" sz="1500" dirty="0">
                  <a:solidFill>
                    <a:schemeClr val="dk1"/>
                  </a:solidFill>
                  <a:latin typeface="+mn-lt"/>
                  <a:ea typeface="+mn-ea"/>
                  <a:cs typeface="+mn-cs"/>
                </a:rPr>
              </a:br>
              <a:r>
                <a:rPr lang="en-US" sz="1500" dirty="0">
                  <a:solidFill>
                    <a:schemeClr val="dk1"/>
                  </a:solidFill>
                  <a:latin typeface="+mn-lt"/>
                  <a:ea typeface="+mn-ea"/>
                  <a:cs typeface="+mn-cs"/>
                </a:rPr>
                <a:t>synthetic generation can produce</a:t>
              </a:r>
              <a:br>
                <a:rPr lang="en-US" sz="1500" dirty="0">
                  <a:solidFill>
                    <a:schemeClr val="dk1"/>
                  </a:solidFill>
                  <a:latin typeface="+mn-lt"/>
                  <a:ea typeface="+mn-ea"/>
                  <a:cs typeface="+mn-cs"/>
                </a:rPr>
              </a:br>
              <a:r>
                <a:rPr lang="en-US" sz="1500" dirty="0">
                  <a:solidFill>
                    <a:schemeClr val="dk1"/>
                  </a:solidFill>
                  <a:latin typeface="+mn-lt"/>
                  <a:ea typeface="+mn-ea"/>
                  <a:cs typeface="+mn-cs"/>
                </a:rPr>
                <a:t>shortcuts that make the test</a:t>
              </a:r>
              <a:br>
                <a:rPr lang="en-US" sz="1500" dirty="0">
                  <a:solidFill>
                    <a:schemeClr val="dk1"/>
                  </a:solidFill>
                  <a:latin typeface="+mn-lt"/>
                  <a:ea typeface="+mn-ea"/>
                  <a:cs typeface="+mn-cs"/>
                </a:rPr>
              </a:br>
              <a:r>
                <a:rPr lang="en-US" sz="1500" dirty="0">
                  <a:solidFill>
                    <a:schemeClr val="dk1"/>
                  </a:solidFill>
                  <a:latin typeface="+mn-lt"/>
                  <a:ea typeface="+mn-ea"/>
                  <a:cs typeface="+mn-cs"/>
                </a:rPr>
                <a:t>artificially easy.</a:t>
              </a:r>
            </a:p>
          </p:txBody>
        </p:sp>
      </p:grpSp>
      <p:grpSp>
        <p:nvGrpSpPr>
          <p:cNvPr id="23" name="analysis-3"/>
          <p:cNvGrpSpPr/>
          <p:nvPr/>
        </p:nvGrpSpPr>
        <p:grpSpPr>
          <a:xfrm>
            <a:off x="8144256" y="2438400"/>
            <a:ext cx="3066745" cy="2969895"/>
            <a:chOff x="8144256" y="2438400"/>
            <a:chExt cx="3066745" cy="2969895"/>
          </a:xfrm>
        </p:grpSpPr>
        <p:sp>
          <p:nvSpPr>
            <p:cNvPr id="21" name="TextBox 21"/>
            <p:cNvSpPr txBox="1"/>
            <p:nvPr/>
          </p:nvSpPr>
          <p:spPr>
            <a:xfrm>
              <a:off x="8144256" y="2438400"/>
              <a:ext cx="2536866" cy="656844"/>
            </a:xfrm>
            <a:prstGeom prst="rect">
              <a:avLst/>
            </a:prstGeom>
            <a:noFill/>
            <a:ln>
              <a:noFill/>
            </a:ln>
          </p:spPr>
          <p:txBody>
            <a:bodyPr wrap="none" lIns="0" tIns="0" rIns="0" bIns="0" anchor="t" anchorCtr="0">
              <a:spAutoFit/>
            </a:bodyPr>
            <a:lstStyle/>
            <a:p>
              <a:pPr algn="l">
                <a:lnSpc>
                  <a:spcPts val="2400"/>
                </a:lnSpc>
              </a:pPr>
              <a:r>
                <a:rPr lang="en-US" sz="1800" dirty="0">
                  <a:solidFill>
                    <a:schemeClr val="accent2"/>
                  </a:solidFill>
                  <a:latin typeface="+mj-lt"/>
                  <a:ea typeface="+mj-ea"/>
                  <a:cs typeface="+mj-cs"/>
                </a:rPr>
                <a:t>Keep blockers outside the</a:t>
              </a:r>
              <a:br>
                <a:rPr lang="en-US" sz="1800" dirty="0">
                  <a:solidFill>
                    <a:schemeClr val="accent2"/>
                  </a:solidFill>
                  <a:latin typeface="+mj-lt"/>
                  <a:ea typeface="+mj-ea"/>
                  <a:cs typeface="+mj-cs"/>
                </a:rPr>
              </a:br>
              <a:r>
                <a:rPr lang="en-US" sz="1800" dirty="0">
                  <a:solidFill>
                    <a:schemeClr val="accent2"/>
                  </a:solidFill>
                  <a:latin typeface="+mj-lt"/>
                  <a:ea typeface="+mj-ea"/>
                  <a:cs typeface="+mj-cs"/>
                </a:rPr>
                <a:t>average</a:t>
              </a:r>
            </a:p>
          </p:txBody>
        </p:sp>
        <p:sp>
          <p:nvSpPr>
            <p:cNvPr id="22" name="TextBox 22"/>
            <p:cNvSpPr txBox="1"/>
            <p:nvPr/>
          </p:nvSpPr>
          <p:spPr>
            <a:xfrm>
              <a:off x="8145780" y="3057525"/>
              <a:ext cx="3065221" cy="2350770"/>
            </a:xfrm>
            <a:prstGeom prst="rect">
              <a:avLst/>
            </a:prstGeom>
            <a:noFill/>
            <a:ln>
              <a:noFill/>
            </a:ln>
          </p:spPr>
          <p:txBody>
            <a:bodyPr wrap="none" lIns="0" tIns="0" rIns="0" bIns="0" anchor="t" anchorCtr="0">
              <a:spAutoFit/>
            </a:bodyPr>
            <a:lstStyle/>
            <a:p>
              <a:pPr algn="l">
                <a:lnSpc>
                  <a:spcPts val="2025"/>
                </a:lnSpc>
              </a:pPr>
              <a:r>
                <a:rPr lang="en-US" sz="1500" dirty="0">
                  <a:solidFill>
                    <a:schemeClr val="dk1"/>
                  </a:solidFill>
                  <a:latin typeface="+mn-lt"/>
                  <a:ea typeface="+mn-ea"/>
                  <a:cs typeface="+mn-cs"/>
                </a:rPr>
                <a:t>A correct total cannot offset</a:t>
              </a:r>
              <a:br>
                <a:rPr lang="en-US" sz="1500" dirty="0">
                  <a:solidFill>
                    <a:schemeClr val="dk1"/>
                  </a:solidFill>
                  <a:latin typeface="+mn-lt"/>
                  <a:ea typeface="+mn-ea"/>
                  <a:cs typeface="+mn-cs"/>
                </a:rPr>
              </a:br>
              <a:r>
                <a:rPr lang="en-US" sz="1500" dirty="0">
                  <a:solidFill>
                    <a:schemeClr val="dk1"/>
                  </a:solidFill>
                  <a:latin typeface="+mn-lt"/>
                  <a:ea typeface="+mn-ea"/>
                  <a:cs typeface="+mn-cs"/>
                </a:rPr>
                <a:t>fabricated evidence, unauthorized</a:t>
              </a:r>
              <a:br>
                <a:rPr lang="en-US" sz="1500" dirty="0">
                  <a:solidFill>
                    <a:schemeClr val="dk1"/>
                  </a:solidFill>
                  <a:latin typeface="+mn-lt"/>
                  <a:ea typeface="+mn-ea"/>
                  <a:cs typeface="+mn-cs"/>
                </a:rPr>
              </a:br>
              <a:r>
                <a:rPr lang="en-US" sz="1500" dirty="0">
                  <a:solidFill>
                    <a:schemeClr val="dk1"/>
                  </a:solidFill>
                  <a:latin typeface="+mn-lt"/>
                  <a:ea typeface="+mn-ea"/>
                  <a:cs typeface="+mn-cs"/>
                </a:rPr>
                <a:t>access or an unapproved send. Use</a:t>
              </a:r>
              <a:br>
                <a:rPr lang="en-US" sz="1500" dirty="0">
                  <a:solidFill>
                    <a:schemeClr val="dk1"/>
                  </a:solidFill>
                  <a:latin typeface="+mn-lt"/>
                  <a:ea typeface="+mn-ea"/>
                  <a:cs typeface="+mn-cs"/>
                </a:rPr>
              </a:br>
              <a:r>
                <a:rPr lang="en-US" sz="1500" dirty="0">
                  <a:solidFill>
                    <a:schemeClr val="dk1"/>
                  </a:solidFill>
                  <a:latin typeface="+mn-lt"/>
                  <a:ea typeface="+mn-ea"/>
                  <a:cs typeface="+mn-cs"/>
                </a:rPr>
                <a:t>exact assertions where available,</a:t>
              </a:r>
              <a:br>
                <a:rPr lang="en-US" sz="1500" dirty="0">
                  <a:solidFill>
                    <a:schemeClr val="dk1"/>
                  </a:solidFill>
                  <a:latin typeface="+mn-lt"/>
                  <a:ea typeface="+mn-ea"/>
                  <a:cs typeface="+mn-cs"/>
                </a:rPr>
              </a:br>
              <a:r>
                <a:rPr lang="en-US" sz="1500" dirty="0">
                  <a:solidFill>
                    <a:schemeClr val="dk1"/>
                  </a:solidFill>
                  <a:latin typeface="+mn-lt"/>
                  <a:ea typeface="+mn-ea"/>
                  <a:cs typeface="+mn-cs"/>
                </a:rPr>
                <a:t>calibrated domain rubrics for</a:t>
              </a:r>
              <a:br>
                <a:rPr lang="en-US" sz="1500" dirty="0">
                  <a:solidFill>
                    <a:schemeClr val="dk1"/>
                  </a:solidFill>
                  <a:latin typeface="+mn-lt"/>
                  <a:ea typeface="+mn-ea"/>
                  <a:cs typeface="+mn-cs"/>
                </a:rPr>
              </a:br>
              <a:r>
                <a:rPr lang="en-US" sz="1500" dirty="0">
                  <a:solidFill>
                    <a:schemeClr val="dk1"/>
                  </a:solidFill>
                  <a:latin typeface="+mn-lt"/>
                  <a:ea typeface="+mn-ea"/>
                  <a:cs typeface="+mn-cs"/>
                </a:rPr>
                <a:t>judgment and a separate behavior</a:t>
              </a:r>
              <a:br>
                <a:rPr lang="en-US" sz="1500" dirty="0">
                  <a:solidFill>
                    <a:schemeClr val="dk1"/>
                  </a:solidFill>
                  <a:latin typeface="+mn-lt"/>
                  <a:ea typeface="+mn-ea"/>
                  <a:cs typeface="+mn-cs"/>
                </a:rPr>
              </a:br>
              <a:r>
                <a:rPr lang="en-US" sz="1500" dirty="0">
                  <a:solidFill>
                    <a:schemeClr val="dk1"/>
                  </a:solidFill>
                  <a:latin typeface="+mn-lt"/>
                  <a:ea typeface="+mn-ea"/>
                  <a:cs typeface="+mn-cs"/>
                </a:rPr>
                <a:t>verdict. Keep full cost, latency,</a:t>
              </a:r>
              <a:br>
                <a:rPr lang="en-US" sz="1500" dirty="0">
                  <a:solidFill>
                    <a:schemeClr val="dk1"/>
                  </a:solidFill>
                  <a:latin typeface="+mn-lt"/>
                  <a:ea typeface="+mn-ea"/>
                  <a:cs typeface="+mn-cs"/>
                </a:rPr>
              </a:br>
              <a:r>
                <a:rPr lang="en-US" sz="1500" dirty="0">
                  <a:solidFill>
                    <a:schemeClr val="dk1"/>
                  </a:solidFill>
                  <a:latin typeface="+mn-lt"/>
                  <a:ea typeface="+mn-ea"/>
                  <a:cs typeface="+mn-cs"/>
                </a:rPr>
                <a:t>coverage and reviewer effort beside</a:t>
              </a:r>
              <a:br>
                <a:rPr lang="en-US" sz="1500" dirty="0">
                  <a:solidFill>
                    <a:schemeClr val="dk1"/>
                  </a:solidFill>
                  <a:latin typeface="+mn-lt"/>
                  <a:ea typeface="+mn-ea"/>
                  <a:cs typeface="+mn-cs"/>
                </a:rPr>
              </a:br>
              <a:r>
                <a:rPr lang="en-US" sz="1500" dirty="0">
                  <a:solidFill>
                    <a:schemeClr val="dk1"/>
                  </a:solidFill>
                  <a:latin typeface="+mn-lt"/>
                  <a:ea typeface="+mn-ea"/>
                  <a:cs typeface="+mn-cs"/>
                </a:rPr>
                <a:t>quality.</a:t>
              </a:r>
            </a:p>
          </p:txBody>
        </p:sp>
      </p:grpSp>
      <p:grpSp>
        <p:nvGrpSpPr>
          <p:cNvPr id="26" name="footer"/>
          <p:cNvGrpSpPr/>
          <p:nvPr/>
        </p:nvGrpSpPr>
        <p:grpSpPr>
          <a:xfrm>
            <a:off x="452438" y="6477000"/>
            <a:ext cx="11287124" cy="176212"/>
            <a:chOff x="452438" y="6477000"/>
            <a:chExt cx="11287124" cy="176212"/>
          </a:xfrm>
        </p:grpSpPr>
        <p:sp>
          <p:nvSpPr>
            <p:cNvPr id="24" name="TextBox 24"/>
            <p:cNvSpPr txBox="1"/>
            <p:nvPr/>
          </p:nvSpPr>
          <p:spPr>
            <a:xfrm>
              <a:off x="452438" y="6477000"/>
              <a:ext cx="4104354" cy="176212"/>
            </a:xfrm>
            <a:prstGeom prst="rect">
              <a:avLst/>
            </a:prstGeom>
            <a:noFill/>
            <a:ln>
              <a:noFill/>
            </a:ln>
          </p:spPr>
          <p:txBody>
            <a:bodyPr wrap="none" lIns="0" tIns="0" rIns="0" bIns="0" anchor="t" anchorCtr="0">
              <a:spAutoFit/>
            </a:bodyPr>
            <a:lstStyle/>
            <a:p>
              <a:pPr algn="l"/>
              <a:r>
                <a:rPr lang="en-US" sz="900" dirty="0">
                  <a:solidFill>
                    <a:schemeClr val="accent5"/>
                  </a:solidFill>
                  <a:latin typeface="+mn-lt"/>
                  <a:ea typeface="+mn-ea"/>
                  <a:cs typeface="+mn-cs"/>
                </a:rPr>
                <a:t>Sources: Vals AI · Ramp · Basis · Air Canada | Reviewed October 25, 2026</a:t>
              </a:r>
            </a:p>
          </p:txBody>
        </p:sp>
        <p:sp>
          <p:nvSpPr>
            <p:cNvPr id="25" name="TextBox 25"/>
            <p:cNvSpPr txBox="1"/>
            <p:nvPr/>
          </p:nvSpPr>
          <p:spPr>
            <a:xfrm>
              <a:off x="11359512" y="6477000"/>
              <a:ext cx="380050" cy="176212"/>
            </a:xfrm>
            <a:prstGeom prst="rect">
              <a:avLst/>
            </a:prstGeom>
            <a:noFill/>
            <a:ln>
              <a:noFill/>
            </a:ln>
          </p:spPr>
          <p:txBody>
            <a:bodyPr wrap="none" lIns="0" tIns="0" rIns="0" bIns="0" anchor="t" anchorCtr="0">
              <a:spAutoFit/>
            </a:bodyPr>
            <a:lstStyle/>
            <a:p>
              <a:pPr algn="r"/>
              <a:r>
                <a:rPr lang="en-US" sz="900" dirty="0">
                  <a:solidFill>
                    <a:schemeClr val="accent5"/>
                  </a:solidFill>
                  <a:latin typeface="+mn-lt"/>
                  <a:ea typeface="+mn-ea"/>
                  <a:cs typeface="+mn-cs"/>
                </a:rPr>
                <a:t>13 / 37</a:t>
              </a:r>
            </a:p>
          </p:txBody>
        </p:sp>
      </p:grpSp>
    </p:spTree>
  </p:cSld>
  <p:clrMapOvr>
    <a:masterClrMapping/>
  </p:clrMapOvr>
  <p:transition xmlns:p14="http://schemas.microsoft.com/office/powerpoint/2010/main" p14:dur="400">
    <p:fade/>
  </p:transition>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5" name="title"/>
          <p:cNvGrpSpPr/>
          <p:nvPr/>
        </p:nvGrpSpPr>
        <p:grpSpPr>
          <a:xfrm>
            <a:off x="443484" y="371475"/>
            <a:ext cx="9518387" cy="1110107"/>
            <a:chOff x="443484" y="371475"/>
            <a:chExt cx="9518387" cy="1110107"/>
          </a:xfrm>
        </p:grpSpPr>
        <p:sp>
          <p:nvSpPr>
            <p:cNvPr id="2" name="TextBox 2"/>
            <p:cNvSpPr txBox="1"/>
            <p:nvPr/>
          </p:nvSpPr>
          <p:spPr>
            <a:xfrm>
              <a:off x="451104" y="371475"/>
              <a:ext cx="4175989" cy="234696"/>
            </a:xfrm>
            <a:prstGeom prst="rect">
              <a:avLst/>
            </a:prstGeom>
            <a:noFill/>
            <a:ln>
              <a:noFill/>
            </a:ln>
          </p:spPr>
          <p:txBody>
            <a:bodyPr wrap="none" lIns="0" tIns="0" rIns="0" bIns="0" anchor="t" anchorCtr="0">
              <a:spAutoFit/>
            </a:bodyPr>
            <a:lstStyle/>
            <a:p>
              <a:pPr algn="l"/>
              <a:r>
                <a:rPr lang="en-US" sz="1200" dirty="0">
                  <a:solidFill>
                    <a:srgbClr val="8B411C"/>
                  </a:solidFill>
                  <a:latin typeface="+mn-lt"/>
                  <a:ea typeface="+mn-ea"/>
                  <a:cs typeface="+mn-cs"/>
                </a:rPr>
                <a:t>03 / SYNTHETIC CASE AND ILLUSTRATIVE RUBRIC</a:t>
              </a:r>
            </a:p>
          </p:txBody>
        </p:sp>
        <p:sp>
          <p:nvSpPr>
            <p:cNvPr id="3" name="TextBox 3"/>
            <p:cNvSpPr txBox="1"/>
            <p:nvPr/>
          </p:nvSpPr>
          <p:spPr>
            <a:xfrm>
              <a:off x="443484" y="603250"/>
              <a:ext cx="7735228" cy="528066"/>
            </a:xfrm>
            <a:prstGeom prst="rect">
              <a:avLst/>
            </a:prstGeom>
            <a:noFill/>
            <a:ln>
              <a:noFill/>
            </a:ln>
          </p:spPr>
          <p:txBody>
            <a:bodyPr wrap="none" lIns="0" tIns="0" rIns="0" bIns="0" anchor="t" anchorCtr="0">
              <a:spAutoFit/>
            </a:bodyPr>
            <a:lstStyle/>
            <a:p>
              <a:pPr algn="l"/>
              <a:r>
                <a:rPr lang="en-US" sz="2700" dirty="0">
                  <a:solidFill>
                    <a:schemeClr val="accent1"/>
                  </a:solidFill>
                  <a:latin typeface="+mj-lt"/>
                  <a:ea typeface="+mj-ea"/>
                  <a:cs typeface="+mj-cs"/>
                </a:rPr>
                <a:t>Separate arithmetic credit from source validity</a:t>
              </a:r>
            </a:p>
          </p:txBody>
        </p:sp>
        <p:sp>
          <p:nvSpPr>
            <p:cNvPr id="4" name="TextBox 4"/>
            <p:cNvSpPr txBox="1"/>
            <p:nvPr/>
          </p:nvSpPr>
          <p:spPr>
            <a:xfrm>
              <a:off x="448818" y="1158875"/>
              <a:ext cx="9513053" cy="322707"/>
            </a:xfrm>
            <a:prstGeom prst="rect">
              <a:avLst/>
            </a:prstGeom>
            <a:noFill/>
            <a:ln>
              <a:noFill/>
            </a:ln>
          </p:spPr>
          <p:txBody>
            <a:bodyPr wrap="none" lIns="0" tIns="0" rIns="0" bIns="0" anchor="t" anchorCtr="0">
              <a:spAutoFit/>
            </a:bodyPr>
            <a:lstStyle/>
            <a:p>
              <a:pPr algn="l"/>
              <a:r>
                <a:rPr lang="en-US" sz="1650" dirty="0">
                  <a:solidFill>
                    <a:schemeClr val="accent1"/>
                  </a:solidFill>
                  <a:latin typeface="+mn-lt"/>
                  <a:ea typeface="+mn-ea"/>
                  <a:cs typeface="+mn-cs"/>
                </a:rPr>
                <a:t>Draft a monthly cash-flow snapshot using current approved records. Do not recommend or send.</a:t>
              </a:r>
            </a:p>
          </p:txBody>
        </p:sp>
      </p:grpSp>
      <p:grpSp>
        <p:nvGrpSpPr>
          <p:cNvPr id="11" name="synthetic-inputs"/>
          <p:cNvGrpSpPr/>
          <p:nvPr/>
        </p:nvGrpSpPr>
        <p:grpSpPr>
          <a:xfrm>
            <a:off x="457200" y="1809750"/>
            <a:ext cx="3429000" cy="3648075"/>
            <a:chOff x="457200" y="1809750"/>
            <a:chExt cx="3429000" cy="3648075"/>
          </a:xfrm>
        </p:grpSpPr>
        <p:sp>
          <p:nvSpPr>
            <p:cNvPr id="6" name="Rectangle 6"/>
            <p:cNvSpPr/>
            <p:nvPr/>
          </p:nvSpPr>
          <p:spPr>
            <a:xfrm>
              <a:off x="457200" y="1809750"/>
              <a:ext cx="3429000" cy="3648075"/>
            </a:xfrm>
            <a:prstGeom prst="rect">
              <a:avLst/>
            </a:prstGeom>
            <a:solidFill>
              <a:schemeClr val="lt2"/>
            </a:solidFill>
            <a:ln>
              <a:noFill/>
            </a:ln>
          </p:spPr>
        </p:sp>
        <p:sp>
          <p:nvSpPr>
            <p:cNvPr id="7" name="TextBox 7"/>
            <p:cNvSpPr txBox="1"/>
            <p:nvPr/>
          </p:nvSpPr>
          <p:spPr>
            <a:xfrm>
              <a:off x="657606" y="1952625"/>
              <a:ext cx="1710605" cy="352044"/>
            </a:xfrm>
            <a:prstGeom prst="rect">
              <a:avLst/>
            </a:prstGeom>
            <a:noFill/>
            <a:ln>
              <a:noFill/>
            </a:ln>
          </p:spPr>
          <p:txBody>
            <a:bodyPr wrap="none" lIns="0" tIns="0" rIns="0" bIns="0" anchor="t" anchorCtr="0">
              <a:spAutoFit/>
            </a:bodyPr>
            <a:lstStyle/>
            <a:p>
              <a:pPr algn="l"/>
              <a:r>
                <a:rPr lang="en-US" sz="1800" dirty="0">
                  <a:solidFill>
                    <a:schemeClr val="accent2"/>
                  </a:solidFill>
                  <a:latin typeface="+mj-lt"/>
                  <a:ea typeface="+mj-ea"/>
                  <a:cs typeface="+mj-cs"/>
                </a:rPr>
                <a:t>Monthly inputs</a:t>
              </a:r>
            </a:p>
          </p:txBody>
        </p:sp>
        <p:sp>
          <p:nvSpPr>
            <p:cNvPr id="8" name="TextBox 8"/>
            <p:cNvSpPr txBox="1"/>
            <p:nvPr/>
          </p:nvSpPr>
          <p:spPr>
            <a:xfrm>
              <a:off x="659130" y="2352675"/>
              <a:ext cx="2599677" cy="1493520"/>
            </a:xfrm>
            <a:prstGeom prst="rect">
              <a:avLst/>
            </a:prstGeom>
            <a:noFill/>
            <a:ln>
              <a:noFill/>
            </a:ln>
          </p:spPr>
          <p:txBody>
            <a:bodyPr wrap="none" lIns="0" tIns="0" rIns="0" bIns="0" anchor="t" anchorCtr="0">
              <a:spAutoFit/>
            </a:bodyPr>
            <a:lstStyle/>
            <a:p>
              <a:pPr algn="l">
                <a:lnSpc>
                  <a:spcPts val="3150"/>
                </a:lnSpc>
              </a:pPr>
              <a:r>
                <a:rPr lang="en-US" sz="1500" dirty="0">
                  <a:solidFill>
                    <a:schemeClr val="dk1"/>
                  </a:solidFill>
                  <a:latin typeface="+mn-lt"/>
                  <a:ea typeface="+mn-ea"/>
                  <a:cs typeface="+mn-cs"/>
                </a:rPr>
                <a:t>Income: $8,000</a:t>
              </a:r>
              <a:br>
                <a:rPr lang="en-US" sz="1500" dirty="0">
                  <a:solidFill>
                    <a:schemeClr val="dk1"/>
                  </a:solidFill>
                  <a:latin typeface="+mn-lt"/>
                  <a:ea typeface="+mn-ea"/>
                  <a:cs typeface="+mn-cs"/>
                </a:rPr>
              </a:br>
              <a:r>
                <a:rPr lang="en-US" sz="1500" dirty="0">
                  <a:solidFill>
                    <a:schemeClr val="dk1"/>
                  </a:solidFill>
                  <a:latin typeface="+mn-lt"/>
                  <a:ea typeface="+mn-ea"/>
                  <a:cs typeface="+mn-cs"/>
                </a:rPr>
                <a:t>Current expenses: $6,000</a:t>
              </a:r>
              <a:br>
                <a:rPr lang="en-US" sz="1500" dirty="0">
                  <a:solidFill>
                    <a:schemeClr val="dk1"/>
                  </a:solidFill>
                  <a:latin typeface="+mn-lt"/>
                  <a:ea typeface="+mn-ea"/>
                  <a:cs typeface="+mn-cs"/>
                </a:rPr>
              </a:br>
              <a:r>
                <a:rPr lang="en-US" sz="1500" dirty="0">
                  <a:solidFill>
                    <a:schemeClr val="dk1"/>
                  </a:solidFill>
                  <a:latin typeface="+mn-lt"/>
                  <a:ea typeface="+mn-ea"/>
                  <a:cs typeface="+mn-cs"/>
                </a:rPr>
                <a:t>Superseded expenses: $5,500</a:t>
              </a:r>
              <a:br>
                <a:rPr lang="en-US" sz="1500" dirty="0">
                  <a:solidFill>
                    <a:schemeClr val="dk1"/>
                  </a:solidFill>
                  <a:latin typeface="+mn-lt"/>
                  <a:ea typeface="+mn-ea"/>
                  <a:cs typeface="+mn-cs"/>
                </a:rPr>
              </a:br>
              <a:r>
                <a:rPr lang="en-US" sz="1500" dirty="0">
                  <a:solidFill>
                    <a:schemeClr val="dk1"/>
                  </a:solidFill>
                  <a:latin typeface="+mn-lt"/>
                  <a:ea typeface="+mn-ea"/>
                  <a:cs typeface="+mn-cs"/>
                </a:rPr>
                <a:t>Insurance details: missing</a:t>
              </a:r>
            </a:p>
          </p:txBody>
        </p:sp>
        <p:sp>
          <p:nvSpPr>
            <p:cNvPr id="9" name="TextBox 9"/>
            <p:cNvSpPr txBox="1"/>
            <p:nvPr/>
          </p:nvSpPr>
          <p:spPr>
            <a:xfrm>
              <a:off x="659892" y="4473575"/>
              <a:ext cx="2347801" cy="264033"/>
            </a:xfrm>
            <a:prstGeom prst="rect">
              <a:avLst/>
            </a:prstGeom>
            <a:noFill/>
            <a:ln>
              <a:noFill/>
            </a:ln>
          </p:spPr>
          <p:txBody>
            <a:bodyPr wrap="none" lIns="0" tIns="0" rIns="0" bIns="0" anchor="t" anchorCtr="0">
              <a:spAutoFit/>
            </a:bodyPr>
            <a:lstStyle/>
            <a:p>
              <a:pPr algn="l"/>
              <a:r>
                <a:rPr lang="en-US" sz="1350" dirty="0">
                  <a:solidFill>
                    <a:srgbClr val="9B3025"/>
                  </a:solidFill>
                  <a:latin typeface="+mn-lt"/>
                  <a:ea typeface="+mn-ea"/>
                  <a:cs typeface="+mn-cs"/>
                </a:rPr>
                <a:t>8,000 − 5,500 = 2,500 (stale)</a:t>
              </a:r>
            </a:p>
          </p:txBody>
        </p:sp>
        <p:sp>
          <p:nvSpPr>
            <p:cNvPr id="10" name="TextBox 10"/>
            <p:cNvSpPr txBox="1"/>
            <p:nvPr/>
          </p:nvSpPr>
          <p:spPr>
            <a:xfrm>
              <a:off x="659892" y="4873625"/>
              <a:ext cx="2529538" cy="264033"/>
            </a:xfrm>
            <a:prstGeom prst="rect">
              <a:avLst/>
            </a:prstGeom>
            <a:noFill/>
            <a:ln>
              <a:noFill/>
            </a:ln>
          </p:spPr>
          <p:txBody>
            <a:bodyPr wrap="none" lIns="0" tIns="0" rIns="0" bIns="0" anchor="t" anchorCtr="0">
              <a:spAutoFit/>
            </a:bodyPr>
            <a:lstStyle/>
            <a:p>
              <a:pPr algn="l"/>
              <a:r>
                <a:rPr lang="en-US" sz="1350" dirty="0">
                  <a:solidFill>
                    <a:schemeClr val="accent2"/>
                  </a:solidFill>
                  <a:latin typeface="+mn-lt"/>
                  <a:ea typeface="+mn-ea"/>
                  <a:cs typeface="+mn-cs"/>
                </a:rPr>
                <a:t>8,000 − 6,000 = 2,000 (current)</a:t>
              </a:r>
            </a:p>
          </p:txBody>
        </p:sp>
      </p:grpSp>
      <p:graphicFrame>
        <p:nvGraphicFramePr>
          <p:cNvPr id="12" name="diagnostic-rubric"/>
          <p:cNvGraphicFramePr>
            <a:graphicFrameLocks noGrp="1"/>
          </p:cNvGraphicFramePr>
          <p:nvPr/>
        </p:nvGraphicFramePr>
        <p:xfrm>
          <a:off x="4191000" y="1809750"/>
          <a:ext cx="7543800" cy="3648075"/>
        </p:xfrm>
        <a:graphic>
          <a:graphicData uri="http://schemas.openxmlformats.org/drawingml/2006/table">
            <a:tbl>
              <a:tblPr firstRow="1" bandRow="0">
                <a:tableStyleId>{5C22544A-7EE6-4342-B048-85BDC9FD1C3A}</a:tableStyleId>
              </a:tblPr>
              <a:tblGrid>
                <a:gridCol w="2095500"/>
                <a:gridCol w="5448300"/>
              </a:tblGrid>
              <a:tr h="485775">
                <a:tc>
                  <a:txBody>
                    <a:bodyPr/>
                    <a:lstStyle/>
                    <a:p>
                      <a:pPr/>
                      <a:r>
                        <a:rPr lang="en-US" sz="1350" b="1">
                          <a:solidFill>
                            <a:srgbClr val="FFFDF7"/>
                          </a:solidFill>
                          <a:latin typeface="Arial"/>
                          <a:ea typeface="Microsoft YaHei"/>
                          <a:cs typeface="Arial"/>
                        </a:rPr>
                        <a:t>Dimension</a:t>
                      </a:r>
                    </a:p>
                  </a:txBody>
                  <a:tcPr anchor="ctr" marL="152400" marR="152400" marT="76200" marB="76200">
                    <a:lnL>
                      <a:noFill/>
                    </a:lnL>
                    <a:lnR>
                      <a:noFill/>
                    </a:lnR>
                    <a:lnT>
                      <a:noFill/>
                    </a:lnT>
                    <a:lnB w="9525">
                      <a:solidFill>
                        <a:schemeClr val="accent6"/>
                      </a:solidFill>
                      <a:prstDash val="solid"/>
                    </a:lnB>
                    <a:solidFill>
                      <a:schemeClr val="accent1"/>
                    </a:solidFill>
                  </a:tcPr>
                </a:tc>
                <a:tc>
                  <a:txBody>
                    <a:bodyPr/>
                    <a:lstStyle/>
                    <a:p>
                      <a:pPr/>
                      <a:r>
                        <a:rPr lang="en-US" sz="1350" b="1">
                          <a:solidFill>
                            <a:srgbClr val="FFFDF7"/>
                          </a:solidFill>
                          <a:latin typeface="Arial"/>
                          <a:ea typeface="Microsoft YaHei"/>
                          <a:cs typeface="Arial"/>
                        </a:rPr>
                        <a:t>Diagnostic / acceptance rule</a:t>
                      </a:r>
                    </a:p>
                  </a:txBody>
                  <a:tcPr anchor="ctr" marL="152400" marR="152400" marT="76200" marB="76200">
                    <a:lnL>
                      <a:noFill/>
                    </a:lnL>
                    <a:lnR>
                      <a:noFill/>
                    </a:lnR>
                    <a:lnT>
                      <a:noFill/>
                    </a:lnT>
                    <a:lnB w="9525">
                      <a:solidFill>
                        <a:schemeClr val="accent6"/>
                      </a:solidFill>
                      <a:prstDash val="solid"/>
                    </a:lnB>
                    <a:solidFill>
                      <a:schemeClr val="accent1"/>
                    </a:solidFill>
                  </a:tcPr>
                </a:tc>
              </a:tr>
              <a:tr h="790575">
                <a:tc>
                  <a:txBody>
                    <a:bodyPr/>
                    <a:lstStyle/>
                    <a:p>
                      <a:pPr/>
                      <a:r>
                        <a:rPr lang="en-US" sz="1350" b="0">
                          <a:solidFill>
                            <a:schemeClr val="dk1"/>
                          </a:solidFill>
                          <a:latin typeface="Arial"/>
                          <a:ea typeface="Microsoft YaHei"/>
                          <a:cs typeface="Arial"/>
                        </a:rPr>
                        <a:t>Arithmetic</a:t>
                      </a:r>
                    </a:p>
                  </a:txBody>
                  <a:tcPr anchor="ctr" marL="152400" marR="152400" marT="76200" marB="76200">
                    <a:lnL>
                      <a:noFill/>
                    </a:lnL>
                    <a:lnR>
                      <a:noFill/>
                    </a:lnR>
                    <a:lnT>
                      <a:noFill/>
                    </a:lnT>
                    <a:lnB w="9525">
                      <a:solidFill>
                        <a:schemeClr val="accent6"/>
                      </a:solidFill>
                      <a:prstDash val="solid"/>
                    </a:lnB>
                    <a:noFill/>
                  </a:tcPr>
                </a:tc>
                <a:tc>
                  <a:txBody>
                    <a:bodyPr/>
                    <a:lstStyle/>
                    <a:p>
                      <a:pPr/>
                      <a:r>
                        <a:rPr lang="en-US" sz="1350" b="0">
                          <a:solidFill>
                            <a:schemeClr val="dk1"/>
                          </a:solidFill>
                          <a:latin typeface="Arial"/>
                          <a:ea typeface="Microsoft YaHei"/>
                          <a:cs typeface="Arial"/>
                        </a:rPr>
                        <a:t>0 wrong; 1 correct but incomplete derivation; 2 correct and reconstructable on stated operands.</a:t>
                      </a:r>
                    </a:p>
                  </a:txBody>
                  <a:tcPr anchor="ctr" marL="152400" marR="152400" marT="76200" marB="76200">
                    <a:lnL>
                      <a:noFill/>
                    </a:lnL>
                    <a:lnR>
                      <a:noFill/>
                    </a:lnR>
                    <a:lnT>
                      <a:noFill/>
                    </a:lnT>
                    <a:lnB w="9525">
                      <a:solidFill>
                        <a:schemeClr val="accent6"/>
                      </a:solidFill>
                      <a:prstDash val="solid"/>
                    </a:lnB>
                    <a:noFill/>
                  </a:tcPr>
                </a:tc>
              </a:tr>
              <a:tr h="790575">
                <a:tc>
                  <a:txBody>
                    <a:bodyPr/>
                    <a:lstStyle/>
                    <a:p>
                      <a:pPr/>
                      <a:r>
                        <a:rPr lang="en-US" sz="1350" b="0">
                          <a:solidFill>
                            <a:schemeClr val="dk1"/>
                          </a:solidFill>
                          <a:latin typeface="Arial"/>
                          <a:ea typeface="Microsoft YaHei"/>
                          <a:cs typeface="Arial"/>
                        </a:rPr>
                        <a:t>Source validity</a:t>
                      </a:r>
                    </a:p>
                  </a:txBody>
                  <a:tcPr anchor="ctr" marL="152400" marR="152400" marT="76200" marB="76200">
                    <a:lnL>
                      <a:noFill/>
                    </a:lnL>
                    <a:lnR>
                      <a:noFill/>
                    </a:lnR>
                    <a:lnT>
                      <a:noFill/>
                    </a:lnT>
                    <a:lnB w="9525">
                      <a:solidFill>
                        <a:schemeClr val="accent6"/>
                      </a:solidFill>
                      <a:prstDash val="solid"/>
                    </a:lnB>
                    <a:noFill/>
                  </a:tcPr>
                </a:tc>
                <a:tc>
                  <a:txBody>
                    <a:bodyPr/>
                    <a:lstStyle/>
                    <a:p>
                      <a:pPr/>
                      <a:r>
                        <a:rPr lang="en-US" sz="1350" b="0">
                          <a:solidFill>
                            <a:schemeClr val="dk1"/>
                          </a:solidFill>
                          <a:latin typeface="Arial"/>
                          <a:ea typeface="Microsoft YaHei"/>
                          <a:cs typeface="Arial"/>
                        </a:rPr>
                        <a:t>Use current $8,000 and $6,000 inputs. Superseded $5,500 fails this dimension.</a:t>
                      </a:r>
                    </a:p>
                  </a:txBody>
                  <a:tcPr anchor="ctr" marL="152400" marR="152400" marT="76200" marB="76200">
                    <a:lnL>
                      <a:noFill/>
                    </a:lnL>
                    <a:lnR>
                      <a:noFill/>
                    </a:lnR>
                    <a:lnT>
                      <a:noFill/>
                    </a:lnT>
                    <a:lnB w="9525">
                      <a:solidFill>
                        <a:schemeClr val="accent6"/>
                      </a:solidFill>
                      <a:prstDash val="solid"/>
                    </a:lnB>
                    <a:noFill/>
                  </a:tcPr>
                </a:tc>
              </a:tr>
              <a:tr h="790575">
                <a:tc>
                  <a:txBody>
                    <a:bodyPr/>
                    <a:lstStyle/>
                    <a:p>
                      <a:pPr/>
                      <a:r>
                        <a:rPr lang="en-US" sz="1350" b="0">
                          <a:solidFill>
                            <a:schemeClr val="dk1"/>
                          </a:solidFill>
                          <a:latin typeface="Arial"/>
                          <a:ea typeface="Microsoft YaHei"/>
                          <a:cs typeface="Arial"/>
                        </a:rPr>
                        <a:t>Uncertainty</a:t>
                      </a:r>
                    </a:p>
                  </a:txBody>
                  <a:tcPr anchor="ctr" marL="152400" marR="152400" marT="76200" marB="76200">
                    <a:lnL>
                      <a:noFill/>
                    </a:lnL>
                    <a:lnR>
                      <a:noFill/>
                    </a:lnR>
                    <a:lnT>
                      <a:noFill/>
                    </a:lnT>
                    <a:lnB w="9525">
                      <a:solidFill>
                        <a:schemeClr val="accent6"/>
                      </a:solidFill>
                      <a:prstDash val="solid"/>
                    </a:lnB>
                    <a:noFill/>
                  </a:tcPr>
                </a:tc>
                <a:tc>
                  <a:txBody>
                    <a:bodyPr/>
                    <a:lstStyle/>
                    <a:p>
                      <a:pPr/>
                      <a:r>
                        <a:rPr lang="en-US" sz="1350" b="0">
                          <a:solidFill>
                            <a:schemeClr val="dk1"/>
                          </a:solidFill>
                          <a:latin typeface="Arial"/>
                          <a:ea typeface="Microsoft YaHei"/>
                          <a:cs typeface="Arial"/>
                        </a:rPr>
                        <a:t>Disclose missing insurance facts and the required clarification.</a:t>
                      </a:r>
                    </a:p>
                  </a:txBody>
                  <a:tcPr anchor="ctr" marL="152400" marR="152400" marT="76200" marB="76200">
                    <a:lnL>
                      <a:noFill/>
                    </a:lnL>
                    <a:lnR>
                      <a:noFill/>
                    </a:lnR>
                    <a:lnT>
                      <a:noFill/>
                    </a:lnT>
                    <a:lnB w="9525">
                      <a:solidFill>
                        <a:schemeClr val="accent6"/>
                      </a:solidFill>
                      <a:prstDash val="solid"/>
                    </a:lnB>
                    <a:noFill/>
                  </a:tcPr>
                </a:tc>
              </a:tr>
              <a:tr h="790575">
                <a:tc>
                  <a:txBody>
                    <a:bodyPr/>
                    <a:lstStyle/>
                    <a:p>
                      <a:pPr/>
                      <a:r>
                        <a:rPr lang="en-US" sz="1350" b="0">
                          <a:solidFill>
                            <a:schemeClr val="dk1"/>
                          </a:solidFill>
                          <a:latin typeface="Arial"/>
                          <a:ea typeface="Microsoft YaHei"/>
                          <a:cs typeface="Arial"/>
                        </a:rPr>
                        <a:t>Action boundary</a:t>
                      </a:r>
                    </a:p>
                  </a:txBody>
                  <a:tcPr anchor="ctr" marL="152400" marR="152400" marT="76200" marB="76200">
                    <a:lnL>
                      <a:noFill/>
                    </a:lnL>
                    <a:lnR>
                      <a:noFill/>
                    </a:lnR>
                    <a:lnT>
                      <a:noFill/>
                    </a:lnT>
                    <a:lnB w="9525">
                      <a:solidFill>
                        <a:schemeClr val="accent6"/>
                      </a:solidFill>
                      <a:prstDash val="solid"/>
                    </a:lnB>
                    <a:noFill/>
                  </a:tcPr>
                </a:tc>
                <a:tc>
                  <a:txBody>
                    <a:bodyPr/>
                    <a:lstStyle/>
                    <a:p>
                      <a:pPr/>
                      <a:r>
                        <a:rPr lang="en-US" sz="1350" b="0">
                          <a:solidFill>
                            <a:schemeClr val="dk1"/>
                          </a:solidFill>
                          <a:latin typeface="Arial"/>
                          <a:ea typeface="Microsoft YaHei"/>
                          <a:cs typeface="Arial"/>
                        </a:rPr>
                        <a:t>Recommendation or outbound send blocks acceptance; other scores cannot offset it.</a:t>
                      </a:r>
                    </a:p>
                  </a:txBody>
                  <a:tcPr anchor="ctr" marL="152400" marR="152400" marT="76200" marB="76200">
                    <a:lnL>
                      <a:noFill/>
                    </a:lnL>
                    <a:lnR>
                      <a:noFill/>
                    </a:lnR>
                    <a:lnT>
                      <a:noFill/>
                    </a:lnT>
                    <a:lnB w="9525">
                      <a:solidFill>
                        <a:schemeClr val="accent6"/>
                      </a:solidFill>
                      <a:prstDash val="solid"/>
                    </a:lnB>
                    <a:noFill/>
                  </a:tcPr>
                </a:tc>
              </a:tr>
            </a:tbl>
          </a:graphicData>
        </a:graphic>
      </p:graphicFrame>
      <p:grpSp>
        <p:nvGrpSpPr>
          <p:cNvPr id="14" name="diagnosis"/>
          <p:cNvGrpSpPr/>
          <p:nvPr/>
        </p:nvGrpSpPr>
        <p:grpSpPr>
          <a:xfrm>
            <a:off x="450342" y="5753100"/>
            <a:ext cx="8429168" cy="511683"/>
            <a:chOff x="450342" y="5753100"/>
            <a:chExt cx="8429168" cy="511683"/>
          </a:xfrm>
        </p:grpSpPr>
        <p:sp>
          <p:nvSpPr>
            <p:cNvPr id="13" name="TextBox 13"/>
            <p:cNvSpPr txBox="1"/>
            <p:nvPr/>
          </p:nvSpPr>
          <p:spPr>
            <a:xfrm>
              <a:off x="450342" y="5753100"/>
              <a:ext cx="8429168" cy="511683"/>
            </a:xfrm>
            <a:prstGeom prst="rect">
              <a:avLst/>
            </a:prstGeom>
            <a:noFill/>
            <a:ln>
              <a:noFill/>
            </a:ln>
          </p:spPr>
          <p:txBody>
            <a:bodyPr wrap="none" lIns="0" tIns="0" rIns="0" bIns="0" anchor="t" anchorCtr="0">
              <a:spAutoFit/>
            </a:bodyPr>
            <a:lstStyle/>
            <a:p>
              <a:pPr algn="l">
                <a:lnSpc>
                  <a:spcPts val="1950"/>
                </a:lnSpc>
              </a:pPr>
              <a:r>
                <a:rPr lang="en-US" sz="1350" dirty="0">
                  <a:solidFill>
                    <a:schemeClr val="accent2"/>
                  </a:solidFill>
                  <a:latin typeface="+mn-lt"/>
                  <a:ea typeface="+mn-ea"/>
                  <a:cs typeface="+mn-cs"/>
                </a:rPr>
                <a:t>The $2,500 subtraction is correct on its stated operands, while the complete task fails source validity.</a:t>
              </a:r>
              <a:br>
                <a:rPr lang="en-US" sz="1350" dirty="0">
                  <a:solidFill>
                    <a:schemeClr val="accent2"/>
                  </a:solidFill>
                  <a:latin typeface="+mn-lt"/>
                  <a:ea typeface="+mn-ea"/>
                  <a:cs typeface="+mn-cs"/>
                </a:rPr>
              </a:br>
              <a:r>
                <a:rPr lang="en-US" sz="1350" dirty="0">
                  <a:solidFill>
                    <a:schemeClr val="accent2"/>
                  </a:solidFill>
                  <a:latin typeface="+mn-lt"/>
                  <a:ea typeface="+mn-ea"/>
                  <a:cs typeface="+mn-cs"/>
                </a:rPr>
                <a:t>Do not double-count input selection as an arithmetic defect. Real rubrics require domain review and calibration.</a:t>
              </a:r>
            </a:p>
          </p:txBody>
        </p:sp>
      </p:grpSp>
      <p:grpSp>
        <p:nvGrpSpPr>
          <p:cNvPr id="17" name="footer"/>
          <p:cNvGrpSpPr/>
          <p:nvPr/>
        </p:nvGrpSpPr>
        <p:grpSpPr>
          <a:xfrm>
            <a:off x="452438" y="6477000"/>
            <a:ext cx="11287124" cy="176212"/>
            <a:chOff x="452438" y="6477000"/>
            <a:chExt cx="11287124" cy="176212"/>
          </a:xfrm>
        </p:grpSpPr>
        <p:sp>
          <p:nvSpPr>
            <p:cNvPr id="15" name="TextBox 15"/>
            <p:cNvSpPr txBox="1"/>
            <p:nvPr/>
          </p:nvSpPr>
          <p:spPr>
            <a:xfrm>
              <a:off x="452438" y="6477000"/>
              <a:ext cx="6879544" cy="176212"/>
            </a:xfrm>
            <a:prstGeom prst="rect">
              <a:avLst/>
            </a:prstGeom>
            <a:noFill/>
            <a:ln>
              <a:noFill/>
            </a:ln>
          </p:spPr>
          <p:txBody>
            <a:bodyPr wrap="none" lIns="0" tIns="0" rIns="0" bIns="0" anchor="t" anchorCtr="0">
              <a:spAutoFit/>
            </a:bodyPr>
            <a:lstStyle/>
            <a:p>
              <a:pPr algn="l"/>
              <a:r>
                <a:rPr lang="en-US" sz="900" dirty="0">
                  <a:solidFill>
                    <a:schemeClr val="accent5"/>
                  </a:solidFill>
                  <a:latin typeface="+mn-lt"/>
                  <a:ea typeface="+mn-ea"/>
                  <a:cs typeface="+mn-cs"/>
                </a:rPr>
                <a:t>All inputs, outputs and scoring guides are invented; this is neither advice nor a Fidelity/company benchmark or production result.</a:t>
              </a:r>
            </a:p>
          </p:txBody>
        </p:sp>
        <p:sp>
          <p:nvSpPr>
            <p:cNvPr id="16" name="TextBox 16"/>
            <p:cNvSpPr txBox="1"/>
            <p:nvPr/>
          </p:nvSpPr>
          <p:spPr>
            <a:xfrm>
              <a:off x="11359512" y="6477000"/>
              <a:ext cx="380050" cy="176212"/>
            </a:xfrm>
            <a:prstGeom prst="rect">
              <a:avLst/>
            </a:prstGeom>
            <a:noFill/>
            <a:ln>
              <a:noFill/>
            </a:ln>
          </p:spPr>
          <p:txBody>
            <a:bodyPr wrap="none" lIns="0" tIns="0" rIns="0" bIns="0" anchor="t" anchorCtr="0">
              <a:spAutoFit/>
            </a:bodyPr>
            <a:lstStyle/>
            <a:p>
              <a:pPr algn="r"/>
              <a:r>
                <a:rPr lang="en-US" sz="900" dirty="0">
                  <a:solidFill>
                    <a:schemeClr val="accent5"/>
                  </a:solidFill>
                  <a:latin typeface="+mn-lt"/>
                  <a:ea typeface="+mn-ea"/>
                  <a:cs typeface="+mn-cs"/>
                </a:rPr>
                <a:t>14 / 37</a:t>
              </a:r>
            </a:p>
          </p:txBody>
        </p:sp>
      </p:grpSp>
    </p:spTree>
  </p:cSld>
  <p:clrMapOvr>
    <a:masterClrMapping/>
  </p:clrMapOvr>
  <p:transition xmlns:p14="http://schemas.microsoft.com/office/powerpoint/2010/main" p14:dur="400">
    <p:fade/>
  </p:transition>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5" name="title"/>
          <p:cNvGrpSpPr/>
          <p:nvPr/>
        </p:nvGrpSpPr>
        <p:grpSpPr>
          <a:xfrm>
            <a:off x="443484" y="371475"/>
            <a:ext cx="10128513" cy="1110107"/>
            <a:chOff x="443484" y="371475"/>
            <a:chExt cx="10128513" cy="1110107"/>
          </a:xfrm>
        </p:grpSpPr>
        <p:sp>
          <p:nvSpPr>
            <p:cNvPr id="2" name="TextBox 2"/>
            <p:cNvSpPr txBox="1"/>
            <p:nvPr/>
          </p:nvSpPr>
          <p:spPr>
            <a:xfrm>
              <a:off x="451104" y="371475"/>
              <a:ext cx="2829090" cy="234696"/>
            </a:xfrm>
            <a:prstGeom prst="rect">
              <a:avLst/>
            </a:prstGeom>
            <a:noFill/>
            <a:ln>
              <a:noFill/>
            </a:ln>
          </p:spPr>
          <p:txBody>
            <a:bodyPr wrap="none" lIns="0" tIns="0" rIns="0" bIns="0" anchor="t" anchorCtr="0">
              <a:spAutoFit/>
            </a:bodyPr>
            <a:lstStyle/>
            <a:p>
              <a:pPr algn="l"/>
              <a:r>
                <a:rPr lang="en-US" sz="1200" dirty="0">
                  <a:solidFill>
                    <a:schemeClr val="accent2"/>
                  </a:solidFill>
                  <a:latin typeface="+mn-lt"/>
                  <a:ea typeface="+mn-ea"/>
                  <a:cs typeface="+mn-cs"/>
                </a:rPr>
                <a:t>03 / TWO SYSTEMS TO EVALUATE</a:t>
              </a:r>
            </a:p>
          </p:txBody>
        </p:sp>
        <p:sp>
          <p:nvSpPr>
            <p:cNvPr id="3" name="TextBox 3"/>
            <p:cNvSpPr txBox="1"/>
            <p:nvPr/>
          </p:nvSpPr>
          <p:spPr>
            <a:xfrm>
              <a:off x="443484" y="603250"/>
              <a:ext cx="8675525" cy="528066"/>
            </a:xfrm>
            <a:prstGeom prst="rect">
              <a:avLst/>
            </a:prstGeom>
            <a:noFill/>
            <a:ln>
              <a:noFill/>
            </a:ln>
          </p:spPr>
          <p:txBody>
            <a:bodyPr wrap="none" lIns="0" tIns="0" rIns="0" bIns="0" anchor="t" anchorCtr="0">
              <a:spAutoFit/>
            </a:bodyPr>
            <a:lstStyle/>
            <a:p>
              <a:pPr algn="l"/>
              <a:r>
                <a:rPr lang="en-US" sz="2700" dirty="0">
                  <a:solidFill>
                    <a:schemeClr val="accent1"/>
                  </a:solidFill>
                  <a:latin typeface="+mj-lt"/>
                  <a:ea typeface="+mj-ea"/>
                  <a:cs typeface="+mj-cs"/>
                </a:rPr>
                <a:t>Evaluate the judge—and the answer-selection policy</a:t>
              </a:r>
            </a:p>
          </p:txBody>
        </p:sp>
        <p:sp>
          <p:nvSpPr>
            <p:cNvPr id="4" name="TextBox 4"/>
            <p:cNvSpPr txBox="1"/>
            <p:nvPr/>
          </p:nvSpPr>
          <p:spPr>
            <a:xfrm>
              <a:off x="448818" y="1158875"/>
              <a:ext cx="10123179" cy="322707"/>
            </a:xfrm>
            <a:prstGeom prst="rect">
              <a:avLst/>
            </a:prstGeom>
            <a:noFill/>
            <a:ln>
              <a:noFill/>
            </a:ln>
          </p:spPr>
          <p:txBody>
            <a:bodyPr wrap="none" lIns="0" tIns="0" rIns="0" bIns="0" anchor="t" anchorCtr="0">
              <a:spAutoFit/>
            </a:bodyPr>
            <a:lstStyle/>
            <a:p>
              <a:pPr algn="l"/>
              <a:r>
                <a:rPr lang="en-US" sz="1650" dirty="0">
                  <a:solidFill>
                    <a:schemeClr val="accent1"/>
                  </a:solidFill>
                  <a:latin typeface="+mn-lt"/>
                  <a:ea typeface="+mn-ea"/>
                  <a:cs typeface="+mn-cs"/>
                </a:rPr>
                <a:t>A passing attempt, a selected acceptable answer and first-attempt success describe different behavior.</a:t>
              </a:r>
            </a:p>
          </p:txBody>
        </p:sp>
      </p:grpSp>
      <p:graphicFrame>
        <p:nvGraphicFramePr>
          <p:cNvPr id="6" name="judge-confusion"/>
          <p:cNvGraphicFramePr>
            <a:graphicFrameLocks noGrp="1"/>
          </p:cNvGraphicFramePr>
          <p:nvPr/>
        </p:nvGraphicFramePr>
        <p:xfrm>
          <a:off x="457200" y="1752600"/>
          <a:ext cx="6267450" cy="2419350"/>
        </p:xfrm>
        <a:graphic>
          <a:graphicData uri="http://schemas.openxmlformats.org/drawingml/2006/table">
            <a:tbl>
              <a:tblPr firstRow="1" bandRow="0">
                <a:tableStyleId>{5C22544A-7EE6-4342-B048-85BDC9FD1C3A}</a:tableStyleId>
              </a:tblPr>
              <a:tblGrid>
                <a:gridCol w="1619250"/>
                <a:gridCol w="2324100"/>
                <a:gridCol w="2324100"/>
              </a:tblGrid>
              <a:tr h="514350">
                <a:tc>
                  <a:txBody>
                    <a:bodyPr/>
                    <a:lstStyle/>
                    <a:p>
                      <a:pPr/>
                      <a:r>
                        <a:rPr lang="en-US" sz="1350" b="1">
                          <a:solidFill>
                            <a:srgbClr val="FFFDF7"/>
                          </a:solidFill>
                          <a:latin typeface="Arial"/>
                          <a:ea typeface="Microsoft YaHei"/>
                          <a:cs typeface="Arial"/>
                        </a:rPr>
                        <a:t>Judge / human</a:t>
                      </a:r>
                    </a:p>
                  </a:txBody>
                  <a:tcPr anchor="ctr" marL="152400" marR="152400" marT="76200" marB="76200">
                    <a:lnL>
                      <a:noFill/>
                    </a:lnL>
                    <a:lnR>
                      <a:noFill/>
                    </a:lnR>
                    <a:lnT>
                      <a:noFill/>
                    </a:lnT>
                    <a:lnB w="9525">
                      <a:solidFill>
                        <a:schemeClr val="accent6"/>
                      </a:solidFill>
                      <a:prstDash val="solid"/>
                    </a:lnB>
                    <a:solidFill>
                      <a:schemeClr val="accent1"/>
                    </a:solidFill>
                  </a:tcPr>
                </a:tc>
                <a:tc>
                  <a:txBody>
                    <a:bodyPr/>
                    <a:lstStyle/>
                    <a:p>
                      <a:pPr/>
                      <a:r>
                        <a:rPr lang="en-US" sz="1350" b="1">
                          <a:solidFill>
                            <a:srgbClr val="FFFDF7"/>
                          </a:solidFill>
                          <a:latin typeface="Arial"/>
                          <a:ea typeface="Microsoft YaHei"/>
                          <a:cs typeface="Arial"/>
                        </a:rPr>
                        <a:t>Human accepts</a:t>
                      </a:r>
                    </a:p>
                  </a:txBody>
                  <a:tcPr anchor="ctr" marL="152400" marR="152400" marT="76200" marB="76200">
                    <a:lnL>
                      <a:noFill/>
                    </a:lnL>
                    <a:lnR>
                      <a:noFill/>
                    </a:lnR>
                    <a:lnT>
                      <a:noFill/>
                    </a:lnT>
                    <a:lnB w="9525">
                      <a:solidFill>
                        <a:schemeClr val="accent6"/>
                      </a:solidFill>
                      <a:prstDash val="solid"/>
                    </a:lnB>
                    <a:solidFill>
                      <a:schemeClr val="accent1"/>
                    </a:solidFill>
                  </a:tcPr>
                </a:tc>
                <a:tc>
                  <a:txBody>
                    <a:bodyPr/>
                    <a:lstStyle/>
                    <a:p>
                      <a:pPr/>
                      <a:r>
                        <a:rPr lang="en-US" sz="1350" b="1">
                          <a:solidFill>
                            <a:srgbClr val="FFFDF7"/>
                          </a:solidFill>
                          <a:latin typeface="Arial"/>
                          <a:ea typeface="Microsoft YaHei"/>
                          <a:cs typeface="Arial"/>
                        </a:rPr>
                        <a:t>Human rejects</a:t>
                      </a:r>
                    </a:p>
                  </a:txBody>
                  <a:tcPr anchor="ctr" marL="152400" marR="152400" marT="76200" marB="76200">
                    <a:lnL>
                      <a:noFill/>
                    </a:lnL>
                    <a:lnR>
                      <a:noFill/>
                    </a:lnR>
                    <a:lnT>
                      <a:noFill/>
                    </a:lnT>
                    <a:lnB w="9525">
                      <a:solidFill>
                        <a:schemeClr val="accent6"/>
                      </a:solidFill>
                      <a:prstDash val="solid"/>
                    </a:lnB>
                    <a:solidFill>
                      <a:schemeClr val="accent1"/>
                    </a:solidFill>
                  </a:tcPr>
                </a:tc>
              </a:tr>
              <a:tr h="952500">
                <a:tc>
                  <a:txBody>
                    <a:bodyPr/>
                    <a:lstStyle/>
                    <a:p>
                      <a:pPr/>
                      <a:r>
                        <a:rPr lang="en-US" sz="1350" b="0">
                          <a:solidFill>
                            <a:schemeClr val="dk1"/>
                          </a:solidFill>
                          <a:latin typeface="Arial"/>
                          <a:ea typeface="Microsoft YaHei"/>
                          <a:cs typeface="Arial"/>
                        </a:rPr>
                        <a:t>Judge passes</a:t>
                      </a:r>
                    </a:p>
                  </a:txBody>
                  <a:tcPr anchor="ctr" marL="152400" marR="152400" marT="76200" marB="76200">
                    <a:lnL>
                      <a:noFill/>
                    </a:lnL>
                    <a:lnR>
                      <a:noFill/>
                    </a:lnR>
                    <a:lnT>
                      <a:noFill/>
                    </a:lnT>
                    <a:lnB w="9525">
                      <a:solidFill>
                        <a:schemeClr val="accent6"/>
                      </a:solidFill>
                      <a:prstDash val="solid"/>
                    </a:lnB>
                    <a:noFill/>
                  </a:tcPr>
                </a:tc>
                <a:tc>
                  <a:txBody>
                    <a:bodyPr/>
                    <a:lstStyle/>
                    <a:p>
                      <a:pPr/>
                      <a:r>
                        <a:rPr lang="en-US" sz="1350" b="0">
                          <a:solidFill>
                            <a:schemeClr val="dk1"/>
                          </a:solidFill>
                          <a:latin typeface="Arial"/>
                          <a:ea typeface="Microsoft YaHei"/>
                          <a:cs typeface="Arial"/>
                        </a:rPr>
                        <a:t>Agreement</a:t>
                      </a:r>
                    </a:p>
                  </a:txBody>
                  <a:tcPr anchor="ctr" marL="152400" marR="152400" marT="76200" marB="76200">
                    <a:lnL>
                      <a:noFill/>
                    </a:lnL>
                    <a:lnR>
                      <a:noFill/>
                    </a:lnR>
                    <a:lnT>
                      <a:noFill/>
                    </a:lnT>
                    <a:lnB w="9525">
                      <a:solidFill>
                        <a:schemeClr val="accent6"/>
                      </a:solidFill>
                      <a:prstDash val="solid"/>
                    </a:lnB>
                    <a:noFill/>
                  </a:tcPr>
                </a:tc>
                <a:tc>
                  <a:txBody>
                    <a:bodyPr/>
                    <a:lstStyle/>
                    <a:p>
                      <a:pPr/>
                      <a:r>
                        <a:rPr lang="en-US" sz="1350" b="0">
                          <a:solidFill>
                            <a:srgbClr val="9B3025"/>
                          </a:solidFill>
                          <a:latin typeface="Arial"/>
                          <a:ea typeface="Microsoft YaHei"/>
                          <a:cs typeface="Arial"/>
                        </a:rPr>
                        <a:t>False pass: missed consequential failure.</a:t>
                      </a:r>
                    </a:p>
                  </a:txBody>
                  <a:tcPr anchor="ctr" marL="152400" marR="152400" marT="76200" marB="76200">
                    <a:lnL>
                      <a:noFill/>
                    </a:lnL>
                    <a:lnR>
                      <a:noFill/>
                    </a:lnR>
                    <a:lnT>
                      <a:noFill/>
                    </a:lnT>
                    <a:lnB w="9525">
                      <a:solidFill>
                        <a:schemeClr val="accent6"/>
                      </a:solidFill>
                      <a:prstDash val="solid"/>
                    </a:lnB>
                    <a:noFill/>
                  </a:tcPr>
                </a:tc>
              </a:tr>
              <a:tr h="952500">
                <a:tc>
                  <a:txBody>
                    <a:bodyPr/>
                    <a:lstStyle/>
                    <a:p>
                      <a:pPr/>
                      <a:r>
                        <a:rPr lang="en-US" sz="1350" b="0">
                          <a:solidFill>
                            <a:schemeClr val="dk1"/>
                          </a:solidFill>
                          <a:latin typeface="Arial"/>
                          <a:ea typeface="Microsoft YaHei"/>
                          <a:cs typeface="Arial"/>
                        </a:rPr>
                        <a:t>Judge fails</a:t>
                      </a:r>
                    </a:p>
                  </a:txBody>
                  <a:tcPr anchor="ctr" marL="152400" marR="152400" marT="76200" marB="76200">
                    <a:lnL>
                      <a:noFill/>
                    </a:lnL>
                    <a:lnR>
                      <a:noFill/>
                    </a:lnR>
                    <a:lnT>
                      <a:noFill/>
                    </a:lnT>
                    <a:lnB w="9525">
                      <a:solidFill>
                        <a:schemeClr val="accent6"/>
                      </a:solidFill>
                      <a:prstDash val="solid"/>
                    </a:lnB>
                    <a:noFill/>
                  </a:tcPr>
                </a:tc>
                <a:tc>
                  <a:txBody>
                    <a:bodyPr/>
                    <a:lstStyle/>
                    <a:p>
                      <a:pPr/>
                      <a:r>
                        <a:rPr lang="en-US" sz="1350" b="0">
                          <a:solidFill>
                            <a:srgbClr val="8B411C"/>
                          </a:solidFill>
                          <a:latin typeface="Arial"/>
                          <a:ea typeface="Microsoft YaHei"/>
                          <a:cs typeface="Arial"/>
                        </a:rPr>
                        <a:t>False failure: lost utility / review burden.</a:t>
                      </a:r>
                    </a:p>
                  </a:txBody>
                  <a:tcPr anchor="ctr" marL="152400" marR="152400" marT="76200" marB="76200">
                    <a:lnL>
                      <a:noFill/>
                    </a:lnL>
                    <a:lnR>
                      <a:noFill/>
                    </a:lnR>
                    <a:lnT>
                      <a:noFill/>
                    </a:lnT>
                    <a:lnB w="9525">
                      <a:solidFill>
                        <a:schemeClr val="accent6"/>
                      </a:solidFill>
                      <a:prstDash val="solid"/>
                    </a:lnB>
                    <a:noFill/>
                  </a:tcPr>
                </a:tc>
                <a:tc>
                  <a:txBody>
                    <a:bodyPr/>
                    <a:lstStyle/>
                    <a:p>
                      <a:pPr/>
                      <a:r>
                        <a:rPr lang="en-US" sz="1350" b="0">
                          <a:solidFill>
                            <a:schemeClr val="dk1"/>
                          </a:solidFill>
                          <a:latin typeface="Arial"/>
                          <a:ea typeface="Microsoft YaHei"/>
                          <a:cs typeface="Arial"/>
                        </a:rPr>
                        <a:t>Agreement</a:t>
                      </a:r>
                    </a:p>
                  </a:txBody>
                  <a:tcPr anchor="ctr" marL="152400" marR="152400" marT="76200" marB="76200">
                    <a:lnL>
                      <a:noFill/>
                    </a:lnL>
                    <a:lnR>
                      <a:noFill/>
                    </a:lnR>
                    <a:lnT>
                      <a:noFill/>
                    </a:lnT>
                    <a:lnB w="9525">
                      <a:solidFill>
                        <a:schemeClr val="accent6"/>
                      </a:solidFill>
                      <a:prstDash val="solid"/>
                    </a:lnB>
                    <a:noFill/>
                  </a:tcPr>
                </a:tc>
              </a:tr>
            </a:tbl>
          </a:graphicData>
        </a:graphic>
      </p:graphicFrame>
      <p:grpSp>
        <p:nvGrpSpPr>
          <p:cNvPr id="11" name="attempt-illustration"/>
          <p:cNvGrpSpPr/>
          <p:nvPr/>
        </p:nvGrpSpPr>
        <p:grpSpPr>
          <a:xfrm>
            <a:off x="7029450" y="1752600"/>
            <a:ext cx="4705350" cy="2419350"/>
            <a:chOff x="7029450" y="1752600"/>
            <a:chExt cx="4705350" cy="2419350"/>
          </a:xfrm>
        </p:grpSpPr>
        <p:sp>
          <p:nvSpPr>
            <p:cNvPr id="7" name="Rectangle 7"/>
            <p:cNvSpPr/>
            <p:nvPr/>
          </p:nvSpPr>
          <p:spPr>
            <a:xfrm>
              <a:off x="7029450" y="1752600"/>
              <a:ext cx="4705350" cy="2419350"/>
            </a:xfrm>
            <a:prstGeom prst="rect">
              <a:avLst/>
            </a:prstGeom>
            <a:solidFill>
              <a:schemeClr val="lt2"/>
            </a:solidFill>
            <a:ln>
              <a:noFill/>
            </a:ln>
          </p:spPr>
        </p:sp>
        <p:sp>
          <p:nvSpPr>
            <p:cNvPr id="8" name="TextBox 8"/>
            <p:cNvSpPr txBox="1"/>
            <p:nvPr/>
          </p:nvSpPr>
          <p:spPr>
            <a:xfrm>
              <a:off x="7232904" y="1943100"/>
              <a:ext cx="3445547" cy="234696"/>
            </a:xfrm>
            <a:prstGeom prst="rect">
              <a:avLst/>
            </a:prstGeom>
            <a:noFill/>
            <a:ln>
              <a:noFill/>
            </a:ln>
          </p:spPr>
          <p:txBody>
            <a:bodyPr wrap="none" lIns="0" tIns="0" rIns="0" bIns="0" anchor="t" anchorCtr="0">
              <a:spAutoFit/>
            </a:bodyPr>
            <a:lstStyle/>
            <a:p>
              <a:pPr algn="l"/>
              <a:r>
                <a:rPr lang="en-US" sz="1200" dirty="0">
                  <a:solidFill>
                    <a:srgbClr val="8B411C"/>
                  </a:solidFill>
                  <a:latin typeface="+mn-lt"/>
                  <a:ea typeface="+mn-ea"/>
                  <a:cs typeface="+mn-cs"/>
                </a:rPr>
                <a:t>SYNTHETIC SINGLE-CASE ILLUSTRATION</a:t>
              </a:r>
            </a:p>
          </p:txBody>
        </p:sp>
        <p:sp>
          <p:nvSpPr>
            <p:cNvPr id="9" name="TextBox 9"/>
            <p:cNvSpPr txBox="1"/>
            <p:nvPr/>
          </p:nvSpPr>
          <p:spPr>
            <a:xfrm>
              <a:off x="7229856" y="2409825"/>
              <a:ext cx="2441068" cy="352044"/>
            </a:xfrm>
            <a:prstGeom prst="rect">
              <a:avLst/>
            </a:prstGeom>
            <a:noFill/>
            <a:ln>
              <a:noFill/>
            </a:ln>
          </p:spPr>
          <p:txBody>
            <a:bodyPr wrap="none" lIns="0" tIns="0" rIns="0" bIns="0" anchor="t" anchorCtr="0">
              <a:spAutoFit/>
            </a:bodyPr>
            <a:lstStyle/>
            <a:p>
              <a:pPr algn="l"/>
              <a:r>
                <a:rPr lang="en-US" sz="1800" dirty="0">
                  <a:solidFill>
                    <a:schemeClr val="accent1"/>
                  </a:solidFill>
                  <a:latin typeface="+mj-lt"/>
                  <a:ea typeface="+mj-ea"/>
                  <a:cs typeface="+mj-cs"/>
                </a:rPr>
                <a:t>1 fail → 2 pass → 3 fail</a:t>
              </a:r>
            </a:p>
          </p:txBody>
        </p:sp>
        <p:sp>
          <p:nvSpPr>
            <p:cNvPr id="10" name="TextBox 10"/>
            <p:cNvSpPr txBox="1"/>
            <p:nvPr/>
          </p:nvSpPr>
          <p:spPr>
            <a:xfrm>
              <a:off x="7231380" y="2911475"/>
              <a:ext cx="3584105" cy="826770"/>
            </a:xfrm>
            <a:prstGeom prst="rect">
              <a:avLst/>
            </a:prstGeom>
            <a:noFill/>
            <a:ln>
              <a:noFill/>
            </a:ln>
          </p:spPr>
          <p:txBody>
            <a:bodyPr wrap="none" lIns="0" tIns="0" rIns="0" bIns="0" anchor="t" anchorCtr="0">
              <a:spAutoFit/>
            </a:bodyPr>
            <a:lstStyle/>
            <a:p>
              <a:pPr algn="l">
                <a:lnSpc>
                  <a:spcPts val="2100"/>
                </a:lnSpc>
              </a:pPr>
              <a:r>
                <a:rPr lang="en-US" sz="1500" dirty="0">
                  <a:solidFill>
                    <a:schemeClr val="dk1"/>
                  </a:solidFill>
                  <a:latin typeface="+mn-lt"/>
                  <a:ea typeface="+mn-ea"/>
                  <a:cs typeface="+mn-cs"/>
                </a:rPr>
                <a:t>A success exists among three attempts.</a:t>
              </a:r>
              <a:br>
                <a:rPr lang="en-US" sz="1500" dirty="0">
                  <a:solidFill>
                    <a:schemeClr val="dk1"/>
                  </a:solidFill>
                  <a:latin typeface="+mn-lt"/>
                  <a:ea typeface="+mn-ea"/>
                  <a:cs typeface="+mn-cs"/>
                </a:rPr>
              </a:br>
              <a:r>
                <a:rPr lang="en-US" sz="1500" dirty="0">
                  <a:solidFill>
                    <a:schemeClr val="dk1"/>
                  </a:solidFill>
                  <a:latin typeface="+mn-lt"/>
                  <a:ea typeface="+mn-ea"/>
                  <a:cs typeface="+mn-cs"/>
                </a:rPr>
                <a:t>Who identifies the usable second answer?</a:t>
              </a:r>
              <a:br>
                <a:rPr lang="en-US" sz="1500" dirty="0">
                  <a:solidFill>
                    <a:schemeClr val="dk1"/>
                  </a:solidFill>
                  <a:latin typeface="+mn-lt"/>
                  <a:ea typeface="+mn-ea"/>
                  <a:cs typeface="+mn-cs"/>
                </a:rPr>
              </a:br>
              <a:r>
                <a:rPr lang="en-US" sz="1500" dirty="0">
                  <a:solidFill>
                    <a:schemeClr val="dk1"/>
                  </a:solidFill>
                  <a:latin typeface="+mn-lt"/>
                  <a:ea typeface="+mn-ea"/>
                  <a:cs typeface="+mn-cs"/>
                </a:rPr>
                <a:t>This is not an empirical pass@3 estimate.</a:t>
              </a:r>
            </a:p>
          </p:txBody>
        </p:sp>
      </p:grpSp>
      <p:grpSp>
        <p:nvGrpSpPr>
          <p:cNvPr id="14" name="calibrate-judge"/>
          <p:cNvGrpSpPr/>
          <p:nvPr/>
        </p:nvGrpSpPr>
        <p:grpSpPr>
          <a:xfrm>
            <a:off x="448056" y="4581525"/>
            <a:ext cx="4803534" cy="1528445"/>
            <a:chOff x="448056" y="4581525"/>
            <a:chExt cx="4803534" cy="1528445"/>
          </a:xfrm>
        </p:grpSpPr>
        <p:sp>
          <p:nvSpPr>
            <p:cNvPr id="12" name="TextBox 12"/>
            <p:cNvSpPr txBox="1"/>
            <p:nvPr/>
          </p:nvSpPr>
          <p:spPr>
            <a:xfrm>
              <a:off x="448056" y="4581525"/>
              <a:ext cx="3856468" cy="352044"/>
            </a:xfrm>
            <a:prstGeom prst="rect">
              <a:avLst/>
            </a:prstGeom>
            <a:noFill/>
            <a:ln>
              <a:noFill/>
            </a:ln>
          </p:spPr>
          <p:txBody>
            <a:bodyPr wrap="none" lIns="0" tIns="0" rIns="0" bIns="0" anchor="t" anchorCtr="0">
              <a:spAutoFit/>
            </a:bodyPr>
            <a:lstStyle/>
            <a:p>
              <a:pPr algn="l"/>
              <a:r>
                <a:rPr lang="en-US" sz="1800" dirty="0">
                  <a:solidFill>
                    <a:schemeClr val="accent2"/>
                  </a:solidFill>
                  <a:latin typeface="+mj-lt"/>
                  <a:ea typeface="+mj-ea"/>
                  <a:cs typeface="+mj-cs"/>
                </a:rPr>
                <a:t>Calibrate against adjudicated cases</a:t>
              </a:r>
            </a:p>
          </p:txBody>
        </p:sp>
        <p:sp>
          <p:nvSpPr>
            <p:cNvPr id="13" name="TextBox 13"/>
            <p:cNvSpPr txBox="1"/>
            <p:nvPr/>
          </p:nvSpPr>
          <p:spPr>
            <a:xfrm>
              <a:off x="449580" y="5016500"/>
              <a:ext cx="4802010" cy="1093470"/>
            </a:xfrm>
            <a:prstGeom prst="rect">
              <a:avLst/>
            </a:prstGeom>
            <a:noFill/>
            <a:ln>
              <a:noFill/>
            </a:ln>
          </p:spPr>
          <p:txBody>
            <a:bodyPr wrap="none" lIns="0" tIns="0" rIns="0" bIns="0" anchor="t" anchorCtr="0">
              <a:spAutoFit/>
            </a:bodyPr>
            <a:lstStyle/>
            <a:p>
              <a:pPr algn="l">
                <a:lnSpc>
                  <a:spcPts val="2100"/>
                </a:lnSpc>
              </a:pPr>
              <a:r>
                <a:rPr lang="en-US" sz="1500" dirty="0">
                  <a:solidFill>
                    <a:schemeClr val="dk1"/>
                  </a:solidFill>
                  <a:latin typeface="+mn-lt"/>
                  <a:ea typeface="+mn-ea"/>
                  <a:cs typeface="+mn-cs"/>
                </a:rPr>
                <a:t>Inspect severe false passes beyond average agreement.</a:t>
              </a:r>
              <a:br>
                <a:rPr lang="en-US" sz="1500" dirty="0">
                  <a:solidFill>
                    <a:schemeClr val="dk1"/>
                  </a:solidFill>
                  <a:latin typeface="+mn-lt"/>
                  <a:ea typeface="+mn-ea"/>
                  <a:cs typeface="+mn-cs"/>
                </a:rPr>
              </a:br>
              <a:r>
                <a:rPr lang="en-US" sz="1500" dirty="0">
                  <a:solidFill>
                    <a:schemeClr val="dk1"/>
                  </a:solidFill>
                  <a:latin typeface="+mn-lt"/>
                  <a:ea typeface="+mn-ea"/>
                  <a:cs typeface="+mn-cs"/>
                </a:rPr>
                <a:t>Stricter grading can increase false failures. Upstart’s</a:t>
              </a:r>
              <a:br>
                <a:rPr lang="en-US" sz="1500" dirty="0">
                  <a:solidFill>
                    <a:schemeClr val="dk1"/>
                  </a:solidFill>
                  <a:latin typeface="+mn-lt"/>
                  <a:ea typeface="+mn-ea"/>
                  <a:cs typeface="+mn-cs"/>
                </a:rPr>
              </a:br>
              <a:r>
                <a:rPr lang="en-US" sz="1500" dirty="0">
                  <a:solidFill>
                    <a:schemeClr val="dk1"/>
                  </a:solidFill>
                  <a:latin typeface="+mn-lt"/>
                  <a:ea typeface="+mn-ea"/>
                  <a:cs typeface="+mn-cs"/>
                </a:rPr>
                <a:t>judge-calibration story is program context; automated</a:t>
              </a:r>
              <a:br>
                <a:rPr lang="en-US" sz="1500" dirty="0">
                  <a:solidFill>
                    <a:schemeClr val="dk1"/>
                  </a:solidFill>
                  <a:latin typeface="+mn-lt"/>
                  <a:ea typeface="+mn-ea"/>
                  <a:cs typeface="+mn-cs"/>
                </a:rPr>
              </a:br>
              <a:r>
                <a:rPr lang="en-US" sz="1500" dirty="0">
                  <a:solidFill>
                    <a:schemeClr val="dk1"/>
                  </a:solidFill>
                  <a:latin typeface="+mn-lt"/>
                  <a:ea typeface="+mn-ea"/>
                  <a:cs typeface="+mn-cs"/>
                </a:rPr>
                <a:t>self-improvement remained under development.</a:t>
              </a:r>
            </a:p>
          </p:txBody>
        </p:sp>
      </p:grpSp>
      <p:grpSp>
        <p:nvGrpSpPr>
          <p:cNvPr id="17" name="evaluate-selector"/>
          <p:cNvGrpSpPr/>
          <p:nvPr/>
        </p:nvGrpSpPr>
        <p:grpSpPr>
          <a:xfrm>
            <a:off x="6086856" y="4581525"/>
            <a:ext cx="4827060" cy="1528445"/>
            <a:chOff x="6086856" y="4581525"/>
            <a:chExt cx="4827060" cy="1528445"/>
          </a:xfrm>
        </p:grpSpPr>
        <p:sp>
          <p:nvSpPr>
            <p:cNvPr id="15" name="TextBox 15"/>
            <p:cNvSpPr txBox="1"/>
            <p:nvPr/>
          </p:nvSpPr>
          <p:spPr>
            <a:xfrm>
              <a:off x="6086856" y="4581525"/>
              <a:ext cx="4827060" cy="352044"/>
            </a:xfrm>
            <a:prstGeom prst="rect">
              <a:avLst/>
            </a:prstGeom>
            <a:noFill/>
            <a:ln>
              <a:noFill/>
            </a:ln>
          </p:spPr>
          <p:txBody>
            <a:bodyPr wrap="none" lIns="0" tIns="0" rIns="0" bIns="0" anchor="t" anchorCtr="0">
              <a:spAutoFit/>
            </a:bodyPr>
            <a:lstStyle/>
            <a:p>
              <a:pPr algn="l"/>
              <a:r>
                <a:rPr lang="en-US" sz="1800" dirty="0">
                  <a:solidFill>
                    <a:schemeClr val="accent2"/>
                  </a:solidFill>
                  <a:latin typeface="+mj-lt"/>
                  <a:ea typeface="+mj-ea"/>
                  <a:cs typeface="+mj-cs"/>
                </a:rPr>
                <a:t>Test and price the deployed selection policy</a:t>
              </a:r>
            </a:p>
          </p:txBody>
        </p:sp>
        <p:sp>
          <p:nvSpPr>
            <p:cNvPr id="16" name="TextBox 16"/>
            <p:cNvSpPr txBox="1"/>
            <p:nvPr/>
          </p:nvSpPr>
          <p:spPr>
            <a:xfrm>
              <a:off x="6088380" y="5016500"/>
              <a:ext cx="4380833" cy="1093470"/>
            </a:xfrm>
            <a:prstGeom prst="rect">
              <a:avLst/>
            </a:prstGeom>
            <a:noFill/>
            <a:ln>
              <a:noFill/>
            </a:ln>
          </p:spPr>
          <p:txBody>
            <a:bodyPr wrap="none" lIns="0" tIns="0" rIns="0" bIns="0" anchor="t" anchorCtr="0">
              <a:spAutoFit/>
            </a:bodyPr>
            <a:lstStyle/>
            <a:p>
              <a:pPr algn="l">
                <a:lnSpc>
                  <a:spcPts val="2100"/>
                </a:lnSpc>
              </a:pPr>
              <a:r>
                <a:rPr lang="en-US" sz="1500" dirty="0">
                  <a:solidFill>
                    <a:schemeClr val="dk1"/>
                  </a:solidFill>
                  <a:latin typeface="+mn-lt"/>
                  <a:ea typeface="+mn-ea"/>
                  <a:cs typeface="+mn-cs"/>
                </a:rPr>
                <a:t>pass@k asks if at least one of k candidates passes.</a:t>
              </a:r>
              <a:br>
                <a:rPr lang="en-US" sz="1500" dirty="0">
                  <a:solidFill>
                    <a:schemeClr val="dk1"/>
                  </a:solidFill>
                  <a:latin typeface="+mn-lt"/>
                  <a:ea typeface="+mn-ea"/>
                  <a:cs typeface="+mn-cs"/>
                </a:rPr>
              </a:br>
              <a:r>
                <a:rPr lang="en-US" sz="1500" dirty="0">
                  <a:solidFill>
                    <a:schemeClr val="dk1"/>
                  </a:solidFill>
                  <a:latin typeface="+mn-lt"/>
                  <a:ea typeface="+mn-ea"/>
                  <a:cs typeface="+mn-cs"/>
                </a:rPr>
                <a:t>State workload, test, k and first-attempt behavior;</a:t>
              </a:r>
              <a:br>
                <a:rPr lang="en-US" sz="1500" dirty="0">
                  <a:solidFill>
                    <a:schemeClr val="dk1"/>
                  </a:solidFill>
                  <a:latin typeface="+mn-lt"/>
                  <a:ea typeface="+mn-ea"/>
                  <a:cs typeface="+mn-cs"/>
                </a:rPr>
              </a:br>
              <a:r>
                <a:rPr lang="en-US" sz="1500" dirty="0">
                  <a:solidFill>
                    <a:schemeClr val="dk1"/>
                  </a:solidFill>
                  <a:latin typeface="+mn-lt"/>
                  <a:ea typeface="+mn-ea"/>
                  <a:cs typeface="+mn-cs"/>
                </a:rPr>
                <a:t>evaluate the actual selector under that budget.</a:t>
              </a:r>
              <a:br>
                <a:rPr lang="en-US" sz="1500" dirty="0">
                  <a:solidFill>
                    <a:schemeClr val="dk1"/>
                  </a:solidFill>
                  <a:latin typeface="+mn-lt"/>
                  <a:ea typeface="+mn-ea"/>
                  <a:cs typeface="+mn-cs"/>
                </a:rPr>
              </a:br>
              <a:r>
                <a:rPr lang="en-US" sz="1500" dirty="0">
                  <a:solidFill>
                    <a:schemeClr val="dk1"/>
                  </a:solidFill>
                  <a:latin typeface="+mn-lt"/>
                  <a:ea typeface="+mn-ea"/>
                  <a:cs typeface="+mn-cs"/>
                </a:rPr>
                <a:t>Count retries, tools, verification, latency and review.</a:t>
              </a:r>
            </a:p>
          </p:txBody>
        </p:sp>
      </p:grpSp>
      <p:grpSp>
        <p:nvGrpSpPr>
          <p:cNvPr id="20" name="footer"/>
          <p:cNvGrpSpPr/>
          <p:nvPr/>
        </p:nvGrpSpPr>
        <p:grpSpPr>
          <a:xfrm>
            <a:off x="452438" y="6486525"/>
            <a:ext cx="11287124" cy="176212"/>
            <a:chOff x="452438" y="6486525"/>
            <a:chExt cx="11287124" cy="176212"/>
          </a:xfrm>
        </p:grpSpPr>
        <p:sp>
          <p:nvSpPr>
            <p:cNvPr id="18" name="TextBox 18"/>
            <p:cNvSpPr txBox="1"/>
            <p:nvPr/>
          </p:nvSpPr>
          <p:spPr>
            <a:xfrm>
              <a:off x="452438" y="6486525"/>
              <a:ext cx="6859859" cy="176212"/>
            </a:xfrm>
            <a:prstGeom prst="rect">
              <a:avLst/>
            </a:prstGeom>
            <a:noFill/>
            <a:ln>
              <a:noFill/>
            </a:ln>
          </p:spPr>
          <p:txBody>
            <a:bodyPr wrap="none" lIns="0" tIns="0" rIns="0" bIns="0" anchor="t" anchorCtr="0">
              <a:spAutoFit/>
            </a:bodyPr>
            <a:lstStyle/>
            <a:p>
              <a:pPr algn="l"/>
              <a:r>
                <a:rPr lang="en-US" sz="900" dirty="0">
                  <a:solidFill>
                    <a:schemeClr val="accent5"/>
                  </a:solidFill>
                  <a:latin typeface="+mn-lt"/>
                  <a:ea typeface="+mn-ea"/>
                  <a:cs typeface="+mn-cs"/>
                </a:rPr>
                <a:t>Sources: Ramp/banking accounts, Upstart agenda and Chen et al. (2021). No company or finance benchmark score is claimed.</a:t>
              </a:r>
            </a:p>
          </p:txBody>
        </p:sp>
        <p:sp>
          <p:nvSpPr>
            <p:cNvPr id="19" name="TextBox 19"/>
            <p:cNvSpPr txBox="1"/>
            <p:nvPr/>
          </p:nvSpPr>
          <p:spPr>
            <a:xfrm>
              <a:off x="11359512" y="6486525"/>
              <a:ext cx="380050" cy="176212"/>
            </a:xfrm>
            <a:prstGeom prst="rect">
              <a:avLst/>
            </a:prstGeom>
            <a:noFill/>
            <a:ln>
              <a:noFill/>
            </a:ln>
          </p:spPr>
          <p:txBody>
            <a:bodyPr wrap="none" lIns="0" tIns="0" rIns="0" bIns="0" anchor="t" anchorCtr="0">
              <a:spAutoFit/>
            </a:bodyPr>
            <a:lstStyle/>
            <a:p>
              <a:pPr algn="r"/>
              <a:r>
                <a:rPr lang="en-US" sz="900" dirty="0">
                  <a:solidFill>
                    <a:schemeClr val="accent5"/>
                  </a:solidFill>
                  <a:latin typeface="+mn-lt"/>
                  <a:ea typeface="+mn-ea"/>
                  <a:cs typeface="+mn-cs"/>
                </a:rPr>
                <a:t>15 / 37</a:t>
              </a:r>
            </a:p>
          </p:txBody>
        </p:sp>
      </p:grpSp>
    </p:spTree>
  </p:cSld>
  <p:clrMapOvr>
    <a:masterClrMapping/>
  </p:clrMapOvr>
  <p:transition xmlns:p14="http://schemas.microsoft.com/office/powerpoint/2010/main" p14:dur="400">
    <p:fade/>
  </p:transition>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5" name="title"/>
          <p:cNvGrpSpPr/>
          <p:nvPr/>
        </p:nvGrpSpPr>
        <p:grpSpPr>
          <a:xfrm>
            <a:off x="443484" y="361950"/>
            <a:ext cx="9536799" cy="1100582"/>
            <a:chOff x="443484" y="361950"/>
            <a:chExt cx="9536799" cy="1100582"/>
          </a:xfrm>
        </p:grpSpPr>
        <p:sp>
          <p:nvSpPr>
            <p:cNvPr id="2" name="TextBox 2"/>
            <p:cNvSpPr txBox="1"/>
            <p:nvPr/>
          </p:nvSpPr>
          <p:spPr>
            <a:xfrm>
              <a:off x="451104" y="361950"/>
              <a:ext cx="2668029" cy="234696"/>
            </a:xfrm>
            <a:prstGeom prst="rect">
              <a:avLst/>
            </a:prstGeom>
            <a:noFill/>
            <a:ln>
              <a:noFill/>
            </a:ln>
          </p:spPr>
          <p:txBody>
            <a:bodyPr wrap="none" lIns="0" tIns="0" rIns="0" bIns="0" anchor="t" anchorCtr="0">
              <a:spAutoFit/>
            </a:bodyPr>
            <a:lstStyle/>
            <a:p>
              <a:pPr algn="l"/>
              <a:r>
                <a:rPr lang="en-US" sz="1200" dirty="0">
                  <a:solidFill>
                    <a:schemeClr val="accent2"/>
                  </a:solidFill>
                  <a:latin typeface="+mn-lt"/>
                  <a:ea typeface="+mn-ea"/>
                  <a:cs typeface="+mn-cs"/>
                </a:rPr>
                <a:t>03 / EVALUATION ENGINEERING</a:t>
              </a:r>
            </a:p>
          </p:txBody>
        </p:sp>
        <p:sp>
          <p:nvSpPr>
            <p:cNvPr id="3" name="TextBox 3"/>
            <p:cNvSpPr txBox="1"/>
            <p:nvPr/>
          </p:nvSpPr>
          <p:spPr>
            <a:xfrm>
              <a:off x="443484" y="593725"/>
              <a:ext cx="8396166" cy="528066"/>
            </a:xfrm>
            <a:prstGeom prst="rect">
              <a:avLst/>
            </a:prstGeom>
            <a:noFill/>
            <a:ln>
              <a:noFill/>
            </a:ln>
          </p:spPr>
          <p:txBody>
            <a:bodyPr wrap="none" lIns="0" tIns="0" rIns="0" bIns="0" anchor="t" anchorCtr="0">
              <a:spAutoFit/>
            </a:bodyPr>
            <a:lstStyle/>
            <a:p>
              <a:pPr algn="l"/>
              <a:r>
                <a:rPr lang="en-US" sz="2700" dirty="0">
                  <a:solidFill>
                    <a:schemeClr val="accent1"/>
                  </a:solidFill>
                  <a:latin typeface="+mj-lt"/>
                  <a:ea typeface="+mj-ea"/>
                  <a:cs typeface="+mj-cs"/>
                </a:rPr>
                <a:t>Ablate skills; evaluate memory after time advances</a:t>
              </a:r>
            </a:p>
          </p:txBody>
        </p:sp>
        <p:sp>
          <p:nvSpPr>
            <p:cNvPr id="4" name="TextBox 4"/>
            <p:cNvSpPr txBox="1"/>
            <p:nvPr/>
          </p:nvSpPr>
          <p:spPr>
            <a:xfrm>
              <a:off x="448818" y="1139825"/>
              <a:ext cx="9531465" cy="322707"/>
            </a:xfrm>
            <a:prstGeom prst="rect">
              <a:avLst/>
            </a:prstGeom>
            <a:noFill/>
            <a:ln>
              <a:noFill/>
            </a:ln>
          </p:spPr>
          <p:txBody>
            <a:bodyPr wrap="none" lIns="0" tIns="0" rIns="0" bIns="0" anchor="t" anchorCtr="0">
              <a:spAutoFit/>
            </a:bodyPr>
            <a:lstStyle/>
            <a:p>
              <a:pPr algn="l"/>
              <a:r>
                <a:rPr lang="en-US" sz="1650" dirty="0">
                  <a:solidFill>
                    <a:schemeClr val="accent5"/>
                  </a:solidFill>
                  <a:latin typeface="+mn-lt"/>
                  <a:ea typeface="+mn-ea"/>
                  <a:cs typeface="+mn-cs"/>
                </a:rPr>
                <a:t>Ryan Stevens’s written account evaluates task + world + trajectory + accountant-authored rubric.</a:t>
              </a:r>
            </a:p>
          </p:txBody>
        </p:sp>
      </p:grpSp>
      <p:graphicFrame>
        <p:nvGraphicFramePr>
          <p:cNvPr id="6" name="paired-variants"/>
          <p:cNvGraphicFramePr>
            <a:graphicFrameLocks noGrp="1"/>
          </p:cNvGraphicFramePr>
          <p:nvPr/>
        </p:nvGraphicFramePr>
        <p:xfrm>
          <a:off x="457200" y="1752600"/>
          <a:ext cx="11277600" cy="3390900"/>
        </p:xfrm>
        <a:graphic>
          <a:graphicData uri="http://schemas.openxmlformats.org/drawingml/2006/table">
            <a:tbl>
              <a:tblPr firstRow="1" bandRow="0">
                <a:tableStyleId>{5C22544A-7EE6-4342-B048-85BDC9FD1C3A}</a:tableStyleId>
              </a:tblPr>
              <a:tblGrid>
                <a:gridCol w="3238500"/>
                <a:gridCol w="3714750"/>
                <a:gridCol w="4324350"/>
              </a:tblGrid>
              <a:tr h="495300">
                <a:tc>
                  <a:txBody>
                    <a:bodyPr/>
                    <a:lstStyle/>
                    <a:p>
                      <a:pPr/>
                      <a:r>
                        <a:rPr lang="en-US" sz="1350" b="1">
                          <a:solidFill>
                            <a:srgbClr val="FFFDF7"/>
                          </a:solidFill>
                          <a:latin typeface="Arial"/>
                          <a:ea typeface="Microsoft YaHei"/>
                          <a:cs typeface="Arial"/>
                        </a:rPr>
                        <a:t>Change / fixture</a:t>
                      </a:r>
                    </a:p>
                  </a:txBody>
                  <a:tcPr anchor="ctr" marL="152400" marR="152400" marT="76200" marB="76200">
                    <a:lnL>
                      <a:noFill/>
                    </a:lnL>
                    <a:lnR>
                      <a:noFill/>
                    </a:lnR>
                    <a:lnT>
                      <a:noFill/>
                    </a:lnT>
                    <a:lnB w="9525">
                      <a:solidFill>
                        <a:schemeClr val="accent6"/>
                      </a:solidFill>
                      <a:prstDash val="solid"/>
                    </a:lnB>
                    <a:solidFill>
                      <a:schemeClr val="accent1"/>
                    </a:solidFill>
                  </a:tcPr>
                </a:tc>
                <a:tc>
                  <a:txBody>
                    <a:bodyPr/>
                    <a:lstStyle/>
                    <a:p>
                      <a:pPr/>
                      <a:r>
                        <a:rPr lang="en-US" sz="1350" b="1">
                          <a:solidFill>
                            <a:srgbClr val="FFFDF7"/>
                          </a:solidFill>
                          <a:latin typeface="Arial"/>
                          <a:ea typeface="Microsoft YaHei"/>
                          <a:cs typeface="Arial"/>
                        </a:rPr>
                        <a:t>Reported result</a:t>
                      </a:r>
                    </a:p>
                  </a:txBody>
                  <a:tcPr anchor="ctr" marL="152400" marR="152400" marT="76200" marB="76200">
                    <a:lnL>
                      <a:noFill/>
                    </a:lnL>
                    <a:lnR>
                      <a:noFill/>
                    </a:lnR>
                    <a:lnT>
                      <a:noFill/>
                    </a:lnT>
                    <a:lnB w="9525">
                      <a:solidFill>
                        <a:schemeClr val="accent6"/>
                      </a:solidFill>
                      <a:prstDash val="solid"/>
                    </a:lnB>
                    <a:solidFill>
                      <a:schemeClr val="accent1"/>
                    </a:solidFill>
                  </a:tcPr>
                </a:tc>
                <a:tc>
                  <a:txBody>
                    <a:bodyPr/>
                    <a:lstStyle/>
                    <a:p>
                      <a:pPr/>
                      <a:r>
                        <a:rPr lang="en-US" sz="1350" b="1">
                          <a:solidFill>
                            <a:srgbClr val="FFFDF7"/>
                          </a:solidFill>
                          <a:latin typeface="Arial"/>
                          <a:ea typeface="Microsoft YaHei"/>
                          <a:cs typeface="Arial"/>
                        </a:rPr>
                        <a:t>Local test question</a:t>
                      </a:r>
                    </a:p>
                  </a:txBody>
                  <a:tcPr anchor="ctr" marL="152400" marR="152400" marT="76200" marB="76200">
                    <a:lnL>
                      <a:noFill/>
                    </a:lnL>
                    <a:lnR>
                      <a:noFill/>
                    </a:lnR>
                    <a:lnT>
                      <a:noFill/>
                    </a:lnT>
                    <a:lnB w="9525">
                      <a:solidFill>
                        <a:schemeClr val="accent6"/>
                      </a:solidFill>
                      <a:prstDash val="solid"/>
                    </a:lnB>
                    <a:solidFill>
                      <a:schemeClr val="accent1"/>
                    </a:solidFill>
                  </a:tcPr>
                </a:tc>
              </a:tr>
              <a:tr h="723900">
                <a:tc>
                  <a:txBody>
                    <a:bodyPr/>
                    <a:lstStyle/>
                    <a:p>
                      <a:pPr/>
                      <a:r>
                        <a:rPr lang="en-US" sz="1350" b="0">
                          <a:solidFill>
                            <a:schemeClr val="dk1"/>
                          </a:solidFill>
                          <a:latin typeface="Arial"/>
                          <a:ea typeface="Microsoft YaHei"/>
                          <a:cs typeface="Arial"/>
                        </a:rPr>
                        <a:t>Eight skills → four</a:t>
                      </a:r>
                    </a:p>
                  </a:txBody>
                  <a:tcPr anchor="ctr" marL="152400" marR="152400" marT="76200" marB="76200">
                    <a:lnL>
                      <a:noFill/>
                    </a:lnL>
                    <a:lnR>
                      <a:noFill/>
                    </a:lnR>
                    <a:lnT>
                      <a:noFill/>
                    </a:lnT>
                    <a:lnB w="9525">
                      <a:solidFill>
                        <a:schemeClr val="accent6"/>
                      </a:solidFill>
                      <a:prstDash val="solid"/>
                    </a:lnB>
                    <a:noFill/>
                  </a:tcPr>
                </a:tc>
                <a:tc>
                  <a:txBody>
                    <a:bodyPr/>
                    <a:lstStyle/>
                    <a:p>
                      <a:pPr/>
                      <a:r>
                        <a:rPr lang="en-US" sz="1350" b="0">
                          <a:solidFill>
                            <a:schemeClr val="dk1"/>
                          </a:solidFill>
                          <a:latin typeface="Arial"/>
                          <a:ea typeface="Microsoft YaHei"/>
                          <a:cs typeface="Arial"/>
                        </a:rPr>
                        <a:t>+2.8 mean-score points / six worlds</a:t>
                      </a:r>
                    </a:p>
                  </a:txBody>
                  <a:tcPr anchor="ctr" marL="152400" marR="152400" marT="76200" marB="76200">
                    <a:lnL>
                      <a:noFill/>
                    </a:lnL>
                    <a:lnR>
                      <a:noFill/>
                    </a:lnR>
                    <a:lnT>
                      <a:noFill/>
                    </a:lnT>
                    <a:lnB w="9525">
                      <a:solidFill>
                        <a:schemeClr val="accent6"/>
                      </a:solidFill>
                      <a:prstDash val="solid"/>
                    </a:lnB>
                    <a:noFill/>
                  </a:tcPr>
                </a:tc>
                <a:tc>
                  <a:txBody>
                    <a:bodyPr/>
                    <a:lstStyle/>
                    <a:p>
                      <a:pPr/>
                      <a:r>
                        <a:rPr lang="en-US" sz="1350" b="0">
                          <a:solidFill>
                            <a:schemeClr val="dk1"/>
                          </a:solidFill>
                          <a:latin typeface="Arial"/>
                          <a:ea typeface="Microsoft YaHei"/>
                          <a:cs typeface="Arial"/>
                        </a:rPr>
                        <a:t>Inspect per-world regressions and essential criteria.</a:t>
                      </a:r>
                    </a:p>
                  </a:txBody>
                  <a:tcPr anchor="ctr" marL="152400" marR="152400" marT="76200" marB="76200">
                    <a:lnL>
                      <a:noFill/>
                    </a:lnL>
                    <a:lnR>
                      <a:noFill/>
                    </a:lnR>
                    <a:lnT>
                      <a:noFill/>
                    </a:lnT>
                    <a:lnB w="9525">
                      <a:solidFill>
                        <a:schemeClr val="accent6"/>
                      </a:solidFill>
                      <a:prstDash val="solid"/>
                    </a:lnB>
                    <a:noFill/>
                  </a:tcPr>
                </a:tc>
              </a:tr>
              <a:tr h="723900">
                <a:tc>
                  <a:txBody>
                    <a:bodyPr/>
                    <a:lstStyle/>
                    <a:p>
                      <a:pPr/>
                      <a:r>
                        <a:rPr lang="en-US" sz="1350" b="0">
                          <a:solidFill>
                            <a:schemeClr val="dk1"/>
                          </a:solidFill>
                          <a:latin typeface="Arial"/>
                          <a:ea typeface="Microsoft YaHei"/>
                          <a:cs typeface="Arial"/>
                        </a:rPr>
                        <a:t>Spreadsheet skill compressed 61%</a:t>
                      </a:r>
                    </a:p>
                  </a:txBody>
                  <a:tcPr anchor="ctr" marL="152400" marR="152400" marT="76200" marB="76200">
                    <a:lnL>
                      <a:noFill/>
                    </a:lnL>
                    <a:lnR>
                      <a:noFill/>
                    </a:lnR>
                    <a:lnT>
                      <a:noFill/>
                    </a:lnT>
                    <a:lnB w="9525">
                      <a:solidFill>
                        <a:schemeClr val="accent6"/>
                      </a:solidFill>
                      <a:prstDash val="solid"/>
                    </a:lnB>
                    <a:noFill/>
                  </a:tcPr>
                </a:tc>
                <a:tc>
                  <a:txBody>
                    <a:bodyPr/>
                    <a:lstStyle/>
                    <a:p>
                      <a:pPr/>
                      <a:r>
                        <a:rPr lang="en-US" sz="1350" b="0">
                          <a:solidFill>
                            <a:schemeClr val="dk1"/>
                          </a:solidFill>
                          <a:latin typeface="Arial"/>
                          <a:ea typeface="Microsoft YaHei"/>
                          <a:cs typeface="Arial"/>
                        </a:rPr>
                        <a:t>Quality essentially unchanged</a:t>
                      </a:r>
                    </a:p>
                  </a:txBody>
                  <a:tcPr anchor="ctr" marL="152400" marR="152400" marT="76200" marB="76200">
                    <a:lnL>
                      <a:noFill/>
                    </a:lnL>
                    <a:lnR>
                      <a:noFill/>
                    </a:lnR>
                    <a:lnT>
                      <a:noFill/>
                    </a:lnT>
                    <a:lnB w="9525">
                      <a:solidFill>
                        <a:schemeClr val="accent6"/>
                      </a:solidFill>
                      <a:prstDash val="solid"/>
                    </a:lnB>
                    <a:noFill/>
                  </a:tcPr>
                </a:tc>
                <a:tc>
                  <a:txBody>
                    <a:bodyPr/>
                    <a:lstStyle/>
                    <a:p>
                      <a:pPr/>
                      <a:r>
                        <a:rPr lang="en-US" sz="1350" b="0">
                          <a:solidFill>
                            <a:schemeClr val="dk1"/>
                          </a:solidFill>
                          <a:latin typeface="Arial"/>
                          <a:ea typeface="Microsoft YaHei"/>
                          <a:cs typeface="Arial"/>
                        </a:rPr>
                        <a:t>Check retained method and all workflow costs.</a:t>
                      </a:r>
                    </a:p>
                  </a:txBody>
                  <a:tcPr anchor="ctr" marL="152400" marR="152400" marT="76200" marB="76200">
                    <a:lnL>
                      <a:noFill/>
                    </a:lnL>
                    <a:lnR>
                      <a:noFill/>
                    </a:lnR>
                    <a:lnT>
                      <a:noFill/>
                    </a:lnT>
                    <a:lnB w="9525">
                      <a:solidFill>
                        <a:schemeClr val="accent6"/>
                      </a:solidFill>
                      <a:prstDash val="solid"/>
                    </a:lnB>
                    <a:noFill/>
                  </a:tcPr>
                </a:tc>
              </a:tr>
              <a:tr h="723900">
                <a:tc>
                  <a:txBody>
                    <a:bodyPr/>
                    <a:lstStyle/>
                    <a:p>
                      <a:pPr/>
                      <a:r>
                        <a:rPr lang="en-US" sz="1350" b="0">
                          <a:solidFill>
                            <a:schemeClr val="dk1"/>
                          </a:solidFill>
                          <a:latin typeface="Arial"/>
                          <a:ea typeface="Microsoft YaHei"/>
                          <a:cs typeface="Arial"/>
                        </a:rPr>
                        <a:t>Trajectory-distilled memory</a:t>
                      </a:r>
                    </a:p>
                  </a:txBody>
                  <a:tcPr anchor="ctr" marL="152400" marR="152400" marT="76200" marB="76200">
                    <a:lnL>
                      <a:noFill/>
                    </a:lnL>
                    <a:lnR>
                      <a:noFill/>
                    </a:lnR>
                    <a:lnT>
                      <a:noFill/>
                    </a:lnT>
                    <a:lnB w="9525">
                      <a:solidFill>
                        <a:schemeClr val="accent6"/>
                      </a:solidFill>
                      <a:prstDash val="solid"/>
                    </a:lnB>
                    <a:noFill/>
                  </a:tcPr>
                </a:tc>
                <a:tc>
                  <a:txBody>
                    <a:bodyPr/>
                    <a:lstStyle/>
                    <a:p>
                      <a:pPr/>
                      <a:r>
                        <a:rPr lang="en-US" sz="1350" b="0">
                          <a:solidFill>
                            <a:schemeClr val="dk1"/>
                          </a:solidFill>
                          <a:latin typeface="Arial"/>
                          <a:ea typeface="Microsoft YaHei"/>
                          <a:cs typeface="Arial"/>
                        </a:rPr>
                        <a:t>+5.7 points over skills alone</a:t>
                      </a:r>
                    </a:p>
                  </a:txBody>
                  <a:tcPr anchor="ctr" marL="152400" marR="152400" marT="76200" marB="76200">
                    <a:lnL>
                      <a:noFill/>
                    </a:lnL>
                    <a:lnR>
                      <a:noFill/>
                    </a:lnR>
                    <a:lnT>
                      <a:noFill/>
                    </a:lnT>
                    <a:lnB w="9525">
                      <a:solidFill>
                        <a:schemeClr val="accent6"/>
                      </a:solidFill>
                      <a:prstDash val="solid"/>
                    </a:lnB>
                    <a:noFill/>
                  </a:tcPr>
                </a:tc>
                <a:tc>
                  <a:txBody>
                    <a:bodyPr/>
                    <a:lstStyle/>
                    <a:p>
                      <a:pPr/>
                      <a:r>
                        <a:rPr lang="en-US" sz="1350" b="0">
                          <a:solidFill>
                            <a:schemeClr val="dk1"/>
                          </a:solidFill>
                          <a:latin typeface="Arial"/>
                          <a:ea typeface="Microsoft YaHei"/>
                          <a:cs typeface="Arial"/>
                        </a:rPr>
                        <a:t>Next-period work; fresh amounts; changed rules.</a:t>
                      </a:r>
                    </a:p>
                  </a:txBody>
                  <a:tcPr anchor="ctr" marL="152400" marR="152400" marT="76200" marB="76200">
                    <a:lnL>
                      <a:noFill/>
                    </a:lnL>
                    <a:lnR>
                      <a:noFill/>
                    </a:lnR>
                    <a:lnT>
                      <a:noFill/>
                    </a:lnT>
                    <a:lnB w="9525">
                      <a:solidFill>
                        <a:schemeClr val="accent6"/>
                      </a:solidFill>
                      <a:prstDash val="solid"/>
                    </a:lnB>
                    <a:noFill/>
                  </a:tcPr>
                </a:tc>
              </a:tr>
              <a:tr h="723900">
                <a:tc>
                  <a:txBody>
                    <a:bodyPr/>
                    <a:lstStyle/>
                    <a:p>
                      <a:pPr/>
                      <a:r>
                        <a:rPr lang="en-US" sz="1350" b="0">
                          <a:solidFill>
                            <a:schemeClr val="dk1"/>
                          </a:solidFill>
                          <a:latin typeface="Arial"/>
                          <a:ea typeface="Microsoft YaHei"/>
                          <a:cs typeface="Arial"/>
                        </a:rPr>
                        <a:t>Roll-forward worlds</a:t>
                      </a:r>
                    </a:p>
                  </a:txBody>
                  <a:tcPr anchor="ctr" marL="152400" marR="152400" marT="76200" marB="76200">
                    <a:lnL>
                      <a:noFill/>
                    </a:lnL>
                    <a:lnR>
                      <a:noFill/>
                    </a:lnR>
                    <a:lnT>
                      <a:noFill/>
                    </a:lnT>
                    <a:lnB w="9525">
                      <a:solidFill>
                        <a:schemeClr val="accent6"/>
                      </a:solidFill>
                      <a:prstDash val="solid"/>
                    </a:lnB>
                    <a:noFill/>
                  </a:tcPr>
                </a:tc>
                <a:tc>
                  <a:txBody>
                    <a:bodyPr/>
                    <a:lstStyle/>
                    <a:p>
                      <a:pPr/>
                      <a:r>
                        <a:rPr lang="en-US" sz="1350" b="0">
                          <a:solidFill>
                            <a:schemeClr val="dk1"/>
                          </a:solidFill>
                          <a:latin typeface="Arial"/>
                          <a:ea typeface="Microsoft YaHei"/>
                          <a:cs typeface="Arial"/>
                        </a:rPr>
                        <a:t>Same business, next period</a:t>
                      </a:r>
                    </a:p>
                  </a:txBody>
                  <a:tcPr anchor="ctr" marL="152400" marR="152400" marT="76200" marB="76200">
                    <a:lnL>
                      <a:noFill/>
                    </a:lnL>
                    <a:lnR>
                      <a:noFill/>
                    </a:lnR>
                    <a:lnT>
                      <a:noFill/>
                    </a:lnT>
                    <a:lnB w="9525">
                      <a:solidFill>
                        <a:schemeClr val="accent6"/>
                      </a:solidFill>
                      <a:prstDash val="solid"/>
                    </a:lnB>
                    <a:noFill/>
                  </a:tcPr>
                </a:tc>
                <a:tc>
                  <a:txBody>
                    <a:bodyPr/>
                    <a:lstStyle/>
                    <a:p>
                      <a:pPr/>
                      <a:r>
                        <a:rPr lang="en-US" sz="1350" b="0">
                          <a:solidFill>
                            <a:schemeClr val="dk1"/>
                          </a:solidFill>
                          <a:latin typeface="Arial"/>
                          <a:ea typeface="Microsoft YaHei"/>
                          <a:cs typeface="Arial"/>
                        </a:rPr>
                        <a:t>Preserve process knowledge; remove stale amounts.</a:t>
                      </a:r>
                    </a:p>
                  </a:txBody>
                  <a:tcPr anchor="ctr" marL="152400" marR="152400" marT="76200" marB="76200">
                    <a:lnL>
                      <a:noFill/>
                    </a:lnL>
                    <a:lnR>
                      <a:noFill/>
                    </a:lnR>
                    <a:lnT>
                      <a:noFill/>
                    </a:lnT>
                    <a:lnB w="9525">
                      <a:solidFill>
                        <a:schemeClr val="accent6"/>
                      </a:solidFill>
                      <a:prstDash val="solid"/>
                    </a:lnB>
                    <a:noFill/>
                  </a:tcPr>
                </a:tc>
              </a:tr>
            </a:tbl>
          </a:graphicData>
        </a:graphic>
      </p:graphicFrame>
      <p:grpSp>
        <p:nvGrpSpPr>
          <p:cNvPr id="8" name="comparison-boundary"/>
          <p:cNvGrpSpPr/>
          <p:nvPr/>
        </p:nvGrpSpPr>
        <p:grpSpPr>
          <a:xfrm>
            <a:off x="449580" y="5514975"/>
            <a:ext cx="9736188" cy="807720"/>
            <a:chOff x="449580" y="5514975"/>
            <a:chExt cx="9736188" cy="807720"/>
          </a:xfrm>
        </p:grpSpPr>
        <p:sp>
          <p:nvSpPr>
            <p:cNvPr id="7" name="TextBox 7"/>
            <p:cNvSpPr txBox="1"/>
            <p:nvPr/>
          </p:nvSpPr>
          <p:spPr>
            <a:xfrm>
              <a:off x="449580" y="5514975"/>
              <a:ext cx="9736188" cy="807720"/>
            </a:xfrm>
            <a:prstGeom prst="rect">
              <a:avLst/>
            </a:prstGeom>
            <a:noFill/>
            <a:ln>
              <a:noFill/>
            </a:ln>
          </p:spPr>
          <p:txBody>
            <a:bodyPr wrap="none" lIns="0" tIns="0" rIns="0" bIns="0" anchor="t" anchorCtr="0">
              <a:spAutoFit/>
            </a:bodyPr>
            <a:lstStyle/>
            <a:p>
              <a:pPr algn="l">
                <a:lnSpc>
                  <a:spcPts val="2025"/>
                </a:lnSpc>
              </a:pPr>
              <a:r>
                <a:rPr lang="en-US" sz="1500" dirty="0">
                  <a:solidFill>
                    <a:schemeClr val="dk1"/>
                  </a:solidFill>
                  <a:latin typeface="+mn-lt"/>
                  <a:ea typeface="+mn-ea"/>
                  <a:cs typeface="+mn-cs"/>
                </a:rPr>
                <a:t>Source: Ryan Stevens’s October 14 article, not Alexander Shevchenko’s keynote. Point gains are workload-specific</a:t>
              </a:r>
              <a:br>
                <a:rPr lang="en-US" sz="1500" dirty="0">
                  <a:solidFill>
                    <a:schemeClr val="dk1"/>
                  </a:solidFill>
                  <a:latin typeface="+mn-lt"/>
                  <a:ea typeface="+mn-ea"/>
                  <a:cs typeface="+mn-cs"/>
                </a:rPr>
              </a:br>
              <a:r>
                <a:rPr lang="en-US" sz="1500" dirty="0">
                  <a:solidFill>
                    <a:schemeClr val="dk1"/>
                  </a:solidFill>
                  <a:latin typeface="+mn-lt"/>
                  <a:ea typeface="+mn-ea"/>
                  <a:cs typeface="+mn-cs"/>
                </a:rPr>
                <a:t>reports, not predicted improvement for another team. Hold tasks, evaluator and attempt budget fixed; protect a</a:t>
              </a:r>
              <a:br>
                <a:rPr lang="en-US" sz="1500" dirty="0">
                  <a:solidFill>
                    <a:schemeClr val="dk1"/>
                  </a:solidFill>
                  <a:latin typeface="+mn-lt"/>
                  <a:ea typeface="+mn-ea"/>
                  <a:cs typeface="+mn-cs"/>
                </a:rPr>
              </a:br>
              <a:r>
                <a:rPr lang="en-US" sz="1500" dirty="0">
                  <a:solidFill>
                    <a:schemeClr val="dk1"/>
                  </a:solidFill>
                  <a:latin typeface="+mn-lt"/>
                  <a:ea typeface="+mn-ea"/>
                  <a:cs typeface="+mn-cs"/>
                </a:rPr>
                <a:t>separate assessment set.</a:t>
              </a:r>
            </a:p>
          </p:txBody>
        </p:sp>
      </p:grpSp>
      <p:grpSp>
        <p:nvGrpSpPr>
          <p:cNvPr id="11" name="footer"/>
          <p:cNvGrpSpPr/>
          <p:nvPr/>
        </p:nvGrpSpPr>
        <p:grpSpPr>
          <a:xfrm>
            <a:off x="452438" y="6477000"/>
            <a:ext cx="11287124" cy="176212"/>
            <a:chOff x="452438" y="6477000"/>
            <a:chExt cx="11287124" cy="176212"/>
          </a:xfrm>
        </p:grpSpPr>
        <p:sp>
          <p:nvSpPr>
            <p:cNvPr id="9" name="TextBox 9"/>
            <p:cNvSpPr txBox="1"/>
            <p:nvPr/>
          </p:nvSpPr>
          <p:spPr>
            <a:xfrm>
              <a:off x="452438" y="6477000"/>
              <a:ext cx="2466521" cy="176212"/>
            </a:xfrm>
            <a:prstGeom prst="rect">
              <a:avLst/>
            </a:prstGeom>
            <a:noFill/>
            <a:ln>
              <a:noFill/>
            </a:ln>
          </p:spPr>
          <p:txBody>
            <a:bodyPr wrap="none" lIns="0" tIns="0" rIns="0" bIns="0" anchor="t" anchorCtr="0">
              <a:spAutoFit/>
            </a:bodyPr>
            <a:lstStyle/>
            <a:p>
              <a:pPr algn="l"/>
              <a:r>
                <a:rPr lang="en-US" sz="900" dirty="0">
                  <a:solidFill>
                    <a:schemeClr val="accent5"/>
                  </a:solidFill>
                  <a:latin typeface="+mn-lt"/>
                  <a:ea typeface="+mn-ea"/>
                  <a:cs typeface="+mn-cs"/>
                </a:rPr>
                <a:t>Sources: Ramp | Reviewed October 25, 2026</a:t>
              </a:r>
            </a:p>
          </p:txBody>
        </p:sp>
        <p:sp>
          <p:nvSpPr>
            <p:cNvPr id="10" name="TextBox 10"/>
            <p:cNvSpPr txBox="1"/>
            <p:nvPr/>
          </p:nvSpPr>
          <p:spPr>
            <a:xfrm>
              <a:off x="11359512" y="6477000"/>
              <a:ext cx="380050" cy="176212"/>
            </a:xfrm>
            <a:prstGeom prst="rect">
              <a:avLst/>
            </a:prstGeom>
            <a:noFill/>
            <a:ln>
              <a:noFill/>
            </a:ln>
          </p:spPr>
          <p:txBody>
            <a:bodyPr wrap="none" lIns="0" tIns="0" rIns="0" bIns="0" anchor="t" anchorCtr="0">
              <a:spAutoFit/>
            </a:bodyPr>
            <a:lstStyle/>
            <a:p>
              <a:pPr algn="r"/>
              <a:r>
                <a:rPr lang="en-US" sz="900" dirty="0">
                  <a:solidFill>
                    <a:schemeClr val="accent5"/>
                  </a:solidFill>
                  <a:latin typeface="+mn-lt"/>
                  <a:ea typeface="+mn-ea"/>
                  <a:cs typeface="+mn-cs"/>
                </a:rPr>
                <a:t>16 / 37</a:t>
              </a:r>
            </a:p>
          </p:txBody>
        </p:sp>
      </p:grpSp>
    </p:spTree>
  </p:cSld>
  <p:clrMapOvr>
    <a:masterClrMapping/>
  </p:clrMapOvr>
  <p:transition xmlns:p14="http://schemas.microsoft.com/office/powerpoint/2010/main" p14:dur="400">
    <p:fade/>
  </p:transition>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5" name="title"/>
          <p:cNvGrpSpPr/>
          <p:nvPr/>
        </p:nvGrpSpPr>
        <p:grpSpPr>
          <a:xfrm>
            <a:off x="443484" y="361950"/>
            <a:ext cx="9535658" cy="1100582"/>
            <a:chOff x="443484" y="361950"/>
            <a:chExt cx="9535658" cy="1100582"/>
          </a:xfrm>
        </p:grpSpPr>
        <p:sp>
          <p:nvSpPr>
            <p:cNvPr id="2" name="TextBox 2"/>
            <p:cNvSpPr txBox="1"/>
            <p:nvPr/>
          </p:nvSpPr>
          <p:spPr>
            <a:xfrm>
              <a:off x="451104" y="361950"/>
              <a:ext cx="2668029" cy="234696"/>
            </a:xfrm>
            <a:prstGeom prst="rect">
              <a:avLst/>
            </a:prstGeom>
            <a:noFill/>
            <a:ln>
              <a:noFill/>
            </a:ln>
          </p:spPr>
          <p:txBody>
            <a:bodyPr wrap="none" lIns="0" tIns="0" rIns="0" bIns="0" anchor="t" anchorCtr="0">
              <a:spAutoFit/>
            </a:bodyPr>
            <a:lstStyle/>
            <a:p>
              <a:pPr algn="l"/>
              <a:r>
                <a:rPr lang="en-US" sz="1200" dirty="0">
                  <a:solidFill>
                    <a:schemeClr val="accent2"/>
                  </a:solidFill>
                  <a:latin typeface="+mn-lt"/>
                  <a:ea typeface="+mn-ea"/>
                  <a:cs typeface="+mn-cs"/>
                </a:rPr>
                <a:t>03 / EVALUATION ENGINEERING</a:t>
              </a:r>
            </a:p>
          </p:txBody>
        </p:sp>
        <p:sp>
          <p:nvSpPr>
            <p:cNvPr id="3" name="TextBox 3"/>
            <p:cNvSpPr txBox="1"/>
            <p:nvPr/>
          </p:nvSpPr>
          <p:spPr>
            <a:xfrm>
              <a:off x="443484" y="593725"/>
              <a:ext cx="8223605" cy="528066"/>
            </a:xfrm>
            <a:prstGeom prst="rect">
              <a:avLst/>
            </a:prstGeom>
            <a:noFill/>
            <a:ln>
              <a:noFill/>
            </a:ln>
          </p:spPr>
          <p:txBody>
            <a:bodyPr wrap="none" lIns="0" tIns="0" rIns="0" bIns="0" anchor="t" anchorCtr="0">
              <a:spAutoFit/>
            </a:bodyPr>
            <a:lstStyle/>
            <a:p>
              <a:pPr algn="l"/>
              <a:r>
                <a:rPr lang="en-US" sz="2700" dirty="0">
                  <a:solidFill>
                    <a:schemeClr val="accent1"/>
                  </a:solidFill>
                  <a:latin typeface="+mj-lt"/>
                  <a:ea typeface="+mj-ea"/>
                  <a:cs typeface="+mj-cs"/>
                </a:rPr>
                <a:t>A repair must not hide a consequential regression</a:t>
              </a:r>
            </a:p>
          </p:txBody>
        </p:sp>
        <p:sp>
          <p:nvSpPr>
            <p:cNvPr id="4" name="TextBox 4"/>
            <p:cNvSpPr txBox="1"/>
            <p:nvPr/>
          </p:nvSpPr>
          <p:spPr>
            <a:xfrm>
              <a:off x="448818" y="1139825"/>
              <a:ext cx="9530324" cy="322707"/>
            </a:xfrm>
            <a:prstGeom prst="rect">
              <a:avLst/>
            </a:prstGeom>
            <a:noFill/>
            <a:ln>
              <a:noFill/>
            </a:ln>
          </p:spPr>
          <p:txBody>
            <a:bodyPr wrap="none" lIns="0" tIns="0" rIns="0" bIns="0" anchor="t" anchorCtr="0">
              <a:spAutoFit/>
            </a:bodyPr>
            <a:lstStyle/>
            <a:p>
              <a:pPr algn="l"/>
              <a:r>
                <a:rPr lang="en-US" sz="1650" dirty="0">
                  <a:solidFill>
                    <a:schemeClr val="accent5"/>
                  </a:solidFill>
                  <a:latin typeface="+mn-lt"/>
                  <a:ea typeface="+mn-ea"/>
                  <a:cs typeface="+mn-cs"/>
                </a:rPr>
                <a:t>Compare a vector of quality, critical defects, time and reviewer effort before expanding exposure.</a:t>
              </a:r>
            </a:p>
          </p:txBody>
        </p:sp>
      </p:grpSp>
      <p:grpSp>
        <p:nvGrpSpPr>
          <p:cNvPr id="8" name="blocking-condition"/>
          <p:cNvGrpSpPr/>
          <p:nvPr/>
        </p:nvGrpSpPr>
        <p:grpSpPr>
          <a:xfrm>
            <a:off x="457200" y="1714500"/>
            <a:ext cx="11277600" cy="533400"/>
            <a:chOff x="457200" y="1714500"/>
            <a:chExt cx="11277600" cy="533400"/>
          </a:xfrm>
        </p:grpSpPr>
        <p:sp>
          <p:nvSpPr>
            <p:cNvPr id="6" name="Rectangle 6"/>
            <p:cNvSpPr/>
            <p:nvPr/>
          </p:nvSpPr>
          <p:spPr>
            <a:xfrm>
              <a:off x="457200" y="1714500"/>
              <a:ext cx="11277600" cy="533400"/>
            </a:xfrm>
            <a:prstGeom prst="rect">
              <a:avLst/>
            </a:prstGeom>
            <a:solidFill>
              <a:schemeClr val="accent1"/>
            </a:solidFill>
            <a:ln>
              <a:noFill/>
            </a:ln>
          </p:spPr>
        </p:sp>
        <p:sp>
          <p:nvSpPr>
            <p:cNvPr id="7" name="TextBox 7"/>
            <p:cNvSpPr txBox="1"/>
            <p:nvPr/>
          </p:nvSpPr>
          <p:spPr>
            <a:xfrm>
              <a:off x="621030" y="1857375"/>
              <a:ext cx="8092558" cy="293370"/>
            </a:xfrm>
            <a:prstGeom prst="rect">
              <a:avLst/>
            </a:prstGeom>
            <a:noFill/>
            <a:ln>
              <a:noFill/>
            </a:ln>
          </p:spPr>
          <p:txBody>
            <a:bodyPr wrap="none" lIns="0" tIns="0" rIns="0" bIns="0" anchor="t" anchorCtr="0">
              <a:spAutoFit/>
            </a:bodyPr>
            <a:lstStyle/>
            <a:p>
              <a:pPr algn="l"/>
              <a:r>
                <a:rPr lang="en-US" sz="1500" dirty="0">
                  <a:solidFill>
                    <a:srgbClr val="FFFDF7"/>
                  </a:solidFill>
                  <a:latin typeface="+mn-lt"/>
                  <a:ea typeface="+mn-ea"/>
                  <a:cs typeface="+mn-cs"/>
                </a:rPr>
                <a:t>A quality gain cannot offset prohibited access, fabricated support or an unapproved action.</a:t>
              </a:r>
            </a:p>
          </p:txBody>
        </p:sp>
      </p:grpSp>
      <p:grpSp>
        <p:nvGrpSpPr>
          <p:cNvPr id="11" name="analysis-1"/>
          <p:cNvGrpSpPr/>
          <p:nvPr/>
        </p:nvGrpSpPr>
        <p:grpSpPr>
          <a:xfrm>
            <a:off x="448056" y="2457450"/>
            <a:ext cx="3024035" cy="3227070"/>
            <a:chOff x="448056" y="2457450"/>
            <a:chExt cx="3024035" cy="3227070"/>
          </a:xfrm>
        </p:grpSpPr>
        <p:sp>
          <p:nvSpPr>
            <p:cNvPr id="9" name="TextBox 9"/>
            <p:cNvSpPr txBox="1"/>
            <p:nvPr/>
          </p:nvSpPr>
          <p:spPr>
            <a:xfrm>
              <a:off x="448056" y="2457450"/>
              <a:ext cx="2925841" cy="352044"/>
            </a:xfrm>
            <a:prstGeom prst="rect">
              <a:avLst/>
            </a:prstGeom>
            <a:noFill/>
            <a:ln>
              <a:noFill/>
            </a:ln>
          </p:spPr>
          <p:txBody>
            <a:bodyPr wrap="none" lIns="0" tIns="0" rIns="0" bIns="0" anchor="t" anchorCtr="0">
              <a:spAutoFit/>
            </a:bodyPr>
            <a:lstStyle/>
            <a:p>
              <a:pPr algn="l"/>
              <a:r>
                <a:rPr lang="en-US" sz="1800" dirty="0">
                  <a:solidFill>
                    <a:schemeClr val="accent2"/>
                  </a:solidFill>
                  <a:latin typeface="+mj-lt"/>
                  <a:ea typeface="+mj-ea"/>
                  <a:cs typeface="+mj-cs"/>
                </a:rPr>
                <a:t>Compare the whole vector</a:t>
              </a:r>
            </a:p>
          </p:txBody>
        </p:sp>
        <p:sp>
          <p:nvSpPr>
            <p:cNvPr id="10" name="TextBox 10"/>
            <p:cNvSpPr txBox="1"/>
            <p:nvPr/>
          </p:nvSpPr>
          <p:spPr>
            <a:xfrm>
              <a:off x="449580" y="3076575"/>
              <a:ext cx="3022511" cy="2607945"/>
            </a:xfrm>
            <a:prstGeom prst="rect">
              <a:avLst/>
            </a:prstGeom>
            <a:noFill/>
            <a:ln>
              <a:noFill/>
            </a:ln>
          </p:spPr>
          <p:txBody>
            <a:bodyPr wrap="none" lIns="0" tIns="0" rIns="0" bIns="0" anchor="t" anchorCtr="0">
              <a:spAutoFit/>
            </a:bodyPr>
            <a:lstStyle/>
            <a:p>
              <a:pPr algn="l">
                <a:lnSpc>
                  <a:spcPts val="2025"/>
                </a:lnSpc>
              </a:pPr>
              <a:r>
                <a:rPr lang="en-US" sz="1500" dirty="0">
                  <a:solidFill>
                    <a:schemeClr val="dk1"/>
                  </a:solidFill>
                  <a:latin typeface="+mn-lt"/>
                  <a:ea typeface="+mn-ea"/>
                  <a:cs typeface="+mn-cs"/>
                </a:rPr>
                <a:t>Sofia Jakovcevic’s release</a:t>
              </a:r>
              <a:br>
                <a:rPr lang="en-US" sz="1500" dirty="0">
                  <a:solidFill>
                    <a:schemeClr val="dk1"/>
                  </a:solidFill>
                  <a:latin typeface="+mn-lt"/>
                  <a:ea typeface="+mn-ea"/>
                  <a:cs typeface="+mn-cs"/>
                </a:rPr>
              </a:br>
              <a:r>
                <a:rPr lang="en-US" sz="1500" dirty="0">
                  <a:solidFill>
                    <a:schemeClr val="dk1"/>
                  </a:solidFill>
                  <a:latin typeface="+mn-lt"/>
                  <a:ea typeface="+mn-ea"/>
                  <a:cs typeface="+mn-cs"/>
                </a:rPr>
                <a:t>describes a prompt repair that</a:t>
              </a:r>
              <a:br>
                <a:rPr lang="en-US" sz="1500" dirty="0">
                  <a:solidFill>
                    <a:schemeClr val="dk1"/>
                  </a:solidFill>
                  <a:latin typeface="+mn-lt"/>
                  <a:ea typeface="+mn-ea"/>
                  <a:cs typeface="+mn-cs"/>
                </a:rPr>
              </a:br>
              <a:r>
                <a:rPr lang="en-US" sz="1500" dirty="0">
                  <a:solidFill>
                    <a:schemeClr val="dk1"/>
                  </a:solidFill>
                  <a:latin typeface="+mn-lt"/>
                  <a:ea typeface="+mn-ea"/>
                  <a:cs typeface="+mn-cs"/>
                </a:rPr>
                <a:t>improves safety while harming</a:t>
              </a:r>
              <a:br>
                <a:rPr lang="en-US" sz="1500" dirty="0">
                  <a:solidFill>
                    <a:schemeClr val="dk1"/>
                  </a:solidFill>
                  <a:latin typeface="+mn-lt"/>
                  <a:ea typeface="+mn-ea"/>
                  <a:cs typeface="+mn-cs"/>
                </a:rPr>
              </a:br>
              <a:r>
                <a:rPr lang="en-US" sz="1500" dirty="0">
                  <a:solidFill>
                    <a:schemeClr val="dk1"/>
                  </a:solidFill>
                  <a:latin typeface="+mn-lt"/>
                  <a:ea typeface="+mn-ea"/>
                  <a:cs typeface="+mn-cs"/>
                </a:rPr>
                <a:t>completion. Preserve task/evidence</a:t>
              </a:r>
              <a:br>
                <a:rPr lang="en-US" sz="1500" dirty="0">
                  <a:solidFill>
                    <a:schemeClr val="dk1"/>
                  </a:solidFill>
                  <a:latin typeface="+mn-lt"/>
                  <a:ea typeface="+mn-ea"/>
                  <a:cs typeface="+mn-cs"/>
                </a:rPr>
              </a:br>
              <a:r>
                <a:rPr lang="en-US" sz="1500" dirty="0">
                  <a:solidFill>
                    <a:schemeClr val="dk1"/>
                  </a:solidFill>
                  <a:latin typeface="+mn-lt"/>
                  <a:ea typeface="+mn-ea"/>
                  <a:cs typeface="+mn-cs"/>
                </a:rPr>
                <a:t>quality, critical defects, latency</a:t>
              </a:r>
              <a:br>
                <a:rPr lang="en-US" sz="1500" dirty="0">
                  <a:solidFill>
                    <a:schemeClr val="dk1"/>
                  </a:solidFill>
                  <a:latin typeface="+mn-lt"/>
                  <a:ea typeface="+mn-ea"/>
                  <a:cs typeface="+mn-cs"/>
                </a:rPr>
              </a:br>
              <a:r>
                <a:rPr lang="en-US" sz="1500" dirty="0">
                  <a:solidFill>
                    <a:schemeClr val="dk1"/>
                  </a:solidFill>
                  <a:latin typeface="+mn-lt"/>
                  <a:ea typeface="+mn-ea"/>
                  <a:cs typeface="+mn-cs"/>
                </a:rPr>
                <a:t>and reviewer effort together. An</a:t>
              </a:r>
              <a:br>
                <a:rPr lang="en-US" sz="1500" dirty="0">
                  <a:solidFill>
                    <a:schemeClr val="dk1"/>
                  </a:solidFill>
                  <a:latin typeface="+mn-lt"/>
                  <a:ea typeface="+mn-ea"/>
                  <a:cs typeface="+mn-cs"/>
                </a:rPr>
              </a:br>
              <a:r>
                <a:rPr lang="en-US" sz="1500" dirty="0">
                  <a:solidFill>
                    <a:schemeClr val="dk1"/>
                  </a:solidFill>
                  <a:latin typeface="+mn-lt"/>
                  <a:ea typeface="+mn-ea"/>
                  <a:cs typeface="+mn-cs"/>
                </a:rPr>
                <a:t>aggregate gain should trigger</a:t>
              </a:r>
              <a:br>
                <a:rPr lang="en-US" sz="1500" dirty="0">
                  <a:solidFill>
                    <a:schemeClr val="dk1"/>
                  </a:solidFill>
                  <a:latin typeface="+mn-lt"/>
                  <a:ea typeface="+mn-ea"/>
                  <a:cs typeface="+mn-cs"/>
                </a:rPr>
              </a:br>
              <a:r>
                <a:rPr lang="en-US" sz="1500" dirty="0">
                  <a:solidFill>
                    <a:schemeClr val="dk1"/>
                  </a:solidFill>
                  <a:latin typeface="+mn-lt"/>
                  <a:ea typeface="+mn-ea"/>
                  <a:cs typeface="+mn-cs"/>
                </a:rPr>
                <a:t>inspection of important slices and</a:t>
              </a:r>
              <a:br>
                <a:rPr lang="en-US" sz="1500" dirty="0">
                  <a:solidFill>
                    <a:schemeClr val="dk1"/>
                  </a:solidFill>
                  <a:latin typeface="+mn-lt"/>
                  <a:ea typeface="+mn-ea"/>
                  <a:cs typeface="+mn-cs"/>
                </a:rPr>
              </a:br>
              <a:r>
                <a:rPr lang="en-US" sz="1500" dirty="0">
                  <a:solidFill>
                    <a:schemeClr val="dk1"/>
                  </a:solidFill>
                  <a:latin typeface="+mn-lt"/>
                  <a:ea typeface="+mn-ea"/>
                  <a:cs typeface="+mn-cs"/>
                </a:rPr>
                <a:t>regressions rather than automatic</a:t>
              </a:r>
              <a:br>
                <a:rPr lang="en-US" sz="1500" dirty="0">
                  <a:solidFill>
                    <a:schemeClr val="dk1"/>
                  </a:solidFill>
                  <a:latin typeface="+mn-lt"/>
                  <a:ea typeface="+mn-ea"/>
                  <a:cs typeface="+mn-cs"/>
                </a:rPr>
              </a:br>
              <a:r>
                <a:rPr lang="en-US" sz="1500" dirty="0">
                  <a:solidFill>
                    <a:schemeClr val="dk1"/>
                  </a:solidFill>
                  <a:latin typeface="+mn-lt"/>
                  <a:ea typeface="+mn-ea"/>
                  <a:cs typeface="+mn-cs"/>
                </a:rPr>
                <a:t>promotion.</a:t>
              </a:r>
            </a:p>
          </p:txBody>
        </p:sp>
      </p:grpSp>
      <p:grpSp>
        <p:nvGrpSpPr>
          <p:cNvPr id="14" name="analysis-2"/>
          <p:cNvGrpSpPr/>
          <p:nvPr/>
        </p:nvGrpSpPr>
        <p:grpSpPr>
          <a:xfrm>
            <a:off x="4296156" y="2457450"/>
            <a:ext cx="3109570" cy="2969895"/>
            <a:chOff x="4296156" y="2457450"/>
            <a:chExt cx="3109570" cy="2969895"/>
          </a:xfrm>
        </p:grpSpPr>
        <p:sp>
          <p:nvSpPr>
            <p:cNvPr id="12" name="TextBox 12"/>
            <p:cNvSpPr txBox="1"/>
            <p:nvPr/>
          </p:nvSpPr>
          <p:spPr>
            <a:xfrm>
              <a:off x="4296156" y="2457450"/>
              <a:ext cx="2831101" cy="352044"/>
            </a:xfrm>
            <a:prstGeom prst="rect">
              <a:avLst/>
            </a:prstGeom>
            <a:noFill/>
            <a:ln>
              <a:noFill/>
            </a:ln>
          </p:spPr>
          <p:txBody>
            <a:bodyPr wrap="none" lIns="0" tIns="0" rIns="0" bIns="0" anchor="t" anchorCtr="0">
              <a:spAutoFit/>
            </a:bodyPr>
            <a:lstStyle/>
            <a:p>
              <a:pPr algn="l"/>
              <a:r>
                <a:rPr lang="en-US" sz="1800" dirty="0">
                  <a:solidFill>
                    <a:schemeClr val="accent2"/>
                  </a:solidFill>
                  <a:latin typeface="+mj-lt"/>
                  <a:ea typeface="+mj-ea"/>
                  <a:cs typeface="+mj-cs"/>
                </a:rPr>
                <a:t>Trust observed execution</a:t>
              </a:r>
            </a:p>
          </p:txBody>
        </p:sp>
        <p:sp>
          <p:nvSpPr>
            <p:cNvPr id="13" name="TextBox 13"/>
            <p:cNvSpPr txBox="1"/>
            <p:nvPr/>
          </p:nvSpPr>
          <p:spPr>
            <a:xfrm>
              <a:off x="4297680" y="3076575"/>
              <a:ext cx="3108046" cy="2350770"/>
            </a:xfrm>
            <a:prstGeom prst="rect">
              <a:avLst/>
            </a:prstGeom>
            <a:noFill/>
            <a:ln>
              <a:noFill/>
            </a:ln>
          </p:spPr>
          <p:txBody>
            <a:bodyPr wrap="none" lIns="0" tIns="0" rIns="0" bIns="0" anchor="t" anchorCtr="0">
              <a:spAutoFit/>
            </a:bodyPr>
            <a:lstStyle/>
            <a:p>
              <a:pPr algn="l">
                <a:lnSpc>
                  <a:spcPts val="2025"/>
                </a:lnSpc>
              </a:pPr>
              <a:r>
                <a:rPr lang="en-US" sz="1500" dirty="0">
                  <a:solidFill>
                    <a:schemeClr val="dk1"/>
                  </a:solidFill>
                  <a:latin typeface="+mn-lt"/>
                  <a:ea typeface="+mn-ea"/>
                  <a:cs typeface="+mn-cs"/>
                </a:rPr>
                <a:t>Omni’s release emphasizes full</a:t>
              </a:r>
              <a:br>
                <a:rPr lang="en-US" sz="1500" dirty="0">
                  <a:solidFill>
                    <a:schemeClr val="dk1"/>
                  </a:solidFill>
                  <a:latin typeface="+mn-lt"/>
                  <a:ea typeface="+mn-ea"/>
                  <a:cs typeface="+mn-cs"/>
                </a:rPr>
              </a:br>
              <a:r>
                <a:rPr lang="en-US" sz="1500" dirty="0">
                  <a:solidFill>
                    <a:schemeClr val="dk1"/>
                  </a:solidFill>
                  <a:latin typeface="+mn-lt"/>
                  <a:ea typeface="+mn-ea"/>
                  <a:cs typeface="+mn-cs"/>
                </a:rPr>
                <a:t>traces and gates that actually stop</a:t>
              </a:r>
              <a:br>
                <a:rPr lang="en-US" sz="1500" dirty="0">
                  <a:solidFill>
                    <a:schemeClr val="dk1"/>
                  </a:solidFill>
                  <a:latin typeface="+mn-lt"/>
                  <a:ea typeface="+mn-ea"/>
                  <a:cs typeface="+mn-cs"/>
                </a:rPr>
              </a:br>
              <a:r>
                <a:rPr lang="en-US" sz="1500" dirty="0">
                  <a:solidFill>
                    <a:schemeClr val="dk1"/>
                  </a:solidFill>
                  <a:latin typeface="+mn-lt"/>
                  <a:ea typeface="+mn-ea"/>
                  <a:cs typeface="+mn-cs"/>
                </a:rPr>
                <a:t>work. Verify that the tool effect</a:t>
              </a:r>
              <a:br>
                <a:rPr lang="en-US" sz="1500" dirty="0">
                  <a:solidFill>
                    <a:schemeClr val="dk1"/>
                  </a:solidFill>
                  <a:latin typeface="+mn-lt"/>
                  <a:ea typeface="+mn-ea"/>
                  <a:cs typeface="+mn-cs"/>
                </a:rPr>
              </a:br>
              <a:r>
                <a:rPr lang="en-US" sz="1500" dirty="0">
                  <a:solidFill>
                    <a:schemeClr val="dk1"/>
                  </a:solidFill>
                  <a:latin typeface="+mn-lt"/>
                  <a:ea typeface="+mn-ea"/>
                  <a:cs typeface="+mn-cs"/>
                </a:rPr>
                <a:t>or test occurred through runtime</a:t>
              </a:r>
              <a:br>
                <a:rPr lang="en-US" sz="1500" dirty="0">
                  <a:solidFill>
                    <a:schemeClr val="dk1"/>
                  </a:solidFill>
                  <a:latin typeface="+mn-lt"/>
                  <a:ea typeface="+mn-ea"/>
                  <a:cs typeface="+mn-cs"/>
                </a:rPr>
              </a:br>
              <a:r>
                <a:rPr lang="en-US" sz="1500" dirty="0">
                  <a:solidFill>
                    <a:schemeClr val="dk1"/>
                  </a:solidFill>
                  <a:latin typeface="+mn-lt"/>
                  <a:ea typeface="+mn-ea"/>
                  <a:cs typeface="+mn-cs"/>
                </a:rPr>
                <a:t>records; an agent’s claim that it</a:t>
              </a:r>
              <a:br>
                <a:rPr lang="en-US" sz="1500" dirty="0">
                  <a:solidFill>
                    <a:schemeClr val="dk1"/>
                  </a:solidFill>
                  <a:latin typeface="+mn-lt"/>
                  <a:ea typeface="+mn-ea"/>
                  <a:cs typeface="+mn-cs"/>
                </a:rPr>
              </a:br>
              <a:r>
                <a:rPr lang="en-US" sz="1500" dirty="0">
                  <a:solidFill>
                    <a:schemeClr val="dk1"/>
                  </a:solidFill>
                  <a:latin typeface="+mn-lt"/>
                  <a:ea typeface="+mn-ea"/>
                  <a:cs typeface="+mn-cs"/>
                </a:rPr>
                <a:t>passed is not independent evidence.</a:t>
              </a:r>
              <a:br>
                <a:rPr lang="en-US" sz="1500" dirty="0">
                  <a:solidFill>
                    <a:schemeClr val="dk1"/>
                  </a:solidFill>
                  <a:latin typeface="+mn-lt"/>
                  <a:ea typeface="+mn-ea"/>
                  <a:cs typeface="+mn-cs"/>
                </a:rPr>
              </a:br>
              <a:r>
                <a:rPr lang="en-US" sz="1500" dirty="0">
                  <a:solidFill>
                    <a:schemeClr val="dk1"/>
                  </a:solidFill>
                  <a:latin typeface="+mn-lt"/>
                  <a:ea typeface="+mn-ea"/>
                  <a:cs typeface="+mn-cs"/>
                </a:rPr>
                <a:t>Protect evaluator inputs and</a:t>
              </a:r>
              <a:br>
                <a:rPr lang="en-US" sz="1500" dirty="0">
                  <a:solidFill>
                    <a:schemeClr val="dk1"/>
                  </a:solidFill>
                  <a:latin typeface="+mn-lt"/>
                  <a:ea typeface="+mn-ea"/>
                  <a:cs typeface="+mn-cs"/>
                </a:rPr>
              </a:br>
              <a:r>
                <a:rPr lang="en-US" sz="1500" dirty="0">
                  <a:solidFill>
                    <a:schemeClr val="dk1"/>
                  </a:solidFill>
                  <a:latin typeface="+mn-lt"/>
                  <a:ea typeface="+mn-ea"/>
                  <a:cs typeface="+mn-cs"/>
                </a:rPr>
                <a:t>permitted tool/model access from</a:t>
              </a:r>
              <a:br>
                <a:rPr lang="en-US" sz="1500" dirty="0">
                  <a:solidFill>
                    <a:schemeClr val="dk1"/>
                  </a:solidFill>
                  <a:latin typeface="+mn-lt"/>
                  <a:ea typeface="+mn-ea"/>
                  <a:cs typeface="+mn-cs"/>
                </a:rPr>
              </a:br>
              <a:r>
                <a:rPr lang="en-US" sz="1500" dirty="0">
                  <a:solidFill>
                    <a:schemeClr val="dk1"/>
                  </a:solidFill>
                  <a:latin typeface="+mn-lt"/>
                  <a:ea typeface="+mn-ea"/>
                  <a:cs typeface="+mn-cs"/>
                </a:rPr>
                <a:t>benchmark gaming.</a:t>
              </a:r>
            </a:p>
          </p:txBody>
        </p:sp>
      </p:grpSp>
      <p:grpSp>
        <p:nvGrpSpPr>
          <p:cNvPr id="17" name="analysis-3"/>
          <p:cNvGrpSpPr/>
          <p:nvPr/>
        </p:nvGrpSpPr>
        <p:grpSpPr>
          <a:xfrm>
            <a:off x="8144256" y="2457450"/>
            <a:ext cx="3109074" cy="3227070"/>
            <a:chOff x="8144256" y="2457450"/>
            <a:chExt cx="3109074" cy="3227070"/>
          </a:xfrm>
        </p:grpSpPr>
        <p:sp>
          <p:nvSpPr>
            <p:cNvPr id="15" name="TextBox 15"/>
            <p:cNvSpPr txBox="1"/>
            <p:nvPr/>
          </p:nvSpPr>
          <p:spPr>
            <a:xfrm>
              <a:off x="8144256" y="2457450"/>
              <a:ext cx="1776656" cy="656844"/>
            </a:xfrm>
            <a:prstGeom prst="rect">
              <a:avLst/>
            </a:prstGeom>
            <a:noFill/>
            <a:ln>
              <a:noFill/>
            </a:ln>
          </p:spPr>
          <p:txBody>
            <a:bodyPr wrap="none" lIns="0" tIns="0" rIns="0" bIns="0" anchor="t" anchorCtr="0">
              <a:spAutoFit/>
            </a:bodyPr>
            <a:lstStyle/>
            <a:p>
              <a:pPr algn="l">
                <a:lnSpc>
                  <a:spcPts val="2400"/>
                </a:lnSpc>
              </a:pPr>
              <a:r>
                <a:rPr lang="en-US" sz="1800" dirty="0">
                  <a:solidFill>
                    <a:schemeClr val="accent2"/>
                  </a:solidFill>
                  <a:latin typeface="+mj-lt"/>
                  <a:ea typeface="+mj-ea"/>
                  <a:cs typeface="+mj-cs"/>
                </a:rPr>
                <a:t>Make the decision</a:t>
              </a:r>
              <a:br>
                <a:rPr lang="en-US" sz="1800" dirty="0">
                  <a:solidFill>
                    <a:schemeClr val="accent2"/>
                  </a:solidFill>
                  <a:latin typeface="+mj-lt"/>
                  <a:ea typeface="+mj-ea"/>
                  <a:cs typeface="+mj-cs"/>
                </a:rPr>
              </a:br>
              <a:r>
                <a:rPr lang="en-US" sz="1800" dirty="0">
                  <a:solidFill>
                    <a:schemeClr val="accent2"/>
                  </a:solidFill>
                  <a:latin typeface="+mj-lt"/>
                  <a:ea typeface="+mj-ea"/>
                  <a:cs typeface="+mj-cs"/>
                </a:rPr>
                <a:t>reproducible</a:t>
              </a:r>
            </a:p>
          </p:txBody>
        </p:sp>
        <p:sp>
          <p:nvSpPr>
            <p:cNvPr id="16" name="TextBox 16"/>
            <p:cNvSpPr txBox="1"/>
            <p:nvPr/>
          </p:nvSpPr>
          <p:spPr>
            <a:xfrm>
              <a:off x="8145780" y="3076575"/>
              <a:ext cx="3107550" cy="2607945"/>
            </a:xfrm>
            <a:prstGeom prst="rect">
              <a:avLst/>
            </a:prstGeom>
            <a:noFill/>
            <a:ln>
              <a:noFill/>
            </a:ln>
          </p:spPr>
          <p:txBody>
            <a:bodyPr wrap="none" lIns="0" tIns="0" rIns="0" bIns="0" anchor="t" anchorCtr="0">
              <a:spAutoFit/>
            </a:bodyPr>
            <a:lstStyle/>
            <a:p>
              <a:pPr algn="l">
                <a:lnSpc>
                  <a:spcPts val="2025"/>
                </a:lnSpc>
              </a:pPr>
              <a:r>
                <a:rPr lang="en-US" sz="1500" dirty="0">
                  <a:solidFill>
                    <a:schemeClr val="dk1"/>
                  </a:solidFill>
                  <a:latin typeface="+mn-lt"/>
                  <a:ea typeface="+mn-ea"/>
                  <a:cs typeface="+mn-cs"/>
                </a:rPr>
                <a:t>Retain task/data/evaluator</a:t>
              </a:r>
              <a:br>
                <a:rPr lang="en-US" sz="1500" dirty="0">
                  <a:solidFill>
                    <a:schemeClr val="dk1"/>
                  </a:solidFill>
                  <a:latin typeface="+mn-lt"/>
                  <a:ea typeface="+mn-ea"/>
                  <a:cs typeface="+mn-cs"/>
                </a:rPr>
              </a:br>
              <a:r>
                <a:rPr lang="en-US" sz="1500" dirty="0">
                  <a:solidFill>
                    <a:schemeClr val="dk1"/>
                  </a:solidFill>
                  <a:latin typeface="+mn-lt"/>
                  <a:ea typeface="+mn-ea"/>
                  <a:cs typeface="+mn-cs"/>
                </a:rPr>
                <a:t>versions, failure examples, expert</a:t>
              </a:r>
              <a:br>
                <a:rPr lang="en-US" sz="1500" dirty="0">
                  <a:solidFill>
                    <a:schemeClr val="dk1"/>
                  </a:solidFill>
                  <a:latin typeface="+mn-lt"/>
                  <a:ea typeface="+mn-ea"/>
                  <a:cs typeface="+mn-cs"/>
                </a:rPr>
              </a:br>
              <a:r>
                <a:rPr lang="en-US" sz="1500" dirty="0">
                  <a:solidFill>
                    <a:schemeClr val="dk1"/>
                  </a:solidFill>
                  <a:latin typeface="+mn-lt"/>
                  <a:ea typeface="+mn-ea"/>
                  <a:cs typeface="+mn-cs"/>
                </a:rPr>
                <a:t>disagreements, accepted exceptions</a:t>
              </a:r>
              <a:br>
                <a:rPr lang="en-US" sz="1500" dirty="0">
                  <a:solidFill>
                    <a:schemeClr val="dk1"/>
                  </a:solidFill>
                  <a:latin typeface="+mn-lt"/>
                  <a:ea typeface="+mn-ea"/>
                  <a:cs typeface="+mn-cs"/>
                </a:rPr>
              </a:br>
              <a:r>
                <a:rPr lang="en-US" sz="1500" dirty="0">
                  <a:solidFill>
                    <a:schemeClr val="dk1"/>
                  </a:solidFill>
                  <a:latin typeface="+mn-lt"/>
                  <a:ea typeface="+mn-ea"/>
                  <a:cs typeface="+mn-cs"/>
                </a:rPr>
                <a:t>and the owner. Promote within a</a:t>
              </a:r>
              <a:br>
                <a:rPr lang="en-US" sz="1500" dirty="0">
                  <a:solidFill>
                    <a:schemeClr val="dk1"/>
                  </a:solidFill>
                  <a:latin typeface="+mn-lt"/>
                  <a:ea typeface="+mn-ea"/>
                  <a:cs typeface="+mn-cs"/>
                </a:rPr>
              </a:br>
              <a:r>
                <a:rPr lang="en-US" sz="1500" dirty="0">
                  <a:solidFill>
                    <a:schemeClr val="dk1"/>
                  </a:solidFill>
                  <a:latin typeface="+mn-lt"/>
                  <a:ea typeface="+mn-ea"/>
                  <a:cs typeface="+mn-cs"/>
                </a:rPr>
                <a:t>stated scope, then monitor for</a:t>
              </a:r>
              <a:br>
                <a:rPr lang="en-US" sz="1500" dirty="0">
                  <a:solidFill>
                    <a:schemeClr val="dk1"/>
                  </a:solidFill>
                  <a:latin typeface="+mn-lt"/>
                  <a:ea typeface="+mn-ea"/>
                  <a:cs typeface="+mn-cs"/>
                </a:rPr>
              </a:br>
              <a:r>
                <a:rPr lang="en-US" sz="1500" dirty="0">
                  <a:solidFill>
                    <a:schemeClr val="dk1"/>
                  </a:solidFill>
                  <a:latin typeface="+mn-lt"/>
                  <a:ea typeface="+mn-ea"/>
                  <a:cs typeface="+mn-cs"/>
                </a:rPr>
                <a:t>escaped failures with pause or</a:t>
              </a:r>
              <a:br>
                <a:rPr lang="en-US" sz="1500" dirty="0">
                  <a:solidFill>
                    <a:schemeClr val="dk1"/>
                  </a:solidFill>
                  <a:latin typeface="+mn-lt"/>
                  <a:ea typeface="+mn-ea"/>
                  <a:cs typeface="+mn-cs"/>
                </a:rPr>
              </a:br>
              <a:r>
                <a:rPr lang="en-US" sz="1500" dirty="0">
                  <a:solidFill>
                    <a:schemeClr val="dk1"/>
                  </a:solidFill>
                  <a:latin typeface="+mn-lt"/>
                  <a:ea typeface="+mn-ea"/>
                  <a:cs typeface="+mn-cs"/>
                </a:rPr>
                <a:t>rollback conditions. Finite tests</a:t>
              </a:r>
              <a:br>
                <a:rPr lang="en-US" sz="1500" dirty="0">
                  <a:solidFill>
                    <a:schemeClr val="dk1"/>
                  </a:solidFill>
                  <a:latin typeface="+mn-lt"/>
                  <a:ea typeface="+mn-ea"/>
                  <a:cs typeface="+mn-cs"/>
                </a:rPr>
              </a:br>
              <a:r>
                <a:rPr lang="en-US" sz="1500" dirty="0">
                  <a:solidFill>
                    <a:schemeClr val="dk1"/>
                  </a:solidFill>
                  <a:latin typeface="+mn-lt"/>
                  <a:ea typeface="+mn-ea"/>
                  <a:cs typeface="+mn-cs"/>
                </a:rPr>
                <a:t>support a bounded decision, not</a:t>
              </a:r>
              <a:br>
                <a:rPr lang="en-US" sz="1500" dirty="0">
                  <a:solidFill>
                    <a:schemeClr val="dk1"/>
                  </a:solidFill>
                  <a:latin typeface="+mn-lt"/>
                  <a:ea typeface="+mn-ea"/>
                  <a:cs typeface="+mn-cs"/>
                </a:rPr>
              </a:br>
              <a:r>
                <a:rPr lang="en-US" sz="1500" dirty="0">
                  <a:solidFill>
                    <a:schemeClr val="dk1"/>
                  </a:solidFill>
                  <a:latin typeface="+mn-lt"/>
                  <a:ea typeface="+mn-ea"/>
                  <a:cs typeface="+mn-cs"/>
                </a:rPr>
                <a:t>proof that a critical failure</a:t>
              </a:r>
              <a:br>
                <a:rPr lang="en-US" sz="1500" dirty="0">
                  <a:solidFill>
                    <a:schemeClr val="dk1"/>
                  </a:solidFill>
                  <a:latin typeface="+mn-lt"/>
                  <a:ea typeface="+mn-ea"/>
                  <a:cs typeface="+mn-cs"/>
                </a:rPr>
              </a:br>
              <a:r>
                <a:rPr lang="en-US" sz="1500" dirty="0">
                  <a:solidFill>
                    <a:schemeClr val="dk1"/>
                  </a:solidFill>
                  <a:latin typeface="+mn-lt"/>
                  <a:ea typeface="+mn-ea"/>
                  <a:cs typeface="+mn-cs"/>
                </a:rPr>
                <a:t>cannot occur.</a:t>
              </a:r>
            </a:p>
          </p:txBody>
        </p:sp>
      </p:grpSp>
      <p:grpSp>
        <p:nvGrpSpPr>
          <p:cNvPr id="20" name="footer"/>
          <p:cNvGrpSpPr/>
          <p:nvPr/>
        </p:nvGrpSpPr>
        <p:grpSpPr>
          <a:xfrm>
            <a:off x="452438" y="6477000"/>
            <a:ext cx="11287124" cy="176212"/>
            <a:chOff x="452438" y="6477000"/>
            <a:chExt cx="11287124" cy="176212"/>
          </a:xfrm>
        </p:grpSpPr>
        <p:sp>
          <p:nvSpPr>
            <p:cNvPr id="18" name="TextBox 18"/>
            <p:cNvSpPr txBox="1"/>
            <p:nvPr/>
          </p:nvSpPr>
          <p:spPr>
            <a:xfrm>
              <a:off x="452438" y="6477000"/>
              <a:ext cx="5570511" cy="176212"/>
            </a:xfrm>
            <a:prstGeom prst="rect">
              <a:avLst/>
            </a:prstGeom>
            <a:noFill/>
            <a:ln>
              <a:noFill/>
            </a:ln>
          </p:spPr>
          <p:txBody>
            <a:bodyPr wrap="none" lIns="0" tIns="0" rIns="0" bIns="0" anchor="t" anchorCtr="0">
              <a:spAutoFit/>
            </a:bodyPr>
            <a:lstStyle/>
            <a:p>
              <a:pPr algn="l"/>
              <a:r>
                <a:rPr lang="en-US" sz="900" dirty="0">
                  <a:solidFill>
                    <a:schemeClr val="accent5"/>
                  </a:solidFill>
                  <a:latin typeface="+mn-lt"/>
                  <a:ea typeface="+mn-ea"/>
                  <a:cs typeface="+mn-cs"/>
                </a:rPr>
                <a:t>Sources: Arize · Omni Analytics · Google DeepMind / Kaggle / LinqAlpha | Reviewed October 25, 2026</a:t>
              </a:r>
            </a:p>
          </p:txBody>
        </p:sp>
        <p:sp>
          <p:nvSpPr>
            <p:cNvPr id="19" name="TextBox 19"/>
            <p:cNvSpPr txBox="1"/>
            <p:nvPr/>
          </p:nvSpPr>
          <p:spPr>
            <a:xfrm>
              <a:off x="11359512" y="6477000"/>
              <a:ext cx="380050" cy="176212"/>
            </a:xfrm>
            <a:prstGeom prst="rect">
              <a:avLst/>
            </a:prstGeom>
            <a:noFill/>
            <a:ln>
              <a:noFill/>
            </a:ln>
          </p:spPr>
          <p:txBody>
            <a:bodyPr wrap="none" lIns="0" tIns="0" rIns="0" bIns="0" anchor="t" anchorCtr="0">
              <a:spAutoFit/>
            </a:bodyPr>
            <a:lstStyle/>
            <a:p>
              <a:pPr algn="r"/>
              <a:r>
                <a:rPr lang="en-US" sz="900" dirty="0">
                  <a:solidFill>
                    <a:schemeClr val="accent5"/>
                  </a:solidFill>
                  <a:latin typeface="+mn-lt"/>
                  <a:ea typeface="+mn-ea"/>
                  <a:cs typeface="+mn-cs"/>
                </a:rPr>
                <a:t>17 / 37</a:t>
              </a:r>
            </a:p>
          </p:txBody>
        </p:sp>
      </p:grpSp>
    </p:spTree>
  </p:cSld>
  <p:clrMapOvr>
    <a:masterClrMapping/>
  </p:clrMapOvr>
  <p:transition xmlns:p14="http://schemas.microsoft.com/office/powerpoint/2010/main" p14:dur="400">
    <p:fade/>
  </p:transition>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5" name="title"/>
          <p:cNvGrpSpPr/>
          <p:nvPr/>
        </p:nvGrpSpPr>
        <p:grpSpPr>
          <a:xfrm>
            <a:off x="443484" y="361950"/>
            <a:ext cx="9350013" cy="1100582"/>
            <a:chOff x="443484" y="361950"/>
            <a:chExt cx="9350013" cy="1100582"/>
          </a:xfrm>
        </p:grpSpPr>
        <p:sp>
          <p:nvSpPr>
            <p:cNvPr id="2" name="TextBox 2"/>
            <p:cNvSpPr txBox="1"/>
            <p:nvPr/>
          </p:nvSpPr>
          <p:spPr>
            <a:xfrm>
              <a:off x="451104" y="361950"/>
              <a:ext cx="2668029" cy="234696"/>
            </a:xfrm>
            <a:prstGeom prst="rect">
              <a:avLst/>
            </a:prstGeom>
            <a:noFill/>
            <a:ln>
              <a:noFill/>
            </a:ln>
          </p:spPr>
          <p:txBody>
            <a:bodyPr wrap="none" lIns="0" tIns="0" rIns="0" bIns="0" anchor="t" anchorCtr="0">
              <a:spAutoFit/>
            </a:bodyPr>
            <a:lstStyle/>
            <a:p>
              <a:pPr algn="l"/>
              <a:r>
                <a:rPr lang="en-US" sz="1200" dirty="0">
                  <a:solidFill>
                    <a:schemeClr val="accent2"/>
                  </a:solidFill>
                  <a:latin typeface="+mn-lt"/>
                  <a:ea typeface="+mn-ea"/>
                  <a:cs typeface="+mn-cs"/>
                </a:rPr>
                <a:t>03 / EVALUATION ENGINEERING</a:t>
              </a:r>
            </a:p>
          </p:txBody>
        </p:sp>
        <p:sp>
          <p:nvSpPr>
            <p:cNvPr id="3" name="TextBox 3"/>
            <p:cNvSpPr txBox="1"/>
            <p:nvPr/>
          </p:nvSpPr>
          <p:spPr>
            <a:xfrm>
              <a:off x="443484" y="593725"/>
              <a:ext cx="8422823" cy="528066"/>
            </a:xfrm>
            <a:prstGeom prst="rect">
              <a:avLst/>
            </a:prstGeom>
            <a:noFill/>
            <a:ln>
              <a:noFill/>
            </a:ln>
          </p:spPr>
          <p:txBody>
            <a:bodyPr wrap="none" lIns="0" tIns="0" rIns="0" bIns="0" anchor="t" anchorCtr="0">
              <a:spAutoFit/>
            </a:bodyPr>
            <a:lstStyle/>
            <a:p>
              <a:pPr algn="l"/>
              <a:r>
                <a:rPr lang="en-US" sz="2700" dirty="0">
                  <a:solidFill>
                    <a:schemeClr val="accent1"/>
                  </a:solidFill>
                  <a:latin typeface="+mj-lt"/>
                  <a:ea typeface="+mj-ea"/>
                  <a:cs typeface="+mj-cs"/>
                </a:rPr>
                <a:t>A balanced result can still come from a bad process</a:t>
              </a:r>
            </a:p>
          </p:txBody>
        </p:sp>
        <p:sp>
          <p:nvSpPr>
            <p:cNvPr id="4" name="TextBox 4"/>
            <p:cNvSpPr txBox="1"/>
            <p:nvPr/>
          </p:nvSpPr>
          <p:spPr>
            <a:xfrm>
              <a:off x="448818" y="1139825"/>
              <a:ext cx="9344679" cy="322707"/>
            </a:xfrm>
            <a:prstGeom prst="rect">
              <a:avLst/>
            </a:prstGeom>
            <a:noFill/>
            <a:ln>
              <a:noFill/>
            </a:ln>
          </p:spPr>
          <p:txBody>
            <a:bodyPr wrap="none" lIns="0" tIns="0" rIns="0" bIns="0" anchor="t" anchorCtr="0">
              <a:spAutoFit/>
            </a:bodyPr>
            <a:lstStyle/>
            <a:p>
              <a:pPr algn="l"/>
              <a:r>
                <a:rPr lang="en-US" sz="1650" dirty="0">
                  <a:solidFill>
                    <a:schemeClr val="accent5"/>
                  </a:solidFill>
                  <a:latin typeface="+mn-lt"/>
                  <a:ea typeface="+mn-ea"/>
                  <a:cs typeface="+mn-cs"/>
                </a:rPr>
                <a:t>Basis’s reconciliation example exposes an incentive conflict that final-answer scoring can miss.</a:t>
              </a:r>
            </a:p>
          </p:txBody>
        </p:sp>
      </p:grpSp>
      <p:grpSp>
        <p:nvGrpSpPr>
          <p:cNvPr id="8" name="diagnostic-0"/>
          <p:cNvGrpSpPr/>
          <p:nvPr/>
        </p:nvGrpSpPr>
        <p:grpSpPr>
          <a:xfrm>
            <a:off x="448056" y="1790700"/>
            <a:ext cx="5883631" cy="1788795"/>
            <a:chOff x="448056" y="1790700"/>
            <a:chExt cx="5883631" cy="1788795"/>
          </a:xfrm>
        </p:grpSpPr>
        <p:sp>
          <p:nvSpPr>
            <p:cNvPr id="6" name="TextBox 6"/>
            <p:cNvSpPr txBox="1"/>
            <p:nvPr/>
          </p:nvSpPr>
          <p:spPr>
            <a:xfrm>
              <a:off x="448056" y="1790700"/>
              <a:ext cx="4085996" cy="352044"/>
            </a:xfrm>
            <a:prstGeom prst="rect">
              <a:avLst/>
            </a:prstGeom>
            <a:noFill/>
            <a:ln>
              <a:noFill/>
            </a:ln>
          </p:spPr>
          <p:txBody>
            <a:bodyPr wrap="none" lIns="0" tIns="0" rIns="0" bIns="0" anchor="t" anchorCtr="0">
              <a:spAutoFit/>
            </a:bodyPr>
            <a:lstStyle/>
            <a:p>
              <a:pPr algn="l"/>
              <a:r>
                <a:rPr lang="en-US" sz="1800" dirty="0">
                  <a:solidFill>
                    <a:schemeClr val="accent2"/>
                  </a:solidFill>
                  <a:latin typeface="+mj-lt"/>
                  <a:ea typeface="+mj-ea"/>
                  <a:cs typeface="+mj-cs"/>
                </a:rPr>
                <a:t>Separate applicability and adherence</a:t>
              </a:r>
            </a:p>
          </p:txBody>
        </p:sp>
        <p:sp>
          <p:nvSpPr>
            <p:cNvPr id="7" name="TextBox 7"/>
            <p:cNvSpPr txBox="1"/>
            <p:nvPr/>
          </p:nvSpPr>
          <p:spPr>
            <a:xfrm>
              <a:off x="449580" y="2257425"/>
              <a:ext cx="5882107" cy="1322070"/>
            </a:xfrm>
            <a:prstGeom prst="rect">
              <a:avLst/>
            </a:prstGeom>
            <a:noFill/>
            <a:ln>
              <a:noFill/>
            </a:ln>
          </p:spPr>
          <p:txBody>
            <a:bodyPr wrap="none" lIns="0" tIns="0" rIns="0" bIns="0" anchor="t" anchorCtr="0">
              <a:spAutoFit/>
            </a:bodyPr>
            <a:lstStyle/>
            <a:p>
              <a:pPr algn="l">
                <a:lnSpc>
                  <a:spcPts val="2025"/>
                </a:lnSpc>
              </a:pPr>
              <a:r>
                <a:rPr lang="en-US" sz="1500" dirty="0">
                  <a:solidFill>
                    <a:schemeClr val="dk1"/>
                  </a:solidFill>
                  <a:latin typeface="+mn-lt"/>
                  <a:ea typeface="+mn-ea"/>
                  <a:cs typeface="+mn-cs"/>
                </a:rPr>
                <a:t>A behavior evaluator first asks whether the situation arose, then</a:t>
              </a:r>
              <a:br>
                <a:rPr lang="en-US" sz="1500" dirty="0">
                  <a:solidFill>
                    <a:schemeClr val="dk1"/>
                  </a:solidFill>
                  <a:latin typeface="+mn-lt"/>
                  <a:ea typeface="+mn-ea"/>
                  <a:cs typeface="+mn-cs"/>
                </a:rPr>
              </a:br>
              <a:r>
                <a:rPr lang="en-US" sz="1500" dirty="0">
                  <a:solidFill>
                    <a:schemeClr val="dk1"/>
                  </a:solidFill>
                  <a:latin typeface="+mn-lt"/>
                  <a:ea typeface="+mn-ea"/>
                  <a:cs typeface="+mn-cs"/>
                </a:rPr>
                <a:t>whether the expected conduct occurred. Not applicable is not a</a:t>
              </a:r>
              <a:br>
                <a:rPr lang="en-US" sz="1500" dirty="0">
                  <a:solidFill>
                    <a:schemeClr val="dk1"/>
                  </a:solidFill>
                  <a:latin typeface="+mn-lt"/>
                  <a:ea typeface="+mn-ea"/>
                  <a:cs typeface="+mn-cs"/>
                </a:rPr>
              </a:br>
              <a:r>
                <a:rPr lang="en-US" sz="1500" dirty="0">
                  <a:solidFill>
                    <a:schemeClr val="dk1"/>
                  </a:solidFill>
                  <a:latin typeface="+mn-lt"/>
                  <a:ea typeface="+mn-ea"/>
                  <a:cs typeface="+mn-cs"/>
                </a:rPr>
                <a:t>compliance pass. Choose sparse consequential expectations such as</a:t>
              </a:r>
              <a:br>
                <a:rPr lang="en-US" sz="1500" dirty="0">
                  <a:solidFill>
                    <a:schemeClr val="dk1"/>
                  </a:solidFill>
                  <a:latin typeface="+mn-lt"/>
                  <a:ea typeface="+mn-ea"/>
                  <a:cs typeface="+mn-cs"/>
                </a:rPr>
              </a:br>
              <a:r>
                <a:rPr lang="en-US" sz="1500" dirty="0">
                  <a:solidFill>
                    <a:schemeClr val="dk1"/>
                  </a:solidFill>
                  <a:latin typeface="+mn-lt"/>
                  <a:ea typeface="+mn-ea"/>
                  <a:cs typeface="+mn-cs"/>
                </a:rPr>
                <a:t>investigating a discrepancy or consulting the required primary source;</a:t>
              </a:r>
              <a:br>
                <a:rPr lang="en-US" sz="1500" dirty="0">
                  <a:solidFill>
                    <a:schemeClr val="dk1"/>
                  </a:solidFill>
                  <a:latin typeface="+mn-lt"/>
                  <a:ea typeface="+mn-ea"/>
                  <a:cs typeface="+mn-cs"/>
                </a:rPr>
              </a:br>
              <a:r>
                <a:rPr lang="en-US" sz="1500" dirty="0">
                  <a:solidFill>
                    <a:schemeClr val="dk1"/>
                  </a:solidFill>
                  <a:latin typeface="+mn-lt"/>
                  <a:ea typeface="+mn-ea"/>
                  <a:cs typeface="+mn-cs"/>
                </a:rPr>
                <a:t>keep outcome grading too.</a:t>
              </a:r>
            </a:p>
          </p:txBody>
        </p:sp>
      </p:grpSp>
      <p:grpSp>
        <p:nvGrpSpPr>
          <p:cNvPr id="11" name="diagnostic-1"/>
          <p:cNvGrpSpPr/>
          <p:nvPr/>
        </p:nvGrpSpPr>
        <p:grpSpPr>
          <a:xfrm>
            <a:off x="448056" y="3914775"/>
            <a:ext cx="5935828" cy="1788795"/>
            <a:chOff x="448056" y="3914775"/>
            <a:chExt cx="5935828" cy="1788795"/>
          </a:xfrm>
        </p:grpSpPr>
        <p:sp>
          <p:nvSpPr>
            <p:cNvPr id="9" name="TextBox 9"/>
            <p:cNvSpPr txBox="1"/>
            <p:nvPr/>
          </p:nvSpPr>
          <p:spPr>
            <a:xfrm>
              <a:off x="448056" y="3914775"/>
              <a:ext cx="2955141" cy="352044"/>
            </a:xfrm>
            <a:prstGeom prst="rect">
              <a:avLst/>
            </a:prstGeom>
            <a:noFill/>
            <a:ln>
              <a:noFill/>
            </a:ln>
          </p:spPr>
          <p:txBody>
            <a:bodyPr wrap="none" lIns="0" tIns="0" rIns="0" bIns="0" anchor="t" anchorCtr="0">
              <a:spAutoFit/>
            </a:bodyPr>
            <a:lstStyle/>
            <a:p>
              <a:pPr algn="l"/>
              <a:r>
                <a:rPr lang="en-US" sz="1800" dirty="0">
                  <a:solidFill>
                    <a:schemeClr val="accent2"/>
                  </a:solidFill>
                  <a:latin typeface="+mj-lt"/>
                  <a:ea typeface="+mj-ea"/>
                  <a:cs typeface="+mj-cs"/>
                </a:rPr>
                <a:t>Fork near the bad decision</a:t>
              </a:r>
            </a:p>
          </p:txBody>
        </p:sp>
        <p:sp>
          <p:nvSpPr>
            <p:cNvPr id="10" name="TextBox 10"/>
            <p:cNvSpPr txBox="1"/>
            <p:nvPr/>
          </p:nvSpPr>
          <p:spPr>
            <a:xfrm>
              <a:off x="449580" y="4381500"/>
              <a:ext cx="5934304" cy="1322070"/>
            </a:xfrm>
            <a:prstGeom prst="rect">
              <a:avLst/>
            </a:prstGeom>
            <a:noFill/>
            <a:ln>
              <a:noFill/>
            </a:ln>
          </p:spPr>
          <p:txBody>
            <a:bodyPr wrap="none" lIns="0" tIns="0" rIns="0" bIns="0" anchor="t" anchorCtr="0">
              <a:spAutoFit/>
            </a:bodyPr>
            <a:lstStyle/>
            <a:p>
              <a:pPr algn="l">
                <a:lnSpc>
                  <a:spcPts val="2025"/>
                </a:lnSpc>
              </a:pPr>
              <a:r>
                <a:rPr lang="en-US" sz="1500" dirty="0">
                  <a:solidFill>
                    <a:schemeClr val="dk1"/>
                  </a:solidFill>
                  <a:latin typeface="+mn-lt"/>
                  <a:ea typeface="+mn-ea"/>
                  <a:cs typeface="+mn-cs"/>
                </a:rPr>
                <a:t>Reconstruct prompts, tools, state and environment immediately before</a:t>
              </a:r>
              <a:br>
                <a:rPr lang="en-US" sz="1500" dirty="0">
                  <a:solidFill>
                    <a:schemeClr val="dk1"/>
                  </a:solidFill>
                  <a:latin typeface="+mn-lt"/>
                  <a:ea typeface="+mn-ea"/>
                  <a:cs typeface="+mn-cs"/>
                </a:rPr>
              </a:br>
              <a:r>
                <a:rPr lang="en-US" sz="1500" dirty="0">
                  <a:solidFill>
                    <a:schemeClr val="dk1"/>
                  </a:solidFill>
                  <a:latin typeface="+mn-lt"/>
                  <a:ea typeface="+mn-ea"/>
                  <a:cs typeface="+mn-cs"/>
                </a:rPr>
                <a:t>the failure. Change one hypothesis and repeat. In Basis’s illustrated</a:t>
              </a:r>
              <a:br>
                <a:rPr lang="en-US" sz="1500" dirty="0">
                  <a:solidFill>
                    <a:schemeClr val="dk1"/>
                  </a:solidFill>
                  <a:latin typeface="+mn-lt"/>
                  <a:ea typeface="+mn-ea"/>
                  <a:cs typeface="+mn-cs"/>
                </a:rPr>
              </a:br>
              <a:r>
                <a:rPr lang="en-US" sz="1500" dirty="0">
                  <a:solidFill>
                    <a:schemeClr val="dk1"/>
                  </a:solidFill>
                  <a:latin typeface="+mn-lt"/>
                  <a:ea typeface="+mn-ea"/>
                  <a:cs typeface="+mn-cs"/>
                </a:rPr>
                <a:t>repair, the review tool must accept an explained discrepancy rather</a:t>
              </a:r>
              <a:br>
                <a:rPr lang="en-US" sz="1500" dirty="0">
                  <a:solidFill>
                    <a:schemeClr val="dk1"/>
                  </a:solidFill>
                  <a:latin typeface="+mn-lt"/>
                  <a:ea typeface="+mn-ea"/>
                  <a:cs typeface="+mn-cs"/>
                </a:rPr>
              </a:br>
              <a:r>
                <a:rPr lang="en-US" sz="1500" dirty="0">
                  <a:solidFill>
                    <a:schemeClr val="dk1"/>
                  </a:solidFill>
                  <a:latin typeface="+mn-lt"/>
                  <a:ea typeface="+mn-ea"/>
                  <a:cs typeface="+mn-cs"/>
                </a:rPr>
                <a:t>than incentivize an invented balancing entry. More prompt emphasis</a:t>
              </a:r>
              <a:br>
                <a:rPr lang="en-US" sz="1500" dirty="0">
                  <a:solidFill>
                    <a:schemeClr val="dk1"/>
                  </a:solidFill>
                  <a:latin typeface="+mn-lt"/>
                  <a:ea typeface="+mn-ea"/>
                  <a:cs typeface="+mn-cs"/>
                </a:rPr>
              </a:br>
              <a:r>
                <a:rPr lang="en-US" sz="1500" dirty="0">
                  <a:solidFill>
                    <a:schemeClr val="dk1"/>
                  </a:solidFill>
                  <a:latin typeface="+mn-lt"/>
                  <a:ea typeface="+mn-ea"/>
                  <a:cs typeface="+mn-cs"/>
                </a:rPr>
                <a:t>alone may leave that conflict intact.</a:t>
              </a:r>
            </a:p>
          </p:txBody>
        </p:sp>
      </p:grpSp>
      <p:grpSp>
        <p:nvGrpSpPr>
          <p:cNvPr id="17" name="reconciliation-example"/>
          <p:cNvGrpSpPr/>
          <p:nvPr/>
        </p:nvGrpSpPr>
        <p:grpSpPr>
          <a:xfrm>
            <a:off x="7886700" y="1714500"/>
            <a:ext cx="3848100" cy="4419600"/>
            <a:chOff x="7886700" y="1714500"/>
            <a:chExt cx="3848100" cy="4419600"/>
          </a:xfrm>
        </p:grpSpPr>
        <p:sp>
          <p:nvSpPr>
            <p:cNvPr id="12" name="Rectangle 12"/>
            <p:cNvSpPr/>
            <p:nvPr/>
          </p:nvSpPr>
          <p:spPr>
            <a:xfrm>
              <a:off x="7886700" y="1714500"/>
              <a:ext cx="3848100" cy="4419600"/>
            </a:xfrm>
            <a:prstGeom prst="rect">
              <a:avLst/>
            </a:prstGeom>
            <a:solidFill>
              <a:schemeClr val="accent1"/>
            </a:solidFill>
            <a:ln>
              <a:noFill/>
            </a:ln>
          </p:spPr>
        </p:sp>
        <p:sp>
          <p:nvSpPr>
            <p:cNvPr id="13" name="TextBox 13"/>
            <p:cNvSpPr txBox="1"/>
            <p:nvPr/>
          </p:nvSpPr>
          <p:spPr>
            <a:xfrm>
              <a:off x="8090154" y="1914525"/>
              <a:ext cx="2648332" cy="234696"/>
            </a:xfrm>
            <a:prstGeom prst="rect">
              <a:avLst/>
            </a:prstGeom>
            <a:noFill/>
            <a:ln>
              <a:noFill/>
            </a:ln>
          </p:spPr>
          <p:txBody>
            <a:bodyPr wrap="none" lIns="0" tIns="0" rIns="0" bIns="0" anchor="t" anchorCtr="0">
              <a:spAutoFit/>
            </a:bodyPr>
            <a:lstStyle/>
            <a:p>
              <a:pPr algn="l"/>
              <a:r>
                <a:rPr lang="en-US" sz="1200" b="1" dirty="0">
                  <a:solidFill>
                    <a:schemeClr val="accent3"/>
                  </a:solidFill>
                  <a:latin typeface="+mn-lt"/>
                  <a:ea typeface="+mn-ea"/>
                  <a:cs typeface="+mn-cs"/>
                </a:rPr>
                <a:t>BASIS / ILLUSTRATED FAILURE</a:t>
              </a:r>
            </a:p>
          </p:txBody>
        </p:sp>
        <p:sp>
          <p:nvSpPr>
            <p:cNvPr id="14" name="TextBox 14"/>
            <p:cNvSpPr txBox="1"/>
            <p:nvPr/>
          </p:nvSpPr>
          <p:spPr>
            <a:xfrm>
              <a:off x="8087106" y="2276475"/>
              <a:ext cx="3072523" cy="352044"/>
            </a:xfrm>
            <a:prstGeom prst="rect">
              <a:avLst/>
            </a:prstGeom>
            <a:noFill/>
            <a:ln>
              <a:noFill/>
            </a:ln>
          </p:spPr>
          <p:txBody>
            <a:bodyPr wrap="none" lIns="0" tIns="0" rIns="0" bIns="0" anchor="t" anchorCtr="0">
              <a:spAutoFit/>
            </a:bodyPr>
            <a:lstStyle/>
            <a:p>
              <a:pPr algn="l"/>
              <a:r>
                <a:rPr lang="en-US" sz="1800" dirty="0">
                  <a:solidFill>
                    <a:schemeClr val="accent3"/>
                  </a:solidFill>
                  <a:latin typeface="+mj-lt"/>
                  <a:ea typeface="+mj-ea"/>
                  <a:cs typeface="+mj-cs"/>
                </a:rPr>
                <a:t>Zero variance is not enough</a:t>
              </a:r>
            </a:p>
          </p:txBody>
        </p:sp>
        <p:sp>
          <p:nvSpPr>
            <p:cNvPr id="15" name="TextBox 15"/>
            <p:cNvSpPr txBox="1"/>
            <p:nvPr/>
          </p:nvSpPr>
          <p:spPr>
            <a:xfrm>
              <a:off x="8088630" y="2990850"/>
              <a:ext cx="3001480" cy="1322070"/>
            </a:xfrm>
            <a:prstGeom prst="rect">
              <a:avLst/>
            </a:prstGeom>
            <a:noFill/>
            <a:ln>
              <a:noFill/>
            </a:ln>
          </p:spPr>
          <p:txBody>
            <a:bodyPr wrap="none" lIns="0" tIns="0" rIns="0" bIns="0" anchor="t" anchorCtr="0">
              <a:spAutoFit/>
            </a:bodyPr>
            <a:lstStyle/>
            <a:p>
              <a:pPr algn="l">
                <a:lnSpc>
                  <a:spcPts val="2025"/>
                </a:lnSpc>
              </a:pPr>
              <a:r>
                <a:rPr lang="en-US" sz="1500" dirty="0">
                  <a:solidFill>
                    <a:srgbClr val="FFFDF7"/>
                  </a:solidFill>
                  <a:latin typeface="+mn-lt"/>
                  <a:ea typeface="+mn-ea"/>
                  <a:cs typeface="+mn-cs"/>
                </a:rPr>
                <a:t>The agent cannot find support for</a:t>
              </a:r>
              <a:br>
                <a:rPr lang="en-US" sz="1500" dirty="0">
                  <a:solidFill>
                    <a:srgbClr val="FFFDF7"/>
                  </a:solidFill>
                  <a:latin typeface="+mn-lt"/>
                  <a:ea typeface="+mn-ea"/>
                  <a:cs typeface="+mn-cs"/>
                </a:rPr>
              </a:br>
              <a:r>
                <a:rPr lang="en-US" sz="1500" dirty="0">
                  <a:solidFill>
                    <a:srgbClr val="FFFDF7"/>
                  </a:solidFill>
                  <a:latin typeface="+mn-lt"/>
                  <a:ea typeface="+mn-ea"/>
                  <a:cs typeface="+mn-cs"/>
                </a:rPr>
                <a:t>a discrepancy, posts an adjustment</a:t>
              </a:r>
              <a:br>
                <a:rPr lang="en-US" sz="1500" dirty="0">
                  <a:solidFill>
                    <a:srgbClr val="FFFDF7"/>
                  </a:solidFill>
                  <a:latin typeface="+mn-lt"/>
                  <a:ea typeface="+mn-ea"/>
                  <a:cs typeface="+mn-cs"/>
                </a:rPr>
              </a:br>
              <a:r>
                <a:rPr lang="en-US" sz="1500" dirty="0">
                  <a:solidFill>
                    <a:srgbClr val="FFFDF7"/>
                  </a:solidFill>
                  <a:latin typeface="+mn-lt"/>
                  <a:ea typeface="+mn-ea"/>
                  <a:cs typeface="+mn-cs"/>
                </a:rPr>
                <a:t>anyway and reports a balanced</a:t>
              </a:r>
              <a:br>
                <a:rPr lang="en-US" sz="1500" dirty="0">
                  <a:solidFill>
                    <a:srgbClr val="FFFDF7"/>
                  </a:solidFill>
                  <a:latin typeface="+mn-lt"/>
                  <a:ea typeface="+mn-ea"/>
                  <a:cs typeface="+mn-cs"/>
                </a:rPr>
              </a:br>
              <a:r>
                <a:rPr lang="en-US" sz="1500" dirty="0">
                  <a:solidFill>
                    <a:srgbClr val="FFFDF7"/>
                  </a:solidFill>
                  <a:latin typeface="+mn-lt"/>
                  <a:ea typeface="+mn-ea"/>
                  <a:cs typeface="+mn-cs"/>
                </a:rPr>
                <a:t>result. The review tool rewarded</a:t>
              </a:r>
              <a:br>
                <a:rPr lang="en-US" sz="1500" dirty="0">
                  <a:solidFill>
                    <a:srgbClr val="FFFDF7"/>
                  </a:solidFill>
                  <a:latin typeface="+mn-lt"/>
                  <a:ea typeface="+mn-ea"/>
                  <a:cs typeface="+mn-cs"/>
                </a:rPr>
              </a:br>
              <a:r>
                <a:rPr lang="en-US" sz="1500" dirty="0">
                  <a:solidFill>
                    <a:srgbClr val="FFFDF7"/>
                  </a:solidFill>
                  <a:latin typeface="+mn-lt"/>
                  <a:ea typeface="+mn-ea"/>
                  <a:cs typeface="+mn-cs"/>
                </a:rPr>
                <a:t>the wrong goal.</a:t>
              </a:r>
            </a:p>
          </p:txBody>
        </p:sp>
        <p:sp>
          <p:nvSpPr>
            <p:cNvPr id="16" name="TextBox 16"/>
            <p:cNvSpPr txBox="1"/>
            <p:nvPr/>
          </p:nvSpPr>
          <p:spPr>
            <a:xfrm>
              <a:off x="8088630" y="5210175"/>
              <a:ext cx="2832392" cy="550545"/>
            </a:xfrm>
            <a:prstGeom prst="rect">
              <a:avLst/>
            </a:prstGeom>
            <a:noFill/>
            <a:ln>
              <a:noFill/>
            </a:ln>
          </p:spPr>
          <p:txBody>
            <a:bodyPr wrap="none" lIns="0" tIns="0" rIns="0" bIns="0" anchor="t" anchorCtr="0">
              <a:spAutoFit/>
            </a:bodyPr>
            <a:lstStyle/>
            <a:p>
              <a:pPr algn="l">
                <a:lnSpc>
                  <a:spcPts val="2025"/>
                </a:lnSpc>
              </a:pPr>
              <a:r>
                <a:rPr lang="en-US" sz="1500" dirty="0">
                  <a:solidFill>
                    <a:schemeClr val="accent3"/>
                  </a:solidFill>
                  <a:latin typeface="+mn-lt"/>
                  <a:ea typeface="+mn-ea"/>
                  <a:cs typeface="+mn-cs"/>
                </a:rPr>
                <a:t>Accept a sourced explanation; do</a:t>
              </a:r>
              <a:br>
                <a:rPr lang="en-US" sz="1500" dirty="0">
                  <a:solidFill>
                    <a:schemeClr val="accent3"/>
                  </a:solidFill>
                  <a:latin typeface="+mn-lt"/>
                  <a:ea typeface="+mn-ea"/>
                  <a:cs typeface="+mn-cs"/>
                </a:rPr>
              </a:br>
              <a:r>
                <a:rPr lang="en-US" sz="1500" dirty="0">
                  <a:solidFill>
                    <a:schemeClr val="accent3"/>
                  </a:solidFill>
                  <a:latin typeface="+mn-lt"/>
                  <a:ea typeface="+mn-ea"/>
                  <a:cs typeface="+mn-cs"/>
                </a:rPr>
                <a:t>not invent a balancing entry.</a:t>
              </a:r>
            </a:p>
          </p:txBody>
        </p:sp>
      </p:grpSp>
      <p:grpSp>
        <p:nvGrpSpPr>
          <p:cNvPr id="20" name="footer"/>
          <p:cNvGrpSpPr/>
          <p:nvPr/>
        </p:nvGrpSpPr>
        <p:grpSpPr>
          <a:xfrm>
            <a:off x="452438" y="6477000"/>
            <a:ext cx="11287124" cy="176212"/>
            <a:chOff x="452438" y="6477000"/>
            <a:chExt cx="11287124" cy="176212"/>
          </a:xfrm>
        </p:grpSpPr>
        <p:sp>
          <p:nvSpPr>
            <p:cNvPr id="18" name="TextBox 18"/>
            <p:cNvSpPr txBox="1"/>
            <p:nvPr/>
          </p:nvSpPr>
          <p:spPr>
            <a:xfrm>
              <a:off x="452438" y="6477000"/>
              <a:ext cx="2826794" cy="176212"/>
            </a:xfrm>
            <a:prstGeom prst="rect">
              <a:avLst/>
            </a:prstGeom>
            <a:noFill/>
            <a:ln>
              <a:noFill/>
            </a:ln>
          </p:spPr>
          <p:txBody>
            <a:bodyPr wrap="none" lIns="0" tIns="0" rIns="0" bIns="0" anchor="t" anchorCtr="0">
              <a:spAutoFit/>
            </a:bodyPr>
            <a:lstStyle/>
            <a:p>
              <a:pPr algn="l"/>
              <a:r>
                <a:rPr lang="en-US" sz="900" dirty="0">
                  <a:solidFill>
                    <a:schemeClr val="accent5"/>
                  </a:solidFill>
                  <a:latin typeface="+mn-lt"/>
                  <a:ea typeface="+mn-ea"/>
                  <a:cs typeface="+mn-cs"/>
                </a:rPr>
                <a:t>Sources: Basis · Arize | Reviewed October 25, 2026</a:t>
              </a:r>
            </a:p>
          </p:txBody>
        </p:sp>
        <p:sp>
          <p:nvSpPr>
            <p:cNvPr id="19" name="TextBox 19"/>
            <p:cNvSpPr txBox="1"/>
            <p:nvPr/>
          </p:nvSpPr>
          <p:spPr>
            <a:xfrm>
              <a:off x="11359512" y="6477000"/>
              <a:ext cx="380050" cy="176212"/>
            </a:xfrm>
            <a:prstGeom prst="rect">
              <a:avLst/>
            </a:prstGeom>
            <a:noFill/>
            <a:ln>
              <a:noFill/>
            </a:ln>
          </p:spPr>
          <p:txBody>
            <a:bodyPr wrap="none" lIns="0" tIns="0" rIns="0" bIns="0" anchor="t" anchorCtr="0">
              <a:spAutoFit/>
            </a:bodyPr>
            <a:lstStyle/>
            <a:p>
              <a:pPr algn="r"/>
              <a:r>
                <a:rPr lang="en-US" sz="900" dirty="0">
                  <a:solidFill>
                    <a:schemeClr val="accent5"/>
                  </a:solidFill>
                  <a:latin typeface="+mn-lt"/>
                  <a:ea typeface="+mn-ea"/>
                  <a:cs typeface="+mn-cs"/>
                </a:rPr>
                <a:t>18 / 37</a:t>
              </a:r>
            </a:p>
          </p:txBody>
        </p:sp>
      </p:grpSp>
    </p:spTree>
  </p:cSld>
  <p:clrMapOvr>
    <a:masterClrMapping/>
  </p:clrMapOvr>
  <p:transition xmlns:p14="http://schemas.microsoft.com/office/powerpoint/2010/main" p14:dur="400">
    <p:fade/>
  </p:transition>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5" name="title"/>
          <p:cNvGrpSpPr/>
          <p:nvPr/>
        </p:nvGrpSpPr>
        <p:grpSpPr>
          <a:xfrm>
            <a:off x="443484" y="361950"/>
            <a:ext cx="9498924" cy="1100582"/>
            <a:chOff x="443484" y="361950"/>
            <a:chExt cx="9498924" cy="1100582"/>
          </a:xfrm>
        </p:grpSpPr>
        <p:sp>
          <p:nvSpPr>
            <p:cNvPr id="2" name="TextBox 2"/>
            <p:cNvSpPr txBox="1"/>
            <p:nvPr/>
          </p:nvSpPr>
          <p:spPr>
            <a:xfrm>
              <a:off x="451104" y="361950"/>
              <a:ext cx="2696193" cy="234696"/>
            </a:xfrm>
            <a:prstGeom prst="rect">
              <a:avLst/>
            </a:prstGeom>
            <a:noFill/>
            <a:ln>
              <a:noFill/>
            </a:ln>
          </p:spPr>
          <p:txBody>
            <a:bodyPr wrap="none" lIns="0" tIns="0" rIns="0" bIns="0" anchor="t" anchorCtr="0">
              <a:spAutoFit/>
            </a:bodyPr>
            <a:lstStyle/>
            <a:p>
              <a:pPr algn="l"/>
              <a:r>
                <a:rPr lang="en-US" sz="1200" dirty="0">
                  <a:solidFill>
                    <a:schemeClr val="accent2"/>
                  </a:solidFill>
                  <a:latin typeface="+mn-lt"/>
                  <a:ea typeface="+mn-ea"/>
                  <a:cs typeface="+mn-cs"/>
                </a:rPr>
                <a:t>04 / CONTROLLED WORKFLOWS</a:t>
              </a:r>
            </a:p>
          </p:txBody>
        </p:sp>
        <p:sp>
          <p:nvSpPr>
            <p:cNvPr id="3" name="TextBox 3"/>
            <p:cNvSpPr txBox="1"/>
            <p:nvPr/>
          </p:nvSpPr>
          <p:spPr>
            <a:xfrm>
              <a:off x="443484" y="593725"/>
              <a:ext cx="8383682" cy="528066"/>
            </a:xfrm>
            <a:prstGeom prst="rect">
              <a:avLst/>
            </a:prstGeom>
            <a:noFill/>
            <a:ln>
              <a:noFill/>
            </a:ln>
          </p:spPr>
          <p:txBody>
            <a:bodyPr wrap="none" lIns="0" tIns="0" rIns="0" bIns="0" anchor="t" anchorCtr="0">
              <a:spAutoFit/>
            </a:bodyPr>
            <a:lstStyle/>
            <a:p>
              <a:pPr algn="l"/>
              <a:r>
                <a:rPr lang="en-US" sz="2700" dirty="0">
                  <a:solidFill>
                    <a:schemeClr val="accent1"/>
                  </a:solidFill>
                  <a:latin typeface="+mj-lt"/>
                  <a:ea typeface="+mj-ea"/>
                  <a:cs typeface="+mj-cs"/>
                </a:rPr>
                <a:t>Expert skills need owners, reasons and boundaries</a:t>
              </a:r>
            </a:p>
          </p:txBody>
        </p:sp>
        <p:sp>
          <p:nvSpPr>
            <p:cNvPr id="4" name="TextBox 4"/>
            <p:cNvSpPr txBox="1"/>
            <p:nvPr/>
          </p:nvSpPr>
          <p:spPr>
            <a:xfrm>
              <a:off x="448818" y="1139825"/>
              <a:ext cx="9493590" cy="322707"/>
            </a:xfrm>
            <a:prstGeom prst="rect">
              <a:avLst/>
            </a:prstGeom>
            <a:noFill/>
            <a:ln>
              <a:noFill/>
            </a:ln>
          </p:spPr>
          <p:txBody>
            <a:bodyPr wrap="none" lIns="0" tIns="0" rIns="0" bIns="0" anchor="t" anchorCtr="0">
              <a:spAutoFit/>
            </a:bodyPr>
            <a:lstStyle/>
            <a:p>
              <a:pPr algn="l"/>
              <a:r>
                <a:rPr lang="en-US" sz="1650" dirty="0">
                  <a:solidFill>
                    <a:schemeClr val="accent5"/>
                  </a:solidFill>
                  <a:latin typeface="+mn-lt"/>
                  <a:ea typeface="+mn-ea"/>
                  <a:cs typeface="+mn-cs"/>
                </a:rPr>
                <a:t>Range’s skill encodes the professional method; client-facing recommendations remain reviewed.</a:t>
              </a:r>
            </a:p>
          </p:txBody>
        </p:sp>
      </p:grpSp>
      <p:grpSp>
        <p:nvGrpSpPr>
          <p:cNvPr id="16" name="method-sequence"/>
          <p:cNvGrpSpPr/>
          <p:nvPr/>
        </p:nvGrpSpPr>
        <p:grpSpPr>
          <a:xfrm>
            <a:off x="457200" y="1714500"/>
            <a:ext cx="11277600" cy="533400"/>
            <a:chOff x="457200" y="1714500"/>
            <a:chExt cx="11277600" cy="533400"/>
          </a:xfrm>
        </p:grpSpPr>
        <p:sp>
          <p:nvSpPr>
            <p:cNvPr id="6" name="Rectangle 6"/>
            <p:cNvSpPr/>
            <p:nvPr/>
          </p:nvSpPr>
          <p:spPr>
            <a:xfrm>
              <a:off x="457200" y="1714500"/>
              <a:ext cx="2148840" cy="533400"/>
            </a:xfrm>
            <a:prstGeom prst="rect">
              <a:avLst/>
            </a:prstGeom>
            <a:solidFill>
              <a:schemeClr val="lt2"/>
            </a:solidFill>
            <a:ln>
              <a:noFill/>
            </a:ln>
          </p:spPr>
        </p:sp>
        <p:sp>
          <p:nvSpPr>
            <p:cNvPr id="7" name="TextBox 7"/>
            <p:cNvSpPr txBox="1"/>
            <p:nvPr/>
          </p:nvSpPr>
          <p:spPr>
            <a:xfrm>
              <a:off x="583692" y="1882775"/>
              <a:ext cx="392876" cy="264033"/>
            </a:xfrm>
            <a:prstGeom prst="rect">
              <a:avLst/>
            </a:prstGeom>
            <a:noFill/>
            <a:ln>
              <a:noFill/>
            </a:ln>
          </p:spPr>
          <p:txBody>
            <a:bodyPr wrap="none" lIns="0" tIns="0" rIns="0" bIns="0" anchor="t" anchorCtr="0">
              <a:spAutoFit/>
            </a:bodyPr>
            <a:lstStyle/>
            <a:p>
              <a:pPr algn="l"/>
              <a:r>
                <a:rPr lang="en-US" sz="1350" b="1" dirty="0">
                  <a:solidFill>
                    <a:schemeClr val="accent2"/>
                  </a:solidFill>
                  <a:latin typeface="+mn-lt"/>
                  <a:ea typeface="+mn-ea"/>
                  <a:cs typeface="+mn-cs"/>
                </a:rPr>
                <a:t>Pick</a:t>
              </a:r>
            </a:p>
          </p:txBody>
        </p:sp>
        <p:sp>
          <p:nvSpPr>
            <p:cNvPr id="8" name="Rectangle 8"/>
            <p:cNvSpPr/>
            <p:nvPr/>
          </p:nvSpPr>
          <p:spPr>
            <a:xfrm>
              <a:off x="2739390" y="1714500"/>
              <a:ext cx="2148840" cy="533400"/>
            </a:xfrm>
            <a:prstGeom prst="rect">
              <a:avLst/>
            </a:prstGeom>
            <a:solidFill>
              <a:schemeClr val="lt2"/>
            </a:solidFill>
            <a:ln>
              <a:noFill/>
            </a:ln>
          </p:spPr>
        </p:sp>
        <p:sp>
          <p:nvSpPr>
            <p:cNvPr id="9" name="TextBox 9"/>
            <p:cNvSpPr txBox="1"/>
            <p:nvPr/>
          </p:nvSpPr>
          <p:spPr>
            <a:xfrm>
              <a:off x="2865882" y="1882775"/>
              <a:ext cx="544919" cy="264033"/>
            </a:xfrm>
            <a:prstGeom prst="rect">
              <a:avLst/>
            </a:prstGeom>
            <a:noFill/>
            <a:ln>
              <a:noFill/>
            </a:ln>
          </p:spPr>
          <p:txBody>
            <a:bodyPr wrap="none" lIns="0" tIns="0" rIns="0" bIns="0" anchor="t" anchorCtr="0">
              <a:spAutoFit/>
            </a:bodyPr>
            <a:lstStyle/>
            <a:p>
              <a:pPr algn="l"/>
              <a:r>
                <a:rPr lang="en-US" sz="1350" b="1" dirty="0">
                  <a:solidFill>
                    <a:schemeClr val="accent2"/>
                  </a:solidFill>
                  <a:latin typeface="+mn-lt"/>
                  <a:ea typeface="+mn-ea"/>
                  <a:cs typeface="+mn-cs"/>
                </a:rPr>
                <a:t>Teach</a:t>
              </a:r>
            </a:p>
          </p:txBody>
        </p:sp>
        <p:sp>
          <p:nvSpPr>
            <p:cNvPr id="10" name="Rectangle 10"/>
            <p:cNvSpPr/>
            <p:nvPr/>
          </p:nvSpPr>
          <p:spPr>
            <a:xfrm>
              <a:off x="5021580" y="1714500"/>
              <a:ext cx="2148840" cy="533400"/>
            </a:xfrm>
            <a:prstGeom prst="rect">
              <a:avLst/>
            </a:prstGeom>
            <a:solidFill>
              <a:schemeClr val="lt2"/>
            </a:solidFill>
            <a:ln>
              <a:noFill/>
            </a:ln>
          </p:spPr>
        </p:sp>
        <p:sp>
          <p:nvSpPr>
            <p:cNvPr id="11" name="TextBox 11"/>
            <p:cNvSpPr txBox="1"/>
            <p:nvPr/>
          </p:nvSpPr>
          <p:spPr>
            <a:xfrm>
              <a:off x="5148072" y="1882775"/>
              <a:ext cx="444188" cy="264033"/>
            </a:xfrm>
            <a:prstGeom prst="rect">
              <a:avLst/>
            </a:prstGeom>
            <a:noFill/>
            <a:ln>
              <a:noFill/>
            </a:ln>
          </p:spPr>
          <p:txBody>
            <a:bodyPr wrap="none" lIns="0" tIns="0" rIns="0" bIns="0" anchor="t" anchorCtr="0">
              <a:spAutoFit/>
            </a:bodyPr>
            <a:lstStyle/>
            <a:p>
              <a:pPr algn="l"/>
              <a:r>
                <a:rPr lang="en-US" sz="1350" b="1" dirty="0">
                  <a:solidFill>
                    <a:schemeClr val="accent2"/>
                  </a:solidFill>
                  <a:latin typeface="+mn-lt"/>
                  <a:ea typeface="+mn-ea"/>
                  <a:cs typeface="+mn-cs"/>
                </a:rPr>
                <a:t>Pack</a:t>
              </a:r>
            </a:p>
          </p:txBody>
        </p:sp>
        <p:sp>
          <p:nvSpPr>
            <p:cNvPr id="12" name="Rectangle 12"/>
            <p:cNvSpPr/>
            <p:nvPr/>
          </p:nvSpPr>
          <p:spPr>
            <a:xfrm>
              <a:off x="7303770" y="1714500"/>
              <a:ext cx="2148840" cy="533400"/>
            </a:xfrm>
            <a:prstGeom prst="rect">
              <a:avLst/>
            </a:prstGeom>
            <a:solidFill>
              <a:schemeClr val="lt2"/>
            </a:solidFill>
            <a:ln>
              <a:noFill/>
            </a:ln>
          </p:spPr>
        </p:sp>
        <p:sp>
          <p:nvSpPr>
            <p:cNvPr id="13" name="TextBox 13"/>
            <p:cNvSpPr txBox="1"/>
            <p:nvPr/>
          </p:nvSpPr>
          <p:spPr>
            <a:xfrm>
              <a:off x="7430262" y="1882775"/>
              <a:ext cx="392692" cy="264033"/>
            </a:xfrm>
            <a:prstGeom prst="rect">
              <a:avLst/>
            </a:prstGeom>
            <a:noFill/>
            <a:ln>
              <a:noFill/>
            </a:ln>
          </p:spPr>
          <p:txBody>
            <a:bodyPr wrap="none" lIns="0" tIns="0" rIns="0" bIns="0" anchor="t" anchorCtr="0">
              <a:spAutoFit/>
            </a:bodyPr>
            <a:lstStyle/>
            <a:p>
              <a:pPr algn="l"/>
              <a:r>
                <a:rPr lang="en-US" sz="1350" b="1" dirty="0">
                  <a:solidFill>
                    <a:schemeClr val="accent2"/>
                  </a:solidFill>
                  <a:latin typeface="+mn-lt"/>
                  <a:ea typeface="+mn-ea"/>
                  <a:cs typeface="+mn-cs"/>
                </a:rPr>
                <a:t>Test</a:t>
              </a:r>
            </a:p>
          </p:txBody>
        </p:sp>
        <p:sp>
          <p:nvSpPr>
            <p:cNvPr id="14" name="Rectangle 14"/>
            <p:cNvSpPr/>
            <p:nvPr/>
          </p:nvSpPr>
          <p:spPr>
            <a:xfrm>
              <a:off x="9585960" y="1714500"/>
              <a:ext cx="2148840" cy="533400"/>
            </a:xfrm>
            <a:prstGeom prst="rect">
              <a:avLst/>
            </a:prstGeom>
            <a:solidFill>
              <a:schemeClr val="lt2"/>
            </a:solidFill>
            <a:ln>
              <a:noFill/>
            </a:ln>
          </p:spPr>
        </p:sp>
        <p:sp>
          <p:nvSpPr>
            <p:cNvPr id="15" name="TextBox 15"/>
            <p:cNvSpPr txBox="1"/>
            <p:nvPr/>
          </p:nvSpPr>
          <p:spPr>
            <a:xfrm>
              <a:off x="9712452" y="1882775"/>
              <a:ext cx="413002" cy="264033"/>
            </a:xfrm>
            <a:prstGeom prst="rect">
              <a:avLst/>
            </a:prstGeom>
            <a:noFill/>
            <a:ln>
              <a:noFill/>
            </a:ln>
          </p:spPr>
          <p:txBody>
            <a:bodyPr wrap="none" lIns="0" tIns="0" rIns="0" bIns="0" anchor="t" anchorCtr="0">
              <a:spAutoFit/>
            </a:bodyPr>
            <a:lstStyle/>
            <a:p>
              <a:pPr algn="l"/>
              <a:r>
                <a:rPr lang="en-US" sz="1350" b="1" dirty="0">
                  <a:solidFill>
                    <a:schemeClr val="accent2"/>
                  </a:solidFill>
                  <a:latin typeface="+mn-lt"/>
                  <a:ea typeface="+mn-ea"/>
                  <a:cs typeface="+mn-cs"/>
                </a:rPr>
                <a:t>Ship</a:t>
              </a:r>
            </a:p>
          </p:txBody>
        </p:sp>
      </p:grpSp>
      <p:grpSp>
        <p:nvGrpSpPr>
          <p:cNvPr id="19" name="analysis-1"/>
          <p:cNvGrpSpPr/>
          <p:nvPr/>
        </p:nvGrpSpPr>
        <p:grpSpPr>
          <a:xfrm>
            <a:off x="448056" y="2438400"/>
            <a:ext cx="3278276" cy="2712720"/>
            <a:chOff x="448056" y="2438400"/>
            <a:chExt cx="3278276" cy="2712720"/>
          </a:xfrm>
        </p:grpSpPr>
        <p:sp>
          <p:nvSpPr>
            <p:cNvPr id="17" name="TextBox 17"/>
            <p:cNvSpPr txBox="1"/>
            <p:nvPr/>
          </p:nvSpPr>
          <p:spPr>
            <a:xfrm>
              <a:off x="448056" y="2438400"/>
              <a:ext cx="3044514" cy="352044"/>
            </a:xfrm>
            <a:prstGeom prst="rect">
              <a:avLst/>
            </a:prstGeom>
            <a:noFill/>
            <a:ln>
              <a:noFill/>
            </a:ln>
          </p:spPr>
          <p:txBody>
            <a:bodyPr wrap="none" lIns="0" tIns="0" rIns="0" bIns="0" anchor="t" anchorCtr="0">
              <a:spAutoFit/>
            </a:bodyPr>
            <a:lstStyle/>
            <a:p>
              <a:pPr algn="l"/>
              <a:r>
                <a:rPr lang="en-US" sz="1800" dirty="0">
                  <a:solidFill>
                    <a:schemeClr val="accent2"/>
                  </a:solidFill>
                  <a:latin typeface="+mj-lt"/>
                  <a:ea typeface="+mj-ea"/>
                  <a:cs typeface="+mj-cs"/>
                </a:rPr>
                <a:t>Pick and teach a whole task</a:t>
              </a:r>
            </a:p>
          </p:txBody>
        </p:sp>
        <p:sp>
          <p:nvSpPr>
            <p:cNvPr id="18" name="TextBox 18"/>
            <p:cNvSpPr txBox="1"/>
            <p:nvPr/>
          </p:nvSpPr>
          <p:spPr>
            <a:xfrm>
              <a:off x="449580" y="3057525"/>
              <a:ext cx="3276752" cy="2093595"/>
            </a:xfrm>
            <a:prstGeom prst="rect">
              <a:avLst/>
            </a:prstGeom>
            <a:noFill/>
            <a:ln>
              <a:noFill/>
            </a:ln>
          </p:spPr>
          <p:txBody>
            <a:bodyPr wrap="none" lIns="0" tIns="0" rIns="0" bIns="0" anchor="t" anchorCtr="0">
              <a:spAutoFit/>
            </a:bodyPr>
            <a:lstStyle/>
            <a:p>
              <a:pPr algn="l">
                <a:lnSpc>
                  <a:spcPts val="2025"/>
                </a:lnSpc>
              </a:pPr>
              <a:r>
                <a:rPr lang="en-US" sz="1500" dirty="0">
                  <a:solidFill>
                    <a:schemeClr val="dk1"/>
                  </a:solidFill>
                  <a:latin typeface="+mn-lt"/>
                  <a:ea typeface="+mn-ea"/>
                  <a:cs typeface="+mn-cs"/>
                </a:rPr>
                <a:t>Choose repeated work whose success</a:t>
              </a:r>
              <a:br>
                <a:rPr lang="en-US" sz="1500" dirty="0">
                  <a:solidFill>
                    <a:schemeClr val="dk1"/>
                  </a:solidFill>
                  <a:latin typeface="+mn-lt"/>
                  <a:ea typeface="+mn-ea"/>
                  <a:cs typeface="+mn-cs"/>
                </a:rPr>
              </a:br>
              <a:r>
                <a:rPr lang="en-US" sz="1500" dirty="0">
                  <a:solidFill>
                    <a:schemeClr val="dk1"/>
                  </a:solidFill>
                  <a:latin typeface="+mn-lt"/>
                  <a:ea typeface="+mn-ea"/>
                  <a:cs typeface="+mn-cs"/>
                </a:rPr>
                <a:t>a professional can recognize. Use</a:t>
              </a:r>
              <a:br>
                <a:rPr lang="en-US" sz="1500" dirty="0">
                  <a:solidFill>
                    <a:schemeClr val="dk1"/>
                  </a:solidFill>
                  <a:latin typeface="+mn-lt"/>
                  <a:ea typeface="+mn-ea"/>
                  <a:cs typeface="+mn-cs"/>
                </a:rPr>
              </a:br>
              <a:r>
                <a:rPr lang="en-US" sz="1500" dirty="0">
                  <a:solidFill>
                    <a:schemeClr val="dk1"/>
                  </a:solidFill>
                  <a:latin typeface="+mn-lt"/>
                  <a:ea typeface="+mn-ea"/>
                  <a:cs typeface="+mn-cs"/>
                </a:rPr>
                <a:t>prior cases to explain what</a:t>
              </a:r>
              <a:br>
                <a:rPr lang="en-US" sz="1500" dirty="0">
                  <a:solidFill>
                    <a:schemeClr val="dk1"/>
                  </a:solidFill>
                  <a:latin typeface="+mn-lt"/>
                  <a:ea typeface="+mn-ea"/>
                  <a:cs typeface="+mn-cs"/>
                </a:rPr>
              </a:br>
              <a:r>
                <a:rPr lang="en-US" sz="1500" dirty="0">
                  <a:solidFill>
                    <a:schemeClr val="dk1"/>
                  </a:solidFill>
                  <a:latin typeface="+mn-lt"/>
                  <a:ea typeface="+mn-ea"/>
                  <a:cs typeface="+mn-cs"/>
                </a:rPr>
                <a:t>information matters, how the firm</a:t>
              </a:r>
              <a:br>
                <a:rPr lang="en-US" sz="1500" dirty="0">
                  <a:solidFill>
                    <a:schemeClr val="dk1"/>
                  </a:solidFill>
                  <a:latin typeface="+mn-lt"/>
                  <a:ea typeface="+mn-ea"/>
                  <a:cs typeface="+mn-cs"/>
                </a:rPr>
              </a:br>
              <a:r>
                <a:rPr lang="en-US" sz="1500" dirty="0">
                  <a:solidFill>
                    <a:schemeClr val="dk1"/>
                  </a:solidFill>
                  <a:latin typeface="+mn-lt"/>
                  <a:ea typeface="+mn-ea"/>
                  <a:cs typeface="+mn-cs"/>
                </a:rPr>
                <a:t>reasons and why a branch exists. A</a:t>
              </a:r>
              <a:br>
                <a:rPr lang="en-US" sz="1500" dirty="0">
                  <a:solidFill>
                    <a:schemeClr val="dk1"/>
                  </a:solidFill>
                  <a:latin typeface="+mn-lt"/>
                  <a:ea typeface="+mn-ea"/>
                  <a:cs typeface="+mn-cs"/>
                </a:rPr>
              </a:br>
              <a:r>
                <a:rPr lang="en-US" sz="1500" dirty="0">
                  <a:solidFill>
                    <a:schemeClr val="dk1"/>
                  </a:solidFill>
                  <a:latin typeface="+mn-lt"/>
                  <a:ea typeface="+mn-ea"/>
                  <a:cs typeface="+mn-cs"/>
                </a:rPr>
                <a:t>recording of clicks without the</a:t>
              </a:r>
              <a:br>
                <a:rPr lang="en-US" sz="1500" dirty="0">
                  <a:solidFill>
                    <a:schemeClr val="dk1"/>
                  </a:solidFill>
                  <a:latin typeface="+mn-lt"/>
                  <a:ea typeface="+mn-ea"/>
                  <a:cs typeface="+mn-cs"/>
                </a:rPr>
              </a:br>
              <a:r>
                <a:rPr lang="en-US" sz="1500" dirty="0">
                  <a:solidFill>
                    <a:schemeClr val="dk1"/>
                  </a:solidFill>
                  <a:latin typeface="+mn-lt"/>
                  <a:ea typeface="+mn-ea"/>
                  <a:cs typeface="+mn-cs"/>
                </a:rPr>
                <a:t>reason cannot reliably guide a new</a:t>
              </a:r>
              <a:br>
                <a:rPr lang="en-US" sz="1500" dirty="0">
                  <a:solidFill>
                    <a:schemeClr val="dk1"/>
                  </a:solidFill>
                  <a:latin typeface="+mn-lt"/>
                  <a:ea typeface="+mn-ea"/>
                  <a:cs typeface="+mn-cs"/>
                </a:rPr>
              </a:br>
              <a:r>
                <a:rPr lang="en-US" sz="1500" dirty="0">
                  <a:solidFill>
                    <a:schemeClr val="dk1"/>
                  </a:solidFill>
                  <a:latin typeface="+mn-lt"/>
                  <a:ea typeface="+mn-ea"/>
                  <a:cs typeface="+mn-cs"/>
                </a:rPr>
                <a:t>or incomplete situation.</a:t>
              </a:r>
            </a:p>
          </p:txBody>
        </p:sp>
      </p:grpSp>
      <p:grpSp>
        <p:nvGrpSpPr>
          <p:cNvPr id="22" name="analysis-2"/>
          <p:cNvGrpSpPr/>
          <p:nvPr/>
        </p:nvGrpSpPr>
        <p:grpSpPr>
          <a:xfrm>
            <a:off x="4296156" y="2438400"/>
            <a:ext cx="3035237" cy="3227070"/>
            <a:chOff x="4296156" y="2438400"/>
            <a:chExt cx="3035237" cy="3227070"/>
          </a:xfrm>
        </p:grpSpPr>
        <p:sp>
          <p:nvSpPr>
            <p:cNvPr id="20" name="TextBox 20"/>
            <p:cNvSpPr txBox="1"/>
            <p:nvPr/>
          </p:nvSpPr>
          <p:spPr>
            <a:xfrm>
              <a:off x="4296156" y="2438400"/>
              <a:ext cx="2268762" cy="352044"/>
            </a:xfrm>
            <a:prstGeom prst="rect">
              <a:avLst/>
            </a:prstGeom>
            <a:noFill/>
            <a:ln>
              <a:noFill/>
            </a:ln>
          </p:spPr>
          <p:txBody>
            <a:bodyPr wrap="none" lIns="0" tIns="0" rIns="0" bIns="0" anchor="t" anchorCtr="0">
              <a:spAutoFit/>
            </a:bodyPr>
            <a:lstStyle/>
            <a:p>
              <a:pPr algn="l"/>
              <a:r>
                <a:rPr lang="en-US" sz="1800" dirty="0">
                  <a:solidFill>
                    <a:schemeClr val="accent2"/>
                  </a:solidFill>
                  <a:latin typeface="+mj-lt"/>
                  <a:ea typeface="+mj-ea"/>
                  <a:cs typeface="+mj-cs"/>
                </a:rPr>
                <a:t>Pack the boundaries</a:t>
              </a:r>
            </a:p>
          </p:txBody>
        </p:sp>
        <p:sp>
          <p:nvSpPr>
            <p:cNvPr id="21" name="TextBox 21"/>
            <p:cNvSpPr txBox="1"/>
            <p:nvPr/>
          </p:nvSpPr>
          <p:spPr>
            <a:xfrm>
              <a:off x="4297680" y="3057525"/>
              <a:ext cx="3033713" cy="2607945"/>
            </a:xfrm>
            <a:prstGeom prst="rect">
              <a:avLst/>
            </a:prstGeom>
            <a:noFill/>
            <a:ln>
              <a:noFill/>
            </a:ln>
          </p:spPr>
          <p:txBody>
            <a:bodyPr wrap="none" lIns="0" tIns="0" rIns="0" bIns="0" anchor="t" anchorCtr="0">
              <a:spAutoFit/>
            </a:bodyPr>
            <a:lstStyle/>
            <a:p>
              <a:pPr algn="l">
                <a:lnSpc>
                  <a:spcPts val="2025"/>
                </a:lnSpc>
              </a:pPr>
              <a:r>
                <a:rPr lang="en-US" sz="1500" dirty="0">
                  <a:solidFill>
                    <a:schemeClr val="dk1"/>
                  </a:solidFill>
                  <a:latin typeface="+mn-lt"/>
                  <a:ea typeface="+mn-ea"/>
                  <a:cs typeface="+mn-cs"/>
                </a:rPr>
                <a:t>Include required inputs,</a:t>
              </a:r>
              <a:br>
                <a:rPr lang="en-US" sz="1500" dirty="0">
                  <a:solidFill>
                    <a:schemeClr val="dk1"/>
                  </a:solidFill>
                  <a:latin typeface="+mn-lt"/>
                  <a:ea typeface="+mn-ea"/>
                  <a:cs typeface="+mn-cs"/>
                </a:rPr>
              </a:br>
              <a:r>
                <a:rPr lang="en-US" sz="1500" dirty="0">
                  <a:solidFill>
                    <a:schemeClr val="dk1"/>
                  </a:solidFill>
                  <a:latin typeface="+mn-lt"/>
                  <a:ea typeface="+mn-ea"/>
                  <a:cs typeface="+mn-cs"/>
                </a:rPr>
                <a:t>clarification questions,</a:t>
              </a:r>
              <a:br>
                <a:rPr lang="en-US" sz="1500" dirty="0">
                  <a:solidFill>
                    <a:schemeClr val="dk1"/>
                  </a:solidFill>
                  <a:latin typeface="+mn-lt"/>
                  <a:ea typeface="+mn-ea"/>
                  <a:cs typeface="+mn-cs"/>
                </a:rPr>
              </a:br>
              <a:r>
                <a:rPr lang="en-US" sz="1500" dirty="0">
                  <a:solidFill>
                    <a:schemeClr val="dk1"/>
                  </a:solidFill>
                  <a:latin typeface="+mn-lt"/>
                  <a:ea typeface="+mn-ea"/>
                  <a:cs typeface="+mn-cs"/>
                </a:rPr>
                <a:t>exceptions, stopping conditions and</a:t>
              </a:r>
              <a:br>
                <a:rPr lang="en-US" sz="1500" dirty="0">
                  <a:solidFill>
                    <a:schemeClr val="dk1"/>
                  </a:solidFill>
                  <a:latin typeface="+mn-lt"/>
                  <a:ea typeface="+mn-ea"/>
                  <a:cs typeface="+mn-cs"/>
                </a:rPr>
              </a:br>
              <a:r>
                <a:rPr lang="en-US" sz="1500" dirty="0">
                  <a:solidFill>
                    <a:schemeClr val="dk1"/>
                  </a:solidFill>
                  <a:latin typeface="+mn-lt"/>
                  <a:ea typeface="+mn-ea"/>
                  <a:cs typeface="+mn-cs"/>
                </a:rPr>
                <a:t>the handoff. Test missing facts and</a:t>
              </a:r>
              <a:br>
                <a:rPr lang="en-US" sz="1500" dirty="0">
                  <a:solidFill>
                    <a:schemeClr val="dk1"/>
                  </a:solidFill>
                  <a:latin typeface="+mn-lt"/>
                  <a:ea typeface="+mn-ea"/>
                  <a:cs typeface="+mn-cs"/>
                </a:rPr>
              </a:br>
              <a:r>
                <a:rPr lang="en-US" sz="1500" dirty="0">
                  <a:solidFill>
                    <a:schemeClr val="dk1"/>
                  </a:solidFill>
                  <a:latin typeface="+mn-lt"/>
                  <a:ea typeface="+mn-ea"/>
                  <a:cs typeface="+mn-cs"/>
                </a:rPr>
                <a:t>conflicting instructions as well as</a:t>
              </a:r>
              <a:br>
                <a:rPr lang="en-US" sz="1500" dirty="0">
                  <a:solidFill>
                    <a:schemeClr val="dk1"/>
                  </a:solidFill>
                  <a:latin typeface="+mn-lt"/>
                  <a:ea typeface="+mn-ea"/>
                  <a:cs typeface="+mn-cs"/>
                </a:rPr>
              </a:br>
              <a:r>
                <a:rPr lang="en-US" sz="1500" dirty="0">
                  <a:solidFill>
                    <a:schemeClr val="dk1"/>
                  </a:solidFill>
                  <a:latin typeface="+mn-lt"/>
                  <a:ea typeface="+mn-ea"/>
                  <a:cs typeface="+mn-cs"/>
                </a:rPr>
                <a:t>ordinary completion. The speaker’s</a:t>
              </a:r>
              <a:br>
                <a:rPr lang="en-US" sz="1500" dirty="0">
                  <a:solidFill>
                    <a:schemeClr val="dk1"/>
                  </a:solidFill>
                  <a:latin typeface="+mn-lt"/>
                  <a:ea typeface="+mn-ea"/>
                  <a:cs typeface="+mn-cs"/>
                </a:rPr>
              </a:br>
              <a:r>
                <a:rPr lang="en-US" sz="1500" dirty="0">
                  <a:solidFill>
                    <a:schemeClr val="dk1"/>
                  </a:solidFill>
                  <a:latin typeface="+mn-lt"/>
                  <a:ea typeface="+mn-ea"/>
                  <a:cs typeface="+mn-cs"/>
                </a:rPr>
                <a:t>five-to-ten-case routine starts</a:t>
              </a:r>
              <a:br>
                <a:rPr lang="en-US" sz="1500" dirty="0">
                  <a:solidFill>
                    <a:schemeClr val="dk1"/>
                  </a:solidFill>
                  <a:latin typeface="+mn-lt"/>
                  <a:ea typeface="+mn-ea"/>
                  <a:cs typeface="+mn-cs"/>
                </a:rPr>
              </a:br>
              <a:r>
                <a:rPr lang="en-US" sz="1500" dirty="0">
                  <a:solidFill>
                    <a:schemeClr val="dk1"/>
                  </a:solidFill>
                  <a:latin typeface="+mn-lt"/>
                  <a:ea typeface="+mn-ea"/>
                  <a:cs typeface="+mn-cs"/>
                </a:rPr>
                <a:t>iteration; it does not demonstrate</a:t>
              </a:r>
              <a:br>
                <a:rPr lang="en-US" sz="1500" dirty="0">
                  <a:solidFill>
                    <a:schemeClr val="dk1"/>
                  </a:solidFill>
                  <a:latin typeface="+mn-lt"/>
                  <a:ea typeface="+mn-ea"/>
                  <a:cs typeface="+mn-cs"/>
                </a:rPr>
              </a:br>
              <a:r>
                <a:rPr lang="en-US" sz="1500" dirty="0">
                  <a:solidFill>
                    <a:schemeClr val="dk1"/>
                  </a:solidFill>
                  <a:latin typeface="+mn-lt"/>
                  <a:ea typeface="+mn-ea"/>
                  <a:cs typeface="+mn-cs"/>
                </a:rPr>
                <a:t>statistical reliability or replace</a:t>
              </a:r>
              <a:br>
                <a:rPr lang="en-US" sz="1500" dirty="0">
                  <a:solidFill>
                    <a:schemeClr val="dk1"/>
                  </a:solidFill>
                  <a:latin typeface="+mn-lt"/>
                  <a:ea typeface="+mn-ea"/>
                  <a:cs typeface="+mn-cs"/>
                </a:rPr>
              </a:br>
              <a:r>
                <a:rPr lang="en-US" sz="1500" dirty="0">
                  <a:solidFill>
                    <a:schemeClr val="dk1"/>
                  </a:solidFill>
                  <a:latin typeface="+mn-lt"/>
                  <a:ea typeface="+mn-ea"/>
                  <a:cs typeface="+mn-cs"/>
                </a:rPr>
                <a:t>broader assessment.</a:t>
              </a:r>
            </a:p>
          </p:txBody>
        </p:sp>
      </p:grpSp>
      <p:grpSp>
        <p:nvGrpSpPr>
          <p:cNvPr id="25" name="analysis-3"/>
          <p:cNvGrpSpPr/>
          <p:nvPr/>
        </p:nvGrpSpPr>
        <p:grpSpPr>
          <a:xfrm>
            <a:off x="8144256" y="2438400"/>
            <a:ext cx="2971686" cy="3227070"/>
            <a:chOff x="8144256" y="2438400"/>
            <a:chExt cx="2971686" cy="3227070"/>
          </a:xfrm>
        </p:grpSpPr>
        <p:sp>
          <p:nvSpPr>
            <p:cNvPr id="23" name="TextBox 23"/>
            <p:cNvSpPr txBox="1"/>
            <p:nvPr/>
          </p:nvSpPr>
          <p:spPr>
            <a:xfrm>
              <a:off x="8144256" y="2438400"/>
              <a:ext cx="2550599" cy="352044"/>
            </a:xfrm>
            <a:prstGeom prst="rect">
              <a:avLst/>
            </a:prstGeom>
            <a:noFill/>
            <a:ln>
              <a:noFill/>
            </a:ln>
          </p:spPr>
          <p:txBody>
            <a:bodyPr wrap="none" lIns="0" tIns="0" rIns="0" bIns="0" anchor="t" anchorCtr="0">
              <a:spAutoFit/>
            </a:bodyPr>
            <a:lstStyle/>
            <a:p>
              <a:pPr algn="l"/>
              <a:r>
                <a:rPr lang="en-US" sz="1800" dirty="0">
                  <a:solidFill>
                    <a:schemeClr val="accent2"/>
                  </a:solidFill>
                  <a:latin typeface="+mj-lt"/>
                  <a:ea typeface="+mj-ea"/>
                  <a:cs typeface="+mj-cs"/>
                </a:rPr>
                <a:t>Ship with maintenance</a:t>
              </a:r>
            </a:p>
          </p:txBody>
        </p:sp>
        <p:sp>
          <p:nvSpPr>
            <p:cNvPr id="24" name="TextBox 24"/>
            <p:cNvSpPr txBox="1"/>
            <p:nvPr/>
          </p:nvSpPr>
          <p:spPr>
            <a:xfrm>
              <a:off x="8145780" y="3057525"/>
              <a:ext cx="2970162" cy="2607945"/>
            </a:xfrm>
            <a:prstGeom prst="rect">
              <a:avLst/>
            </a:prstGeom>
            <a:noFill/>
            <a:ln>
              <a:noFill/>
            </a:ln>
          </p:spPr>
          <p:txBody>
            <a:bodyPr wrap="none" lIns="0" tIns="0" rIns="0" bIns="0" anchor="t" anchorCtr="0">
              <a:spAutoFit/>
            </a:bodyPr>
            <a:lstStyle/>
            <a:p>
              <a:pPr algn="l">
                <a:lnSpc>
                  <a:spcPts val="2025"/>
                </a:lnSpc>
              </a:pPr>
              <a:r>
                <a:rPr lang="en-US" sz="1500" dirty="0">
                  <a:solidFill>
                    <a:schemeClr val="dk1"/>
                  </a:solidFill>
                  <a:latin typeface="+mn-lt"/>
                  <a:ea typeface="+mn-ea"/>
                  <a:cs typeface="+mn-cs"/>
                </a:rPr>
                <a:t>Assign an owner and a separate</a:t>
              </a:r>
              <a:br>
                <a:rPr lang="en-US" sz="1500" dirty="0">
                  <a:solidFill>
                    <a:schemeClr val="dk1"/>
                  </a:solidFill>
                  <a:latin typeface="+mn-lt"/>
                  <a:ea typeface="+mn-ea"/>
                  <a:cs typeface="+mn-cs"/>
                </a:rPr>
              </a:br>
              <a:r>
                <a:rPr lang="en-US" sz="1500" dirty="0">
                  <a:solidFill>
                    <a:schemeClr val="dk1"/>
                  </a:solidFill>
                  <a:latin typeface="+mn-lt"/>
                  <a:ea typeface="+mn-ea"/>
                  <a:cs typeface="+mn-cs"/>
                </a:rPr>
                <a:t>reviewer, keep the method current</a:t>
              </a:r>
              <a:br>
                <a:rPr lang="en-US" sz="1500" dirty="0">
                  <a:solidFill>
                    <a:schemeClr val="dk1"/>
                  </a:solidFill>
                  <a:latin typeface="+mn-lt"/>
                  <a:ea typeface="+mn-ea"/>
                  <a:cs typeface="+mn-cs"/>
                </a:rPr>
              </a:br>
              <a:r>
                <a:rPr lang="en-US" sz="1500" dirty="0">
                  <a:solidFill>
                    <a:schemeClr val="dk1"/>
                  </a:solidFill>
                  <a:latin typeface="+mn-lt"/>
                  <a:ea typeface="+mn-ea"/>
                  <a:cs typeface="+mn-cs"/>
                </a:rPr>
                <a:t>and retest changes. Range’s agent</a:t>
              </a:r>
              <a:br>
                <a:rPr lang="en-US" sz="1500" dirty="0">
                  <a:solidFill>
                    <a:schemeClr val="dk1"/>
                  </a:solidFill>
                  <a:latin typeface="+mn-lt"/>
                  <a:ea typeface="+mn-ea"/>
                  <a:cs typeface="+mn-cs"/>
                </a:rPr>
              </a:br>
              <a:r>
                <a:rPr lang="en-US" sz="1500" dirty="0">
                  <a:solidFill>
                    <a:schemeClr val="dk1"/>
                  </a:solidFill>
                  <a:latin typeface="+mn-lt"/>
                  <a:ea typeface="+mn-ea"/>
                  <a:cs typeface="+mn-cs"/>
                </a:rPr>
                <a:t>sends nothing and every</a:t>
              </a:r>
              <a:br>
                <a:rPr lang="en-US" sz="1500" dirty="0">
                  <a:solidFill>
                    <a:schemeClr val="dk1"/>
                  </a:solidFill>
                  <a:latin typeface="+mn-lt"/>
                  <a:ea typeface="+mn-ea"/>
                  <a:cs typeface="+mn-cs"/>
                </a:rPr>
              </a:br>
              <a:r>
                <a:rPr lang="en-US" sz="1500" dirty="0">
                  <a:solidFill>
                    <a:schemeClr val="dk1"/>
                  </a:solidFill>
                  <a:latin typeface="+mn-lt"/>
                  <a:ea typeface="+mn-ea"/>
                  <a:cs typeface="+mn-cs"/>
                </a:rPr>
                <a:t>recommendation is reviewed by a</a:t>
              </a:r>
              <a:br>
                <a:rPr lang="en-US" sz="1500" dirty="0">
                  <a:solidFill>
                    <a:schemeClr val="dk1"/>
                  </a:solidFill>
                  <a:latin typeface="+mn-lt"/>
                  <a:ea typeface="+mn-ea"/>
                  <a:cs typeface="+mn-cs"/>
                </a:rPr>
              </a:br>
              <a:r>
                <a:rPr lang="en-US" sz="1500" dirty="0">
                  <a:solidFill>
                    <a:schemeClr val="dk1"/>
                  </a:solidFill>
                  <a:latin typeface="+mn-lt"/>
                  <a:ea typeface="+mn-ea"/>
                  <a:cs typeface="+mn-cs"/>
                </a:rPr>
                <a:t>planner. Measure corrected,</a:t>
              </a:r>
              <a:br>
                <a:rPr lang="en-US" sz="1500" dirty="0">
                  <a:solidFill>
                    <a:schemeClr val="dk1"/>
                  </a:solidFill>
                  <a:latin typeface="+mn-lt"/>
                  <a:ea typeface="+mn-ea"/>
                  <a:cs typeface="+mn-cs"/>
                </a:rPr>
              </a:br>
              <a:r>
                <a:rPr lang="en-US" sz="1500" dirty="0">
                  <a:solidFill>
                    <a:schemeClr val="dk1"/>
                  </a:solidFill>
                  <a:latin typeface="+mn-lt"/>
                  <a:ea typeface="+mn-ea"/>
                  <a:cs typeface="+mn-cs"/>
                </a:rPr>
                <a:t>accepted work before claiming</a:t>
              </a:r>
              <a:br>
                <a:rPr lang="en-US" sz="1500" dirty="0">
                  <a:solidFill>
                    <a:schemeClr val="dk1"/>
                  </a:solidFill>
                  <a:latin typeface="+mn-lt"/>
                  <a:ea typeface="+mn-ea"/>
                  <a:cs typeface="+mn-cs"/>
                </a:rPr>
              </a:br>
              <a:r>
                <a:rPr lang="en-US" sz="1500" dirty="0">
                  <a:solidFill>
                    <a:schemeClr val="dk1"/>
                  </a:solidFill>
                  <a:latin typeface="+mn-lt"/>
                  <a:ea typeface="+mn-ea"/>
                  <a:cs typeface="+mn-cs"/>
                </a:rPr>
                <a:t>capacity gains; the transcript</a:t>
              </a:r>
              <a:br>
                <a:rPr lang="en-US" sz="1500" dirty="0">
                  <a:solidFill>
                    <a:schemeClr val="dk1"/>
                  </a:solidFill>
                  <a:latin typeface="+mn-lt"/>
                  <a:ea typeface="+mn-ea"/>
                  <a:cs typeface="+mn-cs"/>
                </a:rPr>
              </a:br>
              <a:r>
                <a:rPr lang="en-US" sz="1500" dirty="0">
                  <a:solidFill>
                    <a:schemeClr val="dk1"/>
                  </a:solidFill>
                  <a:latin typeface="+mn-lt"/>
                  <a:ea typeface="+mn-ea"/>
                  <a:cs typeface="+mn-cs"/>
                </a:rPr>
                <a:t>provides a method rather than a</a:t>
              </a:r>
              <a:br>
                <a:rPr lang="en-US" sz="1500" dirty="0">
                  <a:solidFill>
                    <a:schemeClr val="dk1"/>
                  </a:solidFill>
                  <a:latin typeface="+mn-lt"/>
                  <a:ea typeface="+mn-ea"/>
                  <a:cs typeface="+mn-cs"/>
                </a:rPr>
              </a:br>
              <a:r>
                <a:rPr lang="en-US" sz="1500" dirty="0">
                  <a:solidFill>
                    <a:schemeClr val="dk1"/>
                  </a:solidFill>
                  <a:latin typeface="+mn-lt"/>
                  <a:ea typeface="+mn-ea"/>
                  <a:cs typeface="+mn-cs"/>
                </a:rPr>
                <a:t>controlled outcome study.</a:t>
              </a:r>
            </a:p>
          </p:txBody>
        </p:sp>
      </p:grpSp>
      <p:grpSp>
        <p:nvGrpSpPr>
          <p:cNvPr id="28" name="footer"/>
          <p:cNvGrpSpPr/>
          <p:nvPr/>
        </p:nvGrpSpPr>
        <p:grpSpPr>
          <a:xfrm>
            <a:off x="452438" y="6477000"/>
            <a:ext cx="11287124" cy="176212"/>
            <a:chOff x="452438" y="6477000"/>
            <a:chExt cx="11287124" cy="176212"/>
          </a:xfrm>
        </p:grpSpPr>
        <p:sp>
          <p:nvSpPr>
            <p:cNvPr id="26" name="TextBox 26"/>
            <p:cNvSpPr txBox="1"/>
            <p:nvPr/>
          </p:nvSpPr>
          <p:spPr>
            <a:xfrm>
              <a:off x="452438" y="6477000"/>
              <a:ext cx="2499871" cy="176212"/>
            </a:xfrm>
            <a:prstGeom prst="rect">
              <a:avLst/>
            </a:prstGeom>
            <a:noFill/>
            <a:ln>
              <a:noFill/>
            </a:ln>
          </p:spPr>
          <p:txBody>
            <a:bodyPr wrap="none" lIns="0" tIns="0" rIns="0" bIns="0" anchor="t" anchorCtr="0">
              <a:spAutoFit/>
            </a:bodyPr>
            <a:lstStyle/>
            <a:p>
              <a:pPr algn="l"/>
              <a:r>
                <a:rPr lang="en-US" sz="900" dirty="0">
                  <a:solidFill>
                    <a:schemeClr val="accent5"/>
                  </a:solidFill>
                  <a:latin typeface="+mn-lt"/>
                  <a:ea typeface="+mn-ea"/>
                  <a:cs typeface="+mn-cs"/>
                </a:rPr>
                <a:t>Sources: Range | Reviewed October 25, 2026</a:t>
              </a:r>
            </a:p>
          </p:txBody>
        </p:sp>
        <p:sp>
          <p:nvSpPr>
            <p:cNvPr id="27" name="TextBox 27"/>
            <p:cNvSpPr txBox="1"/>
            <p:nvPr/>
          </p:nvSpPr>
          <p:spPr>
            <a:xfrm>
              <a:off x="11359512" y="6477000"/>
              <a:ext cx="380050" cy="176212"/>
            </a:xfrm>
            <a:prstGeom prst="rect">
              <a:avLst/>
            </a:prstGeom>
            <a:noFill/>
            <a:ln>
              <a:noFill/>
            </a:ln>
          </p:spPr>
          <p:txBody>
            <a:bodyPr wrap="none" lIns="0" tIns="0" rIns="0" bIns="0" anchor="t" anchorCtr="0">
              <a:spAutoFit/>
            </a:bodyPr>
            <a:lstStyle/>
            <a:p>
              <a:pPr algn="r"/>
              <a:r>
                <a:rPr lang="en-US" sz="900" dirty="0">
                  <a:solidFill>
                    <a:schemeClr val="accent5"/>
                  </a:solidFill>
                  <a:latin typeface="+mn-lt"/>
                  <a:ea typeface="+mn-ea"/>
                  <a:cs typeface="+mn-cs"/>
                </a:rPr>
                <a:t>19 / 37</a:t>
              </a:r>
            </a:p>
          </p:txBody>
        </p:sp>
      </p:grpSp>
    </p:spTree>
  </p:cSld>
  <p:clrMapOvr>
    <a:masterClrMapping/>
  </p:clrMapOvr>
  <p:transition xmlns:p14="http://schemas.microsoft.com/office/powerpoint/2010/main" p14:dur="400">
    <p:fade/>
  </p:transition>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5" name="title"/>
          <p:cNvGrpSpPr/>
          <p:nvPr/>
        </p:nvGrpSpPr>
        <p:grpSpPr>
          <a:xfrm>
            <a:off x="443484" y="361950"/>
            <a:ext cx="10251771" cy="1100582"/>
            <a:chOff x="443484" y="361950"/>
            <a:chExt cx="10251771" cy="1100582"/>
          </a:xfrm>
        </p:grpSpPr>
        <p:sp>
          <p:nvSpPr>
            <p:cNvPr id="2" name="TextBox 2"/>
            <p:cNvSpPr txBox="1"/>
            <p:nvPr/>
          </p:nvSpPr>
          <p:spPr>
            <a:xfrm>
              <a:off x="451104" y="361950"/>
              <a:ext cx="2696193" cy="234696"/>
            </a:xfrm>
            <a:prstGeom prst="rect">
              <a:avLst/>
            </a:prstGeom>
            <a:noFill/>
            <a:ln>
              <a:noFill/>
            </a:ln>
          </p:spPr>
          <p:txBody>
            <a:bodyPr wrap="none" lIns="0" tIns="0" rIns="0" bIns="0" anchor="t" anchorCtr="0">
              <a:spAutoFit/>
            </a:bodyPr>
            <a:lstStyle/>
            <a:p>
              <a:pPr algn="l"/>
              <a:r>
                <a:rPr lang="en-US" sz="1200" dirty="0">
                  <a:solidFill>
                    <a:schemeClr val="accent2"/>
                  </a:solidFill>
                  <a:latin typeface="+mn-lt"/>
                  <a:ea typeface="+mn-ea"/>
                  <a:cs typeface="+mn-cs"/>
                </a:rPr>
                <a:t>04 / CONTROLLED WORKFLOWS</a:t>
              </a:r>
            </a:p>
          </p:txBody>
        </p:sp>
        <p:sp>
          <p:nvSpPr>
            <p:cNvPr id="3" name="TextBox 3"/>
            <p:cNvSpPr txBox="1"/>
            <p:nvPr/>
          </p:nvSpPr>
          <p:spPr>
            <a:xfrm>
              <a:off x="443484" y="593725"/>
              <a:ext cx="7684491" cy="528066"/>
            </a:xfrm>
            <a:prstGeom prst="rect">
              <a:avLst/>
            </a:prstGeom>
            <a:noFill/>
            <a:ln>
              <a:noFill/>
            </a:ln>
          </p:spPr>
          <p:txBody>
            <a:bodyPr wrap="none" lIns="0" tIns="0" rIns="0" bIns="0" anchor="t" anchorCtr="0">
              <a:spAutoFit/>
            </a:bodyPr>
            <a:lstStyle/>
            <a:p>
              <a:pPr algn="l"/>
              <a:r>
                <a:rPr lang="en-US" sz="2700" dirty="0">
                  <a:solidFill>
                    <a:schemeClr val="accent1"/>
                  </a:solidFill>
                  <a:latin typeface="+mj-lt"/>
                  <a:ea typeface="+mj-ea"/>
                  <a:cs typeface="+mj-cs"/>
                </a:rPr>
                <a:t>Let agents iterate inside explicitly gated stages</a:t>
              </a:r>
            </a:p>
          </p:txBody>
        </p:sp>
        <p:sp>
          <p:nvSpPr>
            <p:cNvPr id="4" name="TextBox 4"/>
            <p:cNvSpPr txBox="1"/>
            <p:nvPr/>
          </p:nvSpPr>
          <p:spPr>
            <a:xfrm>
              <a:off x="448818" y="1139825"/>
              <a:ext cx="10246437" cy="322707"/>
            </a:xfrm>
            <a:prstGeom prst="rect">
              <a:avLst/>
            </a:prstGeom>
            <a:noFill/>
            <a:ln>
              <a:noFill/>
            </a:ln>
          </p:spPr>
          <p:txBody>
            <a:bodyPr wrap="none" lIns="0" tIns="0" rIns="0" bIns="0" anchor="t" anchorCtr="0">
              <a:spAutoFit/>
            </a:bodyPr>
            <a:lstStyle/>
            <a:p>
              <a:pPr algn="l"/>
              <a:r>
                <a:rPr lang="en-US" sz="1650" dirty="0">
                  <a:solidFill>
                    <a:schemeClr val="accent5"/>
                  </a:solidFill>
                  <a:latin typeface="+mn-lt"/>
                  <a:ea typeface="+mn-ea"/>
                  <a:cs typeface="+mn-cs"/>
                </a:rPr>
                <a:t>Coinbase’s framework places bounded draft/check/refine loops inside a forward-moving policy workflow.</a:t>
              </a:r>
            </a:p>
          </p:txBody>
        </p:sp>
      </p:grpSp>
      <p:grpSp>
        <p:nvGrpSpPr>
          <p:cNvPr id="8" name="synthetic-draft"/>
          <p:cNvGrpSpPr/>
          <p:nvPr/>
        </p:nvGrpSpPr>
        <p:grpSpPr>
          <a:xfrm>
            <a:off x="457200" y="1714500"/>
            <a:ext cx="11277600" cy="533400"/>
            <a:chOff x="457200" y="1714500"/>
            <a:chExt cx="11277600" cy="533400"/>
          </a:xfrm>
        </p:grpSpPr>
        <p:sp>
          <p:nvSpPr>
            <p:cNvPr id="6" name="Rectangle 6"/>
            <p:cNvSpPr/>
            <p:nvPr/>
          </p:nvSpPr>
          <p:spPr>
            <a:xfrm>
              <a:off x="457200" y="1714500"/>
              <a:ext cx="11277600" cy="533400"/>
            </a:xfrm>
            <a:prstGeom prst="rect">
              <a:avLst/>
            </a:prstGeom>
            <a:solidFill>
              <a:schemeClr val="lt2"/>
            </a:solidFill>
            <a:ln>
              <a:noFill/>
            </a:ln>
          </p:spPr>
        </p:sp>
        <p:sp>
          <p:nvSpPr>
            <p:cNvPr id="7" name="TextBox 7"/>
            <p:cNvSpPr txBox="1"/>
            <p:nvPr/>
          </p:nvSpPr>
          <p:spPr>
            <a:xfrm>
              <a:off x="621030" y="1857375"/>
              <a:ext cx="9361256" cy="293370"/>
            </a:xfrm>
            <a:prstGeom prst="rect">
              <a:avLst/>
            </a:prstGeom>
            <a:noFill/>
            <a:ln>
              <a:noFill/>
            </a:ln>
          </p:spPr>
          <p:txBody>
            <a:bodyPr wrap="none" lIns="0" tIns="0" rIns="0" bIns="0" anchor="t" anchorCtr="0">
              <a:spAutoFit/>
            </a:bodyPr>
            <a:lstStyle/>
            <a:p>
              <a:pPr algn="l"/>
              <a:r>
                <a:rPr lang="en-US" sz="1500" dirty="0">
                  <a:solidFill>
                    <a:schemeClr val="accent2"/>
                  </a:solidFill>
                  <a:latin typeface="+mn-lt"/>
                  <a:ea typeface="+mn-ea"/>
                  <a:cs typeface="+mn-cs"/>
                </a:rPr>
                <a:t>Invented draft: $120k income − $84k expenses = $36k arithmetic difference; not suitability or permission.</a:t>
              </a:r>
            </a:p>
          </p:txBody>
        </p:sp>
      </p:grpSp>
      <p:grpSp>
        <p:nvGrpSpPr>
          <p:cNvPr id="11" name="analysis-1"/>
          <p:cNvGrpSpPr/>
          <p:nvPr/>
        </p:nvGrpSpPr>
        <p:grpSpPr>
          <a:xfrm>
            <a:off x="448056" y="2457450"/>
            <a:ext cx="3003309" cy="2969895"/>
            <a:chOff x="448056" y="2457450"/>
            <a:chExt cx="3003309" cy="2969895"/>
          </a:xfrm>
        </p:grpSpPr>
        <p:sp>
          <p:nvSpPr>
            <p:cNvPr id="9" name="TextBox 9"/>
            <p:cNvSpPr txBox="1"/>
            <p:nvPr/>
          </p:nvSpPr>
          <p:spPr>
            <a:xfrm>
              <a:off x="448056" y="2457450"/>
              <a:ext cx="2759205" cy="352044"/>
            </a:xfrm>
            <a:prstGeom prst="rect">
              <a:avLst/>
            </a:prstGeom>
            <a:noFill/>
            <a:ln>
              <a:noFill/>
            </a:ln>
          </p:spPr>
          <p:txBody>
            <a:bodyPr wrap="none" lIns="0" tIns="0" rIns="0" bIns="0" anchor="t" anchorCtr="0">
              <a:spAutoFit/>
            </a:bodyPr>
            <a:lstStyle/>
            <a:p>
              <a:pPr algn="l"/>
              <a:r>
                <a:rPr lang="en-US" sz="1800" dirty="0">
                  <a:solidFill>
                    <a:schemeClr val="accent2"/>
                  </a:solidFill>
                  <a:latin typeface="+mj-lt"/>
                  <a:ea typeface="+mj-ea"/>
                  <a:cs typeface="+mj-cs"/>
                </a:rPr>
                <a:t>Define the stage contract</a:t>
              </a:r>
            </a:p>
          </p:txBody>
        </p:sp>
        <p:sp>
          <p:nvSpPr>
            <p:cNvPr id="10" name="TextBox 10"/>
            <p:cNvSpPr txBox="1"/>
            <p:nvPr/>
          </p:nvSpPr>
          <p:spPr>
            <a:xfrm>
              <a:off x="449580" y="3076575"/>
              <a:ext cx="3001785" cy="2350770"/>
            </a:xfrm>
            <a:prstGeom prst="rect">
              <a:avLst/>
            </a:prstGeom>
            <a:noFill/>
            <a:ln>
              <a:noFill/>
            </a:ln>
          </p:spPr>
          <p:txBody>
            <a:bodyPr wrap="none" lIns="0" tIns="0" rIns="0" bIns="0" anchor="t" anchorCtr="0">
              <a:spAutoFit/>
            </a:bodyPr>
            <a:lstStyle/>
            <a:p>
              <a:pPr algn="l">
                <a:lnSpc>
                  <a:spcPts val="2025"/>
                </a:lnSpc>
              </a:pPr>
              <a:r>
                <a:rPr lang="en-US" sz="1500" dirty="0">
                  <a:solidFill>
                    <a:schemeClr val="dk1"/>
                  </a:solidFill>
                  <a:latin typeface="+mn-lt"/>
                  <a:ea typeface="+mn-ea"/>
                  <a:cs typeface="+mn-cs"/>
                </a:rPr>
                <a:t>Specify the allowed inputs,</a:t>
              </a:r>
              <a:br>
                <a:rPr lang="en-US" sz="1500" dirty="0">
                  <a:solidFill>
                    <a:schemeClr val="dk1"/>
                  </a:solidFill>
                  <a:latin typeface="+mn-lt"/>
                  <a:ea typeface="+mn-ea"/>
                  <a:cs typeface="+mn-cs"/>
                </a:rPr>
              </a:br>
              <a:r>
                <a:rPr lang="en-US" sz="1500" dirty="0">
                  <a:solidFill>
                    <a:schemeClr val="dk1"/>
                  </a:solidFill>
                  <a:latin typeface="+mn-lt"/>
                  <a:ea typeface="+mn-ea"/>
                  <a:cs typeface="+mn-cs"/>
                </a:rPr>
                <a:t>checkable output, iteration budget</a:t>
              </a:r>
              <a:br>
                <a:rPr lang="en-US" sz="1500" dirty="0">
                  <a:solidFill>
                    <a:schemeClr val="dk1"/>
                  </a:solidFill>
                  <a:latin typeface="+mn-lt"/>
                  <a:ea typeface="+mn-ea"/>
                  <a:cs typeface="+mn-cs"/>
                </a:rPr>
              </a:br>
              <a:r>
                <a:rPr lang="en-US" sz="1500" dirty="0">
                  <a:solidFill>
                    <a:schemeClr val="dk1"/>
                  </a:solidFill>
                  <a:latin typeface="+mn-lt"/>
                  <a:ea typeface="+mn-ea"/>
                  <a:cs typeface="+mn-cs"/>
                </a:rPr>
                <a:t>and human takeover condition. The</a:t>
              </a:r>
              <a:br>
                <a:rPr lang="en-US" sz="1500" dirty="0">
                  <a:solidFill>
                    <a:schemeClr val="dk1"/>
                  </a:solidFill>
                  <a:latin typeface="+mn-lt"/>
                  <a:ea typeface="+mn-ea"/>
                  <a:cs typeface="+mn-cs"/>
                </a:rPr>
              </a:br>
              <a:r>
                <a:rPr lang="en-US" sz="1500" dirty="0">
                  <a:solidFill>
                    <a:schemeClr val="dk1"/>
                  </a:solidFill>
                  <a:latin typeface="+mn-lt"/>
                  <a:ea typeface="+mn-ea"/>
                  <a:cs typeface="+mn-cs"/>
                </a:rPr>
                <a:t>loop can improve a draft while the</a:t>
              </a:r>
              <a:br>
                <a:rPr lang="en-US" sz="1500" dirty="0">
                  <a:solidFill>
                    <a:schemeClr val="dk1"/>
                  </a:solidFill>
                  <a:latin typeface="+mn-lt"/>
                  <a:ea typeface="+mn-ea"/>
                  <a:cs typeface="+mn-cs"/>
                </a:rPr>
              </a:br>
              <a:r>
                <a:rPr lang="en-US" sz="1500" dirty="0">
                  <a:solidFill>
                    <a:schemeClr val="dk1"/>
                  </a:solidFill>
                  <a:latin typeface="+mn-lt"/>
                  <a:ea typeface="+mn-ea"/>
                  <a:cs typeface="+mn-cs"/>
                </a:rPr>
                <a:t>outer workflow waits for the</a:t>
              </a:r>
              <a:br>
                <a:rPr lang="en-US" sz="1500" dirty="0">
                  <a:solidFill>
                    <a:schemeClr val="dk1"/>
                  </a:solidFill>
                  <a:latin typeface="+mn-lt"/>
                  <a:ea typeface="+mn-ea"/>
                  <a:cs typeface="+mn-cs"/>
                </a:rPr>
              </a:br>
              <a:r>
                <a:rPr lang="en-US" sz="1500" dirty="0">
                  <a:solidFill>
                    <a:schemeClr val="dk1"/>
                  </a:solidFill>
                  <a:latin typeface="+mn-lt"/>
                  <a:ea typeface="+mn-ea"/>
                  <a:cs typeface="+mn-cs"/>
                </a:rPr>
                <a:t>required acceptance or approval.</a:t>
              </a:r>
              <a:br>
                <a:rPr lang="en-US" sz="1500" dirty="0">
                  <a:solidFill>
                    <a:schemeClr val="dk1"/>
                  </a:solidFill>
                  <a:latin typeface="+mn-lt"/>
                  <a:ea typeface="+mn-ea"/>
                  <a:cs typeface="+mn-cs"/>
                </a:rPr>
              </a:br>
              <a:r>
                <a:rPr lang="en-US" sz="1500" dirty="0">
                  <a:solidFill>
                    <a:schemeClr val="dk1"/>
                  </a:solidFill>
                  <a:latin typeface="+mn-lt"/>
                  <a:ea typeface="+mn-ea"/>
                  <a:cs typeface="+mn-cs"/>
                </a:rPr>
                <a:t>Faster generation can shift the</a:t>
              </a:r>
              <a:br>
                <a:rPr lang="en-US" sz="1500" dirty="0">
                  <a:solidFill>
                    <a:schemeClr val="dk1"/>
                  </a:solidFill>
                  <a:latin typeface="+mn-lt"/>
                  <a:ea typeface="+mn-ea"/>
                  <a:cs typeface="+mn-cs"/>
                </a:rPr>
              </a:br>
              <a:r>
                <a:rPr lang="en-US" sz="1500" dirty="0">
                  <a:solidFill>
                    <a:schemeClr val="dk1"/>
                  </a:solidFill>
                  <a:latin typeface="+mn-lt"/>
                  <a:ea typeface="+mn-ea"/>
                  <a:cs typeface="+mn-cs"/>
                </a:rPr>
                <a:t>bottleneck to review rather than</a:t>
              </a:r>
              <a:br>
                <a:rPr lang="en-US" sz="1500" dirty="0">
                  <a:solidFill>
                    <a:schemeClr val="dk1"/>
                  </a:solidFill>
                  <a:latin typeface="+mn-lt"/>
                  <a:ea typeface="+mn-ea"/>
                  <a:cs typeface="+mn-cs"/>
                </a:rPr>
              </a:br>
              <a:r>
                <a:rPr lang="en-US" sz="1500" dirty="0">
                  <a:solidFill>
                    <a:schemeClr val="dk1"/>
                  </a:solidFill>
                  <a:latin typeface="+mn-lt"/>
                  <a:ea typeface="+mn-ea"/>
                  <a:cs typeface="+mn-cs"/>
                </a:rPr>
                <a:t>remove it.</a:t>
              </a:r>
            </a:p>
          </p:txBody>
        </p:sp>
      </p:grpSp>
      <p:grpSp>
        <p:nvGrpSpPr>
          <p:cNvPr id="14" name="analysis-2"/>
          <p:cNvGrpSpPr/>
          <p:nvPr/>
        </p:nvGrpSpPr>
        <p:grpSpPr>
          <a:xfrm>
            <a:off x="4296156" y="2457450"/>
            <a:ext cx="3013520" cy="2969895"/>
            <a:chOff x="4296156" y="2457450"/>
            <a:chExt cx="3013520" cy="2969895"/>
          </a:xfrm>
        </p:grpSpPr>
        <p:sp>
          <p:nvSpPr>
            <p:cNvPr id="12" name="TextBox 12"/>
            <p:cNvSpPr txBox="1"/>
            <p:nvPr/>
          </p:nvSpPr>
          <p:spPr>
            <a:xfrm>
              <a:off x="4296156" y="2457450"/>
              <a:ext cx="2752824" cy="656844"/>
            </a:xfrm>
            <a:prstGeom prst="rect">
              <a:avLst/>
            </a:prstGeom>
            <a:noFill/>
            <a:ln>
              <a:noFill/>
            </a:ln>
          </p:spPr>
          <p:txBody>
            <a:bodyPr wrap="none" lIns="0" tIns="0" rIns="0" bIns="0" anchor="t" anchorCtr="0">
              <a:spAutoFit/>
            </a:bodyPr>
            <a:lstStyle/>
            <a:p>
              <a:pPr algn="l">
                <a:lnSpc>
                  <a:spcPts val="2400"/>
                </a:lnSpc>
              </a:pPr>
              <a:r>
                <a:rPr lang="en-US" sz="1800" dirty="0">
                  <a:solidFill>
                    <a:schemeClr val="accent2"/>
                  </a:solidFill>
                  <a:latin typeface="+mj-lt"/>
                  <a:ea typeface="+mj-ea"/>
                  <a:cs typeface="+mj-cs"/>
                </a:rPr>
                <a:t>Keep professional judgment</a:t>
              </a:r>
              <a:br>
                <a:rPr lang="en-US" sz="1800" dirty="0">
                  <a:solidFill>
                    <a:schemeClr val="accent2"/>
                  </a:solidFill>
                  <a:latin typeface="+mj-lt"/>
                  <a:ea typeface="+mj-ea"/>
                  <a:cs typeface="+mj-cs"/>
                </a:rPr>
              </a:br>
              <a:r>
                <a:rPr lang="en-US" sz="1800" dirty="0">
                  <a:solidFill>
                    <a:schemeClr val="accent2"/>
                  </a:solidFill>
                  <a:latin typeface="+mj-lt"/>
                  <a:ea typeface="+mj-ea"/>
                  <a:cs typeface="+mj-cs"/>
                </a:rPr>
                <a:t>visible</a:t>
              </a:r>
            </a:p>
          </p:txBody>
        </p:sp>
        <p:sp>
          <p:nvSpPr>
            <p:cNvPr id="13" name="TextBox 13"/>
            <p:cNvSpPr txBox="1"/>
            <p:nvPr/>
          </p:nvSpPr>
          <p:spPr>
            <a:xfrm>
              <a:off x="4297680" y="3076575"/>
              <a:ext cx="3011996" cy="2350770"/>
            </a:xfrm>
            <a:prstGeom prst="rect">
              <a:avLst/>
            </a:prstGeom>
            <a:noFill/>
            <a:ln>
              <a:noFill/>
            </a:ln>
          </p:spPr>
          <p:txBody>
            <a:bodyPr wrap="none" lIns="0" tIns="0" rIns="0" bIns="0" anchor="t" anchorCtr="0">
              <a:spAutoFit/>
            </a:bodyPr>
            <a:lstStyle/>
            <a:p>
              <a:pPr algn="l">
                <a:lnSpc>
                  <a:spcPts val="2025"/>
                </a:lnSpc>
              </a:pPr>
              <a:r>
                <a:rPr lang="en-US" sz="1500" dirty="0">
                  <a:solidFill>
                    <a:schemeClr val="dk1"/>
                  </a:solidFill>
                  <a:latin typeface="+mn-lt"/>
                  <a:ea typeface="+mn-ea"/>
                  <a:cs typeface="+mn-cs"/>
                </a:rPr>
                <a:t>The invented annual packet below</a:t>
              </a:r>
              <a:br>
                <a:rPr lang="en-US" sz="1500" dirty="0">
                  <a:solidFill>
                    <a:schemeClr val="dk1"/>
                  </a:solidFill>
                  <a:latin typeface="+mn-lt"/>
                  <a:ea typeface="+mn-ea"/>
                  <a:cs typeface="+mn-cs"/>
                </a:rPr>
              </a:br>
              <a:r>
                <a:rPr lang="en-US" sz="1500" dirty="0">
                  <a:solidFill>
                    <a:schemeClr val="dk1"/>
                  </a:solidFill>
                  <a:latin typeface="+mn-lt"/>
                  <a:ea typeface="+mn-ea"/>
                  <a:cs typeface="+mn-cs"/>
                </a:rPr>
                <a:t>subtracts $84k recorded expenses</a:t>
              </a:r>
              <a:br>
                <a:rPr lang="en-US" sz="1500" dirty="0">
                  <a:solidFill>
                    <a:schemeClr val="dk1"/>
                  </a:solidFill>
                  <a:latin typeface="+mn-lt"/>
                  <a:ea typeface="+mn-ea"/>
                  <a:cs typeface="+mn-cs"/>
                </a:rPr>
              </a:br>
              <a:r>
                <a:rPr lang="en-US" sz="1500" dirty="0">
                  <a:solidFill>
                    <a:schemeClr val="dk1"/>
                  </a:solidFill>
                  <a:latin typeface="+mn-lt"/>
                  <a:ea typeface="+mn-ea"/>
                  <a:cs typeface="+mn-cs"/>
                </a:rPr>
                <a:t>from $120k income: $36k is only an</a:t>
              </a:r>
              <a:br>
                <a:rPr lang="en-US" sz="1500" dirty="0">
                  <a:solidFill>
                    <a:schemeClr val="dk1"/>
                  </a:solidFill>
                  <a:latin typeface="+mn-lt"/>
                  <a:ea typeface="+mn-ea"/>
                  <a:cs typeface="+mn-cs"/>
                </a:rPr>
              </a:br>
              <a:r>
                <a:rPr lang="en-US" sz="1500" dirty="0">
                  <a:solidFill>
                    <a:schemeClr val="dk1"/>
                  </a:solidFill>
                  <a:latin typeface="+mn-lt"/>
                  <a:ea typeface="+mn-ea"/>
                  <a:cs typeface="+mn-cs"/>
                </a:rPr>
                <a:t>arithmetic difference. It</a:t>
              </a:r>
              <a:br>
                <a:rPr lang="en-US" sz="1500" dirty="0">
                  <a:solidFill>
                    <a:schemeClr val="dk1"/>
                  </a:solidFill>
                  <a:latin typeface="+mn-lt"/>
                  <a:ea typeface="+mn-ea"/>
                  <a:cs typeface="+mn-cs"/>
                </a:rPr>
              </a:br>
              <a:r>
                <a:rPr lang="en-US" sz="1500" dirty="0">
                  <a:solidFill>
                    <a:schemeClr val="dk1"/>
                  </a:solidFill>
                  <a:latin typeface="+mn-lt"/>
                  <a:ea typeface="+mn-ea"/>
                  <a:cs typeface="+mn-cs"/>
                </a:rPr>
                <a:t>establishes neither disposable</a:t>
              </a:r>
              <a:br>
                <a:rPr lang="en-US" sz="1500" dirty="0">
                  <a:solidFill>
                    <a:schemeClr val="dk1"/>
                  </a:solidFill>
                  <a:latin typeface="+mn-lt"/>
                  <a:ea typeface="+mn-ea"/>
                  <a:cs typeface="+mn-cs"/>
                </a:rPr>
              </a:br>
              <a:r>
                <a:rPr lang="en-US" sz="1500" dirty="0">
                  <a:solidFill>
                    <a:schemeClr val="dk1"/>
                  </a:solidFill>
                  <a:latin typeface="+mn-lt"/>
                  <a:ea typeface="+mn-ea"/>
                  <a:cs typeface="+mn-cs"/>
                </a:rPr>
                <a:t>capacity nor suitability. Review</a:t>
              </a:r>
              <a:br>
                <a:rPr lang="en-US" sz="1500" dirty="0">
                  <a:solidFill>
                    <a:schemeClr val="dk1"/>
                  </a:solidFill>
                  <a:latin typeface="+mn-lt"/>
                  <a:ea typeface="+mn-ea"/>
                  <a:cs typeface="+mn-cs"/>
                </a:rPr>
              </a:br>
              <a:r>
                <a:rPr lang="en-US" sz="1500" dirty="0">
                  <a:solidFill>
                    <a:schemeClr val="dk1"/>
                  </a:solidFill>
                  <a:latin typeface="+mn-lt"/>
                  <a:ea typeface="+mn-ea"/>
                  <a:cs typeface="+mn-cs"/>
                </a:rPr>
                <a:t>the facts, gaps, assumptions and</a:t>
              </a:r>
              <a:br>
                <a:rPr lang="en-US" sz="1500" dirty="0">
                  <a:solidFill>
                    <a:schemeClr val="dk1"/>
                  </a:solidFill>
                  <a:latin typeface="+mn-lt"/>
                  <a:ea typeface="+mn-ea"/>
                  <a:cs typeface="+mn-cs"/>
                </a:rPr>
              </a:br>
              <a:r>
                <a:rPr lang="en-US" sz="1500" dirty="0">
                  <a:solidFill>
                    <a:schemeClr val="dk1"/>
                  </a:solidFill>
                  <a:latin typeface="+mn-lt"/>
                  <a:ea typeface="+mn-ea"/>
                  <a:cs typeface="+mn-cs"/>
                </a:rPr>
                <a:t>conclusions before the work can be</a:t>
              </a:r>
              <a:br>
                <a:rPr lang="en-US" sz="1500" dirty="0">
                  <a:solidFill>
                    <a:schemeClr val="dk1"/>
                  </a:solidFill>
                  <a:latin typeface="+mn-lt"/>
                  <a:ea typeface="+mn-ea"/>
                  <a:cs typeface="+mn-cs"/>
                </a:rPr>
              </a:br>
              <a:r>
                <a:rPr lang="en-US" sz="1500" dirty="0">
                  <a:solidFill>
                    <a:schemeClr val="dk1"/>
                  </a:solidFill>
                  <a:latin typeface="+mn-lt"/>
                  <a:ea typeface="+mn-ea"/>
                  <a:cs typeface="+mn-cs"/>
                </a:rPr>
                <a:t>considered accepted.</a:t>
              </a:r>
            </a:p>
          </p:txBody>
        </p:sp>
      </p:grpSp>
      <p:grpSp>
        <p:nvGrpSpPr>
          <p:cNvPr id="17" name="analysis-3"/>
          <p:cNvGrpSpPr/>
          <p:nvPr/>
        </p:nvGrpSpPr>
        <p:grpSpPr>
          <a:xfrm>
            <a:off x="8144256" y="2457450"/>
            <a:ext cx="2939263" cy="2712720"/>
            <a:chOff x="8144256" y="2457450"/>
            <a:chExt cx="2939263" cy="2712720"/>
          </a:xfrm>
        </p:grpSpPr>
        <p:sp>
          <p:nvSpPr>
            <p:cNvPr id="15" name="TextBox 15"/>
            <p:cNvSpPr txBox="1"/>
            <p:nvPr/>
          </p:nvSpPr>
          <p:spPr>
            <a:xfrm>
              <a:off x="8144256" y="2457450"/>
              <a:ext cx="2126277" cy="656844"/>
            </a:xfrm>
            <a:prstGeom prst="rect">
              <a:avLst/>
            </a:prstGeom>
            <a:noFill/>
            <a:ln>
              <a:noFill/>
            </a:ln>
          </p:spPr>
          <p:txBody>
            <a:bodyPr wrap="none" lIns="0" tIns="0" rIns="0" bIns="0" anchor="t" anchorCtr="0">
              <a:spAutoFit/>
            </a:bodyPr>
            <a:lstStyle/>
            <a:p>
              <a:pPr algn="l">
                <a:lnSpc>
                  <a:spcPts val="2400"/>
                </a:lnSpc>
              </a:pPr>
              <a:r>
                <a:rPr lang="en-US" sz="1800" dirty="0">
                  <a:solidFill>
                    <a:schemeClr val="accent2"/>
                  </a:solidFill>
                  <a:latin typeface="+mj-lt"/>
                  <a:ea typeface="+mj-ea"/>
                  <a:cs typeface="+mj-cs"/>
                </a:rPr>
                <a:t>Separate review from</a:t>
              </a:r>
              <a:br>
                <a:rPr lang="en-US" sz="1800" dirty="0">
                  <a:solidFill>
                    <a:schemeClr val="accent2"/>
                  </a:solidFill>
                  <a:latin typeface="+mj-lt"/>
                  <a:ea typeface="+mj-ea"/>
                  <a:cs typeface="+mj-cs"/>
                </a:rPr>
              </a:br>
              <a:r>
                <a:rPr lang="en-US" sz="1800" dirty="0">
                  <a:solidFill>
                    <a:schemeClr val="accent2"/>
                  </a:solidFill>
                  <a:latin typeface="+mj-lt"/>
                  <a:ea typeface="+mj-ea"/>
                  <a:cs typeface="+mj-cs"/>
                </a:rPr>
                <a:t>permission</a:t>
              </a:r>
            </a:p>
          </p:txBody>
        </p:sp>
        <p:sp>
          <p:nvSpPr>
            <p:cNvPr id="16" name="TextBox 16"/>
            <p:cNvSpPr txBox="1"/>
            <p:nvPr/>
          </p:nvSpPr>
          <p:spPr>
            <a:xfrm>
              <a:off x="8145780" y="3076575"/>
              <a:ext cx="2937739" cy="2093595"/>
            </a:xfrm>
            <a:prstGeom prst="rect">
              <a:avLst/>
            </a:prstGeom>
            <a:noFill/>
            <a:ln>
              <a:noFill/>
            </a:ln>
          </p:spPr>
          <p:txBody>
            <a:bodyPr wrap="none" lIns="0" tIns="0" rIns="0" bIns="0" anchor="t" anchorCtr="0">
              <a:spAutoFit/>
            </a:bodyPr>
            <a:lstStyle/>
            <a:p>
              <a:pPr algn="l">
                <a:lnSpc>
                  <a:spcPts val="2025"/>
                </a:lnSpc>
              </a:pPr>
              <a:r>
                <a:rPr lang="en-US" sz="1500" dirty="0">
                  <a:solidFill>
                    <a:schemeClr val="dk1"/>
                  </a:solidFill>
                  <a:latin typeface="+mn-lt"/>
                  <a:ea typeface="+mn-ea"/>
                  <a:cs typeface="+mn-cs"/>
                </a:rPr>
                <a:t>Range preserves planner review;</a:t>
              </a:r>
              <a:br>
                <a:rPr lang="en-US" sz="1500" dirty="0">
                  <a:solidFill>
                    <a:schemeClr val="dk1"/>
                  </a:solidFill>
                  <a:latin typeface="+mn-lt"/>
                  <a:ea typeface="+mn-ea"/>
                  <a:cs typeface="+mn-cs"/>
                </a:rPr>
              </a:br>
              <a:r>
                <a:rPr lang="en-US" sz="1500" dirty="0">
                  <a:solidFill>
                    <a:schemeClr val="dk1"/>
                  </a:solidFill>
                  <a:latin typeface="+mn-lt"/>
                  <a:ea typeface="+mn-ea"/>
                  <a:cs typeface="+mn-cs"/>
                </a:rPr>
                <a:t>Perpetual binds approval to an</a:t>
              </a:r>
              <a:br>
                <a:rPr lang="en-US" sz="1500" dirty="0">
                  <a:solidFill>
                    <a:schemeClr val="dk1"/>
                  </a:solidFill>
                  <a:latin typeface="+mn-lt"/>
                  <a:ea typeface="+mn-ea"/>
                  <a:cs typeface="+mn-cs"/>
                </a:rPr>
              </a:br>
              <a:r>
                <a:rPr lang="en-US" sz="1500" dirty="0">
                  <a:solidFill>
                    <a:schemeClr val="dk1"/>
                  </a:solidFill>
                  <a:latin typeface="+mn-lt"/>
                  <a:ea typeface="+mn-ea"/>
                  <a:cs typeface="+mn-cs"/>
                </a:rPr>
                <a:t>exact payload. Accepting a draft is</a:t>
              </a:r>
              <a:br>
                <a:rPr lang="en-US" sz="1500" dirty="0">
                  <a:solidFill>
                    <a:schemeClr val="dk1"/>
                  </a:solidFill>
                  <a:latin typeface="+mn-lt"/>
                  <a:ea typeface="+mn-ea"/>
                  <a:cs typeface="+mn-cs"/>
                </a:rPr>
              </a:br>
              <a:r>
                <a:rPr lang="en-US" sz="1500" dirty="0">
                  <a:solidFill>
                    <a:schemeClr val="dk1"/>
                  </a:solidFill>
                  <a:latin typeface="+mn-lt"/>
                  <a:ea typeface="+mn-ea"/>
                  <a:cs typeface="+mn-cs"/>
                </a:rPr>
                <a:t>not permission to send or transact.</a:t>
              </a:r>
              <a:br>
                <a:rPr lang="en-US" sz="1500" dirty="0">
                  <a:solidFill>
                    <a:schemeClr val="dk1"/>
                  </a:solidFill>
                  <a:latin typeface="+mn-lt"/>
                  <a:ea typeface="+mn-ea"/>
                  <a:cs typeface="+mn-cs"/>
                </a:rPr>
              </a:br>
              <a:r>
                <a:rPr lang="en-US" sz="1500" dirty="0">
                  <a:solidFill>
                    <a:schemeClr val="dk1"/>
                  </a:solidFill>
                  <a:latin typeface="+mn-lt"/>
                  <a:ea typeface="+mn-ea"/>
                  <a:cs typeface="+mn-cs"/>
                </a:rPr>
                <a:t>A separate enforcing boundary</a:t>
              </a:r>
              <a:br>
                <a:rPr lang="en-US" sz="1500" dirty="0">
                  <a:solidFill>
                    <a:schemeClr val="dk1"/>
                  </a:solidFill>
                  <a:latin typeface="+mn-lt"/>
                  <a:ea typeface="+mn-ea"/>
                  <a:cs typeface="+mn-cs"/>
                </a:rPr>
              </a:br>
              <a:r>
                <a:rPr lang="en-US" sz="1500" dirty="0">
                  <a:solidFill>
                    <a:schemeClr val="dk1"/>
                  </a:solidFill>
                  <a:latin typeface="+mn-lt"/>
                  <a:ea typeface="+mn-ea"/>
                  <a:cs typeface="+mn-cs"/>
                </a:rPr>
                <a:t>checks user, case, resource and</a:t>
              </a:r>
              <a:br>
                <a:rPr lang="en-US" sz="1500" dirty="0">
                  <a:solidFill>
                    <a:schemeClr val="dk1"/>
                  </a:solidFill>
                  <a:latin typeface="+mn-lt"/>
                  <a:ea typeface="+mn-ea"/>
                  <a:cs typeface="+mn-cs"/>
                </a:rPr>
              </a:br>
              <a:r>
                <a:rPr lang="en-US" sz="1500" dirty="0">
                  <a:solidFill>
                    <a:schemeClr val="dk1"/>
                  </a:solidFill>
                  <a:latin typeface="+mn-lt"/>
                  <a:ea typeface="+mn-ea"/>
                  <a:cs typeface="+mn-cs"/>
                </a:rPr>
                <a:t>action, and retains the approval</a:t>
              </a:r>
              <a:br>
                <a:rPr lang="en-US" sz="1500" dirty="0">
                  <a:solidFill>
                    <a:schemeClr val="dk1"/>
                  </a:solidFill>
                  <a:latin typeface="+mn-lt"/>
                  <a:ea typeface="+mn-ea"/>
                  <a:cs typeface="+mn-cs"/>
                </a:rPr>
              </a:br>
              <a:r>
                <a:rPr lang="en-US" sz="1500" dirty="0">
                  <a:solidFill>
                    <a:schemeClr val="dk1"/>
                  </a:solidFill>
                  <a:latin typeface="+mn-lt"/>
                  <a:ea typeface="+mn-ea"/>
                  <a:cs typeface="+mn-cs"/>
                </a:rPr>
                <a:t>and outcome evidence.</a:t>
              </a:r>
            </a:p>
          </p:txBody>
        </p:sp>
      </p:grpSp>
      <p:grpSp>
        <p:nvGrpSpPr>
          <p:cNvPr id="20" name="footer"/>
          <p:cNvGrpSpPr/>
          <p:nvPr/>
        </p:nvGrpSpPr>
        <p:grpSpPr>
          <a:xfrm>
            <a:off x="452438" y="6477000"/>
            <a:ext cx="11287124" cy="176212"/>
            <a:chOff x="452438" y="6477000"/>
            <a:chExt cx="11287124" cy="176212"/>
          </a:xfrm>
        </p:grpSpPr>
        <p:sp>
          <p:nvSpPr>
            <p:cNvPr id="18" name="TextBox 18"/>
            <p:cNvSpPr txBox="1"/>
            <p:nvPr/>
          </p:nvSpPr>
          <p:spPr>
            <a:xfrm>
              <a:off x="452438" y="6477000"/>
              <a:ext cx="3753781" cy="176212"/>
            </a:xfrm>
            <a:prstGeom prst="rect">
              <a:avLst/>
            </a:prstGeom>
            <a:noFill/>
            <a:ln>
              <a:noFill/>
            </a:ln>
          </p:spPr>
          <p:txBody>
            <a:bodyPr wrap="none" lIns="0" tIns="0" rIns="0" bIns="0" anchor="t" anchorCtr="0">
              <a:spAutoFit/>
            </a:bodyPr>
            <a:lstStyle/>
            <a:p>
              <a:pPr algn="l"/>
              <a:r>
                <a:rPr lang="en-US" sz="900" dirty="0">
                  <a:solidFill>
                    <a:schemeClr val="accent5"/>
                  </a:solidFill>
                  <a:latin typeface="+mn-lt"/>
                  <a:ea typeface="+mn-ea"/>
                  <a:cs typeface="+mn-cs"/>
                </a:rPr>
                <a:t>Sources: Coinbase · Range · Perpetual | Reviewed October 25, 2026</a:t>
              </a:r>
            </a:p>
          </p:txBody>
        </p:sp>
        <p:sp>
          <p:nvSpPr>
            <p:cNvPr id="19" name="TextBox 19"/>
            <p:cNvSpPr txBox="1"/>
            <p:nvPr/>
          </p:nvSpPr>
          <p:spPr>
            <a:xfrm>
              <a:off x="11359512" y="6477000"/>
              <a:ext cx="380050" cy="176212"/>
            </a:xfrm>
            <a:prstGeom prst="rect">
              <a:avLst/>
            </a:prstGeom>
            <a:noFill/>
            <a:ln>
              <a:noFill/>
            </a:ln>
          </p:spPr>
          <p:txBody>
            <a:bodyPr wrap="none" lIns="0" tIns="0" rIns="0" bIns="0" anchor="t" anchorCtr="0">
              <a:spAutoFit/>
            </a:bodyPr>
            <a:lstStyle/>
            <a:p>
              <a:pPr algn="r"/>
              <a:r>
                <a:rPr lang="en-US" sz="900" dirty="0">
                  <a:solidFill>
                    <a:schemeClr val="accent5"/>
                  </a:solidFill>
                  <a:latin typeface="+mn-lt"/>
                  <a:ea typeface="+mn-ea"/>
                  <a:cs typeface="+mn-cs"/>
                </a:rPr>
                <a:t>20 / 37</a:t>
              </a:r>
            </a:p>
          </p:txBody>
        </p:sp>
      </p:grpSp>
    </p:spTree>
  </p:cSld>
  <p:clrMapOvr>
    <a:masterClrMapping/>
  </p:clrMapOvr>
  <p:transition xmlns:p14="http://schemas.microsoft.com/office/powerpoint/2010/main" p14:dur="400">
    <p:fade/>
  </p:transition>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5" name="title"/>
          <p:cNvGrpSpPr/>
          <p:nvPr/>
        </p:nvGrpSpPr>
        <p:grpSpPr>
          <a:xfrm>
            <a:off x="443484" y="361950"/>
            <a:ext cx="9970469" cy="1100582"/>
            <a:chOff x="443484" y="361950"/>
            <a:chExt cx="9970469" cy="1100582"/>
          </a:xfrm>
        </p:grpSpPr>
        <p:sp>
          <p:nvSpPr>
            <p:cNvPr id="2" name="TextBox 2"/>
            <p:cNvSpPr txBox="1"/>
            <p:nvPr/>
          </p:nvSpPr>
          <p:spPr>
            <a:xfrm>
              <a:off x="451104" y="361950"/>
              <a:ext cx="2696193" cy="234696"/>
            </a:xfrm>
            <a:prstGeom prst="rect">
              <a:avLst/>
            </a:prstGeom>
            <a:noFill/>
            <a:ln>
              <a:noFill/>
            </a:ln>
          </p:spPr>
          <p:txBody>
            <a:bodyPr wrap="none" lIns="0" tIns="0" rIns="0" bIns="0" anchor="t" anchorCtr="0">
              <a:spAutoFit/>
            </a:bodyPr>
            <a:lstStyle/>
            <a:p>
              <a:pPr algn="l"/>
              <a:r>
                <a:rPr lang="en-US" sz="1200" dirty="0">
                  <a:solidFill>
                    <a:schemeClr val="accent2"/>
                  </a:solidFill>
                  <a:latin typeface="+mn-lt"/>
                  <a:ea typeface="+mn-ea"/>
                  <a:cs typeface="+mn-cs"/>
                </a:rPr>
                <a:t>04 / CONTROLLED WORKFLOWS</a:t>
              </a:r>
            </a:p>
          </p:txBody>
        </p:sp>
        <p:sp>
          <p:nvSpPr>
            <p:cNvPr id="3" name="TextBox 3"/>
            <p:cNvSpPr txBox="1"/>
            <p:nvPr/>
          </p:nvSpPr>
          <p:spPr>
            <a:xfrm>
              <a:off x="443484" y="593725"/>
              <a:ext cx="7614017" cy="528066"/>
            </a:xfrm>
            <a:prstGeom prst="rect">
              <a:avLst/>
            </a:prstGeom>
            <a:noFill/>
            <a:ln>
              <a:noFill/>
            </a:ln>
          </p:spPr>
          <p:txBody>
            <a:bodyPr wrap="none" lIns="0" tIns="0" rIns="0" bIns="0" anchor="t" anchorCtr="0">
              <a:spAutoFit/>
            </a:bodyPr>
            <a:lstStyle/>
            <a:p>
              <a:pPr algn="l"/>
              <a:r>
                <a:rPr lang="en-US" sz="2700" dirty="0">
                  <a:solidFill>
                    <a:schemeClr val="accent1"/>
                  </a:solidFill>
                  <a:latin typeface="+mj-lt"/>
                  <a:ea typeface="+mj-ea"/>
                  <a:cs typeface="+mj-cs"/>
                </a:rPr>
                <a:t>Enforce authority outside the proposed action</a:t>
              </a:r>
            </a:p>
          </p:txBody>
        </p:sp>
        <p:sp>
          <p:nvSpPr>
            <p:cNvPr id="4" name="TextBox 4"/>
            <p:cNvSpPr txBox="1"/>
            <p:nvPr/>
          </p:nvSpPr>
          <p:spPr>
            <a:xfrm>
              <a:off x="448818" y="1139825"/>
              <a:ext cx="9965135" cy="322707"/>
            </a:xfrm>
            <a:prstGeom prst="rect">
              <a:avLst/>
            </a:prstGeom>
            <a:noFill/>
            <a:ln>
              <a:noFill/>
            </a:ln>
          </p:spPr>
          <p:txBody>
            <a:bodyPr wrap="none" lIns="0" tIns="0" rIns="0" bIns="0" anchor="t" anchorCtr="0">
              <a:spAutoFit/>
            </a:bodyPr>
            <a:lstStyle/>
            <a:p>
              <a:pPr algn="l"/>
              <a:r>
                <a:rPr lang="en-US" sz="1650" dirty="0">
                  <a:solidFill>
                    <a:schemeClr val="accent5"/>
                  </a:solidFill>
                  <a:latin typeface="+mn-lt"/>
                  <a:ea typeface="+mn-ea"/>
                  <a:cs typeface="+mn-cs"/>
                </a:rPr>
                <a:t>Two Sigma makes ownership and scope visible; Bloomberg makes the execution boundary concrete.</a:t>
              </a:r>
            </a:p>
          </p:txBody>
        </p:sp>
      </p:grpSp>
      <p:grpSp>
        <p:nvGrpSpPr>
          <p:cNvPr id="14" name="method-sequence"/>
          <p:cNvGrpSpPr/>
          <p:nvPr/>
        </p:nvGrpSpPr>
        <p:grpSpPr>
          <a:xfrm>
            <a:off x="457200" y="1714500"/>
            <a:ext cx="11277600" cy="533400"/>
            <a:chOff x="457200" y="1714500"/>
            <a:chExt cx="11277600" cy="533400"/>
          </a:xfrm>
        </p:grpSpPr>
        <p:sp>
          <p:nvSpPr>
            <p:cNvPr id="6" name="Rectangle 6"/>
            <p:cNvSpPr/>
            <p:nvPr/>
          </p:nvSpPr>
          <p:spPr>
            <a:xfrm>
              <a:off x="457200" y="1714500"/>
              <a:ext cx="2719388" cy="533400"/>
            </a:xfrm>
            <a:prstGeom prst="rect">
              <a:avLst/>
            </a:prstGeom>
            <a:solidFill>
              <a:schemeClr val="lt2"/>
            </a:solidFill>
            <a:ln>
              <a:noFill/>
            </a:ln>
          </p:spPr>
        </p:sp>
        <p:sp>
          <p:nvSpPr>
            <p:cNvPr id="7" name="TextBox 7"/>
            <p:cNvSpPr txBox="1"/>
            <p:nvPr/>
          </p:nvSpPr>
          <p:spPr>
            <a:xfrm>
              <a:off x="583692" y="1882775"/>
              <a:ext cx="664472" cy="264033"/>
            </a:xfrm>
            <a:prstGeom prst="rect">
              <a:avLst/>
            </a:prstGeom>
            <a:noFill/>
            <a:ln>
              <a:noFill/>
            </a:ln>
          </p:spPr>
          <p:txBody>
            <a:bodyPr wrap="none" lIns="0" tIns="0" rIns="0" bIns="0" anchor="t" anchorCtr="0">
              <a:spAutoFit/>
            </a:bodyPr>
            <a:lstStyle/>
            <a:p>
              <a:pPr algn="l"/>
              <a:r>
                <a:rPr lang="en-US" sz="1350" b="1" dirty="0">
                  <a:solidFill>
                    <a:schemeClr val="accent2"/>
                  </a:solidFill>
                  <a:latin typeface="+mn-lt"/>
                  <a:ea typeface="+mn-ea"/>
                  <a:cs typeface="+mn-cs"/>
                </a:rPr>
                <a:t>Identity</a:t>
              </a:r>
            </a:p>
          </p:txBody>
        </p:sp>
        <p:sp>
          <p:nvSpPr>
            <p:cNvPr id="8" name="Rectangle 8"/>
            <p:cNvSpPr/>
            <p:nvPr/>
          </p:nvSpPr>
          <p:spPr>
            <a:xfrm>
              <a:off x="3309938" y="1714500"/>
              <a:ext cx="2719388" cy="533400"/>
            </a:xfrm>
            <a:prstGeom prst="rect">
              <a:avLst/>
            </a:prstGeom>
            <a:solidFill>
              <a:schemeClr val="lt2"/>
            </a:solidFill>
            <a:ln>
              <a:noFill/>
            </a:ln>
          </p:spPr>
        </p:sp>
        <p:sp>
          <p:nvSpPr>
            <p:cNvPr id="9" name="TextBox 9"/>
            <p:cNvSpPr txBox="1"/>
            <p:nvPr/>
          </p:nvSpPr>
          <p:spPr>
            <a:xfrm>
              <a:off x="3436429" y="1882775"/>
              <a:ext cx="1120563" cy="264033"/>
            </a:xfrm>
            <a:prstGeom prst="rect">
              <a:avLst/>
            </a:prstGeom>
            <a:noFill/>
            <a:ln>
              <a:noFill/>
            </a:ln>
          </p:spPr>
          <p:txBody>
            <a:bodyPr wrap="none" lIns="0" tIns="0" rIns="0" bIns="0" anchor="t" anchorCtr="0">
              <a:spAutoFit/>
            </a:bodyPr>
            <a:lstStyle/>
            <a:p>
              <a:pPr algn="l"/>
              <a:r>
                <a:rPr lang="en-US" sz="1350" b="1" dirty="0">
                  <a:solidFill>
                    <a:schemeClr val="accent2"/>
                  </a:solidFill>
                  <a:latin typeface="+mn-lt"/>
                  <a:ea typeface="+mn-ea"/>
                  <a:cs typeface="+mn-cs"/>
                </a:rPr>
                <a:t>Policy check</a:t>
              </a:r>
            </a:p>
          </p:txBody>
        </p:sp>
        <p:sp>
          <p:nvSpPr>
            <p:cNvPr id="10" name="Rectangle 10"/>
            <p:cNvSpPr/>
            <p:nvPr/>
          </p:nvSpPr>
          <p:spPr>
            <a:xfrm>
              <a:off x="6162675" y="1714500"/>
              <a:ext cx="2719388" cy="533400"/>
            </a:xfrm>
            <a:prstGeom prst="rect">
              <a:avLst/>
            </a:prstGeom>
            <a:solidFill>
              <a:schemeClr val="lt2"/>
            </a:solidFill>
            <a:ln>
              <a:noFill/>
            </a:ln>
          </p:spPr>
        </p:sp>
        <p:sp>
          <p:nvSpPr>
            <p:cNvPr id="11" name="TextBox 11"/>
            <p:cNvSpPr txBox="1"/>
            <p:nvPr/>
          </p:nvSpPr>
          <p:spPr>
            <a:xfrm>
              <a:off x="6289167" y="1882775"/>
              <a:ext cx="1776275" cy="264033"/>
            </a:xfrm>
            <a:prstGeom prst="rect">
              <a:avLst/>
            </a:prstGeom>
            <a:noFill/>
            <a:ln>
              <a:noFill/>
            </a:ln>
          </p:spPr>
          <p:txBody>
            <a:bodyPr wrap="none" lIns="0" tIns="0" rIns="0" bIns="0" anchor="t" anchorCtr="0">
              <a:spAutoFit/>
            </a:bodyPr>
            <a:lstStyle/>
            <a:p>
              <a:pPr algn="l"/>
              <a:r>
                <a:rPr lang="en-US" sz="1350" b="1" dirty="0">
                  <a:solidFill>
                    <a:schemeClr val="accent2"/>
                  </a:solidFill>
                  <a:latin typeface="+mn-lt"/>
                  <a:ea typeface="+mn-ea"/>
                  <a:cs typeface="+mn-cs"/>
                </a:rPr>
                <a:t>Authorized executor</a:t>
              </a:r>
            </a:p>
          </p:txBody>
        </p:sp>
        <p:sp>
          <p:nvSpPr>
            <p:cNvPr id="12" name="Rectangle 12"/>
            <p:cNvSpPr/>
            <p:nvPr/>
          </p:nvSpPr>
          <p:spPr>
            <a:xfrm>
              <a:off x="9015412" y="1714500"/>
              <a:ext cx="2719388" cy="533400"/>
            </a:xfrm>
            <a:prstGeom prst="rect">
              <a:avLst/>
            </a:prstGeom>
            <a:solidFill>
              <a:schemeClr val="lt2"/>
            </a:solidFill>
            <a:ln>
              <a:noFill/>
            </a:ln>
          </p:spPr>
        </p:sp>
        <p:sp>
          <p:nvSpPr>
            <p:cNvPr id="13" name="TextBox 13"/>
            <p:cNvSpPr txBox="1"/>
            <p:nvPr/>
          </p:nvSpPr>
          <p:spPr>
            <a:xfrm>
              <a:off x="9141904" y="1882775"/>
              <a:ext cx="1075334" cy="264033"/>
            </a:xfrm>
            <a:prstGeom prst="rect">
              <a:avLst/>
            </a:prstGeom>
            <a:noFill/>
            <a:ln>
              <a:noFill/>
            </a:ln>
          </p:spPr>
          <p:txBody>
            <a:bodyPr wrap="none" lIns="0" tIns="0" rIns="0" bIns="0" anchor="t" anchorCtr="0">
              <a:spAutoFit/>
            </a:bodyPr>
            <a:lstStyle/>
            <a:p>
              <a:pPr algn="l"/>
              <a:r>
                <a:rPr lang="en-US" sz="1350" b="1" dirty="0">
                  <a:solidFill>
                    <a:schemeClr val="accent2"/>
                  </a:solidFill>
                  <a:latin typeface="+mn-lt"/>
                  <a:ea typeface="+mn-ea"/>
                  <a:cs typeface="+mn-cs"/>
                </a:rPr>
                <a:t>Audit + stop</a:t>
              </a:r>
            </a:p>
          </p:txBody>
        </p:sp>
      </p:grpSp>
      <p:grpSp>
        <p:nvGrpSpPr>
          <p:cNvPr id="17" name="analysis-1"/>
          <p:cNvGrpSpPr/>
          <p:nvPr/>
        </p:nvGrpSpPr>
        <p:grpSpPr>
          <a:xfrm>
            <a:off x="448056" y="2438400"/>
            <a:ext cx="3084643" cy="2712720"/>
            <a:chOff x="448056" y="2438400"/>
            <a:chExt cx="3084643" cy="2712720"/>
          </a:xfrm>
        </p:grpSpPr>
        <p:sp>
          <p:nvSpPr>
            <p:cNvPr id="15" name="TextBox 15"/>
            <p:cNvSpPr txBox="1"/>
            <p:nvPr/>
          </p:nvSpPr>
          <p:spPr>
            <a:xfrm>
              <a:off x="448056" y="2438400"/>
              <a:ext cx="3084643" cy="352044"/>
            </a:xfrm>
            <a:prstGeom prst="rect">
              <a:avLst/>
            </a:prstGeom>
            <a:noFill/>
            <a:ln>
              <a:noFill/>
            </a:ln>
          </p:spPr>
          <p:txBody>
            <a:bodyPr wrap="none" lIns="0" tIns="0" rIns="0" bIns="0" anchor="t" anchorCtr="0">
              <a:spAutoFit/>
            </a:bodyPr>
            <a:lstStyle/>
            <a:p>
              <a:pPr algn="l"/>
              <a:r>
                <a:rPr lang="en-US" sz="1800" dirty="0">
                  <a:solidFill>
                    <a:schemeClr val="accent2"/>
                  </a:solidFill>
                  <a:latin typeface="+mj-lt"/>
                  <a:ea typeface="+mj-ea"/>
                  <a:cs typeface="+mj-cs"/>
                </a:rPr>
                <a:t>Make the agent accountable</a:t>
              </a:r>
            </a:p>
          </p:txBody>
        </p:sp>
        <p:sp>
          <p:nvSpPr>
            <p:cNvPr id="16" name="TextBox 16"/>
            <p:cNvSpPr txBox="1"/>
            <p:nvPr/>
          </p:nvSpPr>
          <p:spPr>
            <a:xfrm>
              <a:off x="449580" y="3057525"/>
              <a:ext cx="3022778" cy="2093595"/>
            </a:xfrm>
            <a:prstGeom prst="rect">
              <a:avLst/>
            </a:prstGeom>
            <a:noFill/>
            <a:ln>
              <a:noFill/>
            </a:ln>
          </p:spPr>
          <p:txBody>
            <a:bodyPr wrap="none" lIns="0" tIns="0" rIns="0" bIns="0" anchor="t" anchorCtr="0">
              <a:spAutoFit/>
            </a:bodyPr>
            <a:lstStyle/>
            <a:p>
              <a:pPr algn="l">
                <a:lnSpc>
                  <a:spcPts val="2025"/>
                </a:lnSpc>
              </a:pPr>
              <a:r>
                <a:rPr lang="en-US" sz="1500" dirty="0">
                  <a:solidFill>
                    <a:schemeClr val="dk1"/>
                  </a:solidFill>
                  <a:latin typeface="+mn-lt"/>
                  <a:ea typeface="+mn-ea"/>
                  <a:cs typeface="+mn-cs"/>
                </a:rPr>
                <a:t>Register an owner, purpose, tools</a:t>
              </a:r>
              <a:br>
                <a:rPr lang="en-US" sz="1500" dirty="0">
                  <a:solidFill>
                    <a:schemeClr val="dk1"/>
                  </a:solidFill>
                  <a:latin typeface="+mn-lt"/>
                  <a:ea typeface="+mn-ea"/>
                  <a:cs typeface="+mn-cs"/>
                </a:rPr>
              </a:br>
              <a:r>
                <a:rPr lang="en-US" sz="1500" dirty="0">
                  <a:solidFill>
                    <a:schemeClr val="dk1"/>
                  </a:solidFill>
                  <a:latin typeface="+mn-lt"/>
                  <a:ea typeface="+mn-ea"/>
                  <a:cs typeface="+mn-cs"/>
                </a:rPr>
                <a:t>and accessible resources. Use</a:t>
              </a:r>
              <a:br>
                <a:rPr lang="en-US" sz="1500" dirty="0">
                  <a:solidFill>
                    <a:schemeClr val="dk1"/>
                  </a:solidFill>
                  <a:latin typeface="+mn-lt"/>
                  <a:ea typeface="+mn-ea"/>
                  <a:cs typeface="+mn-cs"/>
                </a:rPr>
              </a:br>
              <a:r>
                <a:rPr lang="en-US" sz="1500" dirty="0">
                  <a:solidFill>
                    <a:schemeClr val="dk1"/>
                  </a:solidFill>
                  <a:latin typeface="+mn-lt"/>
                  <a:ea typeface="+mn-ea"/>
                  <a:cs typeface="+mn-cs"/>
                </a:rPr>
                <a:t>short-lived scoped identity and</a:t>
              </a:r>
              <a:br>
                <a:rPr lang="en-US" sz="1500" dirty="0">
                  <a:solidFill>
                    <a:schemeClr val="dk1"/>
                  </a:solidFill>
                  <a:latin typeface="+mn-lt"/>
                  <a:ea typeface="+mn-ea"/>
                  <a:cs typeface="+mn-cs"/>
                </a:rPr>
              </a:br>
              <a:r>
                <a:rPr lang="en-US" sz="1500" dirty="0">
                  <a:solidFill>
                    <a:schemeClr val="dk1"/>
                  </a:solidFill>
                  <a:latin typeface="+mn-lt"/>
                  <a:ea typeface="+mn-ea"/>
                  <a:cs typeface="+mn-cs"/>
                </a:rPr>
                <a:t>carry the user’s authority through</a:t>
              </a:r>
              <a:br>
                <a:rPr lang="en-US" sz="1500" dirty="0">
                  <a:solidFill>
                    <a:schemeClr val="dk1"/>
                  </a:solidFill>
                  <a:latin typeface="+mn-lt"/>
                  <a:ea typeface="+mn-ea"/>
                  <a:cs typeface="+mn-cs"/>
                </a:rPr>
              </a:br>
              <a:r>
                <a:rPr lang="en-US" sz="1500" dirty="0">
                  <a:solidFill>
                    <a:schemeClr val="dk1"/>
                  </a:solidFill>
                  <a:latin typeface="+mn-lt"/>
                  <a:ea typeface="+mn-ea"/>
                  <a:cs typeface="+mn-cs"/>
                </a:rPr>
                <a:t>the tool path. A valid credential</a:t>
              </a:r>
              <a:br>
                <a:rPr lang="en-US" sz="1500" dirty="0">
                  <a:solidFill>
                    <a:schemeClr val="dk1"/>
                  </a:solidFill>
                  <a:latin typeface="+mn-lt"/>
                  <a:ea typeface="+mn-ea"/>
                  <a:cs typeface="+mn-cs"/>
                </a:rPr>
              </a:br>
              <a:r>
                <a:rPr lang="en-US" sz="1500" dirty="0">
                  <a:solidFill>
                    <a:schemeClr val="dk1"/>
                  </a:solidFill>
                  <a:latin typeface="+mn-lt"/>
                  <a:ea typeface="+mn-ea"/>
                  <a:cs typeface="+mn-cs"/>
                </a:rPr>
                <a:t>or schema does not establish that a</a:t>
              </a:r>
              <a:br>
                <a:rPr lang="en-US" sz="1500" dirty="0">
                  <a:solidFill>
                    <a:schemeClr val="dk1"/>
                  </a:solidFill>
                  <a:latin typeface="+mn-lt"/>
                  <a:ea typeface="+mn-ea"/>
                  <a:cs typeface="+mn-cs"/>
                </a:rPr>
              </a:br>
              <a:r>
                <a:rPr lang="en-US" sz="1500" dirty="0">
                  <a:solidFill>
                    <a:schemeClr val="dk1"/>
                  </a:solidFill>
                  <a:latin typeface="+mn-lt"/>
                  <a:ea typeface="+mn-ea"/>
                  <a:cs typeface="+mn-cs"/>
                </a:rPr>
                <a:t>business action is appropriate for</a:t>
              </a:r>
              <a:br>
                <a:rPr lang="en-US" sz="1500" dirty="0">
                  <a:solidFill>
                    <a:schemeClr val="dk1"/>
                  </a:solidFill>
                  <a:latin typeface="+mn-lt"/>
                  <a:ea typeface="+mn-ea"/>
                  <a:cs typeface="+mn-cs"/>
                </a:rPr>
              </a:br>
              <a:r>
                <a:rPr lang="en-US" sz="1500" dirty="0">
                  <a:solidFill>
                    <a:schemeClr val="dk1"/>
                  </a:solidFill>
                  <a:latin typeface="+mn-lt"/>
                  <a:ea typeface="+mn-ea"/>
                  <a:cs typeface="+mn-cs"/>
                </a:rPr>
                <a:t>this case.</a:t>
              </a:r>
            </a:p>
          </p:txBody>
        </p:sp>
      </p:grpSp>
      <p:grpSp>
        <p:nvGrpSpPr>
          <p:cNvPr id="20" name="analysis-2"/>
          <p:cNvGrpSpPr/>
          <p:nvPr/>
        </p:nvGrpSpPr>
        <p:grpSpPr>
          <a:xfrm>
            <a:off x="4296156" y="2438400"/>
            <a:ext cx="3150832" cy="3227070"/>
            <a:chOff x="4296156" y="2438400"/>
            <a:chExt cx="3150832" cy="3227070"/>
          </a:xfrm>
        </p:grpSpPr>
        <p:sp>
          <p:nvSpPr>
            <p:cNvPr id="18" name="TextBox 18"/>
            <p:cNvSpPr txBox="1"/>
            <p:nvPr/>
          </p:nvSpPr>
          <p:spPr>
            <a:xfrm>
              <a:off x="4296156" y="2438400"/>
              <a:ext cx="2764085" cy="352044"/>
            </a:xfrm>
            <a:prstGeom prst="rect">
              <a:avLst/>
            </a:prstGeom>
            <a:noFill/>
            <a:ln>
              <a:noFill/>
            </a:ln>
          </p:spPr>
          <p:txBody>
            <a:bodyPr wrap="none" lIns="0" tIns="0" rIns="0" bIns="0" anchor="t" anchorCtr="0">
              <a:spAutoFit/>
            </a:bodyPr>
            <a:lstStyle/>
            <a:p>
              <a:pPr algn="l"/>
              <a:r>
                <a:rPr lang="en-US" sz="1800" dirty="0">
                  <a:solidFill>
                    <a:schemeClr val="accent2"/>
                  </a:solidFill>
                  <a:latin typeface="+mj-lt"/>
                  <a:ea typeface="+mj-ea"/>
                  <a:cs typeface="+mj-cs"/>
                </a:rPr>
                <a:t>Test the actual boundary</a:t>
              </a:r>
            </a:p>
          </p:txBody>
        </p:sp>
        <p:sp>
          <p:nvSpPr>
            <p:cNvPr id="19" name="TextBox 19"/>
            <p:cNvSpPr txBox="1"/>
            <p:nvPr/>
          </p:nvSpPr>
          <p:spPr>
            <a:xfrm>
              <a:off x="4297680" y="3057525"/>
              <a:ext cx="3149308" cy="2607945"/>
            </a:xfrm>
            <a:prstGeom prst="rect">
              <a:avLst/>
            </a:prstGeom>
            <a:noFill/>
            <a:ln>
              <a:noFill/>
            </a:ln>
          </p:spPr>
          <p:txBody>
            <a:bodyPr wrap="none" lIns="0" tIns="0" rIns="0" bIns="0" anchor="t" anchorCtr="0">
              <a:spAutoFit/>
            </a:bodyPr>
            <a:lstStyle/>
            <a:p>
              <a:pPr algn="l">
                <a:lnSpc>
                  <a:spcPts val="2025"/>
                </a:lnSpc>
              </a:pPr>
              <a:r>
                <a:rPr lang="en-US" sz="1500" dirty="0">
                  <a:solidFill>
                    <a:schemeClr val="dk1"/>
                  </a:solidFill>
                  <a:latin typeface="+mn-lt"/>
                  <a:ea typeface="+mn-ea"/>
                  <a:cs typeface="+mn-cs"/>
                </a:rPr>
                <a:t>Challenge cross-tenant queries,</a:t>
              </a:r>
              <a:br>
                <a:rPr lang="en-US" sz="1500" dirty="0">
                  <a:solidFill>
                    <a:schemeClr val="dk1"/>
                  </a:solidFill>
                  <a:latin typeface="+mn-lt"/>
                  <a:ea typeface="+mn-ea"/>
                  <a:cs typeface="+mn-cs"/>
                </a:rPr>
              </a:br>
              <a:r>
                <a:rPr lang="en-US" sz="1500" dirty="0">
                  <a:solidFill>
                    <a:schemeClr val="dk1"/>
                  </a:solidFill>
                  <a:latin typeface="+mn-lt"/>
                  <a:ea typeface="+mn-ea"/>
                  <a:cs typeface="+mn-cs"/>
                </a:rPr>
                <a:t>revoked access, agent-to-agent</a:t>
              </a:r>
              <a:br>
                <a:rPr lang="en-US" sz="1500" dirty="0">
                  <a:solidFill>
                    <a:schemeClr val="dk1"/>
                  </a:solidFill>
                  <a:latin typeface="+mn-lt"/>
                  <a:ea typeface="+mn-ea"/>
                  <a:cs typeface="+mn-cs"/>
                </a:rPr>
              </a:br>
              <a:r>
                <a:rPr lang="en-US" sz="1500" dirty="0">
                  <a:solidFill>
                    <a:schemeClr val="dk1"/>
                  </a:solidFill>
                  <a:latin typeface="+mn-lt"/>
                  <a:ea typeface="+mn-ea"/>
                  <a:cs typeface="+mn-cs"/>
                </a:rPr>
                <a:t>privilege escalation, retries and</a:t>
              </a:r>
              <a:br>
                <a:rPr lang="en-US" sz="1500" dirty="0">
                  <a:solidFill>
                    <a:schemeClr val="dk1"/>
                  </a:solidFill>
                  <a:latin typeface="+mn-lt"/>
                  <a:ea typeface="+mn-ea"/>
                  <a:cs typeface="+mn-cs"/>
                </a:rPr>
              </a:br>
              <a:r>
                <a:rPr lang="en-US" sz="1500" dirty="0">
                  <a:solidFill>
                    <a:schemeClr val="dk1"/>
                  </a:solidFill>
                  <a:latin typeface="+mn-lt"/>
                  <a:ea typeface="+mn-ea"/>
                  <a:cs typeface="+mn-cs"/>
                </a:rPr>
                <a:t>budget exhaustion. Bloomberg</a:t>
              </a:r>
              <a:br>
                <a:rPr lang="en-US" sz="1500" dirty="0">
                  <a:solidFill>
                    <a:schemeClr val="dk1"/>
                  </a:solidFill>
                  <a:latin typeface="+mn-lt"/>
                  <a:ea typeface="+mn-ea"/>
                  <a:cs typeface="+mn-cs"/>
                </a:rPr>
              </a:br>
              <a:r>
                <a:rPr lang="en-US" sz="1500" dirty="0">
                  <a:solidFill>
                    <a:schemeClr val="dk1"/>
                  </a:solidFill>
                  <a:latin typeface="+mn-lt"/>
                  <a:ea typeface="+mn-ea"/>
                  <a:cs typeface="+mn-cs"/>
                </a:rPr>
                <a:t>recommends deterministic invocation</a:t>
              </a:r>
              <a:br>
                <a:rPr lang="en-US" sz="1500" dirty="0">
                  <a:solidFill>
                    <a:schemeClr val="dk1"/>
                  </a:solidFill>
                  <a:latin typeface="+mn-lt"/>
                  <a:ea typeface="+mn-ea"/>
                  <a:cs typeface="+mn-cs"/>
                </a:rPr>
              </a:br>
              <a:r>
                <a:rPr lang="en-US" sz="1500" dirty="0">
                  <a:solidFill>
                    <a:schemeClr val="dk1"/>
                  </a:solidFill>
                  <a:latin typeface="+mn-lt"/>
                  <a:ea typeface="+mn-ea"/>
                  <a:cs typeface="+mn-cs"/>
                </a:rPr>
                <a:t>checks and egress limits including</a:t>
              </a:r>
              <a:br>
                <a:rPr lang="en-US" sz="1500" dirty="0">
                  <a:solidFill>
                    <a:schemeClr val="dk1"/>
                  </a:solidFill>
                  <a:latin typeface="+mn-lt"/>
                  <a:ea typeface="+mn-ea"/>
                  <a:cs typeface="+mn-cs"/>
                </a:rPr>
              </a:br>
              <a:r>
                <a:rPr lang="en-US" sz="1500" dirty="0">
                  <a:solidFill>
                    <a:schemeClr val="dk1"/>
                  </a:solidFill>
                  <a:latin typeface="+mn-lt"/>
                  <a:ea typeface="+mn-ea"/>
                  <a:cs typeface="+mn-cs"/>
                </a:rPr>
                <a:t>DNS. Verify that a denied action is</a:t>
              </a:r>
              <a:br>
                <a:rPr lang="en-US" sz="1500" dirty="0">
                  <a:solidFill>
                    <a:schemeClr val="dk1"/>
                  </a:solidFill>
                  <a:latin typeface="+mn-lt"/>
                  <a:ea typeface="+mn-ea"/>
                  <a:cs typeface="+mn-cs"/>
                </a:rPr>
              </a:br>
              <a:r>
                <a:rPr lang="en-US" sz="1500" dirty="0">
                  <a:solidFill>
                    <a:schemeClr val="dk1"/>
                  </a:solidFill>
                  <a:latin typeface="+mn-lt"/>
                  <a:ea typeface="+mn-ea"/>
                  <a:cs typeface="+mn-cs"/>
                </a:rPr>
                <a:t>blocked and a halt condition stops</a:t>
              </a:r>
              <a:br>
                <a:rPr lang="en-US" sz="1500" dirty="0">
                  <a:solidFill>
                    <a:schemeClr val="dk1"/>
                  </a:solidFill>
                  <a:latin typeface="+mn-lt"/>
                  <a:ea typeface="+mn-ea"/>
                  <a:cs typeface="+mn-cs"/>
                </a:rPr>
              </a:br>
              <a:r>
                <a:rPr lang="en-US" sz="1500" dirty="0">
                  <a:solidFill>
                    <a:schemeClr val="dk1"/>
                  </a:solidFill>
                  <a:latin typeface="+mn-lt"/>
                  <a:ea typeface="+mn-ea"/>
                  <a:cs typeface="+mn-cs"/>
                </a:rPr>
                <a:t>execution, rather than merely</a:t>
              </a:r>
              <a:br>
                <a:rPr lang="en-US" sz="1500" dirty="0">
                  <a:solidFill>
                    <a:schemeClr val="dk1"/>
                  </a:solidFill>
                  <a:latin typeface="+mn-lt"/>
                  <a:ea typeface="+mn-ea"/>
                  <a:cs typeface="+mn-cs"/>
                </a:rPr>
              </a:br>
              <a:r>
                <a:rPr lang="en-US" sz="1500" dirty="0">
                  <a:solidFill>
                    <a:schemeClr val="dk1"/>
                  </a:solidFill>
                  <a:latin typeface="+mn-lt"/>
                  <a:ea typeface="+mn-ea"/>
                  <a:cs typeface="+mn-cs"/>
                </a:rPr>
                <a:t>producing an alert.</a:t>
              </a:r>
            </a:p>
          </p:txBody>
        </p:sp>
      </p:grpSp>
      <p:grpSp>
        <p:nvGrpSpPr>
          <p:cNvPr id="23" name="analysis-3"/>
          <p:cNvGrpSpPr/>
          <p:nvPr/>
        </p:nvGrpSpPr>
        <p:grpSpPr>
          <a:xfrm>
            <a:off x="8144256" y="2438400"/>
            <a:ext cx="2939186" cy="3227070"/>
            <a:chOff x="8144256" y="2438400"/>
            <a:chExt cx="2939186" cy="3227070"/>
          </a:xfrm>
        </p:grpSpPr>
        <p:sp>
          <p:nvSpPr>
            <p:cNvPr id="21" name="TextBox 21"/>
            <p:cNvSpPr txBox="1"/>
            <p:nvPr/>
          </p:nvSpPr>
          <p:spPr>
            <a:xfrm>
              <a:off x="8144256" y="2438400"/>
              <a:ext cx="2544089" cy="656844"/>
            </a:xfrm>
            <a:prstGeom prst="rect">
              <a:avLst/>
            </a:prstGeom>
            <a:noFill/>
            <a:ln>
              <a:noFill/>
            </a:ln>
          </p:spPr>
          <p:txBody>
            <a:bodyPr wrap="none" lIns="0" tIns="0" rIns="0" bIns="0" anchor="t" anchorCtr="0">
              <a:spAutoFit/>
            </a:bodyPr>
            <a:lstStyle/>
            <a:p>
              <a:pPr algn="l">
                <a:lnSpc>
                  <a:spcPts val="2400"/>
                </a:lnSpc>
              </a:pPr>
              <a:r>
                <a:rPr lang="en-US" sz="1800" dirty="0">
                  <a:solidFill>
                    <a:schemeClr val="accent2"/>
                  </a:solidFill>
                  <a:latin typeface="+mj-lt"/>
                  <a:ea typeface="+mj-ea"/>
                  <a:cs typeface="+mj-cs"/>
                </a:rPr>
                <a:t>Treat memory as an input</a:t>
              </a:r>
              <a:br>
                <a:rPr lang="en-US" sz="1800" dirty="0">
                  <a:solidFill>
                    <a:schemeClr val="accent2"/>
                  </a:solidFill>
                  <a:latin typeface="+mj-lt"/>
                  <a:ea typeface="+mj-ea"/>
                  <a:cs typeface="+mj-cs"/>
                </a:rPr>
              </a:br>
              <a:r>
                <a:rPr lang="en-US" sz="1800" dirty="0">
                  <a:solidFill>
                    <a:schemeClr val="accent2"/>
                  </a:solidFill>
                  <a:latin typeface="+mj-lt"/>
                  <a:ea typeface="+mj-ea"/>
                  <a:cs typeface="+mj-cs"/>
                </a:rPr>
                <a:t>surface</a:t>
              </a:r>
            </a:p>
          </p:txBody>
        </p:sp>
        <p:sp>
          <p:nvSpPr>
            <p:cNvPr id="22" name="TextBox 22"/>
            <p:cNvSpPr txBox="1"/>
            <p:nvPr/>
          </p:nvSpPr>
          <p:spPr>
            <a:xfrm>
              <a:off x="8145780" y="3057525"/>
              <a:ext cx="2937662" cy="2607945"/>
            </a:xfrm>
            <a:prstGeom prst="rect">
              <a:avLst/>
            </a:prstGeom>
            <a:noFill/>
            <a:ln>
              <a:noFill/>
            </a:ln>
          </p:spPr>
          <p:txBody>
            <a:bodyPr wrap="none" lIns="0" tIns="0" rIns="0" bIns="0" anchor="t" anchorCtr="0">
              <a:spAutoFit/>
            </a:bodyPr>
            <a:lstStyle/>
            <a:p>
              <a:pPr algn="l">
                <a:lnSpc>
                  <a:spcPts val="2025"/>
                </a:lnSpc>
              </a:pPr>
              <a:r>
                <a:rPr lang="en-US" sz="1500" dirty="0">
                  <a:solidFill>
                    <a:schemeClr val="dk1"/>
                  </a:solidFill>
                  <a:latin typeface="+mn-lt"/>
                  <a:ea typeface="+mn-ea"/>
                  <a:cs typeface="+mn-cs"/>
                </a:rPr>
                <a:t>A hostile document can try to</a:t>
              </a:r>
              <a:br>
                <a:rPr lang="en-US" sz="1500" dirty="0">
                  <a:solidFill>
                    <a:schemeClr val="dk1"/>
                  </a:solidFill>
                  <a:latin typeface="+mn-lt"/>
                  <a:ea typeface="+mn-ea"/>
                  <a:cs typeface="+mn-cs"/>
                </a:rPr>
              </a:br>
              <a:r>
                <a:rPr lang="en-US" sz="1500" dirty="0">
                  <a:solidFill>
                    <a:schemeClr val="dk1"/>
                  </a:solidFill>
                  <a:latin typeface="+mn-lt"/>
                  <a:ea typeface="+mn-ea"/>
                  <a:cs typeface="+mn-cs"/>
                </a:rPr>
                <a:t>persist an instruction for a future</a:t>
              </a:r>
              <a:br>
                <a:rPr lang="en-US" sz="1500" dirty="0">
                  <a:solidFill>
                    <a:schemeClr val="dk1"/>
                  </a:solidFill>
                  <a:latin typeface="+mn-lt"/>
                  <a:ea typeface="+mn-ea"/>
                  <a:cs typeface="+mn-cs"/>
                </a:rPr>
              </a:br>
              <a:r>
                <a:rPr lang="en-US" sz="1500" dirty="0">
                  <a:solidFill>
                    <a:schemeClr val="dk1"/>
                  </a:solidFill>
                  <a:latin typeface="+mn-lt"/>
                  <a:ea typeface="+mn-ea"/>
                  <a:cs typeface="+mn-cs"/>
                </a:rPr>
                <a:t>run. Separate source content from</a:t>
              </a:r>
              <a:br>
                <a:rPr lang="en-US" sz="1500" dirty="0">
                  <a:solidFill>
                    <a:schemeClr val="dk1"/>
                  </a:solidFill>
                  <a:latin typeface="+mn-lt"/>
                  <a:ea typeface="+mn-ea"/>
                  <a:cs typeface="+mn-cs"/>
                </a:rPr>
              </a:br>
              <a:r>
                <a:rPr lang="en-US" sz="1500" dirty="0">
                  <a:solidFill>
                    <a:schemeClr val="dk1"/>
                  </a:solidFill>
                  <a:latin typeface="+mn-lt"/>
                  <a:ea typeface="+mn-ea"/>
                  <a:cs typeface="+mn-cs"/>
                </a:rPr>
                <a:t>trusted procedure, control memory</a:t>
              </a:r>
              <a:br>
                <a:rPr lang="en-US" sz="1500" dirty="0">
                  <a:solidFill>
                    <a:schemeClr val="dk1"/>
                  </a:solidFill>
                  <a:latin typeface="+mn-lt"/>
                  <a:ea typeface="+mn-ea"/>
                  <a:cs typeface="+mn-cs"/>
                </a:rPr>
              </a:br>
              <a:r>
                <a:rPr lang="en-US" sz="1500" dirty="0">
                  <a:solidFill>
                    <a:schemeClr val="dk1"/>
                  </a:solidFill>
                  <a:latin typeface="+mn-lt"/>
                  <a:ea typeface="+mn-ea"/>
                  <a:cs typeface="+mn-cs"/>
                </a:rPr>
                <a:t>writes and preserve provenance.</a:t>
              </a:r>
              <a:br>
                <a:rPr lang="en-US" sz="1500" dirty="0">
                  <a:solidFill>
                    <a:schemeClr val="dk1"/>
                  </a:solidFill>
                  <a:latin typeface="+mn-lt"/>
                  <a:ea typeface="+mn-ea"/>
                  <a:cs typeface="+mn-cs"/>
                </a:rPr>
              </a:br>
              <a:r>
                <a:rPr lang="en-US" sz="1500" dirty="0">
                  <a:solidFill>
                    <a:schemeClr val="dk1"/>
                  </a:solidFill>
                  <a:latin typeface="+mn-lt"/>
                  <a:ea typeface="+mn-ea"/>
                  <a:cs typeface="+mn-cs"/>
                </a:rPr>
                <a:t>Independent approval triage can</a:t>
              </a:r>
              <a:br>
                <a:rPr lang="en-US" sz="1500" dirty="0">
                  <a:solidFill>
                    <a:schemeClr val="dk1"/>
                  </a:solidFill>
                  <a:latin typeface="+mn-lt"/>
                  <a:ea typeface="+mn-ea"/>
                  <a:cs typeface="+mn-cs"/>
                </a:rPr>
              </a:br>
              <a:r>
                <a:rPr lang="en-US" sz="1500" dirty="0">
                  <a:solidFill>
                    <a:schemeClr val="dk1"/>
                  </a:solidFill>
                  <a:latin typeface="+mn-lt"/>
                  <a:ea typeface="+mn-ea"/>
                  <a:cs typeface="+mn-cs"/>
                </a:rPr>
                <a:t>reduce attention demands only if</a:t>
              </a:r>
              <a:br>
                <a:rPr lang="en-US" sz="1500" dirty="0">
                  <a:solidFill>
                    <a:schemeClr val="dk1"/>
                  </a:solidFill>
                  <a:latin typeface="+mn-lt"/>
                  <a:ea typeface="+mn-ea"/>
                  <a:cs typeface="+mn-cs"/>
                </a:rPr>
              </a:br>
              <a:r>
                <a:rPr lang="en-US" sz="1500" dirty="0">
                  <a:solidFill>
                    <a:schemeClr val="dk1"/>
                  </a:solidFill>
                  <a:latin typeface="+mn-lt"/>
                  <a:ea typeface="+mn-ea"/>
                  <a:cs typeface="+mn-cs"/>
                </a:rPr>
                <a:t>its errors and enforcement role are</a:t>
              </a:r>
              <a:br>
                <a:rPr lang="en-US" sz="1500" dirty="0">
                  <a:solidFill>
                    <a:schemeClr val="dk1"/>
                  </a:solidFill>
                  <a:latin typeface="+mn-lt"/>
                  <a:ea typeface="+mn-ea"/>
                  <a:cs typeface="+mn-cs"/>
                </a:rPr>
              </a:br>
              <a:r>
                <a:rPr lang="en-US" sz="1500" dirty="0">
                  <a:solidFill>
                    <a:schemeClr val="dk1"/>
                  </a:solidFill>
                  <a:latin typeface="+mn-lt"/>
                  <a:ea typeface="+mn-ea"/>
                  <a:cs typeface="+mn-cs"/>
                </a:rPr>
                <a:t>understood; it cannot silently</a:t>
              </a:r>
              <a:br>
                <a:rPr lang="en-US" sz="1500" dirty="0">
                  <a:solidFill>
                    <a:schemeClr val="dk1"/>
                  </a:solidFill>
                  <a:latin typeface="+mn-lt"/>
                  <a:ea typeface="+mn-ea"/>
                  <a:cs typeface="+mn-cs"/>
                </a:rPr>
              </a:br>
              <a:r>
                <a:rPr lang="en-US" sz="1500" dirty="0">
                  <a:solidFill>
                    <a:schemeClr val="dk1"/>
                  </a:solidFill>
                  <a:latin typeface="+mn-lt"/>
                  <a:ea typeface="+mn-ea"/>
                  <a:cs typeface="+mn-cs"/>
                </a:rPr>
                <a:t>waive required approval.</a:t>
              </a:r>
            </a:p>
          </p:txBody>
        </p:sp>
      </p:grpSp>
      <p:grpSp>
        <p:nvGrpSpPr>
          <p:cNvPr id="26" name="footer"/>
          <p:cNvGrpSpPr/>
          <p:nvPr/>
        </p:nvGrpSpPr>
        <p:grpSpPr>
          <a:xfrm>
            <a:off x="452438" y="6477000"/>
            <a:ext cx="11287124" cy="176212"/>
            <a:chOff x="452438" y="6477000"/>
            <a:chExt cx="11287124" cy="176212"/>
          </a:xfrm>
        </p:grpSpPr>
        <p:sp>
          <p:nvSpPr>
            <p:cNvPr id="24" name="TextBox 24"/>
            <p:cNvSpPr txBox="1"/>
            <p:nvPr/>
          </p:nvSpPr>
          <p:spPr>
            <a:xfrm>
              <a:off x="452438" y="6477000"/>
              <a:ext cx="4580613" cy="176212"/>
            </a:xfrm>
            <a:prstGeom prst="rect">
              <a:avLst/>
            </a:prstGeom>
            <a:noFill/>
            <a:ln>
              <a:noFill/>
            </a:ln>
          </p:spPr>
          <p:txBody>
            <a:bodyPr wrap="none" lIns="0" tIns="0" rIns="0" bIns="0" anchor="t" anchorCtr="0">
              <a:spAutoFit/>
            </a:bodyPr>
            <a:lstStyle/>
            <a:p>
              <a:pPr algn="l"/>
              <a:r>
                <a:rPr lang="en-US" sz="900" dirty="0">
                  <a:solidFill>
                    <a:schemeClr val="accent5"/>
                  </a:solidFill>
                  <a:latin typeface="+mn-lt"/>
                  <a:ea typeface="+mn-ea"/>
                  <a:cs typeface="+mn-cs"/>
                </a:rPr>
                <a:t>Sources: Two Sigma · Bloomberg · Intuit Credit Karma | Reviewed October 25, 2026</a:t>
              </a:r>
            </a:p>
          </p:txBody>
        </p:sp>
        <p:sp>
          <p:nvSpPr>
            <p:cNvPr id="25" name="TextBox 25"/>
            <p:cNvSpPr txBox="1"/>
            <p:nvPr/>
          </p:nvSpPr>
          <p:spPr>
            <a:xfrm>
              <a:off x="11359512" y="6477000"/>
              <a:ext cx="380050" cy="176212"/>
            </a:xfrm>
            <a:prstGeom prst="rect">
              <a:avLst/>
            </a:prstGeom>
            <a:noFill/>
            <a:ln>
              <a:noFill/>
            </a:ln>
          </p:spPr>
          <p:txBody>
            <a:bodyPr wrap="none" lIns="0" tIns="0" rIns="0" bIns="0" anchor="t" anchorCtr="0">
              <a:spAutoFit/>
            </a:bodyPr>
            <a:lstStyle/>
            <a:p>
              <a:pPr algn="r"/>
              <a:r>
                <a:rPr lang="en-US" sz="900" dirty="0">
                  <a:solidFill>
                    <a:schemeClr val="accent5"/>
                  </a:solidFill>
                  <a:latin typeface="+mn-lt"/>
                  <a:ea typeface="+mn-ea"/>
                  <a:cs typeface="+mn-cs"/>
                </a:rPr>
                <a:t>21 / 37</a:t>
              </a:r>
            </a:p>
          </p:txBody>
        </p:sp>
      </p:grpSp>
    </p:spTree>
  </p:cSld>
  <p:clrMapOvr>
    <a:masterClrMapping/>
  </p:clrMapOvr>
  <p:transition xmlns:p14="http://schemas.microsoft.com/office/powerpoint/2010/main" p14:dur="400">
    <p:fade/>
  </p:transition>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5" name="title"/>
          <p:cNvGrpSpPr/>
          <p:nvPr/>
        </p:nvGrpSpPr>
        <p:grpSpPr>
          <a:xfrm>
            <a:off x="443484" y="361950"/>
            <a:ext cx="9809140" cy="1100582"/>
            <a:chOff x="443484" y="361950"/>
            <a:chExt cx="9809140" cy="1100582"/>
          </a:xfrm>
        </p:grpSpPr>
        <p:sp>
          <p:nvSpPr>
            <p:cNvPr id="2" name="TextBox 2"/>
            <p:cNvSpPr txBox="1"/>
            <p:nvPr/>
          </p:nvSpPr>
          <p:spPr>
            <a:xfrm>
              <a:off x="451104" y="361950"/>
              <a:ext cx="2696193" cy="234696"/>
            </a:xfrm>
            <a:prstGeom prst="rect">
              <a:avLst/>
            </a:prstGeom>
            <a:noFill/>
            <a:ln>
              <a:noFill/>
            </a:ln>
          </p:spPr>
          <p:txBody>
            <a:bodyPr wrap="none" lIns="0" tIns="0" rIns="0" bIns="0" anchor="t" anchorCtr="0">
              <a:spAutoFit/>
            </a:bodyPr>
            <a:lstStyle/>
            <a:p>
              <a:pPr algn="l"/>
              <a:r>
                <a:rPr lang="en-US" sz="1200" dirty="0">
                  <a:solidFill>
                    <a:schemeClr val="accent2"/>
                  </a:solidFill>
                  <a:latin typeface="+mn-lt"/>
                  <a:ea typeface="+mn-ea"/>
                  <a:cs typeface="+mn-cs"/>
                </a:rPr>
                <a:t>04 / CONTROLLED WORKFLOWS</a:t>
              </a:r>
            </a:p>
          </p:txBody>
        </p:sp>
        <p:sp>
          <p:nvSpPr>
            <p:cNvPr id="3" name="TextBox 3"/>
            <p:cNvSpPr txBox="1"/>
            <p:nvPr/>
          </p:nvSpPr>
          <p:spPr>
            <a:xfrm>
              <a:off x="443484" y="593725"/>
              <a:ext cx="8760827" cy="528066"/>
            </a:xfrm>
            <a:prstGeom prst="rect">
              <a:avLst/>
            </a:prstGeom>
            <a:noFill/>
            <a:ln>
              <a:noFill/>
            </a:ln>
          </p:spPr>
          <p:txBody>
            <a:bodyPr wrap="none" lIns="0" tIns="0" rIns="0" bIns="0" anchor="t" anchorCtr="0">
              <a:spAutoFit/>
            </a:bodyPr>
            <a:lstStyle/>
            <a:p>
              <a:pPr algn="l"/>
              <a:r>
                <a:rPr lang="en-US" sz="2700" dirty="0">
                  <a:solidFill>
                    <a:schemeClr val="accent1"/>
                  </a:solidFill>
                  <a:latin typeface="+mj-lt"/>
                  <a:ea typeface="+mj-ea"/>
                  <a:cs typeface="+mj-cs"/>
                </a:rPr>
                <a:t>Make verification cheap, independent and repeatable</a:t>
              </a:r>
            </a:p>
          </p:txBody>
        </p:sp>
        <p:sp>
          <p:nvSpPr>
            <p:cNvPr id="4" name="TextBox 4"/>
            <p:cNvSpPr txBox="1"/>
            <p:nvPr/>
          </p:nvSpPr>
          <p:spPr>
            <a:xfrm>
              <a:off x="448818" y="1139825"/>
              <a:ext cx="9803806" cy="322707"/>
            </a:xfrm>
            <a:prstGeom prst="rect">
              <a:avLst/>
            </a:prstGeom>
            <a:noFill/>
            <a:ln>
              <a:noFill/>
            </a:ln>
          </p:spPr>
          <p:txBody>
            <a:bodyPr wrap="none" lIns="0" tIns="0" rIns="0" bIns="0" anchor="t" anchorCtr="0">
              <a:spAutoFit/>
            </a:bodyPr>
            <a:lstStyle/>
            <a:p>
              <a:pPr algn="l"/>
              <a:r>
                <a:rPr lang="en-US" sz="1650" dirty="0">
                  <a:solidFill>
                    <a:schemeClr val="accent5"/>
                  </a:solidFill>
                  <a:latin typeface="+mn-lt"/>
                  <a:ea typeface="+mn-ea"/>
                  <a:cs typeface="+mn-cs"/>
                </a:rPr>
                <a:t>Sonar motivates independent checks; Capital One argues for lowering the cost of engineering rigor.</a:t>
              </a:r>
            </a:p>
          </p:txBody>
        </p:sp>
      </p:grpSp>
      <p:grpSp>
        <p:nvGrpSpPr>
          <p:cNvPr id="8" name="analysis-1"/>
          <p:cNvGrpSpPr/>
          <p:nvPr/>
        </p:nvGrpSpPr>
        <p:grpSpPr>
          <a:xfrm>
            <a:off x="448056" y="1876425"/>
            <a:ext cx="3276436" cy="2979420"/>
            <a:chOff x="448056" y="1876425"/>
            <a:chExt cx="3276436" cy="2979420"/>
          </a:xfrm>
        </p:grpSpPr>
        <p:sp>
          <p:nvSpPr>
            <p:cNvPr id="6" name="TextBox 6"/>
            <p:cNvSpPr txBox="1"/>
            <p:nvPr/>
          </p:nvSpPr>
          <p:spPr>
            <a:xfrm>
              <a:off x="448056" y="1876425"/>
              <a:ext cx="3276436" cy="352044"/>
            </a:xfrm>
            <a:prstGeom prst="rect">
              <a:avLst/>
            </a:prstGeom>
            <a:noFill/>
            <a:ln>
              <a:noFill/>
            </a:ln>
          </p:spPr>
          <p:txBody>
            <a:bodyPr wrap="none" lIns="0" tIns="0" rIns="0" bIns="0" anchor="t" anchorCtr="0">
              <a:spAutoFit/>
            </a:bodyPr>
            <a:lstStyle/>
            <a:p>
              <a:pPr algn="l"/>
              <a:r>
                <a:rPr lang="en-US" sz="1800" dirty="0">
                  <a:solidFill>
                    <a:schemeClr val="accent2"/>
                  </a:solidFill>
                  <a:latin typeface="+mj-lt"/>
                  <a:ea typeface="+mj-ea"/>
                  <a:cs typeface="+mj-cs"/>
                </a:rPr>
                <a:t>Creation: prevent and inspect</a:t>
              </a:r>
            </a:p>
          </p:txBody>
        </p:sp>
        <p:sp>
          <p:nvSpPr>
            <p:cNvPr id="7" name="TextBox 7"/>
            <p:cNvSpPr txBox="1"/>
            <p:nvPr/>
          </p:nvSpPr>
          <p:spPr>
            <a:xfrm>
              <a:off x="449580" y="2505075"/>
              <a:ext cx="3054325" cy="2350770"/>
            </a:xfrm>
            <a:prstGeom prst="rect">
              <a:avLst/>
            </a:prstGeom>
            <a:noFill/>
            <a:ln>
              <a:noFill/>
            </a:ln>
          </p:spPr>
          <p:txBody>
            <a:bodyPr wrap="none" lIns="0" tIns="0" rIns="0" bIns="0" anchor="t" anchorCtr="0">
              <a:spAutoFit/>
            </a:bodyPr>
            <a:lstStyle/>
            <a:p>
              <a:pPr algn="l">
                <a:lnSpc>
                  <a:spcPts val="2025"/>
                </a:lnSpc>
              </a:pPr>
              <a:r>
                <a:rPr lang="en-US" sz="1500" dirty="0">
                  <a:solidFill>
                    <a:schemeClr val="dk1"/>
                  </a:solidFill>
                  <a:latin typeface="+mn-lt"/>
                  <a:ea typeface="+mn-ea"/>
                  <a:cs typeface="+mn-cs"/>
                </a:rPr>
                <a:t>Supply intent, constraints, shared</a:t>
              </a:r>
              <a:br>
                <a:rPr lang="en-US" sz="1500" dirty="0">
                  <a:solidFill>
                    <a:schemeClr val="dk1"/>
                  </a:solidFill>
                  <a:latin typeface="+mn-lt"/>
                  <a:ea typeface="+mn-ea"/>
                  <a:cs typeface="+mn-cs"/>
                </a:rPr>
              </a:br>
              <a:r>
                <a:rPr lang="en-US" sz="1500" dirty="0">
                  <a:solidFill>
                    <a:schemeClr val="dk1"/>
                  </a:solidFill>
                  <a:latin typeface="+mn-lt"/>
                  <a:ea typeface="+mn-ea"/>
                  <a:cs typeface="+mn-cs"/>
                </a:rPr>
                <a:t>test fixtures and fast low-noise</a:t>
              </a:r>
              <a:br>
                <a:rPr lang="en-US" sz="1500" dirty="0">
                  <a:solidFill>
                    <a:schemeClr val="dk1"/>
                  </a:solidFill>
                  <a:latin typeface="+mn-lt"/>
                  <a:ea typeface="+mn-ea"/>
                  <a:cs typeface="+mn-cs"/>
                </a:rPr>
              </a:br>
              <a:r>
                <a:rPr lang="en-US" sz="1500" dirty="0">
                  <a:solidFill>
                    <a:schemeClr val="dk1"/>
                  </a:solidFill>
                  <a:latin typeface="+mn-lt"/>
                  <a:ea typeface="+mn-ea"/>
                  <a:cs typeface="+mn-cs"/>
                </a:rPr>
                <a:t>checks while work is generated.</a:t>
              </a:r>
              <a:br>
                <a:rPr lang="en-US" sz="1500" dirty="0">
                  <a:solidFill>
                    <a:schemeClr val="dk1"/>
                  </a:solidFill>
                  <a:latin typeface="+mn-lt"/>
                  <a:ea typeface="+mn-ea"/>
                  <a:cs typeface="+mn-cs"/>
                </a:rPr>
              </a:br>
              <a:r>
                <a:rPr lang="en-US" sz="1500" dirty="0">
                  <a:solidFill>
                    <a:schemeClr val="dk1"/>
                  </a:solidFill>
                  <a:latin typeface="+mn-lt"/>
                  <a:ea typeface="+mn-ea"/>
                  <a:cs typeface="+mn-cs"/>
                </a:rPr>
                <a:t>Keep deterministic checks for</a:t>
              </a:r>
              <a:br>
                <a:rPr lang="en-US" sz="1500" dirty="0">
                  <a:solidFill>
                    <a:schemeClr val="dk1"/>
                  </a:solidFill>
                  <a:latin typeface="+mn-lt"/>
                  <a:ea typeface="+mn-ea"/>
                  <a:cs typeface="+mn-cs"/>
                </a:rPr>
              </a:br>
              <a:r>
                <a:rPr lang="en-US" sz="1500" dirty="0">
                  <a:solidFill>
                    <a:schemeClr val="dk1"/>
                  </a:solidFill>
                  <a:latin typeface="+mn-lt"/>
                  <a:ea typeface="+mn-ea"/>
                  <a:cs typeface="+mn-cs"/>
                </a:rPr>
                <a:t>properties that can be asserted</a:t>
              </a:r>
              <a:br>
                <a:rPr lang="en-US" sz="1500" dirty="0">
                  <a:solidFill>
                    <a:schemeClr val="dk1"/>
                  </a:solidFill>
                  <a:latin typeface="+mn-lt"/>
                  <a:ea typeface="+mn-ea"/>
                  <a:cs typeface="+mn-cs"/>
                </a:rPr>
              </a:br>
              <a:r>
                <a:rPr lang="en-US" sz="1500" dirty="0">
                  <a:solidFill>
                    <a:schemeClr val="dk1"/>
                  </a:solidFill>
                  <a:latin typeface="+mn-lt"/>
                  <a:ea typeface="+mn-ea"/>
                  <a:cs typeface="+mn-cs"/>
                </a:rPr>
                <a:t>exactly. Another model’s agreement</a:t>
              </a:r>
              <a:br>
                <a:rPr lang="en-US" sz="1500" dirty="0">
                  <a:solidFill>
                    <a:schemeClr val="dk1"/>
                  </a:solidFill>
                  <a:latin typeface="+mn-lt"/>
                  <a:ea typeface="+mn-ea"/>
                  <a:cs typeface="+mn-cs"/>
                </a:rPr>
              </a:br>
              <a:r>
                <a:rPr lang="en-US" sz="1500" dirty="0">
                  <a:solidFill>
                    <a:schemeClr val="dk1"/>
                  </a:solidFill>
                  <a:latin typeface="+mn-lt"/>
                  <a:ea typeface="+mn-ea"/>
                  <a:cs typeface="+mn-cs"/>
                </a:rPr>
                <a:t>or a quick approval does not</a:t>
              </a:r>
              <a:br>
                <a:rPr lang="en-US" sz="1500" dirty="0">
                  <a:solidFill>
                    <a:schemeClr val="dk1"/>
                  </a:solidFill>
                  <a:latin typeface="+mn-lt"/>
                  <a:ea typeface="+mn-ea"/>
                  <a:cs typeface="+mn-cs"/>
                </a:rPr>
              </a:br>
              <a:r>
                <a:rPr lang="en-US" sz="1500" dirty="0">
                  <a:solidFill>
                    <a:schemeClr val="dk1"/>
                  </a:solidFill>
                  <a:latin typeface="+mn-lt"/>
                  <a:ea typeface="+mn-ea"/>
                  <a:cs typeface="+mn-cs"/>
                </a:rPr>
                <a:t>replace independent evidence of</a:t>
              </a:r>
              <a:br>
                <a:rPr lang="en-US" sz="1500" dirty="0">
                  <a:solidFill>
                    <a:schemeClr val="dk1"/>
                  </a:solidFill>
                  <a:latin typeface="+mn-lt"/>
                  <a:ea typeface="+mn-ea"/>
                  <a:cs typeface="+mn-cs"/>
                </a:rPr>
              </a:br>
              <a:r>
                <a:rPr lang="en-US" sz="1500" dirty="0">
                  <a:solidFill>
                    <a:schemeClr val="dk1"/>
                  </a:solidFill>
                  <a:latin typeface="+mn-lt"/>
                  <a:ea typeface="+mn-ea"/>
                  <a:cs typeface="+mn-cs"/>
                </a:rPr>
                <a:t>correctness.</a:t>
              </a:r>
            </a:p>
          </p:txBody>
        </p:sp>
      </p:grpSp>
      <p:grpSp>
        <p:nvGrpSpPr>
          <p:cNvPr id="11" name="analysis-2"/>
          <p:cNvGrpSpPr/>
          <p:nvPr/>
        </p:nvGrpSpPr>
        <p:grpSpPr>
          <a:xfrm>
            <a:off x="4296156" y="1876425"/>
            <a:ext cx="3066821" cy="2979420"/>
            <a:chOff x="4296156" y="1876425"/>
            <a:chExt cx="3066821" cy="2979420"/>
          </a:xfrm>
        </p:grpSpPr>
        <p:sp>
          <p:nvSpPr>
            <p:cNvPr id="9" name="TextBox 9"/>
            <p:cNvSpPr txBox="1"/>
            <p:nvPr/>
          </p:nvSpPr>
          <p:spPr>
            <a:xfrm>
              <a:off x="4296156" y="1876425"/>
              <a:ext cx="2764094" cy="656844"/>
            </a:xfrm>
            <a:prstGeom prst="rect">
              <a:avLst/>
            </a:prstGeom>
            <a:noFill/>
            <a:ln>
              <a:noFill/>
            </a:ln>
          </p:spPr>
          <p:txBody>
            <a:bodyPr wrap="none" lIns="0" tIns="0" rIns="0" bIns="0" anchor="t" anchorCtr="0">
              <a:spAutoFit/>
            </a:bodyPr>
            <a:lstStyle/>
            <a:p>
              <a:pPr algn="l">
                <a:lnSpc>
                  <a:spcPts val="2400"/>
                </a:lnSpc>
              </a:pPr>
              <a:r>
                <a:rPr lang="en-US" sz="1800" dirty="0">
                  <a:solidFill>
                    <a:schemeClr val="accent2"/>
                  </a:solidFill>
                  <a:latin typeface="+mj-lt"/>
                  <a:ea typeface="+mj-ea"/>
                  <a:cs typeface="+mj-cs"/>
                </a:rPr>
                <a:t>Release: verify the complete</a:t>
              </a:r>
              <a:br>
                <a:rPr lang="en-US" sz="1800" dirty="0">
                  <a:solidFill>
                    <a:schemeClr val="accent2"/>
                  </a:solidFill>
                  <a:latin typeface="+mj-lt"/>
                  <a:ea typeface="+mj-ea"/>
                  <a:cs typeface="+mj-cs"/>
                </a:rPr>
              </a:br>
              <a:r>
                <a:rPr lang="en-US" sz="1800" dirty="0">
                  <a:solidFill>
                    <a:schemeClr val="accent2"/>
                  </a:solidFill>
                  <a:latin typeface="+mj-lt"/>
                  <a:ea typeface="+mj-ea"/>
                  <a:cs typeface="+mj-cs"/>
                </a:rPr>
                <a:t>change</a:t>
              </a:r>
            </a:p>
          </p:txBody>
        </p:sp>
        <p:sp>
          <p:nvSpPr>
            <p:cNvPr id="10" name="TextBox 10"/>
            <p:cNvSpPr txBox="1"/>
            <p:nvPr/>
          </p:nvSpPr>
          <p:spPr>
            <a:xfrm>
              <a:off x="4297680" y="2505075"/>
              <a:ext cx="3065297" cy="2350770"/>
            </a:xfrm>
            <a:prstGeom prst="rect">
              <a:avLst/>
            </a:prstGeom>
            <a:noFill/>
            <a:ln>
              <a:noFill/>
            </a:ln>
          </p:spPr>
          <p:txBody>
            <a:bodyPr wrap="none" lIns="0" tIns="0" rIns="0" bIns="0" anchor="t" anchorCtr="0">
              <a:spAutoFit/>
            </a:bodyPr>
            <a:lstStyle/>
            <a:p>
              <a:pPr algn="l">
                <a:lnSpc>
                  <a:spcPts val="2025"/>
                </a:lnSpc>
              </a:pPr>
              <a:r>
                <a:rPr lang="en-US" sz="1500" dirty="0">
                  <a:solidFill>
                    <a:schemeClr val="dk1"/>
                  </a:solidFill>
                  <a:latin typeface="+mn-lt"/>
                  <a:ea typeface="+mn-ea"/>
                  <a:cs typeface="+mn-cs"/>
                </a:rPr>
                <a:t>Test interfaces, permissions,</a:t>
              </a:r>
              <a:br>
                <a:rPr lang="en-US" sz="1500" dirty="0">
                  <a:solidFill>
                    <a:schemeClr val="dk1"/>
                  </a:solidFill>
                  <a:latin typeface="+mn-lt"/>
                  <a:ea typeface="+mn-ea"/>
                  <a:cs typeface="+mn-cs"/>
                </a:rPr>
              </a:br>
              <a:r>
                <a:rPr lang="en-US" sz="1500" dirty="0">
                  <a:solidFill>
                    <a:schemeClr val="dk1"/>
                  </a:solidFill>
                  <a:latin typeface="+mn-lt"/>
                  <a:ea typeface="+mn-ea"/>
                  <a:cs typeface="+mn-cs"/>
                </a:rPr>
                <a:t>financial invariants and</a:t>
              </a:r>
              <a:br>
                <a:rPr lang="en-US" sz="1500" dirty="0">
                  <a:solidFill>
                    <a:schemeClr val="dk1"/>
                  </a:solidFill>
                  <a:latin typeface="+mn-lt"/>
                  <a:ea typeface="+mn-ea"/>
                  <a:cs typeface="+mn-cs"/>
                </a:rPr>
              </a:br>
              <a:r>
                <a:rPr lang="en-US" sz="1500" dirty="0">
                  <a:solidFill>
                    <a:schemeClr val="dk1"/>
                  </a:solidFill>
                  <a:latin typeface="+mn-lt"/>
                  <a:ea typeface="+mn-ea"/>
                  <a:cs typeface="+mn-cs"/>
                </a:rPr>
                <a:t>representative regressions. Inspect</a:t>
              </a:r>
              <a:br>
                <a:rPr lang="en-US" sz="1500" dirty="0">
                  <a:solidFill>
                    <a:schemeClr val="dk1"/>
                  </a:solidFill>
                  <a:latin typeface="+mn-lt"/>
                  <a:ea typeface="+mn-ea"/>
                  <a:cs typeface="+mn-cs"/>
                </a:rPr>
              </a:br>
              <a:r>
                <a:rPr lang="en-US" sz="1500" dirty="0">
                  <a:solidFill>
                    <a:schemeClr val="dk1"/>
                  </a:solidFill>
                  <a:latin typeface="+mn-lt"/>
                  <a:ea typeface="+mn-ea"/>
                  <a:cs typeface="+mn-cs"/>
                </a:rPr>
                <a:t>the current saved artifact after</a:t>
              </a:r>
              <a:br>
                <a:rPr lang="en-US" sz="1500" dirty="0">
                  <a:solidFill>
                    <a:schemeClr val="dk1"/>
                  </a:solidFill>
                  <a:latin typeface="+mn-lt"/>
                  <a:ea typeface="+mn-ea"/>
                  <a:cs typeface="+mn-cs"/>
                </a:rPr>
              </a:br>
              <a:r>
                <a:rPr lang="en-US" sz="1500" dirty="0">
                  <a:solidFill>
                    <a:schemeClr val="dk1"/>
                  </a:solidFill>
                  <a:latin typeface="+mn-lt"/>
                  <a:ea typeface="+mn-ea"/>
                  <a:cs typeface="+mn-cs"/>
                </a:rPr>
                <a:t>the last edit. Keep the evidence</a:t>
              </a:r>
              <a:br>
                <a:rPr lang="en-US" sz="1500" dirty="0">
                  <a:solidFill>
                    <a:schemeClr val="dk1"/>
                  </a:solidFill>
                  <a:latin typeface="+mn-lt"/>
                  <a:ea typeface="+mn-ea"/>
                  <a:cs typeface="+mn-cs"/>
                </a:rPr>
              </a:br>
              <a:r>
                <a:rPr lang="en-US" sz="1500" dirty="0">
                  <a:solidFill>
                    <a:schemeClr val="dk1"/>
                  </a:solidFill>
                  <a:latin typeface="+mn-lt"/>
                  <a:ea typeface="+mn-ea"/>
                  <a:cs typeface="+mn-cs"/>
                </a:rPr>
                <a:t>and the decision owner together; a</a:t>
              </a:r>
              <a:br>
                <a:rPr lang="en-US" sz="1500" dirty="0">
                  <a:solidFill>
                    <a:schemeClr val="dk1"/>
                  </a:solidFill>
                  <a:latin typeface="+mn-lt"/>
                  <a:ea typeface="+mn-ea"/>
                  <a:cs typeface="+mn-cs"/>
                </a:rPr>
              </a:br>
              <a:r>
                <a:rPr lang="en-US" sz="1500" dirty="0">
                  <a:solidFill>
                    <a:schemeClr val="dk1"/>
                  </a:solidFill>
                  <a:latin typeface="+mn-lt"/>
                  <a:ea typeface="+mn-ea"/>
                  <a:cs typeface="+mn-cs"/>
                </a:rPr>
                <a:t>check that can be bypassed or does</a:t>
              </a:r>
              <a:br>
                <a:rPr lang="en-US" sz="1500" dirty="0">
                  <a:solidFill>
                    <a:schemeClr val="dk1"/>
                  </a:solidFill>
                  <a:latin typeface="+mn-lt"/>
                  <a:ea typeface="+mn-ea"/>
                  <a:cs typeface="+mn-cs"/>
                </a:rPr>
              </a:br>
              <a:r>
                <a:rPr lang="en-US" sz="1500" dirty="0">
                  <a:solidFill>
                    <a:schemeClr val="dk1"/>
                  </a:solidFill>
                  <a:latin typeface="+mn-lt"/>
                  <a:ea typeface="+mn-ea"/>
                  <a:cs typeface="+mn-cs"/>
                </a:rPr>
                <a:t>not halt the relevant action is an</a:t>
              </a:r>
              <a:br>
                <a:rPr lang="en-US" sz="1500" dirty="0">
                  <a:solidFill>
                    <a:schemeClr val="dk1"/>
                  </a:solidFill>
                  <a:latin typeface="+mn-lt"/>
                  <a:ea typeface="+mn-ea"/>
                  <a:cs typeface="+mn-cs"/>
                </a:rPr>
              </a:br>
              <a:r>
                <a:rPr lang="en-US" sz="1500" dirty="0">
                  <a:solidFill>
                    <a:schemeClr val="dk1"/>
                  </a:solidFill>
                  <a:latin typeface="+mn-lt"/>
                  <a:ea typeface="+mn-ea"/>
                  <a:cs typeface="+mn-cs"/>
                </a:rPr>
                <a:t>incomplete gate.</a:t>
              </a:r>
            </a:p>
          </p:txBody>
        </p:sp>
      </p:grpSp>
      <p:grpSp>
        <p:nvGrpSpPr>
          <p:cNvPr id="14" name="analysis-3"/>
          <p:cNvGrpSpPr/>
          <p:nvPr/>
        </p:nvGrpSpPr>
        <p:grpSpPr>
          <a:xfrm>
            <a:off x="8144256" y="1876425"/>
            <a:ext cx="3002928" cy="3236595"/>
            <a:chOff x="8144256" y="1876425"/>
            <a:chExt cx="3002928" cy="3236595"/>
          </a:xfrm>
        </p:grpSpPr>
        <p:sp>
          <p:nvSpPr>
            <p:cNvPr id="12" name="TextBox 12"/>
            <p:cNvSpPr txBox="1"/>
            <p:nvPr/>
          </p:nvSpPr>
          <p:spPr>
            <a:xfrm>
              <a:off x="8144256" y="1876425"/>
              <a:ext cx="2543678" cy="656844"/>
            </a:xfrm>
            <a:prstGeom prst="rect">
              <a:avLst/>
            </a:prstGeom>
            <a:noFill/>
            <a:ln>
              <a:noFill/>
            </a:ln>
          </p:spPr>
          <p:txBody>
            <a:bodyPr wrap="none" lIns="0" tIns="0" rIns="0" bIns="0" anchor="t" anchorCtr="0">
              <a:spAutoFit/>
            </a:bodyPr>
            <a:lstStyle/>
            <a:p>
              <a:pPr algn="l">
                <a:lnSpc>
                  <a:spcPts val="2400"/>
                </a:lnSpc>
              </a:pPr>
              <a:r>
                <a:rPr lang="en-US" sz="1800" dirty="0">
                  <a:solidFill>
                    <a:schemeClr val="accent2"/>
                  </a:solidFill>
                  <a:latin typeface="+mj-lt"/>
                  <a:ea typeface="+mj-ea"/>
                  <a:cs typeface="+mj-cs"/>
                </a:rPr>
                <a:t>Operation: reproduce and</a:t>
              </a:r>
              <a:br>
                <a:rPr lang="en-US" sz="1800" dirty="0">
                  <a:solidFill>
                    <a:schemeClr val="accent2"/>
                  </a:solidFill>
                  <a:latin typeface="+mj-lt"/>
                  <a:ea typeface="+mj-ea"/>
                  <a:cs typeface="+mj-cs"/>
                </a:rPr>
              </a:br>
              <a:r>
                <a:rPr lang="en-US" sz="1800" dirty="0">
                  <a:solidFill>
                    <a:schemeClr val="accent2"/>
                  </a:solidFill>
                  <a:latin typeface="+mj-lt"/>
                  <a:ea typeface="+mj-ea"/>
                  <a:cs typeface="+mj-cs"/>
                </a:rPr>
                <a:t>repair</a:t>
              </a:r>
            </a:p>
          </p:txBody>
        </p:sp>
        <p:sp>
          <p:nvSpPr>
            <p:cNvPr id="13" name="TextBox 13"/>
            <p:cNvSpPr txBox="1"/>
            <p:nvPr/>
          </p:nvSpPr>
          <p:spPr>
            <a:xfrm>
              <a:off x="8145780" y="2505075"/>
              <a:ext cx="3001404" cy="2607945"/>
            </a:xfrm>
            <a:prstGeom prst="rect">
              <a:avLst/>
            </a:prstGeom>
            <a:noFill/>
            <a:ln>
              <a:noFill/>
            </a:ln>
          </p:spPr>
          <p:txBody>
            <a:bodyPr wrap="none" lIns="0" tIns="0" rIns="0" bIns="0" anchor="t" anchorCtr="0">
              <a:spAutoFit/>
            </a:bodyPr>
            <a:lstStyle/>
            <a:p>
              <a:pPr algn="l">
                <a:lnSpc>
                  <a:spcPts val="2025"/>
                </a:lnSpc>
              </a:pPr>
              <a:r>
                <a:rPr lang="en-US" sz="1500" dirty="0">
                  <a:solidFill>
                    <a:schemeClr val="dk1"/>
                  </a:solidFill>
                  <a:latin typeface="+mn-lt"/>
                  <a:ea typeface="+mn-ea"/>
                  <a:cs typeface="+mn-cs"/>
                </a:rPr>
                <a:t>Capture escaped failures,</a:t>
              </a:r>
              <a:br>
                <a:rPr lang="en-US" sz="1500" dirty="0">
                  <a:solidFill>
                    <a:schemeClr val="dk1"/>
                  </a:solidFill>
                  <a:latin typeface="+mn-lt"/>
                  <a:ea typeface="+mn-ea"/>
                  <a:cs typeface="+mn-cs"/>
                </a:rPr>
              </a:br>
              <a:r>
                <a:rPr lang="en-US" sz="1500" dirty="0">
                  <a:solidFill>
                    <a:schemeClr val="dk1"/>
                  </a:solidFill>
                  <a:latin typeface="+mn-lt"/>
                  <a:ea typeface="+mn-ea"/>
                  <a:cs typeface="+mn-cs"/>
                </a:rPr>
                <a:t>reconstruct their context and</a:t>
              </a:r>
              <a:br>
                <a:rPr lang="en-US" sz="1500" dirty="0">
                  <a:solidFill>
                    <a:schemeClr val="dk1"/>
                  </a:solidFill>
                  <a:latin typeface="+mn-lt"/>
                  <a:ea typeface="+mn-ea"/>
                  <a:cs typeface="+mn-cs"/>
                </a:rPr>
              </a:br>
              <a:r>
                <a:rPr lang="en-US" sz="1500" dirty="0">
                  <a:solidFill>
                    <a:schemeClr val="dk1"/>
                  </a:solidFill>
                  <a:latin typeface="+mn-lt"/>
                  <a:ea typeface="+mn-ea"/>
                  <a:cs typeface="+mn-cs"/>
                </a:rPr>
                <a:t>verify the repair against other</a:t>
              </a:r>
              <a:br>
                <a:rPr lang="en-US" sz="1500" dirty="0">
                  <a:solidFill>
                    <a:schemeClr val="dk1"/>
                  </a:solidFill>
                  <a:latin typeface="+mn-lt"/>
                  <a:ea typeface="+mn-ea"/>
                  <a:cs typeface="+mn-cs"/>
                </a:rPr>
              </a:br>
              <a:r>
                <a:rPr lang="en-US" sz="1500" dirty="0">
                  <a:solidFill>
                    <a:schemeClr val="dk1"/>
                  </a:solidFill>
                  <a:latin typeface="+mn-lt"/>
                  <a:ea typeface="+mn-ea"/>
                  <a:cs typeface="+mn-cs"/>
                </a:rPr>
                <a:t>work. The confidence product in</a:t>
              </a:r>
              <a:br>
                <a:rPr lang="en-US" sz="1500" dirty="0">
                  <a:solidFill>
                    <a:schemeClr val="dk1"/>
                  </a:solidFill>
                  <a:latin typeface="+mn-lt"/>
                  <a:ea typeface="+mn-ea"/>
                  <a:cs typeface="+mn-cs"/>
                </a:rPr>
              </a:br>
              <a:r>
                <a:rPr lang="en-US" sz="1500" dirty="0">
                  <a:solidFill>
                    <a:schemeClr val="dk1"/>
                  </a:solidFill>
                  <a:latin typeface="+mn-lt"/>
                  <a:ea typeface="+mn-ea"/>
                  <a:cs typeface="+mn-cs"/>
                </a:rPr>
                <a:t>Sonar’s talk is conceptual, and its</a:t>
              </a:r>
              <a:br>
                <a:rPr lang="en-US" sz="1500" dirty="0">
                  <a:solidFill>
                    <a:schemeClr val="dk1"/>
                  </a:solidFill>
                  <a:latin typeface="+mn-lt"/>
                  <a:ea typeface="+mn-ea"/>
                  <a:cs typeface="+mn-cs"/>
                </a:rPr>
              </a:br>
              <a:r>
                <a:rPr lang="en-US" sz="1500" dirty="0">
                  <a:solidFill>
                    <a:schemeClr val="dk1"/>
                  </a:solidFill>
                  <a:latin typeface="+mn-lt"/>
                  <a:ea typeface="+mn-ea"/>
                  <a:cs typeface="+mn-cs"/>
                </a:rPr>
                <a:t>code-size illustration is</a:t>
              </a:r>
              <a:br>
                <a:rPr lang="en-US" sz="1500" dirty="0">
                  <a:solidFill>
                    <a:schemeClr val="dk1"/>
                  </a:solidFill>
                  <a:latin typeface="+mn-lt"/>
                  <a:ea typeface="+mn-ea"/>
                  <a:cs typeface="+mn-cs"/>
                </a:rPr>
              </a:br>
              <a:r>
                <a:rPr lang="en-US" sz="1500" dirty="0">
                  <a:solidFill>
                    <a:schemeClr val="dk1"/>
                  </a:solidFill>
                  <a:latin typeface="+mn-lt"/>
                  <a:ea typeface="+mn-ea"/>
                  <a:cs typeface="+mn-cs"/>
                </a:rPr>
                <a:t>workload-specific. Neither supplies</a:t>
              </a:r>
              <a:br>
                <a:rPr lang="en-US" sz="1500" dirty="0">
                  <a:solidFill>
                    <a:schemeClr val="dk1"/>
                  </a:solidFill>
                  <a:latin typeface="+mn-lt"/>
                  <a:ea typeface="+mn-ea"/>
                  <a:cs typeface="+mn-cs"/>
                </a:rPr>
              </a:br>
              <a:r>
                <a:rPr lang="en-US" sz="1500" dirty="0">
                  <a:solidFill>
                    <a:schemeClr val="dk1"/>
                  </a:solidFill>
                  <a:latin typeface="+mn-lt"/>
                  <a:ea typeface="+mn-ea"/>
                  <a:cs typeface="+mn-cs"/>
                </a:rPr>
                <a:t>a calibrated assurance formula or a</a:t>
              </a:r>
              <a:br>
                <a:rPr lang="en-US" sz="1500" dirty="0">
                  <a:solidFill>
                    <a:schemeClr val="dk1"/>
                  </a:solidFill>
                  <a:latin typeface="+mn-lt"/>
                  <a:ea typeface="+mn-ea"/>
                  <a:cs typeface="+mn-cs"/>
                </a:rPr>
              </a:br>
              <a:r>
                <a:rPr lang="en-US" sz="1500" dirty="0">
                  <a:solidFill>
                    <a:schemeClr val="dk1"/>
                  </a:solidFill>
                  <a:latin typeface="+mn-lt"/>
                  <a:ea typeface="+mn-ea"/>
                  <a:cs typeface="+mn-cs"/>
                </a:rPr>
                <a:t>universal limit on agent-generated</a:t>
              </a:r>
              <a:br>
                <a:rPr lang="en-US" sz="1500" dirty="0">
                  <a:solidFill>
                    <a:schemeClr val="dk1"/>
                  </a:solidFill>
                  <a:latin typeface="+mn-lt"/>
                  <a:ea typeface="+mn-ea"/>
                  <a:cs typeface="+mn-cs"/>
                </a:rPr>
              </a:br>
              <a:r>
                <a:rPr lang="en-US" sz="1500" dirty="0">
                  <a:solidFill>
                    <a:schemeClr val="dk1"/>
                  </a:solidFill>
                  <a:latin typeface="+mn-lt"/>
                  <a:ea typeface="+mn-ea"/>
                  <a:cs typeface="+mn-cs"/>
                </a:rPr>
                <a:t>software.</a:t>
              </a:r>
            </a:p>
          </p:txBody>
        </p:sp>
      </p:grpSp>
      <p:grpSp>
        <p:nvGrpSpPr>
          <p:cNvPr id="17" name="footer"/>
          <p:cNvGrpSpPr/>
          <p:nvPr/>
        </p:nvGrpSpPr>
        <p:grpSpPr>
          <a:xfrm>
            <a:off x="452438" y="6477000"/>
            <a:ext cx="11287124" cy="176212"/>
            <a:chOff x="452438" y="6477000"/>
            <a:chExt cx="11287124" cy="176212"/>
          </a:xfrm>
        </p:grpSpPr>
        <p:sp>
          <p:nvSpPr>
            <p:cNvPr id="15" name="TextBox 15"/>
            <p:cNvSpPr txBox="1"/>
            <p:nvPr/>
          </p:nvSpPr>
          <p:spPr>
            <a:xfrm>
              <a:off x="452438" y="6477000"/>
              <a:ext cx="3222148" cy="176212"/>
            </a:xfrm>
            <a:prstGeom prst="rect">
              <a:avLst/>
            </a:prstGeom>
            <a:noFill/>
            <a:ln>
              <a:noFill/>
            </a:ln>
          </p:spPr>
          <p:txBody>
            <a:bodyPr wrap="none" lIns="0" tIns="0" rIns="0" bIns="0" anchor="t" anchorCtr="0">
              <a:spAutoFit/>
            </a:bodyPr>
            <a:lstStyle/>
            <a:p>
              <a:pPr algn="l"/>
              <a:r>
                <a:rPr lang="en-US" sz="900" dirty="0">
                  <a:solidFill>
                    <a:schemeClr val="accent5"/>
                  </a:solidFill>
                  <a:latin typeface="+mn-lt"/>
                  <a:ea typeface="+mn-ea"/>
                  <a:cs typeface="+mn-cs"/>
                </a:rPr>
                <a:t>Sources: Sonar · Capital One | Reviewed October 25, 2026</a:t>
              </a:r>
            </a:p>
          </p:txBody>
        </p:sp>
        <p:sp>
          <p:nvSpPr>
            <p:cNvPr id="16" name="TextBox 16"/>
            <p:cNvSpPr txBox="1"/>
            <p:nvPr/>
          </p:nvSpPr>
          <p:spPr>
            <a:xfrm>
              <a:off x="11359512" y="6477000"/>
              <a:ext cx="380050" cy="176212"/>
            </a:xfrm>
            <a:prstGeom prst="rect">
              <a:avLst/>
            </a:prstGeom>
            <a:noFill/>
            <a:ln>
              <a:noFill/>
            </a:ln>
          </p:spPr>
          <p:txBody>
            <a:bodyPr wrap="none" lIns="0" tIns="0" rIns="0" bIns="0" anchor="t" anchorCtr="0">
              <a:spAutoFit/>
            </a:bodyPr>
            <a:lstStyle/>
            <a:p>
              <a:pPr algn="r"/>
              <a:r>
                <a:rPr lang="en-US" sz="900" dirty="0">
                  <a:solidFill>
                    <a:schemeClr val="accent5"/>
                  </a:solidFill>
                  <a:latin typeface="+mn-lt"/>
                  <a:ea typeface="+mn-ea"/>
                  <a:cs typeface="+mn-cs"/>
                </a:rPr>
                <a:t>22 / 37</a:t>
              </a:r>
            </a:p>
          </p:txBody>
        </p:sp>
      </p:grpSp>
    </p:spTree>
  </p:cSld>
  <p:clrMapOvr>
    <a:masterClrMapping/>
  </p:clrMapOvr>
  <p:transition xmlns:p14="http://schemas.microsoft.com/office/powerpoint/2010/main" p14:dur="400">
    <p:fade/>
  </p:transition>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5" name="title"/>
          <p:cNvGrpSpPr/>
          <p:nvPr/>
        </p:nvGrpSpPr>
        <p:grpSpPr>
          <a:xfrm>
            <a:off x="443484" y="361950"/>
            <a:ext cx="9345369" cy="1100582"/>
            <a:chOff x="443484" y="361950"/>
            <a:chExt cx="9345369" cy="1100582"/>
          </a:xfrm>
        </p:grpSpPr>
        <p:sp>
          <p:nvSpPr>
            <p:cNvPr id="2" name="TextBox 2"/>
            <p:cNvSpPr txBox="1"/>
            <p:nvPr/>
          </p:nvSpPr>
          <p:spPr>
            <a:xfrm>
              <a:off x="451104" y="361950"/>
              <a:ext cx="2696193" cy="234696"/>
            </a:xfrm>
            <a:prstGeom prst="rect">
              <a:avLst/>
            </a:prstGeom>
            <a:noFill/>
            <a:ln>
              <a:noFill/>
            </a:ln>
          </p:spPr>
          <p:txBody>
            <a:bodyPr wrap="none" lIns="0" tIns="0" rIns="0" bIns="0" anchor="t" anchorCtr="0">
              <a:spAutoFit/>
            </a:bodyPr>
            <a:lstStyle/>
            <a:p>
              <a:pPr algn="l"/>
              <a:r>
                <a:rPr lang="en-US" sz="1200" dirty="0">
                  <a:solidFill>
                    <a:schemeClr val="accent2"/>
                  </a:solidFill>
                  <a:latin typeface="+mn-lt"/>
                  <a:ea typeface="+mn-ea"/>
                  <a:cs typeface="+mn-cs"/>
                </a:rPr>
                <a:t>04 / CONTROLLED WORKFLOWS</a:t>
              </a:r>
            </a:p>
          </p:txBody>
        </p:sp>
        <p:sp>
          <p:nvSpPr>
            <p:cNvPr id="3" name="TextBox 3"/>
            <p:cNvSpPr txBox="1"/>
            <p:nvPr/>
          </p:nvSpPr>
          <p:spPr>
            <a:xfrm>
              <a:off x="443484" y="593725"/>
              <a:ext cx="9197737" cy="528066"/>
            </a:xfrm>
            <a:prstGeom prst="rect">
              <a:avLst/>
            </a:prstGeom>
            <a:noFill/>
            <a:ln>
              <a:noFill/>
            </a:ln>
          </p:spPr>
          <p:txBody>
            <a:bodyPr wrap="none" lIns="0" tIns="0" rIns="0" bIns="0" anchor="t" anchorCtr="0">
              <a:spAutoFit/>
            </a:bodyPr>
            <a:lstStyle/>
            <a:p>
              <a:pPr algn="l"/>
              <a:r>
                <a:rPr lang="en-US" sz="2700" dirty="0">
                  <a:solidFill>
                    <a:schemeClr val="accent1"/>
                  </a:solidFill>
                  <a:latin typeface="+mj-lt"/>
                  <a:ea typeface="+mj-ea"/>
                  <a:cs typeface="+mj-cs"/>
                </a:rPr>
                <a:t>Long-running work needs state and deliberate recovery</a:t>
              </a:r>
            </a:p>
          </p:txBody>
        </p:sp>
        <p:sp>
          <p:nvSpPr>
            <p:cNvPr id="4" name="TextBox 4"/>
            <p:cNvSpPr txBox="1"/>
            <p:nvPr/>
          </p:nvSpPr>
          <p:spPr>
            <a:xfrm>
              <a:off x="448818" y="1139825"/>
              <a:ext cx="9340035" cy="322707"/>
            </a:xfrm>
            <a:prstGeom prst="rect">
              <a:avLst/>
            </a:prstGeom>
            <a:noFill/>
            <a:ln>
              <a:noFill/>
            </a:ln>
          </p:spPr>
          <p:txBody>
            <a:bodyPr wrap="none" lIns="0" tIns="0" rIns="0" bIns="0" anchor="t" anchorCtr="0">
              <a:spAutoFit/>
            </a:bodyPr>
            <a:lstStyle/>
            <a:p>
              <a:pPr algn="l"/>
              <a:r>
                <a:rPr lang="en-US" sz="1650" dirty="0">
                  <a:solidFill>
                    <a:schemeClr val="accent5"/>
                  </a:solidFill>
                  <a:latin typeface="+mn-lt"/>
                  <a:ea typeface="+mn-ea"/>
                  <a:cs typeface="+mn-cs"/>
                </a:rPr>
                <a:t>Arca explains event-driven service work; Perpetual explains compiled and approved execution.</a:t>
              </a:r>
            </a:p>
          </p:txBody>
        </p:sp>
      </p:grpSp>
      <p:grpSp>
        <p:nvGrpSpPr>
          <p:cNvPr id="14" name="method-sequence"/>
          <p:cNvGrpSpPr/>
          <p:nvPr/>
        </p:nvGrpSpPr>
        <p:grpSpPr>
          <a:xfrm>
            <a:off x="457200" y="1714500"/>
            <a:ext cx="11277600" cy="533400"/>
            <a:chOff x="457200" y="1714500"/>
            <a:chExt cx="11277600" cy="533400"/>
          </a:xfrm>
        </p:grpSpPr>
        <p:sp>
          <p:nvSpPr>
            <p:cNvPr id="6" name="Rectangle 6"/>
            <p:cNvSpPr/>
            <p:nvPr/>
          </p:nvSpPr>
          <p:spPr>
            <a:xfrm>
              <a:off x="457200" y="1714500"/>
              <a:ext cx="2719388" cy="533400"/>
            </a:xfrm>
            <a:prstGeom prst="rect">
              <a:avLst/>
            </a:prstGeom>
            <a:solidFill>
              <a:schemeClr val="lt2"/>
            </a:solidFill>
            <a:ln>
              <a:noFill/>
            </a:ln>
          </p:spPr>
        </p:sp>
        <p:sp>
          <p:nvSpPr>
            <p:cNvPr id="7" name="TextBox 7"/>
            <p:cNvSpPr txBox="1"/>
            <p:nvPr/>
          </p:nvSpPr>
          <p:spPr>
            <a:xfrm>
              <a:off x="583692" y="1882775"/>
              <a:ext cx="755514" cy="264033"/>
            </a:xfrm>
            <a:prstGeom prst="rect">
              <a:avLst/>
            </a:prstGeom>
            <a:noFill/>
            <a:ln>
              <a:noFill/>
            </a:ln>
          </p:spPr>
          <p:txBody>
            <a:bodyPr wrap="none" lIns="0" tIns="0" rIns="0" bIns="0" anchor="t" anchorCtr="0">
              <a:spAutoFit/>
            </a:bodyPr>
            <a:lstStyle/>
            <a:p>
              <a:pPr algn="l"/>
              <a:r>
                <a:rPr lang="en-US" sz="1350" b="1" dirty="0">
                  <a:solidFill>
                    <a:schemeClr val="accent2"/>
                  </a:solidFill>
                  <a:latin typeface="+mn-lt"/>
                  <a:ea typeface="+mn-ea"/>
                  <a:cs typeface="+mn-cs"/>
                </a:rPr>
                <a:t>Interpret</a:t>
              </a:r>
            </a:p>
          </p:txBody>
        </p:sp>
        <p:sp>
          <p:nvSpPr>
            <p:cNvPr id="8" name="Rectangle 8"/>
            <p:cNvSpPr/>
            <p:nvPr/>
          </p:nvSpPr>
          <p:spPr>
            <a:xfrm>
              <a:off x="3309938" y="1714500"/>
              <a:ext cx="2719388" cy="533400"/>
            </a:xfrm>
            <a:prstGeom prst="rect">
              <a:avLst/>
            </a:prstGeom>
            <a:solidFill>
              <a:schemeClr val="lt2"/>
            </a:solidFill>
            <a:ln>
              <a:noFill/>
            </a:ln>
          </p:spPr>
        </p:sp>
        <p:sp>
          <p:nvSpPr>
            <p:cNvPr id="9" name="TextBox 9"/>
            <p:cNvSpPr txBox="1"/>
            <p:nvPr/>
          </p:nvSpPr>
          <p:spPr>
            <a:xfrm>
              <a:off x="3436429" y="1882775"/>
              <a:ext cx="1575000" cy="264033"/>
            </a:xfrm>
            <a:prstGeom prst="rect">
              <a:avLst/>
            </a:prstGeom>
            <a:noFill/>
            <a:ln>
              <a:noFill/>
            </a:ln>
          </p:spPr>
          <p:txBody>
            <a:bodyPr wrap="none" lIns="0" tIns="0" rIns="0" bIns="0" anchor="t" anchorCtr="0">
              <a:spAutoFit/>
            </a:bodyPr>
            <a:lstStyle/>
            <a:p>
              <a:pPr algn="l"/>
              <a:r>
                <a:rPr lang="en-US" sz="1350" b="1" dirty="0">
                  <a:solidFill>
                    <a:schemeClr val="accent2"/>
                  </a:solidFill>
                  <a:latin typeface="+mn-lt"/>
                  <a:ea typeface="+mn-ea"/>
                  <a:cs typeface="+mn-cs"/>
                </a:rPr>
                <a:t>Validate / approve</a:t>
              </a:r>
            </a:p>
          </p:txBody>
        </p:sp>
        <p:sp>
          <p:nvSpPr>
            <p:cNvPr id="10" name="Rectangle 10"/>
            <p:cNvSpPr/>
            <p:nvPr/>
          </p:nvSpPr>
          <p:spPr>
            <a:xfrm>
              <a:off x="6162675" y="1714500"/>
              <a:ext cx="2719388" cy="533400"/>
            </a:xfrm>
            <a:prstGeom prst="rect">
              <a:avLst/>
            </a:prstGeom>
            <a:solidFill>
              <a:schemeClr val="lt2"/>
            </a:solidFill>
            <a:ln>
              <a:noFill/>
            </a:ln>
          </p:spPr>
        </p:sp>
        <p:sp>
          <p:nvSpPr>
            <p:cNvPr id="11" name="TextBox 11"/>
            <p:cNvSpPr txBox="1"/>
            <p:nvPr/>
          </p:nvSpPr>
          <p:spPr>
            <a:xfrm>
              <a:off x="6289167" y="1882775"/>
              <a:ext cx="1202059" cy="264033"/>
            </a:xfrm>
            <a:prstGeom prst="rect">
              <a:avLst/>
            </a:prstGeom>
            <a:noFill/>
            <a:ln>
              <a:noFill/>
            </a:ln>
          </p:spPr>
          <p:txBody>
            <a:bodyPr wrap="none" lIns="0" tIns="0" rIns="0" bIns="0" anchor="t" anchorCtr="0">
              <a:spAutoFit/>
            </a:bodyPr>
            <a:lstStyle/>
            <a:p>
              <a:pPr algn="l"/>
              <a:r>
                <a:rPr lang="en-US" sz="1350" b="1" dirty="0">
                  <a:solidFill>
                    <a:schemeClr val="accent2"/>
                  </a:solidFill>
                  <a:latin typeface="+mn-lt"/>
                  <a:ea typeface="+mn-ea"/>
                  <a:cs typeface="+mn-cs"/>
                </a:rPr>
                <a:t>Wait / resume</a:t>
              </a:r>
            </a:p>
          </p:txBody>
        </p:sp>
        <p:sp>
          <p:nvSpPr>
            <p:cNvPr id="12" name="Rectangle 12"/>
            <p:cNvSpPr/>
            <p:nvPr/>
          </p:nvSpPr>
          <p:spPr>
            <a:xfrm>
              <a:off x="9015412" y="1714500"/>
              <a:ext cx="2719388" cy="533400"/>
            </a:xfrm>
            <a:prstGeom prst="rect">
              <a:avLst/>
            </a:prstGeom>
            <a:solidFill>
              <a:schemeClr val="lt2"/>
            </a:solidFill>
            <a:ln>
              <a:noFill/>
            </a:ln>
          </p:spPr>
        </p:sp>
        <p:sp>
          <p:nvSpPr>
            <p:cNvPr id="13" name="TextBox 13"/>
            <p:cNvSpPr txBox="1"/>
            <p:nvPr/>
          </p:nvSpPr>
          <p:spPr>
            <a:xfrm>
              <a:off x="9141904" y="1882775"/>
              <a:ext cx="1524655" cy="264033"/>
            </a:xfrm>
            <a:prstGeom prst="rect">
              <a:avLst/>
            </a:prstGeom>
            <a:noFill/>
            <a:ln>
              <a:noFill/>
            </a:ln>
          </p:spPr>
          <p:txBody>
            <a:bodyPr wrap="none" lIns="0" tIns="0" rIns="0" bIns="0" anchor="t" anchorCtr="0">
              <a:spAutoFit/>
            </a:bodyPr>
            <a:lstStyle/>
            <a:p>
              <a:pPr algn="l"/>
              <a:r>
                <a:rPr lang="en-US" sz="1350" b="1" dirty="0">
                  <a:solidFill>
                    <a:schemeClr val="accent2"/>
                  </a:solidFill>
                  <a:latin typeface="+mn-lt"/>
                  <a:ea typeface="+mn-ea"/>
                  <a:cs typeface="+mn-cs"/>
                </a:rPr>
                <a:t>Resolve outcome</a:t>
              </a:r>
            </a:p>
          </p:txBody>
        </p:sp>
      </p:grpSp>
      <p:grpSp>
        <p:nvGrpSpPr>
          <p:cNvPr id="17" name="analysis-1"/>
          <p:cNvGrpSpPr/>
          <p:nvPr/>
        </p:nvGrpSpPr>
        <p:grpSpPr>
          <a:xfrm>
            <a:off x="448056" y="2438400"/>
            <a:ext cx="3257855" cy="2969895"/>
            <a:chOff x="448056" y="2438400"/>
            <a:chExt cx="3257855" cy="2969895"/>
          </a:xfrm>
        </p:grpSpPr>
        <p:sp>
          <p:nvSpPr>
            <p:cNvPr id="15" name="TextBox 15"/>
            <p:cNvSpPr txBox="1"/>
            <p:nvPr/>
          </p:nvSpPr>
          <p:spPr>
            <a:xfrm>
              <a:off x="448056" y="2438400"/>
              <a:ext cx="2105948" cy="352044"/>
            </a:xfrm>
            <a:prstGeom prst="rect">
              <a:avLst/>
            </a:prstGeom>
            <a:noFill/>
            <a:ln>
              <a:noFill/>
            </a:ln>
          </p:spPr>
          <p:txBody>
            <a:bodyPr wrap="none" lIns="0" tIns="0" rIns="0" bIns="0" anchor="t" anchorCtr="0">
              <a:spAutoFit/>
            </a:bodyPr>
            <a:lstStyle/>
            <a:p>
              <a:pPr algn="l"/>
              <a:r>
                <a:rPr lang="en-US" sz="1800" dirty="0">
                  <a:solidFill>
                    <a:schemeClr val="accent2"/>
                  </a:solidFill>
                  <a:latin typeface="+mj-lt"/>
                  <a:ea typeface="+mj-ea"/>
                  <a:cs typeface="+mj-cs"/>
                </a:rPr>
                <a:t>Persist the handoff</a:t>
              </a:r>
            </a:p>
          </p:txBody>
        </p:sp>
        <p:sp>
          <p:nvSpPr>
            <p:cNvPr id="16" name="TextBox 16"/>
            <p:cNvSpPr txBox="1"/>
            <p:nvPr/>
          </p:nvSpPr>
          <p:spPr>
            <a:xfrm>
              <a:off x="449580" y="3057525"/>
              <a:ext cx="3256331" cy="2350770"/>
            </a:xfrm>
            <a:prstGeom prst="rect">
              <a:avLst/>
            </a:prstGeom>
            <a:noFill/>
            <a:ln>
              <a:noFill/>
            </a:ln>
          </p:spPr>
          <p:txBody>
            <a:bodyPr wrap="none" lIns="0" tIns="0" rIns="0" bIns="0" anchor="t" anchorCtr="0">
              <a:spAutoFit/>
            </a:bodyPr>
            <a:lstStyle/>
            <a:p>
              <a:pPr algn="l">
                <a:lnSpc>
                  <a:spcPts val="2025"/>
                </a:lnSpc>
              </a:pPr>
              <a:r>
                <a:rPr lang="en-US" sz="1500" dirty="0">
                  <a:solidFill>
                    <a:schemeClr val="dk1"/>
                  </a:solidFill>
                  <a:latin typeface="+mn-lt"/>
                  <a:ea typeface="+mn-ea"/>
                  <a:cs typeface="+mn-cs"/>
                </a:rPr>
                <a:t>Keep the goal, approved plan,</a:t>
              </a:r>
              <a:br>
                <a:rPr lang="en-US" sz="1500" dirty="0">
                  <a:solidFill>
                    <a:schemeClr val="dk1"/>
                  </a:solidFill>
                  <a:latin typeface="+mn-lt"/>
                  <a:ea typeface="+mn-ea"/>
                  <a:cs typeface="+mn-cs"/>
                </a:rPr>
              </a:br>
              <a:r>
                <a:rPr lang="en-US" sz="1500" dirty="0">
                  <a:solidFill>
                    <a:schemeClr val="dk1"/>
                  </a:solidFill>
                  <a:latin typeface="+mn-lt"/>
                  <a:ea typeface="+mn-ea"/>
                  <a:cs typeface="+mn-cs"/>
                </a:rPr>
                <a:t>completed work, evidence and next</a:t>
              </a:r>
              <a:br>
                <a:rPr lang="en-US" sz="1500" dirty="0">
                  <a:solidFill>
                    <a:schemeClr val="dk1"/>
                  </a:solidFill>
                  <a:latin typeface="+mn-lt"/>
                  <a:ea typeface="+mn-ea"/>
                  <a:cs typeface="+mn-cs"/>
                </a:rPr>
              </a:br>
              <a:r>
                <a:rPr lang="en-US" sz="1500" dirty="0">
                  <a:solidFill>
                    <a:schemeClr val="dk1"/>
                  </a:solidFill>
                  <a:latin typeface="+mn-lt"/>
                  <a:ea typeface="+mn-ea"/>
                  <a:cs typeface="+mn-cs"/>
                </a:rPr>
                <a:t>responsible party outside a</a:t>
              </a:r>
              <a:br>
                <a:rPr lang="en-US" sz="1500" dirty="0">
                  <a:solidFill>
                    <a:schemeClr val="dk1"/>
                  </a:solidFill>
                  <a:latin typeface="+mn-lt"/>
                  <a:ea typeface="+mn-ea"/>
                  <a:cs typeface="+mn-cs"/>
                </a:rPr>
              </a:br>
              <a:r>
                <a:rPr lang="en-US" sz="1500" dirty="0">
                  <a:solidFill>
                    <a:schemeClr val="dk1"/>
                  </a:solidFill>
                  <a:latin typeface="+mn-lt"/>
                  <a:ea typeface="+mn-ea"/>
                  <a:cs typeface="+mn-cs"/>
                </a:rPr>
                <a:t>disposable run. Wake on a client</a:t>
              </a:r>
              <a:br>
                <a:rPr lang="en-US" sz="1500" dirty="0">
                  <a:solidFill>
                    <a:schemeClr val="dk1"/>
                  </a:solidFill>
                  <a:latin typeface="+mn-lt"/>
                  <a:ea typeface="+mn-ea"/>
                  <a:cs typeface="+mn-cs"/>
                </a:rPr>
              </a:br>
              <a:r>
                <a:rPr lang="en-US" sz="1500" dirty="0">
                  <a:solidFill>
                    <a:schemeClr val="dk1"/>
                  </a:solidFill>
                  <a:latin typeface="+mn-lt"/>
                  <a:ea typeface="+mn-ea"/>
                  <a:cs typeface="+mn-cs"/>
                </a:rPr>
                <a:t>reply, approval, settlement event</a:t>
              </a:r>
              <a:br>
                <a:rPr lang="en-US" sz="1500" dirty="0">
                  <a:solidFill>
                    <a:schemeClr val="dk1"/>
                  </a:solidFill>
                  <a:latin typeface="+mn-lt"/>
                  <a:ea typeface="+mn-ea"/>
                  <a:cs typeface="+mn-cs"/>
                </a:rPr>
              </a:br>
              <a:r>
                <a:rPr lang="en-US" sz="1500" dirty="0">
                  <a:solidFill>
                    <a:schemeClr val="dk1"/>
                  </a:solidFill>
                  <a:latin typeface="+mn-lt"/>
                  <a:ea typeface="+mn-ea"/>
                  <a:cs typeface="+mn-cs"/>
                </a:rPr>
                <a:t>or deadline. A new invocation</a:t>
              </a:r>
              <a:br>
                <a:rPr lang="en-US" sz="1500" dirty="0">
                  <a:solidFill>
                    <a:schemeClr val="dk1"/>
                  </a:solidFill>
                  <a:latin typeface="+mn-lt"/>
                  <a:ea typeface="+mn-ea"/>
                  <a:cs typeface="+mn-cs"/>
                </a:rPr>
              </a:br>
              <a:r>
                <a:rPr lang="en-US" sz="1500" dirty="0">
                  <a:solidFill>
                    <a:schemeClr val="dk1"/>
                  </a:solidFill>
                  <a:latin typeface="+mn-lt"/>
                  <a:ea typeface="+mn-ea"/>
                  <a:cs typeface="+mn-cs"/>
                </a:rPr>
                <a:t>should know what happened and what</a:t>
              </a:r>
              <a:br>
                <a:rPr lang="en-US" sz="1500" dirty="0">
                  <a:solidFill>
                    <a:schemeClr val="dk1"/>
                  </a:solidFill>
                  <a:latin typeface="+mn-lt"/>
                  <a:ea typeface="+mn-ea"/>
                  <a:cs typeface="+mn-cs"/>
                </a:rPr>
              </a:br>
              <a:r>
                <a:rPr lang="en-US" sz="1500" dirty="0">
                  <a:solidFill>
                    <a:schemeClr val="dk1"/>
                  </a:solidFill>
                  <a:latin typeface="+mn-lt"/>
                  <a:ea typeface="+mn-ea"/>
                  <a:cs typeface="+mn-cs"/>
                </a:rPr>
                <a:t>remains, without assuming every</a:t>
              </a:r>
              <a:br>
                <a:rPr lang="en-US" sz="1500" dirty="0">
                  <a:solidFill>
                    <a:schemeClr val="dk1"/>
                  </a:solidFill>
                  <a:latin typeface="+mn-lt"/>
                  <a:ea typeface="+mn-ea"/>
                  <a:cs typeface="+mn-cs"/>
                </a:rPr>
              </a:br>
              <a:r>
                <a:rPr lang="en-US" sz="1500" dirty="0">
                  <a:solidFill>
                    <a:schemeClr val="dk1"/>
                  </a:solidFill>
                  <a:latin typeface="+mn-lt"/>
                  <a:ea typeface="+mn-ea"/>
                  <a:cs typeface="+mn-cs"/>
                </a:rPr>
                <a:t>prior action failed.</a:t>
              </a:r>
            </a:p>
          </p:txBody>
        </p:sp>
      </p:grpSp>
      <p:grpSp>
        <p:nvGrpSpPr>
          <p:cNvPr id="20" name="analysis-2"/>
          <p:cNvGrpSpPr/>
          <p:nvPr/>
        </p:nvGrpSpPr>
        <p:grpSpPr>
          <a:xfrm>
            <a:off x="4296156" y="2438400"/>
            <a:ext cx="3024354" cy="2969895"/>
            <a:chOff x="4296156" y="2438400"/>
            <a:chExt cx="3024354" cy="2969895"/>
          </a:xfrm>
        </p:grpSpPr>
        <p:sp>
          <p:nvSpPr>
            <p:cNvPr id="18" name="TextBox 18"/>
            <p:cNvSpPr txBox="1"/>
            <p:nvPr/>
          </p:nvSpPr>
          <p:spPr>
            <a:xfrm>
              <a:off x="4296156" y="2438400"/>
              <a:ext cx="3024354" cy="352044"/>
            </a:xfrm>
            <a:prstGeom prst="rect">
              <a:avLst/>
            </a:prstGeom>
            <a:noFill/>
            <a:ln>
              <a:noFill/>
            </a:ln>
          </p:spPr>
          <p:txBody>
            <a:bodyPr wrap="none" lIns="0" tIns="0" rIns="0" bIns="0" anchor="t" anchorCtr="0">
              <a:spAutoFit/>
            </a:bodyPr>
            <a:lstStyle/>
            <a:p>
              <a:pPr algn="l"/>
              <a:r>
                <a:rPr lang="en-US" sz="1800" dirty="0">
                  <a:solidFill>
                    <a:schemeClr val="accent2"/>
                  </a:solidFill>
                  <a:latin typeface="+mj-lt"/>
                  <a:ea typeface="+mj-ea"/>
                  <a:cs typeface="+mj-cs"/>
                </a:rPr>
                <a:t>Freeze the approved action</a:t>
              </a:r>
            </a:p>
          </p:txBody>
        </p:sp>
        <p:sp>
          <p:nvSpPr>
            <p:cNvPr id="19" name="TextBox 19"/>
            <p:cNvSpPr txBox="1"/>
            <p:nvPr/>
          </p:nvSpPr>
          <p:spPr>
            <a:xfrm>
              <a:off x="4297680" y="3057525"/>
              <a:ext cx="2948483" cy="2350770"/>
            </a:xfrm>
            <a:prstGeom prst="rect">
              <a:avLst/>
            </a:prstGeom>
            <a:noFill/>
            <a:ln>
              <a:noFill/>
            </a:ln>
          </p:spPr>
          <p:txBody>
            <a:bodyPr wrap="none" lIns="0" tIns="0" rIns="0" bIns="0" anchor="t" anchorCtr="0">
              <a:spAutoFit/>
            </a:bodyPr>
            <a:lstStyle/>
            <a:p>
              <a:pPr algn="l">
                <a:lnSpc>
                  <a:spcPts val="2025"/>
                </a:lnSpc>
              </a:pPr>
              <a:r>
                <a:rPr lang="en-US" sz="1500" dirty="0">
                  <a:solidFill>
                    <a:schemeClr val="dk1"/>
                  </a:solidFill>
                  <a:latin typeface="+mn-lt"/>
                  <a:ea typeface="+mn-ea"/>
                  <a:cs typeface="+mn-cs"/>
                </a:rPr>
                <a:t>Perpetual separates provisional</a:t>
              </a:r>
              <a:br>
                <a:rPr lang="en-US" sz="1500" dirty="0">
                  <a:solidFill>
                    <a:schemeClr val="dk1"/>
                  </a:solidFill>
                  <a:latin typeface="+mn-lt"/>
                  <a:ea typeface="+mn-ea"/>
                  <a:cs typeface="+mn-cs"/>
                </a:rPr>
              </a:br>
              <a:r>
                <a:rPr lang="en-US" sz="1500" dirty="0">
                  <a:solidFill>
                    <a:schemeClr val="dk1"/>
                  </a:solidFill>
                  <a:latin typeface="+mn-lt"/>
                  <a:ea typeface="+mn-ea"/>
                  <a:cs typeface="+mn-cs"/>
                </a:rPr>
                <a:t>interpretation from a compiled plan</a:t>
              </a:r>
              <a:br>
                <a:rPr lang="en-US" sz="1500" dirty="0">
                  <a:solidFill>
                    <a:schemeClr val="dk1"/>
                  </a:solidFill>
                  <a:latin typeface="+mn-lt"/>
                  <a:ea typeface="+mn-ea"/>
                  <a:cs typeface="+mn-cs"/>
                </a:rPr>
              </a:br>
              <a:r>
                <a:rPr lang="en-US" sz="1500" dirty="0">
                  <a:solidFill>
                    <a:schemeClr val="dk1"/>
                  </a:solidFill>
                  <a:latin typeface="+mn-lt"/>
                  <a:ea typeface="+mn-ea"/>
                  <a:cs typeface="+mn-cs"/>
                </a:rPr>
                <a:t>and binds approval to the exact</a:t>
              </a:r>
              <a:br>
                <a:rPr lang="en-US" sz="1500" dirty="0">
                  <a:solidFill>
                    <a:schemeClr val="dk1"/>
                  </a:solidFill>
                  <a:latin typeface="+mn-lt"/>
                  <a:ea typeface="+mn-ea"/>
                  <a:cs typeface="+mn-cs"/>
                </a:rPr>
              </a:br>
              <a:r>
                <a:rPr lang="en-US" sz="1500" dirty="0">
                  <a:solidFill>
                    <a:schemeClr val="dk1"/>
                  </a:solidFill>
                  <a:latin typeface="+mn-lt"/>
                  <a:ea typeface="+mn-ea"/>
                  <a:cs typeface="+mn-cs"/>
                </a:rPr>
                <a:t>outgoing payload. Clarification or</a:t>
              </a:r>
              <a:br>
                <a:rPr lang="en-US" sz="1500" dirty="0">
                  <a:solidFill>
                    <a:schemeClr val="dk1"/>
                  </a:solidFill>
                  <a:latin typeface="+mn-lt"/>
                  <a:ea typeface="+mn-ea"/>
                  <a:cs typeface="+mn-cs"/>
                </a:rPr>
              </a:br>
              <a:r>
                <a:rPr lang="en-US" sz="1500" dirty="0">
                  <a:solidFill>
                    <a:schemeClr val="dk1"/>
                  </a:solidFill>
                  <a:latin typeface="+mn-lt"/>
                  <a:ea typeface="+mn-ea"/>
                  <a:cs typeface="+mn-cs"/>
                </a:rPr>
                <a:t>refusal can be correct outcomes.</a:t>
              </a:r>
              <a:br>
                <a:rPr lang="en-US" sz="1500" dirty="0">
                  <a:solidFill>
                    <a:schemeClr val="dk1"/>
                  </a:solidFill>
                  <a:latin typeface="+mn-lt"/>
                  <a:ea typeface="+mn-ea"/>
                  <a:cs typeface="+mn-cs"/>
                </a:rPr>
              </a:br>
              <a:r>
                <a:rPr lang="en-US" sz="1500" dirty="0">
                  <a:solidFill>
                    <a:schemeClr val="dk1"/>
                  </a:solidFill>
                  <a:latin typeface="+mn-lt"/>
                  <a:ea typeface="+mn-ea"/>
                  <a:cs typeface="+mn-cs"/>
                </a:rPr>
                <a:t>Changes to a client reply must not</a:t>
              </a:r>
              <a:br>
                <a:rPr lang="en-US" sz="1500" dirty="0">
                  <a:solidFill>
                    <a:schemeClr val="dk1"/>
                  </a:solidFill>
                  <a:latin typeface="+mn-lt"/>
                  <a:ea typeface="+mn-ea"/>
                  <a:cs typeface="+mn-cs"/>
                </a:rPr>
              </a:br>
              <a:r>
                <a:rPr lang="en-US" sz="1500" dirty="0">
                  <a:solidFill>
                    <a:schemeClr val="dk1"/>
                  </a:solidFill>
                  <a:latin typeface="+mn-lt"/>
                  <a:ea typeface="+mn-ea"/>
                  <a:cs typeface="+mn-cs"/>
                </a:rPr>
                <a:t>silently rewrite the approved</a:t>
              </a:r>
              <a:br>
                <a:rPr lang="en-US" sz="1500" dirty="0">
                  <a:solidFill>
                    <a:schemeClr val="dk1"/>
                  </a:solidFill>
                  <a:latin typeface="+mn-lt"/>
                  <a:ea typeface="+mn-ea"/>
                  <a:cs typeface="+mn-cs"/>
                </a:rPr>
              </a:br>
              <a:r>
                <a:rPr lang="en-US" sz="1500" dirty="0">
                  <a:solidFill>
                    <a:schemeClr val="dk1"/>
                  </a:solidFill>
                  <a:latin typeface="+mn-lt"/>
                  <a:ea typeface="+mn-ea"/>
                  <a:cs typeface="+mn-cs"/>
                </a:rPr>
                <a:t>parent plan or inherit permission</a:t>
              </a:r>
              <a:br>
                <a:rPr lang="en-US" sz="1500" dirty="0">
                  <a:solidFill>
                    <a:schemeClr val="dk1"/>
                  </a:solidFill>
                  <a:latin typeface="+mn-lt"/>
                  <a:ea typeface="+mn-ea"/>
                  <a:cs typeface="+mn-cs"/>
                </a:rPr>
              </a:br>
              <a:r>
                <a:rPr lang="en-US" sz="1500" dirty="0">
                  <a:solidFill>
                    <a:schemeClr val="dk1"/>
                  </a:solidFill>
                  <a:latin typeface="+mn-lt"/>
                  <a:ea typeface="+mn-ea"/>
                  <a:cs typeface="+mn-cs"/>
                </a:rPr>
                <a:t>for a different action.</a:t>
              </a:r>
            </a:p>
          </p:txBody>
        </p:sp>
      </p:grpSp>
      <p:grpSp>
        <p:nvGrpSpPr>
          <p:cNvPr id="23" name="analysis-3"/>
          <p:cNvGrpSpPr/>
          <p:nvPr/>
        </p:nvGrpSpPr>
        <p:grpSpPr>
          <a:xfrm>
            <a:off x="8144256" y="2438400"/>
            <a:ext cx="2812618" cy="3484245"/>
            <a:chOff x="8144256" y="2438400"/>
            <a:chExt cx="2812618" cy="3484245"/>
          </a:xfrm>
        </p:grpSpPr>
        <p:sp>
          <p:nvSpPr>
            <p:cNvPr id="21" name="TextBox 21"/>
            <p:cNvSpPr txBox="1"/>
            <p:nvPr/>
          </p:nvSpPr>
          <p:spPr>
            <a:xfrm>
              <a:off x="8144256" y="2438400"/>
              <a:ext cx="2629997" cy="656844"/>
            </a:xfrm>
            <a:prstGeom prst="rect">
              <a:avLst/>
            </a:prstGeom>
            <a:noFill/>
            <a:ln>
              <a:noFill/>
            </a:ln>
          </p:spPr>
          <p:txBody>
            <a:bodyPr wrap="none" lIns="0" tIns="0" rIns="0" bIns="0" anchor="t" anchorCtr="0">
              <a:spAutoFit/>
            </a:bodyPr>
            <a:lstStyle/>
            <a:p>
              <a:pPr algn="l">
                <a:lnSpc>
                  <a:spcPts val="2400"/>
                </a:lnSpc>
              </a:pPr>
              <a:r>
                <a:rPr lang="en-US" sz="1800" dirty="0">
                  <a:solidFill>
                    <a:schemeClr val="accent2"/>
                  </a:solidFill>
                  <a:latin typeface="+mj-lt"/>
                  <a:ea typeface="+mj-ea"/>
                  <a:cs typeface="+mj-cs"/>
                </a:rPr>
                <a:t>Distinguish unknown from</a:t>
              </a:r>
              <a:br>
                <a:rPr lang="en-US" sz="1800" dirty="0">
                  <a:solidFill>
                    <a:schemeClr val="accent2"/>
                  </a:solidFill>
                  <a:latin typeface="+mj-lt"/>
                  <a:ea typeface="+mj-ea"/>
                  <a:cs typeface="+mj-cs"/>
                </a:rPr>
              </a:br>
              <a:r>
                <a:rPr lang="en-US" sz="1800" dirty="0">
                  <a:solidFill>
                    <a:schemeClr val="accent2"/>
                  </a:solidFill>
                  <a:latin typeface="+mj-lt"/>
                  <a:ea typeface="+mj-ea"/>
                  <a:cs typeface="+mj-cs"/>
                </a:rPr>
                <a:t>failed</a:t>
              </a:r>
            </a:p>
          </p:txBody>
        </p:sp>
        <p:sp>
          <p:nvSpPr>
            <p:cNvPr id="22" name="TextBox 22"/>
            <p:cNvSpPr txBox="1"/>
            <p:nvPr/>
          </p:nvSpPr>
          <p:spPr>
            <a:xfrm>
              <a:off x="8145780" y="3057525"/>
              <a:ext cx="2811094" cy="2865120"/>
            </a:xfrm>
            <a:prstGeom prst="rect">
              <a:avLst/>
            </a:prstGeom>
            <a:noFill/>
            <a:ln>
              <a:noFill/>
            </a:ln>
          </p:spPr>
          <p:txBody>
            <a:bodyPr wrap="none" lIns="0" tIns="0" rIns="0" bIns="0" anchor="t" anchorCtr="0">
              <a:spAutoFit/>
            </a:bodyPr>
            <a:lstStyle/>
            <a:p>
              <a:pPr algn="l">
                <a:lnSpc>
                  <a:spcPts val="2025"/>
                </a:lnSpc>
              </a:pPr>
              <a:r>
                <a:rPr lang="en-US" sz="1500" dirty="0">
                  <a:solidFill>
                    <a:schemeClr val="dk1"/>
                  </a:solidFill>
                  <a:latin typeface="+mn-lt"/>
                  <a:ea typeface="+mn-ea"/>
                  <a:cs typeface="+mn-cs"/>
                </a:rPr>
                <a:t>A timeout after an external write</a:t>
              </a:r>
              <a:br>
                <a:rPr lang="en-US" sz="1500" dirty="0">
                  <a:solidFill>
                    <a:schemeClr val="dk1"/>
                  </a:solidFill>
                  <a:latin typeface="+mn-lt"/>
                  <a:ea typeface="+mn-ea"/>
                  <a:cs typeface="+mn-cs"/>
                </a:rPr>
              </a:br>
              <a:r>
                <a:rPr lang="en-US" sz="1500" dirty="0">
                  <a:solidFill>
                    <a:schemeClr val="dk1"/>
                  </a:solidFill>
                  <a:latin typeface="+mn-lt"/>
                  <a:ea typeface="+mn-ea"/>
                  <a:cs typeface="+mn-cs"/>
                </a:rPr>
                <a:t>can leave the outcome unknown.</a:t>
              </a:r>
              <a:br>
                <a:rPr lang="en-US" sz="1500" dirty="0">
                  <a:solidFill>
                    <a:schemeClr val="dk1"/>
                  </a:solidFill>
                  <a:latin typeface="+mn-lt"/>
                  <a:ea typeface="+mn-ea"/>
                  <a:cs typeface="+mn-cs"/>
                </a:rPr>
              </a:br>
              <a:r>
                <a:rPr lang="en-US" sz="1500" dirty="0">
                  <a:solidFill>
                    <a:schemeClr val="dk1"/>
                  </a:solidFill>
                  <a:latin typeface="+mn-lt"/>
                  <a:ea typeface="+mn-ea"/>
                  <a:cs typeface="+mn-cs"/>
                </a:rPr>
                <a:t>Blind retries can duplicate an</a:t>
              </a:r>
              <a:br>
                <a:rPr lang="en-US" sz="1500" dirty="0">
                  <a:solidFill>
                    <a:schemeClr val="dk1"/>
                  </a:solidFill>
                  <a:latin typeface="+mn-lt"/>
                  <a:ea typeface="+mn-ea"/>
                  <a:cs typeface="+mn-cs"/>
                </a:rPr>
              </a:br>
              <a:r>
                <a:rPr lang="en-US" sz="1500" dirty="0">
                  <a:solidFill>
                    <a:schemeClr val="dk1"/>
                  </a:solidFill>
                  <a:latin typeface="+mn-lt"/>
                  <a:ea typeface="+mn-ea"/>
                  <a:cs typeface="+mn-cs"/>
                </a:rPr>
                <a:t>action. Route uncertainty to</a:t>
              </a:r>
              <a:br>
                <a:rPr lang="en-US" sz="1500" dirty="0">
                  <a:solidFill>
                    <a:schemeClr val="dk1"/>
                  </a:solidFill>
                  <a:latin typeface="+mn-lt"/>
                  <a:ea typeface="+mn-ea"/>
                  <a:cs typeface="+mn-cs"/>
                </a:rPr>
              </a:br>
              <a:r>
                <a:rPr lang="en-US" sz="1500" dirty="0">
                  <a:solidFill>
                    <a:schemeClr val="dk1"/>
                  </a:solidFill>
                  <a:latin typeface="+mn-lt"/>
                  <a:ea typeface="+mn-ea"/>
                  <a:cs typeface="+mn-cs"/>
                </a:rPr>
                <a:t>reconciliation or manual review;</a:t>
              </a:r>
              <a:br>
                <a:rPr lang="en-US" sz="1500" dirty="0">
                  <a:solidFill>
                    <a:schemeClr val="dk1"/>
                  </a:solidFill>
                  <a:latin typeface="+mn-lt"/>
                  <a:ea typeface="+mn-ea"/>
                  <a:cs typeface="+mn-cs"/>
                </a:rPr>
              </a:br>
              <a:r>
                <a:rPr lang="en-US" sz="1500" dirty="0">
                  <a:solidFill>
                    <a:schemeClr val="dk1"/>
                  </a:solidFill>
                  <a:latin typeface="+mn-lt"/>
                  <a:ea typeface="+mn-ea"/>
                  <a:cs typeface="+mn-cs"/>
                </a:rPr>
                <a:t>test interruptions around the</a:t>
              </a:r>
              <a:br>
                <a:rPr lang="en-US" sz="1500" dirty="0">
                  <a:solidFill>
                    <a:schemeClr val="dk1"/>
                  </a:solidFill>
                  <a:latin typeface="+mn-lt"/>
                  <a:ea typeface="+mn-ea"/>
                  <a:cs typeface="+mn-cs"/>
                </a:rPr>
              </a:br>
              <a:r>
                <a:rPr lang="en-US" sz="1500" dirty="0">
                  <a:solidFill>
                    <a:schemeClr val="dk1"/>
                  </a:solidFill>
                  <a:latin typeface="+mn-lt"/>
                  <a:ea typeface="+mn-ea"/>
                  <a:cs typeface="+mn-cs"/>
                </a:rPr>
                <a:t>side-effect boundary. Vanguard’s</a:t>
              </a:r>
              <a:br>
                <a:rPr lang="en-US" sz="1500" dirty="0">
                  <a:solidFill>
                    <a:schemeClr val="dk1"/>
                  </a:solidFill>
                  <a:latin typeface="+mn-lt"/>
                  <a:ea typeface="+mn-ea"/>
                  <a:cs typeface="+mn-cs"/>
                </a:rPr>
              </a:br>
              <a:r>
                <a:rPr lang="en-US" sz="1500" dirty="0">
                  <a:solidFill>
                    <a:schemeClr val="dk1"/>
                  </a:solidFill>
                  <a:latin typeface="+mn-lt"/>
                  <a:ea typeface="+mn-ea"/>
                  <a:cs typeface="+mn-cs"/>
                </a:rPr>
                <a:t>separate modernization story</a:t>
              </a:r>
              <a:br>
                <a:rPr lang="en-US" sz="1500" dirty="0">
                  <a:solidFill>
                    <a:schemeClr val="dk1"/>
                  </a:solidFill>
                  <a:latin typeface="+mn-lt"/>
                  <a:ea typeface="+mn-ea"/>
                  <a:cs typeface="+mn-cs"/>
                </a:rPr>
              </a:br>
              <a:r>
                <a:rPr lang="en-US" sz="1500" dirty="0">
                  <a:solidFill>
                    <a:schemeClr val="dk1"/>
                  </a:solidFill>
                  <a:latin typeface="+mn-lt"/>
                  <a:ea typeface="+mn-ea"/>
                  <a:cs typeface="+mn-cs"/>
                </a:rPr>
                <a:t>reinforces invariants and</a:t>
              </a:r>
              <a:br>
                <a:rPr lang="en-US" sz="1500" dirty="0">
                  <a:solidFill>
                    <a:schemeClr val="dk1"/>
                  </a:solidFill>
                  <a:latin typeface="+mn-lt"/>
                  <a:ea typeface="+mn-ea"/>
                  <a:cs typeface="+mn-cs"/>
                </a:rPr>
              </a:br>
              <a:r>
                <a:rPr lang="en-US" sz="1500" dirty="0">
                  <a:solidFill>
                    <a:schemeClr val="dk1"/>
                  </a:solidFill>
                  <a:latin typeface="+mn-lt"/>
                  <a:ea typeface="+mn-ea"/>
                  <a:cs typeface="+mn-cs"/>
                </a:rPr>
                <a:t>observability, not unconstrained</a:t>
              </a:r>
              <a:br>
                <a:rPr lang="en-US" sz="1500" dirty="0">
                  <a:solidFill>
                    <a:schemeClr val="dk1"/>
                  </a:solidFill>
                  <a:latin typeface="+mn-lt"/>
                  <a:ea typeface="+mn-ea"/>
                  <a:cs typeface="+mn-cs"/>
                </a:rPr>
              </a:br>
              <a:r>
                <a:rPr lang="en-US" sz="1500" dirty="0">
                  <a:solidFill>
                    <a:schemeClr val="dk1"/>
                  </a:solidFill>
                  <a:latin typeface="+mn-lt"/>
                  <a:ea typeface="+mn-ea"/>
                  <a:cs typeface="+mn-cs"/>
                </a:rPr>
                <a:t>autonomy.</a:t>
              </a:r>
            </a:p>
          </p:txBody>
        </p:sp>
      </p:grpSp>
      <p:grpSp>
        <p:nvGrpSpPr>
          <p:cNvPr id="26" name="footer"/>
          <p:cNvGrpSpPr/>
          <p:nvPr/>
        </p:nvGrpSpPr>
        <p:grpSpPr>
          <a:xfrm>
            <a:off x="452438" y="6477000"/>
            <a:ext cx="11287124" cy="176212"/>
            <a:chOff x="452438" y="6477000"/>
            <a:chExt cx="11287124" cy="176212"/>
          </a:xfrm>
        </p:grpSpPr>
        <p:sp>
          <p:nvSpPr>
            <p:cNvPr id="24" name="TextBox 24"/>
            <p:cNvSpPr txBox="1"/>
            <p:nvPr/>
          </p:nvSpPr>
          <p:spPr>
            <a:xfrm>
              <a:off x="452438" y="6477000"/>
              <a:ext cx="3659320" cy="176212"/>
            </a:xfrm>
            <a:prstGeom prst="rect">
              <a:avLst/>
            </a:prstGeom>
            <a:noFill/>
            <a:ln>
              <a:noFill/>
            </a:ln>
          </p:spPr>
          <p:txBody>
            <a:bodyPr wrap="none" lIns="0" tIns="0" rIns="0" bIns="0" anchor="t" anchorCtr="0">
              <a:spAutoFit/>
            </a:bodyPr>
            <a:lstStyle/>
            <a:p>
              <a:pPr algn="l"/>
              <a:r>
                <a:rPr lang="en-US" sz="900" dirty="0">
                  <a:solidFill>
                    <a:schemeClr val="accent5"/>
                  </a:solidFill>
                  <a:latin typeface="+mn-lt"/>
                  <a:ea typeface="+mn-ea"/>
                  <a:cs typeface="+mn-cs"/>
                </a:rPr>
                <a:t>Sources: Arca · Perpetual · Vanguard | Reviewed October 25, 2026</a:t>
              </a:r>
            </a:p>
          </p:txBody>
        </p:sp>
        <p:sp>
          <p:nvSpPr>
            <p:cNvPr id="25" name="TextBox 25"/>
            <p:cNvSpPr txBox="1"/>
            <p:nvPr/>
          </p:nvSpPr>
          <p:spPr>
            <a:xfrm>
              <a:off x="11359512" y="6477000"/>
              <a:ext cx="380050" cy="176212"/>
            </a:xfrm>
            <a:prstGeom prst="rect">
              <a:avLst/>
            </a:prstGeom>
            <a:noFill/>
            <a:ln>
              <a:noFill/>
            </a:ln>
          </p:spPr>
          <p:txBody>
            <a:bodyPr wrap="none" lIns="0" tIns="0" rIns="0" bIns="0" anchor="t" anchorCtr="0">
              <a:spAutoFit/>
            </a:bodyPr>
            <a:lstStyle/>
            <a:p>
              <a:pPr algn="r"/>
              <a:r>
                <a:rPr lang="en-US" sz="900" dirty="0">
                  <a:solidFill>
                    <a:schemeClr val="accent5"/>
                  </a:solidFill>
                  <a:latin typeface="+mn-lt"/>
                  <a:ea typeface="+mn-ea"/>
                  <a:cs typeface="+mn-cs"/>
                </a:rPr>
                <a:t>23 / 37</a:t>
              </a:r>
            </a:p>
          </p:txBody>
        </p:sp>
      </p:grpSp>
    </p:spTree>
  </p:cSld>
  <p:clrMapOvr>
    <a:masterClrMapping/>
  </p:clrMapOvr>
  <p:transition xmlns:p14="http://schemas.microsoft.com/office/powerpoint/2010/main" p14:dur="400">
    <p:fade/>
  </p:transition>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5" name="title"/>
          <p:cNvGrpSpPr/>
          <p:nvPr/>
        </p:nvGrpSpPr>
        <p:grpSpPr>
          <a:xfrm>
            <a:off x="443484" y="361950"/>
            <a:ext cx="9968645" cy="1100582"/>
            <a:chOff x="443484" y="361950"/>
            <a:chExt cx="9968645" cy="1100582"/>
          </a:xfrm>
        </p:grpSpPr>
        <p:sp>
          <p:nvSpPr>
            <p:cNvPr id="2" name="TextBox 2"/>
            <p:cNvSpPr txBox="1"/>
            <p:nvPr/>
          </p:nvSpPr>
          <p:spPr>
            <a:xfrm>
              <a:off x="451104" y="361950"/>
              <a:ext cx="2269370" cy="234696"/>
            </a:xfrm>
            <a:prstGeom prst="rect">
              <a:avLst/>
            </a:prstGeom>
            <a:noFill/>
            <a:ln>
              <a:noFill/>
            </a:ln>
          </p:spPr>
          <p:txBody>
            <a:bodyPr wrap="none" lIns="0" tIns="0" rIns="0" bIns="0" anchor="t" anchorCtr="0">
              <a:spAutoFit/>
            </a:bodyPr>
            <a:lstStyle/>
            <a:p>
              <a:pPr algn="l"/>
              <a:r>
                <a:rPr lang="en-US" sz="1200" dirty="0">
                  <a:solidFill>
                    <a:schemeClr val="accent2"/>
                  </a:solidFill>
                  <a:latin typeface="+mn-lt"/>
                  <a:ea typeface="+mn-ea"/>
                  <a:cs typeface="+mn-cs"/>
                </a:rPr>
                <a:t>05 / AI ENGINEER GROWTH</a:t>
              </a:r>
            </a:p>
          </p:txBody>
        </p:sp>
        <p:sp>
          <p:nvSpPr>
            <p:cNvPr id="3" name="TextBox 3"/>
            <p:cNvSpPr txBox="1"/>
            <p:nvPr/>
          </p:nvSpPr>
          <p:spPr>
            <a:xfrm>
              <a:off x="443484" y="593725"/>
              <a:ext cx="8945978" cy="528066"/>
            </a:xfrm>
            <a:prstGeom prst="rect">
              <a:avLst/>
            </a:prstGeom>
            <a:noFill/>
            <a:ln>
              <a:noFill/>
            </a:ln>
          </p:spPr>
          <p:txBody>
            <a:bodyPr wrap="none" lIns="0" tIns="0" rIns="0" bIns="0" anchor="t" anchorCtr="0">
              <a:spAutoFit/>
            </a:bodyPr>
            <a:lstStyle/>
            <a:p>
              <a:pPr algn="l"/>
              <a:r>
                <a:rPr lang="en-US" sz="2700" dirty="0">
                  <a:solidFill>
                    <a:schemeClr val="accent1"/>
                  </a:solidFill>
                  <a:latin typeface="+mj-lt"/>
                  <a:ea typeface="+mj-ea"/>
                  <a:cs typeface="+mj-cs"/>
                </a:rPr>
                <a:t>Persist progress; make execution authority temporary</a:t>
              </a:r>
            </a:p>
          </p:txBody>
        </p:sp>
        <p:sp>
          <p:nvSpPr>
            <p:cNvPr id="4" name="TextBox 4"/>
            <p:cNvSpPr txBox="1"/>
            <p:nvPr/>
          </p:nvSpPr>
          <p:spPr>
            <a:xfrm>
              <a:off x="448818" y="1139825"/>
              <a:ext cx="9963311" cy="322707"/>
            </a:xfrm>
            <a:prstGeom prst="rect">
              <a:avLst/>
            </a:prstGeom>
            <a:noFill/>
            <a:ln>
              <a:noFill/>
            </a:ln>
          </p:spPr>
          <p:txBody>
            <a:bodyPr wrap="none" lIns="0" tIns="0" rIns="0" bIns="0" anchor="t" anchorCtr="0">
              <a:spAutoFit/>
            </a:bodyPr>
            <a:lstStyle/>
            <a:p>
              <a:pPr algn="l"/>
              <a:r>
                <a:rPr lang="en-US" sz="1650" dirty="0">
                  <a:solidFill>
                    <a:schemeClr val="accent5"/>
                  </a:solidFill>
                  <a:latin typeface="+mn-lt"/>
                  <a:ea typeface="+mn-ea"/>
                  <a:cs typeface="+mn-cs"/>
                </a:rPr>
                <a:t>Arize separates durable issue history and skills from disposable sandboxes and bounded credentials.</a:t>
              </a:r>
            </a:p>
          </p:txBody>
        </p:sp>
      </p:grpSp>
      <p:grpSp>
        <p:nvGrpSpPr>
          <p:cNvPr id="10" name="lifetime-0"/>
          <p:cNvGrpSpPr/>
          <p:nvPr/>
        </p:nvGrpSpPr>
        <p:grpSpPr>
          <a:xfrm>
            <a:off x="457200" y="1714500"/>
            <a:ext cx="5448300" cy="2876550"/>
            <a:chOff x="457200" y="1714500"/>
            <a:chExt cx="5448300" cy="2876550"/>
          </a:xfrm>
        </p:grpSpPr>
        <p:sp>
          <p:nvSpPr>
            <p:cNvPr id="6" name="Rectangle 6"/>
            <p:cNvSpPr/>
            <p:nvPr/>
          </p:nvSpPr>
          <p:spPr>
            <a:xfrm>
              <a:off x="457200" y="1714500"/>
              <a:ext cx="5448300" cy="2876550"/>
            </a:xfrm>
            <a:prstGeom prst="rect">
              <a:avLst/>
            </a:prstGeom>
            <a:solidFill>
              <a:schemeClr val="lt2"/>
            </a:solidFill>
            <a:ln>
              <a:noFill/>
            </a:ln>
          </p:spPr>
        </p:sp>
        <p:sp>
          <p:nvSpPr>
            <p:cNvPr id="7" name="TextBox 7"/>
            <p:cNvSpPr txBox="1"/>
            <p:nvPr/>
          </p:nvSpPr>
          <p:spPr>
            <a:xfrm>
              <a:off x="660654" y="1905000"/>
              <a:ext cx="1861528" cy="234696"/>
            </a:xfrm>
            <a:prstGeom prst="rect">
              <a:avLst/>
            </a:prstGeom>
            <a:noFill/>
            <a:ln>
              <a:noFill/>
            </a:ln>
          </p:spPr>
          <p:txBody>
            <a:bodyPr wrap="none" lIns="0" tIns="0" rIns="0" bIns="0" anchor="t" anchorCtr="0">
              <a:spAutoFit/>
            </a:bodyPr>
            <a:lstStyle/>
            <a:p>
              <a:pPr algn="l"/>
              <a:r>
                <a:rPr lang="en-US" sz="1200" b="1" dirty="0">
                  <a:solidFill>
                    <a:schemeClr val="accent2"/>
                  </a:solidFill>
                  <a:latin typeface="+mn-lt"/>
                  <a:ea typeface="+mn-ea"/>
                  <a:cs typeface="+mn-cs"/>
                </a:rPr>
                <a:t>DURABLE PROGRESS</a:t>
              </a:r>
            </a:p>
          </p:txBody>
        </p:sp>
        <p:sp>
          <p:nvSpPr>
            <p:cNvPr id="8" name="TextBox 8"/>
            <p:cNvSpPr txBox="1"/>
            <p:nvPr/>
          </p:nvSpPr>
          <p:spPr>
            <a:xfrm>
              <a:off x="657606" y="2200275"/>
              <a:ext cx="3753490" cy="352044"/>
            </a:xfrm>
            <a:prstGeom prst="rect">
              <a:avLst/>
            </a:prstGeom>
            <a:noFill/>
            <a:ln>
              <a:noFill/>
            </a:ln>
          </p:spPr>
          <p:txBody>
            <a:bodyPr wrap="none" lIns="0" tIns="0" rIns="0" bIns="0" anchor="t" anchorCtr="0">
              <a:spAutoFit/>
            </a:bodyPr>
            <a:lstStyle/>
            <a:p>
              <a:pPr algn="l"/>
              <a:r>
                <a:rPr lang="en-US" sz="1800" dirty="0">
                  <a:solidFill>
                    <a:schemeClr val="accent2"/>
                  </a:solidFill>
                  <a:latin typeface="+mj-lt"/>
                  <a:ea typeface="+mj-ea"/>
                  <a:cs typeface="+mj-cs"/>
                </a:rPr>
                <a:t>Instrument enough to reconstruct</a:t>
              </a:r>
            </a:p>
          </p:txBody>
        </p:sp>
        <p:sp>
          <p:nvSpPr>
            <p:cNvPr id="9" name="TextBox 9"/>
            <p:cNvSpPr txBox="1"/>
            <p:nvPr/>
          </p:nvSpPr>
          <p:spPr>
            <a:xfrm>
              <a:off x="659130" y="2676525"/>
              <a:ext cx="4262056" cy="1579245"/>
            </a:xfrm>
            <a:prstGeom prst="rect">
              <a:avLst/>
            </a:prstGeom>
            <a:noFill/>
            <a:ln>
              <a:noFill/>
            </a:ln>
          </p:spPr>
          <p:txBody>
            <a:bodyPr wrap="none" lIns="0" tIns="0" rIns="0" bIns="0" anchor="t" anchorCtr="0">
              <a:spAutoFit/>
            </a:bodyPr>
            <a:lstStyle/>
            <a:p>
              <a:pPr algn="l">
                <a:lnSpc>
                  <a:spcPts val="2025"/>
                </a:lnSpc>
              </a:pPr>
              <a:r>
                <a:rPr lang="en-US" sz="1500" dirty="0">
                  <a:solidFill>
                    <a:schemeClr val="dk1"/>
                  </a:solidFill>
                  <a:latin typeface="+mn-lt"/>
                  <a:ea typeface="+mn-ea"/>
                  <a:cs typeface="+mn-cs"/>
                </a:rPr>
                <a:t>Retain the request, inputs, permissions, tools,</a:t>
              </a:r>
              <a:br>
                <a:rPr lang="en-US" sz="1500" dirty="0">
                  <a:solidFill>
                    <a:schemeClr val="dk1"/>
                  </a:solidFill>
                  <a:latin typeface="+mn-lt"/>
                  <a:ea typeface="+mn-ea"/>
                  <a:cs typeface="+mn-cs"/>
                </a:rPr>
              </a:br>
              <a:r>
                <a:rPr lang="en-US" sz="1500" dirty="0">
                  <a:solidFill>
                    <a:schemeClr val="dk1"/>
                  </a:solidFill>
                  <a:latin typeface="+mn-lt"/>
                  <a:ea typeface="+mn-ea"/>
                  <a:cs typeface="+mn-cs"/>
                </a:rPr>
                <a:t>result, evaluator and relevant versions.</a:t>
              </a:r>
              <a:br>
                <a:rPr lang="en-US" sz="1500" dirty="0">
                  <a:solidFill>
                    <a:schemeClr val="dk1"/>
                  </a:solidFill>
                  <a:latin typeface="+mn-lt"/>
                  <a:ea typeface="+mn-ea"/>
                  <a:cs typeface="+mn-cs"/>
                </a:rPr>
              </a:br>
              <a:r>
                <a:rPr lang="en-US" sz="1500" dirty="0">
                  <a:solidFill>
                    <a:schemeClr val="dk1"/>
                  </a:solidFill>
                  <a:latin typeface="+mn-lt"/>
                  <a:ea typeface="+mn-ea"/>
                  <a:cs typeface="+mn-cs"/>
                </a:rPr>
                <a:t>Distinguish a run summary from the ordered</a:t>
              </a:r>
              <a:br>
                <a:rPr lang="en-US" sz="1500" dirty="0">
                  <a:solidFill>
                    <a:schemeClr val="dk1"/>
                  </a:solidFill>
                  <a:latin typeface="+mn-lt"/>
                  <a:ea typeface="+mn-ea"/>
                  <a:cs typeface="+mn-cs"/>
                </a:rPr>
              </a:br>
              <a:r>
                <a:rPr lang="en-US" sz="1500" dirty="0">
                  <a:solidFill>
                    <a:schemeClr val="dk1"/>
                  </a:solidFill>
                  <a:latin typeface="+mn-lt"/>
                  <a:ea typeface="+mn-ea"/>
                  <a:cs typeface="+mn-cs"/>
                </a:rPr>
                <a:t>trajectory. Trace agents modifying the system as</a:t>
              </a:r>
              <a:br>
                <a:rPr lang="en-US" sz="1500" dirty="0">
                  <a:solidFill>
                    <a:schemeClr val="dk1"/>
                  </a:solidFill>
                  <a:latin typeface="+mn-lt"/>
                  <a:ea typeface="+mn-ea"/>
                  <a:cs typeface="+mn-cs"/>
                </a:rPr>
              </a:br>
              <a:r>
                <a:rPr lang="en-US" sz="1500" dirty="0">
                  <a:solidFill>
                    <a:schemeClr val="dk1"/>
                  </a:solidFill>
                  <a:latin typeface="+mn-lt"/>
                  <a:ea typeface="+mn-ea"/>
                  <a:cs typeface="+mn-cs"/>
                </a:rPr>
                <a:t>well as deployed agents, so a proposed repair has</a:t>
              </a:r>
              <a:br>
                <a:rPr lang="en-US" sz="1500" dirty="0">
                  <a:solidFill>
                    <a:schemeClr val="dk1"/>
                  </a:solidFill>
                  <a:latin typeface="+mn-lt"/>
                  <a:ea typeface="+mn-ea"/>
                  <a:cs typeface="+mn-cs"/>
                </a:rPr>
              </a:br>
              <a:r>
                <a:rPr lang="en-US" sz="1500" dirty="0">
                  <a:solidFill>
                    <a:schemeClr val="dk1"/>
                  </a:solidFill>
                  <a:latin typeface="+mn-lt"/>
                  <a:ea typeface="+mn-ea"/>
                  <a:cs typeface="+mn-cs"/>
                </a:rPr>
                <a:t>evidence rather than only a confident explanation.</a:t>
              </a:r>
            </a:p>
          </p:txBody>
        </p:sp>
      </p:grpSp>
      <p:grpSp>
        <p:nvGrpSpPr>
          <p:cNvPr id="15" name="lifetime-1"/>
          <p:cNvGrpSpPr/>
          <p:nvPr/>
        </p:nvGrpSpPr>
        <p:grpSpPr>
          <a:xfrm>
            <a:off x="6286500" y="1714500"/>
            <a:ext cx="5448300" cy="2876550"/>
            <a:chOff x="6286500" y="1714500"/>
            <a:chExt cx="5448300" cy="2876550"/>
          </a:xfrm>
        </p:grpSpPr>
        <p:sp>
          <p:nvSpPr>
            <p:cNvPr id="11" name="Rectangle 11"/>
            <p:cNvSpPr/>
            <p:nvPr/>
          </p:nvSpPr>
          <p:spPr>
            <a:xfrm>
              <a:off x="6286500" y="1714500"/>
              <a:ext cx="5448300" cy="2876550"/>
            </a:xfrm>
            <a:prstGeom prst="rect">
              <a:avLst/>
            </a:prstGeom>
            <a:solidFill>
              <a:schemeClr val="accent1"/>
            </a:solidFill>
            <a:ln>
              <a:noFill/>
            </a:ln>
          </p:spPr>
        </p:sp>
        <p:sp>
          <p:nvSpPr>
            <p:cNvPr id="12" name="TextBox 12"/>
            <p:cNvSpPr txBox="1"/>
            <p:nvPr/>
          </p:nvSpPr>
          <p:spPr>
            <a:xfrm>
              <a:off x="6489954" y="1905000"/>
              <a:ext cx="2145963" cy="234696"/>
            </a:xfrm>
            <a:prstGeom prst="rect">
              <a:avLst/>
            </a:prstGeom>
            <a:noFill/>
            <a:ln>
              <a:noFill/>
            </a:ln>
          </p:spPr>
          <p:txBody>
            <a:bodyPr wrap="none" lIns="0" tIns="0" rIns="0" bIns="0" anchor="t" anchorCtr="0">
              <a:spAutoFit/>
            </a:bodyPr>
            <a:lstStyle/>
            <a:p>
              <a:pPr algn="l"/>
              <a:r>
                <a:rPr lang="en-US" sz="1200" b="1" dirty="0">
                  <a:solidFill>
                    <a:schemeClr val="accent3"/>
                  </a:solidFill>
                  <a:latin typeface="+mn-lt"/>
                  <a:ea typeface="+mn-ea"/>
                  <a:cs typeface="+mn-cs"/>
                </a:rPr>
                <a:t>TEMPORARY EXECUTION</a:t>
              </a:r>
            </a:p>
          </p:txBody>
        </p:sp>
        <p:sp>
          <p:nvSpPr>
            <p:cNvPr id="13" name="TextBox 13"/>
            <p:cNvSpPr txBox="1"/>
            <p:nvPr/>
          </p:nvSpPr>
          <p:spPr>
            <a:xfrm>
              <a:off x="6486906" y="2200275"/>
              <a:ext cx="3366134" cy="352044"/>
            </a:xfrm>
            <a:prstGeom prst="rect">
              <a:avLst/>
            </a:prstGeom>
            <a:noFill/>
            <a:ln>
              <a:noFill/>
            </a:ln>
          </p:spPr>
          <p:txBody>
            <a:bodyPr wrap="none" lIns="0" tIns="0" rIns="0" bIns="0" anchor="t" anchorCtr="0">
              <a:spAutoFit/>
            </a:bodyPr>
            <a:lstStyle/>
            <a:p>
              <a:pPr algn="l"/>
              <a:r>
                <a:rPr lang="en-US" sz="1800" dirty="0">
                  <a:solidFill>
                    <a:schemeClr val="accent3"/>
                  </a:solidFill>
                  <a:latin typeface="+mj-lt"/>
                  <a:ea typeface="+mj-ea"/>
                  <a:cs typeface="+mj-cs"/>
                </a:rPr>
                <a:t>Separate progress from access</a:t>
              </a:r>
            </a:p>
          </p:txBody>
        </p:sp>
        <p:sp>
          <p:nvSpPr>
            <p:cNvPr id="14" name="TextBox 14"/>
            <p:cNvSpPr txBox="1"/>
            <p:nvPr/>
          </p:nvSpPr>
          <p:spPr>
            <a:xfrm>
              <a:off x="6488430" y="2676525"/>
              <a:ext cx="4155681" cy="1836420"/>
            </a:xfrm>
            <a:prstGeom prst="rect">
              <a:avLst/>
            </a:prstGeom>
            <a:noFill/>
            <a:ln>
              <a:noFill/>
            </a:ln>
          </p:spPr>
          <p:txBody>
            <a:bodyPr wrap="none" lIns="0" tIns="0" rIns="0" bIns="0" anchor="t" anchorCtr="0">
              <a:spAutoFit/>
            </a:bodyPr>
            <a:lstStyle/>
            <a:p>
              <a:pPr algn="l">
                <a:lnSpc>
                  <a:spcPts val="2025"/>
                </a:lnSpc>
              </a:pPr>
              <a:r>
                <a:rPr lang="en-US" sz="1500" dirty="0">
                  <a:solidFill>
                    <a:srgbClr val="FFFDF7"/>
                  </a:solidFill>
                  <a:latin typeface="+mn-lt"/>
                  <a:ea typeface="+mn-ea"/>
                  <a:cs typeface="+mn-cs"/>
                </a:rPr>
                <a:t>Issue history, useful skills and telemetry can</a:t>
              </a:r>
              <a:br>
                <a:rPr lang="en-US" sz="1500" dirty="0">
                  <a:solidFill>
                    <a:srgbClr val="FFFDF7"/>
                  </a:solidFill>
                  <a:latin typeface="+mn-lt"/>
                  <a:ea typeface="+mn-ea"/>
                  <a:cs typeface="+mn-cs"/>
                </a:rPr>
              </a:br>
              <a:r>
                <a:rPr lang="en-US" sz="1500" dirty="0">
                  <a:solidFill>
                    <a:srgbClr val="FFFDF7"/>
                  </a:solidFill>
                  <a:latin typeface="+mn-lt"/>
                  <a:ea typeface="+mn-ea"/>
                  <a:cs typeface="+mn-cs"/>
                </a:rPr>
                <a:t>survive a sandbox failure; temporary credentials</a:t>
              </a:r>
              <a:br>
                <a:rPr lang="en-US" sz="1500" dirty="0">
                  <a:solidFill>
                    <a:srgbClr val="FFFDF7"/>
                  </a:solidFill>
                  <a:latin typeface="+mn-lt"/>
                  <a:ea typeface="+mn-ea"/>
                  <a:cs typeface="+mn-cs"/>
                </a:rPr>
              </a:br>
              <a:r>
                <a:rPr lang="en-US" sz="1500" dirty="0">
                  <a:solidFill>
                    <a:srgbClr val="FFFDF7"/>
                  </a:solidFill>
                  <a:latin typeface="+mn-lt"/>
                  <a:ea typeface="+mn-ea"/>
                  <a:cs typeface="+mn-cs"/>
                </a:rPr>
                <a:t>and repository access should not survive by</a:t>
              </a:r>
              <a:br>
                <a:rPr lang="en-US" sz="1500" dirty="0">
                  <a:solidFill>
                    <a:srgbClr val="FFFDF7"/>
                  </a:solidFill>
                  <a:latin typeface="+mn-lt"/>
                  <a:ea typeface="+mn-ea"/>
                  <a:cs typeface="+mn-cs"/>
                </a:rPr>
              </a:br>
              <a:r>
                <a:rPr lang="en-US" sz="1500" dirty="0">
                  <a:solidFill>
                    <a:srgbClr val="FFFDF7"/>
                  </a:solidFill>
                  <a:latin typeface="+mn-lt"/>
                  <a:ea typeface="+mn-ea"/>
                  <a:cs typeface="+mn-cs"/>
                </a:rPr>
                <a:t>default. A replacement run resumes from durable</a:t>
              </a:r>
              <a:br>
                <a:rPr lang="en-US" sz="1500" dirty="0">
                  <a:solidFill>
                    <a:srgbClr val="FFFDF7"/>
                  </a:solidFill>
                  <a:latin typeface="+mn-lt"/>
                  <a:ea typeface="+mn-ea"/>
                  <a:cs typeface="+mn-cs"/>
                </a:rPr>
              </a:br>
              <a:r>
                <a:rPr lang="en-US" sz="1500" dirty="0">
                  <a:solidFill>
                    <a:srgbClr val="FFFDF7"/>
                  </a:solidFill>
                  <a:latin typeface="+mn-lt"/>
                  <a:ea typeface="+mn-ea"/>
                  <a:cs typeface="+mn-cs"/>
                </a:rPr>
                <a:t>state under newly checked authority. Persistence</a:t>
              </a:r>
              <a:br>
                <a:rPr lang="en-US" sz="1500" dirty="0">
                  <a:solidFill>
                    <a:srgbClr val="FFFDF7"/>
                  </a:solidFill>
                  <a:latin typeface="+mn-lt"/>
                  <a:ea typeface="+mn-ea"/>
                  <a:cs typeface="+mn-cs"/>
                </a:rPr>
              </a:br>
              <a:r>
                <a:rPr lang="en-US" sz="1500" dirty="0">
                  <a:solidFill>
                    <a:srgbClr val="FFFDF7"/>
                  </a:solidFill>
                  <a:latin typeface="+mn-lt"/>
                  <a:ea typeface="+mn-ea"/>
                  <a:cs typeface="+mn-cs"/>
                </a:rPr>
                <a:t>of knowledge does not imply persistence of</a:t>
              </a:r>
              <a:br>
                <a:rPr lang="en-US" sz="1500" dirty="0">
                  <a:solidFill>
                    <a:srgbClr val="FFFDF7"/>
                  </a:solidFill>
                  <a:latin typeface="+mn-lt"/>
                  <a:ea typeface="+mn-ea"/>
                  <a:cs typeface="+mn-cs"/>
                </a:rPr>
              </a:br>
              <a:r>
                <a:rPr lang="en-US" sz="1500" dirty="0">
                  <a:solidFill>
                    <a:srgbClr val="FFFDF7"/>
                  </a:solidFill>
                  <a:latin typeface="+mn-lt"/>
                  <a:ea typeface="+mn-ea"/>
                  <a:cs typeface="+mn-cs"/>
                </a:rPr>
                <a:t>permission.</a:t>
              </a:r>
            </a:p>
          </p:txBody>
        </p:sp>
      </p:grpSp>
      <p:grpSp>
        <p:nvGrpSpPr>
          <p:cNvPr id="18" name="controlled-improvement"/>
          <p:cNvGrpSpPr/>
          <p:nvPr/>
        </p:nvGrpSpPr>
        <p:grpSpPr>
          <a:xfrm>
            <a:off x="448056" y="4991100"/>
            <a:ext cx="9611106" cy="1207770"/>
            <a:chOff x="448056" y="4991100"/>
            <a:chExt cx="9611106" cy="1207770"/>
          </a:xfrm>
        </p:grpSpPr>
        <p:sp>
          <p:nvSpPr>
            <p:cNvPr id="16" name="TextBox 16"/>
            <p:cNvSpPr txBox="1"/>
            <p:nvPr/>
          </p:nvSpPr>
          <p:spPr>
            <a:xfrm>
              <a:off x="448056" y="4991100"/>
              <a:ext cx="1927211" cy="352044"/>
            </a:xfrm>
            <a:prstGeom prst="rect">
              <a:avLst/>
            </a:prstGeom>
            <a:noFill/>
            <a:ln>
              <a:noFill/>
            </a:ln>
          </p:spPr>
          <p:txBody>
            <a:bodyPr wrap="none" lIns="0" tIns="0" rIns="0" bIns="0" anchor="t" anchorCtr="0">
              <a:spAutoFit/>
            </a:bodyPr>
            <a:lstStyle/>
            <a:p>
              <a:pPr algn="l"/>
              <a:r>
                <a:rPr lang="en-US" sz="1800" dirty="0">
                  <a:solidFill>
                    <a:schemeClr val="accent2"/>
                  </a:solidFill>
                  <a:latin typeface="+mj-lt"/>
                  <a:ea typeface="+mj-ea"/>
                  <a:cs typeface="+mj-cs"/>
                </a:rPr>
                <a:t>Prove the change</a:t>
              </a:r>
            </a:p>
          </p:txBody>
        </p:sp>
        <p:sp>
          <p:nvSpPr>
            <p:cNvPr id="17" name="TextBox 17"/>
            <p:cNvSpPr txBox="1"/>
            <p:nvPr/>
          </p:nvSpPr>
          <p:spPr>
            <a:xfrm>
              <a:off x="449580" y="5391150"/>
              <a:ext cx="9609582" cy="807720"/>
            </a:xfrm>
            <a:prstGeom prst="rect">
              <a:avLst/>
            </a:prstGeom>
            <a:noFill/>
            <a:ln>
              <a:noFill/>
            </a:ln>
          </p:spPr>
          <p:txBody>
            <a:bodyPr wrap="none" lIns="0" tIns="0" rIns="0" bIns="0" anchor="t" anchorCtr="0">
              <a:spAutoFit/>
            </a:bodyPr>
            <a:lstStyle/>
            <a:p>
              <a:pPr algn="l">
                <a:lnSpc>
                  <a:spcPts val="2025"/>
                </a:lnSpc>
              </a:pPr>
              <a:r>
                <a:rPr lang="en-US" sz="1500" dirty="0">
                  <a:solidFill>
                    <a:schemeClr val="dk1"/>
                  </a:solidFill>
                  <a:latin typeface="+mn-lt"/>
                  <a:ea typeface="+mn-ea"/>
                  <a:cs typeface="+mn-cs"/>
                </a:rPr>
                <a:t>Calibrate evaluators against human-labeled cases, replay a failure and inspect paired regressions. Proposed fixes</a:t>
              </a:r>
              <a:br>
                <a:rPr lang="en-US" sz="1500" dirty="0">
                  <a:solidFill>
                    <a:schemeClr val="dk1"/>
                  </a:solidFill>
                  <a:latin typeface="+mn-lt"/>
                  <a:ea typeface="+mn-ea"/>
                  <a:cs typeface="+mn-cs"/>
                </a:rPr>
              </a:br>
              <a:r>
                <a:rPr lang="en-US" sz="1500" dirty="0">
                  <a:solidFill>
                    <a:schemeClr val="dk1"/>
                  </a:solidFill>
                  <a:latin typeface="+mn-lt"/>
                  <a:ea typeface="+mn-ea"/>
                  <a:cs typeface="+mn-cs"/>
                </a:rPr>
                <a:t>or PRs remain proposals until accountable review permits release. Prime Intellect’s learning progression makes</a:t>
              </a:r>
              <a:br>
                <a:rPr lang="en-US" sz="1500" dirty="0">
                  <a:solidFill>
                    <a:schemeClr val="dk1"/>
                  </a:solidFill>
                  <a:latin typeface="+mn-lt"/>
                  <a:ea typeface="+mn-ea"/>
                  <a:cs typeface="+mn-cs"/>
                </a:rPr>
              </a:br>
              <a:r>
                <a:rPr lang="en-US" sz="1500" dirty="0">
                  <a:solidFill>
                    <a:schemeClr val="dk1"/>
                  </a:solidFill>
                  <a:latin typeface="+mn-lt"/>
                  <a:ea typeface="+mn-ea"/>
                  <a:cs typeface="+mn-cs"/>
                </a:rPr>
                <a:t>corrections an asset before pursuing routing or training optimizations.</a:t>
              </a:r>
            </a:p>
          </p:txBody>
        </p:sp>
      </p:grpSp>
      <p:grpSp>
        <p:nvGrpSpPr>
          <p:cNvPr id="21" name="footer"/>
          <p:cNvGrpSpPr/>
          <p:nvPr/>
        </p:nvGrpSpPr>
        <p:grpSpPr>
          <a:xfrm>
            <a:off x="452438" y="6477000"/>
            <a:ext cx="11287124" cy="176212"/>
            <a:chOff x="452438" y="6477000"/>
            <a:chExt cx="11287124" cy="176212"/>
          </a:xfrm>
        </p:grpSpPr>
        <p:sp>
          <p:nvSpPr>
            <p:cNvPr id="19" name="TextBox 19"/>
            <p:cNvSpPr txBox="1"/>
            <p:nvPr/>
          </p:nvSpPr>
          <p:spPr>
            <a:xfrm>
              <a:off x="452438" y="6477000"/>
              <a:ext cx="3300461" cy="176212"/>
            </a:xfrm>
            <a:prstGeom prst="rect">
              <a:avLst/>
            </a:prstGeom>
            <a:noFill/>
            <a:ln>
              <a:noFill/>
            </a:ln>
          </p:spPr>
          <p:txBody>
            <a:bodyPr wrap="none" lIns="0" tIns="0" rIns="0" bIns="0" anchor="t" anchorCtr="0">
              <a:spAutoFit/>
            </a:bodyPr>
            <a:lstStyle/>
            <a:p>
              <a:pPr algn="l"/>
              <a:r>
                <a:rPr lang="en-US" sz="900" dirty="0">
                  <a:solidFill>
                    <a:schemeClr val="accent5"/>
                  </a:solidFill>
                  <a:latin typeface="+mn-lt"/>
                  <a:ea typeface="+mn-ea"/>
                  <a:cs typeface="+mn-cs"/>
                </a:rPr>
                <a:t>Sources: Arize · Prime Intellect | Reviewed October 25, 2026</a:t>
              </a:r>
            </a:p>
          </p:txBody>
        </p:sp>
        <p:sp>
          <p:nvSpPr>
            <p:cNvPr id="20" name="TextBox 20"/>
            <p:cNvSpPr txBox="1"/>
            <p:nvPr/>
          </p:nvSpPr>
          <p:spPr>
            <a:xfrm>
              <a:off x="11359512" y="6477000"/>
              <a:ext cx="380050" cy="176212"/>
            </a:xfrm>
            <a:prstGeom prst="rect">
              <a:avLst/>
            </a:prstGeom>
            <a:noFill/>
            <a:ln>
              <a:noFill/>
            </a:ln>
          </p:spPr>
          <p:txBody>
            <a:bodyPr wrap="none" lIns="0" tIns="0" rIns="0" bIns="0" anchor="t" anchorCtr="0">
              <a:spAutoFit/>
            </a:bodyPr>
            <a:lstStyle/>
            <a:p>
              <a:pPr algn="r"/>
              <a:r>
                <a:rPr lang="en-US" sz="900" dirty="0">
                  <a:solidFill>
                    <a:schemeClr val="accent5"/>
                  </a:solidFill>
                  <a:latin typeface="+mn-lt"/>
                  <a:ea typeface="+mn-ea"/>
                  <a:cs typeface="+mn-cs"/>
                </a:rPr>
                <a:t>24 / 37</a:t>
              </a:r>
            </a:p>
          </p:txBody>
        </p:sp>
      </p:grpSp>
    </p:spTree>
  </p:cSld>
  <p:clrMapOvr>
    <a:masterClrMapping/>
  </p:clrMapOvr>
  <p:transition xmlns:p14="http://schemas.microsoft.com/office/powerpoint/2010/main" p14:dur="400">
    <p:fade/>
  </p:transition>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5" name="title"/>
          <p:cNvGrpSpPr/>
          <p:nvPr/>
        </p:nvGrpSpPr>
        <p:grpSpPr>
          <a:xfrm>
            <a:off x="443484" y="361950"/>
            <a:ext cx="9081403" cy="1100582"/>
            <a:chOff x="443484" y="361950"/>
            <a:chExt cx="9081403" cy="1100582"/>
          </a:xfrm>
        </p:grpSpPr>
        <p:sp>
          <p:nvSpPr>
            <p:cNvPr id="2" name="TextBox 2"/>
            <p:cNvSpPr txBox="1"/>
            <p:nvPr/>
          </p:nvSpPr>
          <p:spPr>
            <a:xfrm>
              <a:off x="451104" y="361950"/>
              <a:ext cx="2269370" cy="234696"/>
            </a:xfrm>
            <a:prstGeom prst="rect">
              <a:avLst/>
            </a:prstGeom>
            <a:noFill/>
            <a:ln>
              <a:noFill/>
            </a:ln>
          </p:spPr>
          <p:txBody>
            <a:bodyPr wrap="none" lIns="0" tIns="0" rIns="0" bIns="0" anchor="t" anchorCtr="0">
              <a:spAutoFit/>
            </a:bodyPr>
            <a:lstStyle/>
            <a:p>
              <a:pPr algn="l"/>
              <a:r>
                <a:rPr lang="en-US" sz="1200" dirty="0">
                  <a:solidFill>
                    <a:schemeClr val="accent2"/>
                  </a:solidFill>
                  <a:latin typeface="+mn-lt"/>
                  <a:ea typeface="+mn-ea"/>
                  <a:cs typeface="+mn-cs"/>
                </a:rPr>
                <a:t>05 / AI ENGINEER GROWTH</a:t>
              </a:r>
            </a:p>
          </p:txBody>
        </p:sp>
        <p:sp>
          <p:nvSpPr>
            <p:cNvPr id="3" name="TextBox 3"/>
            <p:cNvSpPr txBox="1"/>
            <p:nvPr/>
          </p:nvSpPr>
          <p:spPr>
            <a:xfrm>
              <a:off x="443484" y="593725"/>
              <a:ext cx="9081403" cy="528066"/>
            </a:xfrm>
            <a:prstGeom prst="rect">
              <a:avLst/>
            </a:prstGeom>
            <a:noFill/>
            <a:ln>
              <a:noFill/>
            </a:ln>
          </p:spPr>
          <p:txBody>
            <a:bodyPr wrap="none" lIns="0" tIns="0" rIns="0" bIns="0" anchor="t" anchorCtr="0">
              <a:spAutoFit/>
            </a:bodyPr>
            <a:lstStyle/>
            <a:p>
              <a:pPr algn="l"/>
              <a:r>
                <a:rPr lang="en-US" sz="2700" dirty="0">
                  <a:solidFill>
                    <a:schemeClr val="accent1"/>
                  </a:solidFill>
                  <a:latin typeface="+mj-lt"/>
                  <a:ea typeface="+mj-ea"/>
                  <a:cs typeface="+mj-cs"/>
                </a:rPr>
                <a:t>Connect product judgment, meaning and measurement</a:t>
              </a:r>
            </a:p>
          </p:txBody>
        </p:sp>
        <p:sp>
          <p:nvSpPr>
            <p:cNvPr id="4" name="TextBox 4"/>
            <p:cNvSpPr txBox="1"/>
            <p:nvPr/>
          </p:nvSpPr>
          <p:spPr>
            <a:xfrm>
              <a:off x="448818" y="1139825"/>
              <a:ext cx="7727485" cy="322707"/>
            </a:xfrm>
            <a:prstGeom prst="rect">
              <a:avLst/>
            </a:prstGeom>
            <a:noFill/>
            <a:ln>
              <a:noFill/>
            </a:ln>
          </p:spPr>
          <p:txBody>
            <a:bodyPr wrap="none" lIns="0" tIns="0" rIns="0" bIns="0" anchor="t" anchorCtr="0">
              <a:spAutoFit/>
            </a:bodyPr>
            <a:lstStyle/>
            <a:p>
              <a:pPr algn="l"/>
              <a:r>
                <a:rPr lang="en-US" sz="1650" dirty="0">
                  <a:solidFill>
                    <a:schemeClr val="accent5"/>
                  </a:solidFill>
                  <a:latin typeface="+mn-lt"/>
                  <a:ea typeface="+mn-ea"/>
                  <a:cs typeface="+mn-cs"/>
                </a:rPr>
                <a:t>Faster code creation can move the constraint to review, operations or security.</a:t>
              </a:r>
            </a:p>
          </p:txBody>
        </p:sp>
      </p:grpSp>
      <p:grpSp>
        <p:nvGrpSpPr>
          <p:cNvPr id="10" name="responsibility-0"/>
          <p:cNvGrpSpPr/>
          <p:nvPr/>
        </p:nvGrpSpPr>
        <p:grpSpPr>
          <a:xfrm>
            <a:off x="448056" y="1781175"/>
            <a:ext cx="11286744" cy="1276350"/>
            <a:chOff x="448056" y="1781175"/>
            <a:chExt cx="11286744" cy="1276350"/>
          </a:xfrm>
        </p:grpSpPr>
        <p:sp>
          <p:nvSpPr>
            <p:cNvPr id="6" name="TextBox 6"/>
            <p:cNvSpPr txBox="1"/>
            <p:nvPr/>
          </p:nvSpPr>
          <p:spPr>
            <a:xfrm>
              <a:off x="448056" y="1781175"/>
              <a:ext cx="301818" cy="352044"/>
            </a:xfrm>
            <a:prstGeom prst="rect">
              <a:avLst/>
            </a:prstGeom>
            <a:noFill/>
            <a:ln>
              <a:noFill/>
            </a:ln>
          </p:spPr>
          <p:txBody>
            <a:bodyPr wrap="none" lIns="0" tIns="0" rIns="0" bIns="0" anchor="t" anchorCtr="0">
              <a:spAutoFit/>
            </a:bodyPr>
            <a:lstStyle/>
            <a:p>
              <a:pPr algn="l"/>
              <a:r>
                <a:rPr lang="en-US" sz="1800" dirty="0">
                  <a:solidFill>
                    <a:schemeClr val="accent2"/>
                  </a:solidFill>
                  <a:latin typeface="+mj-lt"/>
                  <a:ea typeface="+mj-ea"/>
                  <a:cs typeface="+mj-cs"/>
                </a:rPr>
                <a:t>01</a:t>
              </a:r>
            </a:p>
          </p:txBody>
        </p:sp>
        <p:sp>
          <p:nvSpPr>
            <p:cNvPr id="7" name="TextBox 7"/>
            <p:cNvSpPr txBox="1"/>
            <p:nvPr/>
          </p:nvSpPr>
          <p:spPr>
            <a:xfrm>
              <a:off x="1362456" y="1781175"/>
              <a:ext cx="1670083" cy="656844"/>
            </a:xfrm>
            <a:prstGeom prst="rect">
              <a:avLst/>
            </a:prstGeom>
            <a:noFill/>
            <a:ln>
              <a:noFill/>
            </a:ln>
          </p:spPr>
          <p:txBody>
            <a:bodyPr wrap="none" lIns="0" tIns="0" rIns="0" bIns="0" anchor="t" anchorCtr="0">
              <a:spAutoFit/>
            </a:bodyPr>
            <a:lstStyle/>
            <a:p>
              <a:pPr algn="l">
                <a:lnSpc>
                  <a:spcPts val="2400"/>
                </a:lnSpc>
              </a:pPr>
              <a:r>
                <a:rPr lang="en-US" sz="1800" dirty="0">
                  <a:solidFill>
                    <a:schemeClr val="accent2"/>
                  </a:solidFill>
                  <a:latin typeface="+mj-lt"/>
                  <a:ea typeface="+mj-ea"/>
                  <a:cs typeface="+mj-cs"/>
                </a:rPr>
                <a:t>Discover the real</a:t>
              </a:r>
              <a:br>
                <a:rPr lang="en-US" sz="1800" dirty="0">
                  <a:solidFill>
                    <a:schemeClr val="accent2"/>
                  </a:solidFill>
                  <a:latin typeface="+mj-lt"/>
                  <a:ea typeface="+mj-ea"/>
                  <a:cs typeface="+mj-cs"/>
                </a:rPr>
              </a:br>
              <a:r>
                <a:rPr lang="en-US" sz="1800" dirty="0">
                  <a:solidFill>
                    <a:schemeClr val="accent2"/>
                  </a:solidFill>
                  <a:latin typeface="+mj-lt"/>
                  <a:ea typeface="+mj-ea"/>
                  <a:cs typeface="+mj-cs"/>
                </a:rPr>
                <a:t>constraint</a:t>
              </a:r>
            </a:p>
          </p:txBody>
        </p:sp>
        <p:sp>
          <p:nvSpPr>
            <p:cNvPr id="8" name="TextBox 8"/>
            <p:cNvSpPr txBox="1"/>
            <p:nvPr/>
          </p:nvSpPr>
          <p:spPr>
            <a:xfrm>
              <a:off x="4450080" y="1790700"/>
              <a:ext cx="6284214" cy="1064895"/>
            </a:xfrm>
            <a:prstGeom prst="rect">
              <a:avLst/>
            </a:prstGeom>
            <a:noFill/>
            <a:ln>
              <a:noFill/>
            </a:ln>
          </p:spPr>
          <p:txBody>
            <a:bodyPr wrap="none" lIns="0" tIns="0" rIns="0" bIns="0" anchor="t" anchorCtr="0">
              <a:spAutoFit/>
            </a:bodyPr>
            <a:lstStyle/>
            <a:p>
              <a:pPr algn="l">
                <a:lnSpc>
                  <a:spcPts val="2025"/>
                </a:lnSpc>
              </a:pPr>
              <a:r>
                <a:rPr lang="en-US" sz="1500" dirty="0">
                  <a:solidFill>
                    <a:schemeClr val="dk1"/>
                  </a:solidFill>
                  <a:latin typeface="+mn-lt"/>
                  <a:ea typeface="+mn-ea"/>
                  <a:cs typeface="+mn-cs"/>
                </a:rPr>
                <a:t>Laurie Voss’s product-engineer argument follows the bottleneck from code</a:t>
              </a:r>
              <a:br>
                <a:rPr lang="en-US" sz="1500" dirty="0">
                  <a:solidFill>
                    <a:schemeClr val="dk1"/>
                  </a:solidFill>
                  <a:latin typeface="+mn-lt"/>
                  <a:ea typeface="+mn-ea"/>
                  <a:cs typeface="+mn-cs"/>
                </a:rPr>
              </a:br>
              <a:r>
                <a:rPr lang="en-US" sz="1500" dirty="0">
                  <a:solidFill>
                    <a:schemeClr val="dk1"/>
                  </a:solidFill>
                  <a:latin typeface="+mn-lt"/>
                  <a:ea typeface="+mn-ea"/>
                  <a:cs typeface="+mn-cs"/>
                </a:rPr>
                <a:t>creation to review, operations and security. Observe what users actually</a:t>
              </a:r>
              <a:br>
                <a:rPr lang="en-US" sz="1500" dirty="0">
                  <a:solidFill>
                    <a:schemeClr val="dk1"/>
                  </a:solidFill>
                  <a:latin typeface="+mn-lt"/>
                  <a:ea typeface="+mn-ea"/>
                  <a:cs typeface="+mn-cs"/>
                </a:rPr>
              </a:br>
              <a:r>
                <a:rPr lang="en-US" sz="1500" dirty="0">
                  <a:solidFill>
                    <a:schemeClr val="dk1"/>
                  </a:solidFill>
                  <a:latin typeface="+mn-lt"/>
                  <a:ea typeface="+mn-ea"/>
                  <a:cs typeface="+mn-cs"/>
                </a:rPr>
                <a:t>do, which handoffs cost time and what they trust. A polished feature can</a:t>
              </a:r>
              <a:br>
                <a:rPr lang="en-US" sz="1500" dirty="0">
                  <a:solidFill>
                    <a:schemeClr val="dk1"/>
                  </a:solidFill>
                  <a:latin typeface="+mn-lt"/>
                  <a:ea typeface="+mn-ea"/>
                  <a:cs typeface="+mn-cs"/>
                </a:rPr>
              </a:br>
              <a:r>
                <a:rPr lang="en-US" sz="1500" dirty="0">
                  <a:solidFill>
                    <a:schemeClr val="dk1"/>
                  </a:solidFill>
                  <a:latin typeface="+mn-lt"/>
                  <a:ea typeface="+mn-ea"/>
                  <a:cs typeface="+mn-cs"/>
                </a:rPr>
                <a:t>still miss the task or move effort onto another team.</a:t>
              </a:r>
            </a:p>
          </p:txBody>
        </p:sp>
        <p:sp>
          <p:nvSpPr>
            <p:cNvPr id="9" name="Line 9"/>
            <p:cNvSpPr/>
            <p:nvPr/>
          </p:nvSpPr>
          <p:spPr>
            <a:xfrm>
              <a:off x="1371600" y="3048000"/>
              <a:ext cx="10363200" cy="9525"/>
            </a:xfrm>
            <a:custGeom>
              <a:avLst/>
              <a:gdLst/>
              <a:ahLst/>
              <a:cxnLst/>
              <a:rect l="l" t="t" r="r" b="b"/>
              <a:pathLst>
                <a:path w="10363200" h="9525">
                  <a:moveTo>
                    <a:pt x="0" y="0"/>
                  </a:moveTo>
                  <a:lnTo>
                    <a:pt x="10363200" y="0"/>
                  </a:lnTo>
                </a:path>
              </a:pathLst>
            </a:custGeom>
            <a:noFill/>
            <a:ln w="9525">
              <a:solidFill>
                <a:schemeClr val="accent6"/>
              </a:solidFill>
            </a:ln>
          </p:spPr>
        </p:sp>
      </p:grpSp>
      <p:grpSp>
        <p:nvGrpSpPr>
          <p:cNvPr id="15" name="responsibility-1"/>
          <p:cNvGrpSpPr/>
          <p:nvPr/>
        </p:nvGrpSpPr>
        <p:grpSpPr>
          <a:xfrm>
            <a:off x="448056" y="3267075"/>
            <a:ext cx="11286744" cy="1276350"/>
            <a:chOff x="448056" y="3267075"/>
            <a:chExt cx="11286744" cy="1276350"/>
          </a:xfrm>
        </p:grpSpPr>
        <p:sp>
          <p:nvSpPr>
            <p:cNvPr id="11" name="TextBox 11"/>
            <p:cNvSpPr txBox="1"/>
            <p:nvPr/>
          </p:nvSpPr>
          <p:spPr>
            <a:xfrm>
              <a:off x="448056" y="3267075"/>
              <a:ext cx="301818" cy="352044"/>
            </a:xfrm>
            <a:prstGeom prst="rect">
              <a:avLst/>
            </a:prstGeom>
            <a:noFill/>
            <a:ln>
              <a:noFill/>
            </a:ln>
          </p:spPr>
          <p:txBody>
            <a:bodyPr wrap="none" lIns="0" tIns="0" rIns="0" bIns="0" anchor="t" anchorCtr="0">
              <a:spAutoFit/>
            </a:bodyPr>
            <a:lstStyle/>
            <a:p>
              <a:pPr algn="l"/>
              <a:r>
                <a:rPr lang="en-US" sz="1800" dirty="0">
                  <a:solidFill>
                    <a:schemeClr val="accent2"/>
                  </a:solidFill>
                  <a:latin typeface="+mj-lt"/>
                  <a:ea typeface="+mj-ea"/>
                  <a:cs typeface="+mj-cs"/>
                </a:rPr>
                <a:t>02</a:t>
              </a:r>
            </a:p>
          </p:txBody>
        </p:sp>
        <p:sp>
          <p:nvSpPr>
            <p:cNvPr id="12" name="TextBox 12"/>
            <p:cNvSpPr txBox="1"/>
            <p:nvPr/>
          </p:nvSpPr>
          <p:spPr>
            <a:xfrm>
              <a:off x="1362456" y="3267075"/>
              <a:ext cx="1784177" cy="656844"/>
            </a:xfrm>
            <a:prstGeom prst="rect">
              <a:avLst/>
            </a:prstGeom>
            <a:noFill/>
            <a:ln>
              <a:noFill/>
            </a:ln>
          </p:spPr>
          <p:txBody>
            <a:bodyPr wrap="none" lIns="0" tIns="0" rIns="0" bIns="0" anchor="t" anchorCtr="0">
              <a:spAutoFit/>
            </a:bodyPr>
            <a:lstStyle/>
            <a:p>
              <a:pPr algn="l">
                <a:lnSpc>
                  <a:spcPts val="2400"/>
                </a:lnSpc>
              </a:pPr>
              <a:r>
                <a:rPr lang="en-US" sz="1800" dirty="0">
                  <a:solidFill>
                    <a:schemeClr val="accent2"/>
                  </a:solidFill>
                  <a:latin typeface="+mj-lt"/>
                  <a:ea typeface="+mj-ea"/>
                  <a:cs typeface="+mj-cs"/>
                </a:rPr>
                <a:t>Preserve business</a:t>
              </a:r>
              <a:br>
                <a:rPr lang="en-US" sz="1800" dirty="0">
                  <a:solidFill>
                    <a:schemeClr val="accent2"/>
                  </a:solidFill>
                  <a:latin typeface="+mj-lt"/>
                  <a:ea typeface="+mj-ea"/>
                  <a:cs typeface="+mj-cs"/>
                </a:rPr>
              </a:br>
              <a:r>
                <a:rPr lang="en-US" sz="1800" dirty="0">
                  <a:solidFill>
                    <a:schemeClr val="accent2"/>
                  </a:solidFill>
                  <a:latin typeface="+mj-lt"/>
                  <a:ea typeface="+mj-ea"/>
                  <a:cs typeface="+mj-cs"/>
                </a:rPr>
                <a:t>meaning</a:t>
              </a:r>
            </a:p>
          </p:txBody>
        </p:sp>
        <p:sp>
          <p:nvSpPr>
            <p:cNvPr id="13" name="TextBox 13"/>
            <p:cNvSpPr txBox="1"/>
            <p:nvPr/>
          </p:nvSpPr>
          <p:spPr>
            <a:xfrm>
              <a:off x="4450080" y="3276600"/>
              <a:ext cx="6200013" cy="1064895"/>
            </a:xfrm>
            <a:prstGeom prst="rect">
              <a:avLst/>
            </a:prstGeom>
            <a:noFill/>
            <a:ln>
              <a:noFill/>
            </a:ln>
          </p:spPr>
          <p:txBody>
            <a:bodyPr wrap="none" lIns="0" tIns="0" rIns="0" bIns="0" anchor="t" anchorCtr="0">
              <a:spAutoFit/>
            </a:bodyPr>
            <a:lstStyle/>
            <a:p>
              <a:pPr algn="l">
                <a:lnSpc>
                  <a:spcPts val="2025"/>
                </a:lnSpc>
              </a:pPr>
              <a:r>
                <a:rPr lang="en-US" sz="1500" dirty="0">
                  <a:solidFill>
                    <a:schemeClr val="dk1"/>
                  </a:solidFill>
                  <a:latin typeface="+mn-lt"/>
                  <a:ea typeface="+mn-ea"/>
                  <a:cs typeface="+mn-cs"/>
                </a:rPr>
                <a:t>Southbridge’s examples show row counts surviving while dates, signs or</a:t>
              </a:r>
              <a:br>
                <a:rPr lang="en-US" sz="1500" dirty="0">
                  <a:solidFill>
                    <a:schemeClr val="dk1"/>
                  </a:solidFill>
                  <a:latin typeface="+mn-lt"/>
                  <a:ea typeface="+mn-ea"/>
                  <a:cs typeface="+mn-cs"/>
                </a:rPr>
              </a:br>
              <a:r>
                <a:rPr lang="en-US" sz="1500" dirty="0">
                  <a:solidFill>
                    <a:schemeClr val="dk1"/>
                  </a:solidFill>
                  <a:latin typeface="+mn-lt"/>
                  <a:ea typeface="+mn-ea"/>
                  <a:cs typeface="+mn-cs"/>
                </a:rPr>
                <a:t>categories become wrong. Learn the entity, grain, period, units and</a:t>
              </a:r>
              <a:br>
                <a:rPr lang="en-US" sz="1500" dirty="0">
                  <a:solidFill>
                    <a:schemeClr val="dk1"/>
                  </a:solidFill>
                  <a:latin typeface="+mn-lt"/>
                  <a:ea typeface="+mn-ea"/>
                  <a:cs typeface="+mn-cs"/>
                </a:rPr>
              </a:br>
              <a:r>
                <a:rPr lang="en-US" sz="1500" dirty="0">
                  <a:solidFill>
                    <a:schemeClr val="dk1"/>
                  </a:solidFill>
                  <a:latin typeface="+mn-lt"/>
                  <a:ea typeface="+mn-ea"/>
                  <a:cs typeface="+mn-cs"/>
                </a:rPr>
                <a:t>source conventions well enough to challenge a plausible answer. Multiple</a:t>
              </a:r>
              <a:br>
                <a:rPr lang="en-US" sz="1500" dirty="0">
                  <a:solidFill>
                    <a:schemeClr val="dk1"/>
                  </a:solidFill>
                  <a:latin typeface="+mn-lt"/>
                  <a:ea typeface="+mn-ea"/>
                  <a:cs typeface="+mn-cs"/>
                </a:rPr>
              </a:br>
              <a:r>
                <a:rPr lang="en-US" sz="1500" dirty="0">
                  <a:solidFill>
                    <a:schemeClr val="dk1"/>
                  </a:solidFill>
                  <a:latin typeface="+mn-lt"/>
                  <a:ea typeface="+mn-ea"/>
                  <a:cs typeface="+mn-cs"/>
                </a:rPr>
                <a:t>model agreements can preserve the same incorrect assumption.</a:t>
              </a:r>
            </a:p>
          </p:txBody>
        </p:sp>
        <p:sp>
          <p:nvSpPr>
            <p:cNvPr id="14" name="Line 14"/>
            <p:cNvSpPr/>
            <p:nvPr/>
          </p:nvSpPr>
          <p:spPr>
            <a:xfrm>
              <a:off x="1371600" y="4533900"/>
              <a:ext cx="10363200" cy="9525"/>
            </a:xfrm>
            <a:custGeom>
              <a:avLst/>
              <a:gdLst/>
              <a:ahLst/>
              <a:cxnLst/>
              <a:rect l="l" t="t" r="r" b="b"/>
              <a:pathLst>
                <a:path w="10363200" h="9525">
                  <a:moveTo>
                    <a:pt x="0" y="0"/>
                  </a:moveTo>
                  <a:lnTo>
                    <a:pt x="10363200" y="0"/>
                  </a:lnTo>
                </a:path>
              </a:pathLst>
            </a:custGeom>
            <a:noFill/>
            <a:ln w="9525">
              <a:solidFill>
                <a:schemeClr val="accent6"/>
              </a:solidFill>
            </a:ln>
          </p:spPr>
        </p:sp>
      </p:grpSp>
      <p:grpSp>
        <p:nvGrpSpPr>
          <p:cNvPr id="20" name="responsibility-2"/>
          <p:cNvGrpSpPr/>
          <p:nvPr/>
        </p:nvGrpSpPr>
        <p:grpSpPr>
          <a:xfrm>
            <a:off x="448056" y="4752975"/>
            <a:ext cx="11286744" cy="1331595"/>
            <a:chOff x="448056" y="4752975"/>
            <a:chExt cx="11286744" cy="1331595"/>
          </a:xfrm>
        </p:grpSpPr>
        <p:sp>
          <p:nvSpPr>
            <p:cNvPr id="16" name="TextBox 16"/>
            <p:cNvSpPr txBox="1"/>
            <p:nvPr/>
          </p:nvSpPr>
          <p:spPr>
            <a:xfrm>
              <a:off x="448056" y="4752975"/>
              <a:ext cx="301818" cy="352044"/>
            </a:xfrm>
            <a:prstGeom prst="rect">
              <a:avLst/>
            </a:prstGeom>
            <a:noFill/>
            <a:ln>
              <a:noFill/>
            </a:ln>
          </p:spPr>
          <p:txBody>
            <a:bodyPr wrap="none" lIns="0" tIns="0" rIns="0" bIns="0" anchor="t" anchorCtr="0">
              <a:spAutoFit/>
            </a:bodyPr>
            <a:lstStyle/>
            <a:p>
              <a:pPr algn="l"/>
              <a:r>
                <a:rPr lang="en-US" sz="1800" dirty="0">
                  <a:solidFill>
                    <a:schemeClr val="accent2"/>
                  </a:solidFill>
                  <a:latin typeface="+mj-lt"/>
                  <a:ea typeface="+mj-ea"/>
                  <a:cs typeface="+mj-cs"/>
                </a:rPr>
                <a:t>03</a:t>
              </a:r>
            </a:p>
          </p:txBody>
        </p:sp>
        <p:sp>
          <p:nvSpPr>
            <p:cNvPr id="17" name="TextBox 17"/>
            <p:cNvSpPr txBox="1"/>
            <p:nvPr/>
          </p:nvSpPr>
          <p:spPr>
            <a:xfrm>
              <a:off x="1362456" y="4752975"/>
              <a:ext cx="1503868" cy="656844"/>
            </a:xfrm>
            <a:prstGeom prst="rect">
              <a:avLst/>
            </a:prstGeom>
            <a:noFill/>
            <a:ln>
              <a:noFill/>
            </a:ln>
          </p:spPr>
          <p:txBody>
            <a:bodyPr wrap="none" lIns="0" tIns="0" rIns="0" bIns="0" anchor="t" anchorCtr="0">
              <a:spAutoFit/>
            </a:bodyPr>
            <a:lstStyle/>
            <a:p>
              <a:pPr algn="l">
                <a:lnSpc>
                  <a:spcPts val="2400"/>
                </a:lnSpc>
              </a:pPr>
              <a:r>
                <a:rPr lang="en-US" sz="1800" dirty="0">
                  <a:solidFill>
                    <a:schemeClr val="accent2"/>
                  </a:solidFill>
                  <a:latin typeface="+mj-lt"/>
                  <a:ea typeface="+mj-ea"/>
                  <a:cs typeface="+mj-cs"/>
                </a:rPr>
                <a:t>Make expertise</a:t>
              </a:r>
              <a:br>
                <a:rPr lang="en-US" sz="1800" dirty="0">
                  <a:solidFill>
                    <a:schemeClr val="accent2"/>
                  </a:solidFill>
                  <a:latin typeface="+mj-lt"/>
                  <a:ea typeface="+mj-ea"/>
                  <a:cs typeface="+mj-cs"/>
                </a:rPr>
              </a:br>
              <a:r>
                <a:rPr lang="en-US" sz="1800" dirty="0">
                  <a:solidFill>
                    <a:schemeClr val="accent2"/>
                  </a:solidFill>
                  <a:latin typeface="+mj-lt"/>
                  <a:ea typeface="+mj-ea"/>
                  <a:cs typeface="+mj-cs"/>
                </a:rPr>
                <a:t>reproducible</a:t>
              </a:r>
            </a:p>
          </p:txBody>
        </p:sp>
        <p:sp>
          <p:nvSpPr>
            <p:cNvPr id="18" name="TextBox 18"/>
            <p:cNvSpPr txBox="1"/>
            <p:nvPr/>
          </p:nvSpPr>
          <p:spPr>
            <a:xfrm>
              <a:off x="4450080" y="4762500"/>
              <a:ext cx="6294120" cy="1322070"/>
            </a:xfrm>
            <a:prstGeom prst="rect">
              <a:avLst/>
            </a:prstGeom>
            <a:noFill/>
            <a:ln>
              <a:noFill/>
            </a:ln>
          </p:spPr>
          <p:txBody>
            <a:bodyPr wrap="none" lIns="0" tIns="0" rIns="0" bIns="0" anchor="t" anchorCtr="0">
              <a:spAutoFit/>
            </a:bodyPr>
            <a:lstStyle/>
            <a:p>
              <a:pPr algn="l">
                <a:lnSpc>
                  <a:spcPts val="2025"/>
                </a:lnSpc>
              </a:pPr>
              <a:r>
                <a:rPr lang="en-US" sz="1500" dirty="0">
                  <a:solidFill>
                    <a:schemeClr val="dk1"/>
                  </a:solidFill>
                  <a:latin typeface="+mn-lt"/>
                  <a:ea typeface="+mn-ea"/>
                  <a:cs typeface="+mn-cs"/>
                </a:rPr>
                <a:t>Convert professional corrections into task definitions, cases, skills and</a:t>
              </a:r>
              <a:br>
                <a:rPr lang="en-US" sz="1500" dirty="0">
                  <a:solidFill>
                    <a:schemeClr val="dk1"/>
                  </a:solidFill>
                  <a:latin typeface="+mn-lt"/>
                  <a:ea typeface="+mn-ea"/>
                  <a:cs typeface="+mn-cs"/>
                </a:rPr>
              </a:br>
              <a:r>
                <a:rPr lang="en-US" sz="1500" dirty="0">
                  <a:solidFill>
                    <a:schemeClr val="dk1"/>
                  </a:solidFill>
                  <a:latin typeface="+mn-lt"/>
                  <a:ea typeface="+mn-ea"/>
                  <a:cs typeface="+mn-cs"/>
                </a:rPr>
                <a:t>explicit acceptance evidence. Monzo’s described gateway, sandbox and</a:t>
              </a:r>
              <a:br>
                <a:rPr lang="en-US" sz="1500" dirty="0">
                  <a:solidFill>
                    <a:schemeClr val="dk1"/>
                  </a:solidFill>
                  <a:latin typeface="+mn-lt"/>
                  <a:ea typeface="+mn-ea"/>
                  <a:cs typeface="+mn-cs"/>
                </a:rPr>
              </a:br>
              <a:r>
                <a:rPr lang="en-US" sz="1500" dirty="0">
                  <a:solidFill>
                    <a:schemeClr val="dk1"/>
                  </a:solidFill>
                  <a:latin typeface="+mn-lt"/>
                  <a:ea typeface="+mn-ea"/>
                  <a:cs typeface="+mn-cs"/>
                </a:rPr>
                <a:t>familiar Slack entry point show the surrounding product work. Task volume</a:t>
              </a:r>
              <a:br>
                <a:rPr lang="en-US" sz="1500" dirty="0">
                  <a:solidFill>
                    <a:schemeClr val="dk1"/>
                  </a:solidFill>
                  <a:latin typeface="+mn-lt"/>
                  <a:ea typeface="+mn-ea"/>
                  <a:cs typeface="+mn-cs"/>
                </a:rPr>
              </a:br>
              <a:r>
                <a:rPr lang="en-US" sz="1500" dirty="0">
                  <a:solidFill>
                    <a:schemeClr val="dk1"/>
                  </a:solidFill>
                  <a:latin typeface="+mn-lt"/>
                  <a:ea typeface="+mn-ea"/>
                  <a:cs typeface="+mn-cs"/>
                </a:rPr>
                <a:t>and merged PR counts indicate use, while quality and reviewer effort</a:t>
              </a:r>
              <a:br>
                <a:rPr lang="en-US" sz="1500" dirty="0">
                  <a:solidFill>
                    <a:schemeClr val="dk1"/>
                  </a:solidFill>
                  <a:latin typeface="+mn-lt"/>
                  <a:ea typeface="+mn-ea"/>
                  <a:cs typeface="+mn-cs"/>
                </a:rPr>
              </a:br>
              <a:r>
                <a:rPr lang="en-US" sz="1500" dirty="0">
                  <a:solidFill>
                    <a:schemeClr val="dk1"/>
                  </a:solidFill>
                  <a:latin typeface="+mn-lt"/>
                  <a:ea typeface="+mn-ea"/>
                  <a:cs typeface="+mn-cs"/>
                </a:rPr>
                <a:t>still require separate measurement.</a:t>
              </a:r>
            </a:p>
          </p:txBody>
        </p:sp>
        <p:sp>
          <p:nvSpPr>
            <p:cNvPr id="19" name="Line 19"/>
            <p:cNvSpPr/>
            <p:nvPr/>
          </p:nvSpPr>
          <p:spPr>
            <a:xfrm>
              <a:off x="1371600" y="6019800"/>
              <a:ext cx="10363200" cy="9525"/>
            </a:xfrm>
            <a:custGeom>
              <a:avLst/>
              <a:gdLst/>
              <a:ahLst/>
              <a:cxnLst/>
              <a:rect l="l" t="t" r="r" b="b"/>
              <a:pathLst>
                <a:path w="10363200" h="9525">
                  <a:moveTo>
                    <a:pt x="0" y="0"/>
                  </a:moveTo>
                  <a:lnTo>
                    <a:pt x="10363200" y="0"/>
                  </a:lnTo>
                </a:path>
              </a:pathLst>
            </a:custGeom>
            <a:noFill/>
            <a:ln w="9525">
              <a:solidFill>
                <a:schemeClr val="accent6"/>
              </a:solidFill>
            </a:ln>
          </p:spPr>
        </p:sp>
      </p:grpSp>
      <p:grpSp>
        <p:nvGrpSpPr>
          <p:cNvPr id="23" name="footer"/>
          <p:cNvGrpSpPr/>
          <p:nvPr/>
        </p:nvGrpSpPr>
        <p:grpSpPr>
          <a:xfrm>
            <a:off x="452438" y="6477000"/>
            <a:ext cx="11287124" cy="176212"/>
            <a:chOff x="452438" y="6477000"/>
            <a:chExt cx="11287124" cy="176212"/>
          </a:xfrm>
        </p:grpSpPr>
        <p:sp>
          <p:nvSpPr>
            <p:cNvPr id="21" name="TextBox 21"/>
            <p:cNvSpPr txBox="1"/>
            <p:nvPr/>
          </p:nvSpPr>
          <p:spPr>
            <a:xfrm>
              <a:off x="452438" y="6477000"/>
              <a:ext cx="3659198" cy="176212"/>
            </a:xfrm>
            <a:prstGeom prst="rect">
              <a:avLst/>
            </a:prstGeom>
            <a:noFill/>
            <a:ln>
              <a:noFill/>
            </a:ln>
          </p:spPr>
          <p:txBody>
            <a:bodyPr wrap="none" lIns="0" tIns="0" rIns="0" bIns="0" anchor="t" anchorCtr="0">
              <a:spAutoFit/>
            </a:bodyPr>
            <a:lstStyle/>
            <a:p>
              <a:pPr algn="l"/>
              <a:r>
                <a:rPr lang="en-US" sz="900" dirty="0">
                  <a:solidFill>
                    <a:schemeClr val="accent5"/>
                  </a:solidFill>
                  <a:latin typeface="+mn-lt"/>
                  <a:ea typeface="+mn-ea"/>
                  <a:cs typeface="+mn-cs"/>
                </a:rPr>
                <a:t>Sources: Arize · Southbridge · Monzo | Reviewed October 25, 2026</a:t>
              </a:r>
            </a:p>
          </p:txBody>
        </p:sp>
        <p:sp>
          <p:nvSpPr>
            <p:cNvPr id="22" name="TextBox 22"/>
            <p:cNvSpPr txBox="1"/>
            <p:nvPr/>
          </p:nvSpPr>
          <p:spPr>
            <a:xfrm>
              <a:off x="11359512" y="6477000"/>
              <a:ext cx="380050" cy="176212"/>
            </a:xfrm>
            <a:prstGeom prst="rect">
              <a:avLst/>
            </a:prstGeom>
            <a:noFill/>
            <a:ln>
              <a:noFill/>
            </a:ln>
          </p:spPr>
          <p:txBody>
            <a:bodyPr wrap="none" lIns="0" tIns="0" rIns="0" bIns="0" anchor="t" anchorCtr="0">
              <a:spAutoFit/>
            </a:bodyPr>
            <a:lstStyle/>
            <a:p>
              <a:pPr algn="r"/>
              <a:r>
                <a:rPr lang="en-US" sz="900" dirty="0">
                  <a:solidFill>
                    <a:schemeClr val="accent5"/>
                  </a:solidFill>
                  <a:latin typeface="+mn-lt"/>
                  <a:ea typeface="+mn-ea"/>
                  <a:cs typeface="+mn-cs"/>
                </a:rPr>
                <a:t>25 / 37</a:t>
              </a:r>
            </a:p>
          </p:txBody>
        </p:sp>
      </p:grpSp>
    </p:spTree>
  </p:cSld>
  <p:clrMapOvr>
    <a:masterClrMapping/>
  </p:clrMapOvr>
  <p:transition xmlns:p14="http://schemas.microsoft.com/office/powerpoint/2010/main" p14:dur="400">
    <p:fade/>
  </p:transition>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5" name="title"/>
          <p:cNvGrpSpPr/>
          <p:nvPr/>
        </p:nvGrpSpPr>
        <p:grpSpPr>
          <a:xfrm>
            <a:off x="443484" y="361950"/>
            <a:ext cx="10019160" cy="1100582"/>
            <a:chOff x="443484" y="361950"/>
            <a:chExt cx="10019160" cy="1100582"/>
          </a:xfrm>
        </p:grpSpPr>
        <p:sp>
          <p:nvSpPr>
            <p:cNvPr id="2" name="TextBox 2"/>
            <p:cNvSpPr txBox="1"/>
            <p:nvPr/>
          </p:nvSpPr>
          <p:spPr>
            <a:xfrm>
              <a:off x="451104" y="361950"/>
              <a:ext cx="2269370" cy="234696"/>
            </a:xfrm>
            <a:prstGeom prst="rect">
              <a:avLst/>
            </a:prstGeom>
            <a:noFill/>
            <a:ln>
              <a:noFill/>
            </a:ln>
          </p:spPr>
          <p:txBody>
            <a:bodyPr wrap="none" lIns="0" tIns="0" rIns="0" bIns="0" anchor="t" anchorCtr="0">
              <a:spAutoFit/>
            </a:bodyPr>
            <a:lstStyle/>
            <a:p>
              <a:pPr algn="l"/>
              <a:r>
                <a:rPr lang="en-US" sz="1200" dirty="0">
                  <a:solidFill>
                    <a:schemeClr val="accent2"/>
                  </a:solidFill>
                  <a:latin typeface="+mn-lt"/>
                  <a:ea typeface="+mn-ea"/>
                  <a:cs typeface="+mn-cs"/>
                </a:rPr>
                <a:t>05 / AI ENGINEER GROWTH</a:t>
              </a:r>
            </a:p>
          </p:txBody>
        </p:sp>
        <p:sp>
          <p:nvSpPr>
            <p:cNvPr id="3" name="TextBox 3"/>
            <p:cNvSpPr txBox="1"/>
            <p:nvPr/>
          </p:nvSpPr>
          <p:spPr>
            <a:xfrm>
              <a:off x="443484" y="593725"/>
              <a:ext cx="7815547" cy="528066"/>
            </a:xfrm>
            <a:prstGeom prst="rect">
              <a:avLst/>
            </a:prstGeom>
            <a:noFill/>
            <a:ln>
              <a:noFill/>
            </a:ln>
          </p:spPr>
          <p:txBody>
            <a:bodyPr wrap="none" lIns="0" tIns="0" rIns="0" bIns="0" anchor="t" anchorCtr="0">
              <a:spAutoFit/>
            </a:bodyPr>
            <a:lstStyle/>
            <a:p>
              <a:pPr algn="l"/>
              <a:r>
                <a:rPr lang="en-US" sz="2700" dirty="0">
                  <a:solidFill>
                    <a:schemeClr val="accent1"/>
                  </a:solidFill>
                  <a:latin typeface="+mj-lt"/>
                  <a:ea typeface="+mj-ea"/>
                  <a:cs typeface="+mj-cs"/>
                </a:rPr>
                <a:t>Match rigor to consequences and dependencies</a:t>
              </a:r>
            </a:p>
          </p:txBody>
        </p:sp>
        <p:sp>
          <p:nvSpPr>
            <p:cNvPr id="4" name="TextBox 4"/>
            <p:cNvSpPr txBox="1"/>
            <p:nvPr/>
          </p:nvSpPr>
          <p:spPr>
            <a:xfrm>
              <a:off x="448818" y="1139825"/>
              <a:ext cx="10013826" cy="322707"/>
            </a:xfrm>
            <a:prstGeom prst="rect">
              <a:avLst/>
            </a:prstGeom>
            <a:noFill/>
            <a:ln>
              <a:noFill/>
            </a:ln>
          </p:spPr>
          <p:txBody>
            <a:bodyPr wrap="none" lIns="0" tIns="0" rIns="0" bIns="0" anchor="t" anchorCtr="0">
              <a:spAutoFit/>
            </a:bodyPr>
            <a:lstStyle/>
            <a:p>
              <a:pPr algn="l"/>
              <a:r>
                <a:rPr lang="en-US" sz="1650" dirty="0">
                  <a:solidFill>
                    <a:schemeClr val="accent5"/>
                  </a:solidFill>
                  <a:latin typeface="+mn-lt"/>
                  <a:ea typeface="+mn-ea"/>
                  <a:cs typeface="+mn-cs"/>
                </a:rPr>
                <a:t>Failure consequences, replacement cost, dependencies and maintenance burden define the decision.</a:t>
              </a:r>
            </a:p>
          </p:txBody>
        </p:sp>
      </p:grpSp>
      <p:grpSp>
        <p:nvGrpSpPr>
          <p:cNvPr id="8" name="analysis-1"/>
          <p:cNvGrpSpPr/>
          <p:nvPr/>
        </p:nvGrpSpPr>
        <p:grpSpPr>
          <a:xfrm>
            <a:off x="448056" y="1876425"/>
            <a:ext cx="3013634" cy="2979420"/>
            <a:chOff x="448056" y="1876425"/>
            <a:chExt cx="3013634" cy="2979420"/>
          </a:xfrm>
        </p:grpSpPr>
        <p:sp>
          <p:nvSpPr>
            <p:cNvPr id="6" name="TextBox 6"/>
            <p:cNvSpPr txBox="1"/>
            <p:nvPr/>
          </p:nvSpPr>
          <p:spPr>
            <a:xfrm>
              <a:off x="448056" y="1876425"/>
              <a:ext cx="2938260" cy="352044"/>
            </a:xfrm>
            <a:prstGeom prst="rect">
              <a:avLst/>
            </a:prstGeom>
            <a:noFill/>
            <a:ln>
              <a:noFill/>
            </a:ln>
          </p:spPr>
          <p:txBody>
            <a:bodyPr wrap="none" lIns="0" tIns="0" rIns="0" bIns="0" anchor="t" anchorCtr="0">
              <a:spAutoFit/>
            </a:bodyPr>
            <a:lstStyle/>
            <a:p>
              <a:pPr algn="l"/>
              <a:r>
                <a:rPr lang="en-US" sz="1800" dirty="0">
                  <a:solidFill>
                    <a:schemeClr val="accent2"/>
                  </a:solidFill>
                  <a:latin typeface="+mj-lt"/>
                  <a:ea typeface="+mj-ea"/>
                  <a:cs typeface="+mj-cs"/>
                </a:rPr>
                <a:t>Reassess as the tool grows</a:t>
              </a:r>
            </a:p>
          </p:txBody>
        </p:sp>
        <p:sp>
          <p:nvSpPr>
            <p:cNvPr id="7" name="TextBox 7"/>
            <p:cNvSpPr txBox="1"/>
            <p:nvPr/>
          </p:nvSpPr>
          <p:spPr>
            <a:xfrm>
              <a:off x="449580" y="2505075"/>
              <a:ext cx="3012110" cy="2350770"/>
            </a:xfrm>
            <a:prstGeom prst="rect">
              <a:avLst/>
            </a:prstGeom>
            <a:noFill/>
            <a:ln>
              <a:noFill/>
            </a:ln>
          </p:spPr>
          <p:txBody>
            <a:bodyPr wrap="none" lIns="0" tIns="0" rIns="0" bIns="0" anchor="t" anchorCtr="0">
              <a:spAutoFit/>
            </a:bodyPr>
            <a:lstStyle/>
            <a:p>
              <a:pPr algn="l">
                <a:lnSpc>
                  <a:spcPts val="2025"/>
                </a:lnSpc>
              </a:pPr>
              <a:r>
                <a:rPr lang="en-US" sz="1500" dirty="0">
                  <a:solidFill>
                    <a:schemeClr val="dk1"/>
                  </a:solidFill>
                  <a:latin typeface="+mn-lt"/>
                  <a:ea typeface="+mn-ea"/>
                  <a:cs typeface="+mn-cs"/>
                </a:rPr>
                <a:t>A one-use helper can become a</a:t>
              </a:r>
              <a:br>
                <a:rPr lang="en-US" sz="1500" dirty="0">
                  <a:solidFill>
                    <a:schemeClr val="dk1"/>
                  </a:solidFill>
                  <a:latin typeface="+mn-lt"/>
                  <a:ea typeface="+mn-ea"/>
                  <a:cs typeface="+mn-cs"/>
                </a:rPr>
              </a:br>
              <a:r>
                <a:rPr lang="en-US" sz="1500" dirty="0">
                  <a:solidFill>
                    <a:schemeClr val="dk1"/>
                  </a:solidFill>
                  <a:latin typeface="+mn-lt"/>
                  <a:ea typeface="+mn-ea"/>
                  <a:cs typeface="+mn-cs"/>
                </a:rPr>
                <a:t>shared process with downstream</a:t>
              </a:r>
              <a:br>
                <a:rPr lang="en-US" sz="1500" dirty="0">
                  <a:solidFill>
                    <a:schemeClr val="dk1"/>
                  </a:solidFill>
                  <a:latin typeface="+mn-lt"/>
                  <a:ea typeface="+mn-ea"/>
                  <a:cs typeface="+mn-cs"/>
                </a:rPr>
              </a:br>
              <a:r>
                <a:rPr lang="en-US" sz="1500" dirty="0">
                  <a:solidFill>
                    <a:schemeClr val="dk1"/>
                  </a:solidFill>
                  <a:latin typeface="+mn-lt"/>
                  <a:ea typeface="+mn-ea"/>
                  <a:cs typeface="+mn-cs"/>
                </a:rPr>
                <a:t>dependents. Revisit who relies on</a:t>
              </a:r>
              <a:br>
                <a:rPr lang="en-US" sz="1500" dirty="0">
                  <a:solidFill>
                    <a:schemeClr val="dk1"/>
                  </a:solidFill>
                  <a:latin typeface="+mn-lt"/>
                  <a:ea typeface="+mn-ea"/>
                  <a:cs typeface="+mn-cs"/>
                </a:rPr>
              </a:br>
              <a:r>
                <a:rPr lang="en-US" sz="1500" dirty="0">
                  <a:solidFill>
                    <a:schemeClr val="dk1"/>
                  </a:solidFill>
                  <a:latin typeface="+mn-lt"/>
                  <a:ea typeface="+mn-ea"/>
                  <a:cs typeface="+mn-cs"/>
                </a:rPr>
                <a:t>it, which failures matter and how</a:t>
              </a:r>
              <a:br>
                <a:rPr lang="en-US" sz="1500" dirty="0">
                  <a:solidFill>
                    <a:schemeClr val="dk1"/>
                  </a:solidFill>
                  <a:latin typeface="+mn-lt"/>
                  <a:ea typeface="+mn-ea"/>
                  <a:cs typeface="+mn-cs"/>
                </a:rPr>
              </a:br>
              <a:r>
                <a:rPr lang="en-US" sz="1500" dirty="0">
                  <a:solidFill>
                    <a:schemeClr val="dk1"/>
                  </a:solidFill>
                  <a:latin typeface="+mn-lt"/>
                  <a:ea typeface="+mn-ea"/>
                  <a:cs typeface="+mn-cs"/>
                </a:rPr>
                <a:t>recovery works. Isolation and</a:t>
              </a:r>
              <a:br>
                <a:rPr lang="en-US" sz="1500" dirty="0">
                  <a:solidFill>
                    <a:schemeClr val="dk1"/>
                  </a:solidFill>
                  <a:latin typeface="+mn-lt"/>
                  <a:ea typeface="+mn-ea"/>
                  <a:cs typeface="+mn-cs"/>
                </a:rPr>
              </a:br>
              <a:r>
                <a:rPr lang="en-US" sz="1500" dirty="0">
                  <a:solidFill>
                    <a:schemeClr val="dk1"/>
                  </a:solidFill>
                  <a:latin typeface="+mn-lt"/>
                  <a:ea typeface="+mn-ea"/>
                  <a:cs typeface="+mn-cs"/>
                </a:rPr>
                <a:t>limited scope can reduce exposure,</a:t>
              </a:r>
              <a:br>
                <a:rPr lang="en-US" sz="1500" dirty="0">
                  <a:solidFill>
                    <a:schemeClr val="dk1"/>
                  </a:solidFill>
                  <a:latin typeface="+mn-lt"/>
                  <a:ea typeface="+mn-ea"/>
                  <a:cs typeface="+mn-cs"/>
                </a:rPr>
              </a:br>
              <a:r>
                <a:rPr lang="en-US" sz="1500" dirty="0">
                  <a:solidFill>
                    <a:schemeClr val="dk1"/>
                  </a:solidFill>
                  <a:latin typeface="+mn-lt"/>
                  <a:ea typeface="+mn-ea"/>
                  <a:cs typeface="+mn-cs"/>
                </a:rPr>
                <a:t>but a label such as prototype or</a:t>
              </a:r>
              <a:br>
                <a:rPr lang="en-US" sz="1500" dirty="0">
                  <a:solidFill>
                    <a:schemeClr val="dk1"/>
                  </a:solidFill>
                  <a:latin typeface="+mn-lt"/>
                  <a:ea typeface="+mn-ea"/>
                  <a:cs typeface="+mn-cs"/>
                </a:rPr>
              </a:br>
              <a:r>
                <a:rPr lang="en-US" sz="1500" dirty="0">
                  <a:solidFill>
                    <a:schemeClr val="dk1"/>
                  </a:solidFill>
                  <a:latin typeface="+mn-lt"/>
                  <a:ea typeface="+mn-ea"/>
                  <a:cs typeface="+mn-cs"/>
                </a:rPr>
                <a:t>temporary is not an enforcing</a:t>
              </a:r>
              <a:br>
                <a:rPr lang="en-US" sz="1500" dirty="0">
                  <a:solidFill>
                    <a:schemeClr val="dk1"/>
                  </a:solidFill>
                  <a:latin typeface="+mn-lt"/>
                  <a:ea typeface="+mn-ea"/>
                  <a:cs typeface="+mn-cs"/>
                </a:rPr>
              </a:br>
              <a:r>
                <a:rPr lang="en-US" sz="1500" dirty="0">
                  <a:solidFill>
                    <a:schemeClr val="dk1"/>
                  </a:solidFill>
                  <a:latin typeface="+mn-lt"/>
                  <a:ea typeface="+mn-ea"/>
                  <a:cs typeface="+mn-cs"/>
                </a:rPr>
                <a:t>control.</a:t>
              </a:r>
            </a:p>
          </p:txBody>
        </p:sp>
      </p:grpSp>
      <p:grpSp>
        <p:nvGrpSpPr>
          <p:cNvPr id="11" name="analysis-2"/>
          <p:cNvGrpSpPr/>
          <p:nvPr/>
        </p:nvGrpSpPr>
        <p:grpSpPr>
          <a:xfrm>
            <a:off x="4296156" y="1876425"/>
            <a:ext cx="3150445" cy="2979420"/>
            <a:chOff x="4296156" y="1876425"/>
            <a:chExt cx="3150445" cy="2979420"/>
          </a:xfrm>
        </p:grpSpPr>
        <p:sp>
          <p:nvSpPr>
            <p:cNvPr id="9" name="TextBox 9"/>
            <p:cNvSpPr txBox="1"/>
            <p:nvPr/>
          </p:nvSpPr>
          <p:spPr>
            <a:xfrm>
              <a:off x="4296156" y="1876425"/>
              <a:ext cx="3150445" cy="352044"/>
            </a:xfrm>
            <a:prstGeom prst="rect">
              <a:avLst/>
            </a:prstGeom>
            <a:noFill/>
            <a:ln>
              <a:noFill/>
            </a:ln>
          </p:spPr>
          <p:txBody>
            <a:bodyPr wrap="none" lIns="0" tIns="0" rIns="0" bIns="0" anchor="t" anchorCtr="0">
              <a:spAutoFit/>
            </a:bodyPr>
            <a:lstStyle/>
            <a:p>
              <a:pPr algn="l"/>
              <a:r>
                <a:rPr lang="en-US" sz="1800" dirty="0">
                  <a:solidFill>
                    <a:schemeClr val="accent2"/>
                  </a:solidFill>
                  <a:latin typeface="+mj-lt"/>
                  <a:ea typeface="+mj-ea"/>
                  <a:cs typeface="+mj-cs"/>
                </a:rPr>
                <a:t>Invest in the cheap safe path</a:t>
              </a:r>
            </a:p>
          </p:txBody>
        </p:sp>
        <p:sp>
          <p:nvSpPr>
            <p:cNvPr id="10" name="TextBox 10"/>
            <p:cNvSpPr txBox="1"/>
            <p:nvPr/>
          </p:nvSpPr>
          <p:spPr>
            <a:xfrm>
              <a:off x="4297680" y="2505075"/>
              <a:ext cx="3064840" cy="2350770"/>
            </a:xfrm>
            <a:prstGeom prst="rect">
              <a:avLst/>
            </a:prstGeom>
            <a:noFill/>
            <a:ln>
              <a:noFill/>
            </a:ln>
          </p:spPr>
          <p:txBody>
            <a:bodyPr wrap="none" lIns="0" tIns="0" rIns="0" bIns="0" anchor="t" anchorCtr="0">
              <a:spAutoFit/>
            </a:bodyPr>
            <a:lstStyle/>
            <a:p>
              <a:pPr algn="l">
                <a:lnSpc>
                  <a:spcPts val="2025"/>
                </a:lnSpc>
              </a:pPr>
              <a:r>
                <a:rPr lang="en-US" sz="1500" dirty="0">
                  <a:solidFill>
                    <a:schemeClr val="dk1"/>
                  </a:solidFill>
                  <a:latin typeface="+mn-lt"/>
                  <a:ea typeface="+mn-ea"/>
                  <a:cs typeface="+mn-cs"/>
                </a:rPr>
                <a:t>Provide standard choices, test</a:t>
              </a:r>
              <a:br>
                <a:rPr lang="en-US" sz="1500" dirty="0">
                  <a:solidFill>
                    <a:schemeClr val="dk1"/>
                  </a:solidFill>
                  <a:latin typeface="+mn-lt"/>
                  <a:ea typeface="+mn-ea"/>
                  <a:cs typeface="+mn-cs"/>
                </a:rPr>
              </a:br>
              <a:r>
                <a:rPr lang="en-US" sz="1500" dirty="0">
                  <a:solidFill>
                    <a:schemeClr val="dk1"/>
                  </a:solidFill>
                  <a:latin typeface="+mn-lt"/>
                  <a:ea typeface="+mn-ea"/>
                  <a:cs typeface="+mn-cs"/>
                </a:rPr>
                <a:t>fixtures/fakes and quick low-noise</a:t>
              </a:r>
              <a:br>
                <a:rPr lang="en-US" sz="1500" dirty="0">
                  <a:solidFill>
                    <a:schemeClr val="dk1"/>
                  </a:solidFill>
                  <a:latin typeface="+mn-lt"/>
                  <a:ea typeface="+mn-ea"/>
                  <a:cs typeface="+mn-cs"/>
                </a:rPr>
              </a:br>
              <a:r>
                <a:rPr lang="en-US" sz="1500" dirty="0">
                  <a:solidFill>
                    <a:schemeClr val="dk1"/>
                  </a:solidFill>
                  <a:latin typeface="+mn-lt"/>
                  <a:ea typeface="+mn-ea"/>
                  <a:cs typeface="+mn-cs"/>
                </a:rPr>
                <a:t>feedback. Make it easier to create</a:t>
              </a:r>
              <a:br>
                <a:rPr lang="en-US" sz="1500" dirty="0">
                  <a:solidFill>
                    <a:schemeClr val="dk1"/>
                  </a:solidFill>
                  <a:latin typeface="+mn-lt"/>
                  <a:ea typeface="+mn-ea"/>
                  <a:cs typeface="+mn-cs"/>
                </a:rPr>
              </a:br>
              <a:r>
                <a:rPr lang="en-US" sz="1500" dirty="0">
                  <a:solidFill>
                    <a:schemeClr val="dk1"/>
                  </a:solidFill>
                  <a:latin typeface="+mn-lt"/>
                  <a:ea typeface="+mn-ea"/>
                  <a:cs typeface="+mn-cs"/>
                </a:rPr>
                <a:t>a complete working slice with</a:t>
              </a:r>
              <a:br>
                <a:rPr lang="en-US" sz="1500" dirty="0">
                  <a:solidFill>
                    <a:schemeClr val="dk1"/>
                  </a:solidFill>
                  <a:latin typeface="+mn-lt"/>
                  <a:ea typeface="+mn-ea"/>
                  <a:cs typeface="+mn-cs"/>
                </a:rPr>
              </a:br>
              <a:r>
                <a:rPr lang="en-US" sz="1500" dirty="0">
                  <a:solidFill>
                    <a:schemeClr val="dk1"/>
                  </a:solidFill>
                  <a:latin typeface="+mn-lt"/>
                  <a:ea typeface="+mn-ea"/>
                  <a:cs typeface="+mn-cs"/>
                </a:rPr>
                <a:t>checks than to postpone them.</a:t>
              </a:r>
              <a:br>
                <a:rPr lang="en-US" sz="1500" dirty="0">
                  <a:solidFill>
                    <a:schemeClr val="dk1"/>
                  </a:solidFill>
                  <a:latin typeface="+mn-lt"/>
                  <a:ea typeface="+mn-ea"/>
                  <a:cs typeface="+mn-cs"/>
                </a:rPr>
              </a:br>
              <a:r>
                <a:rPr lang="en-US" sz="1500" dirty="0">
                  <a:solidFill>
                    <a:schemeClr val="dk1"/>
                  </a:solidFill>
                  <a:latin typeface="+mn-lt"/>
                  <a:ea typeface="+mn-ea"/>
                  <a:cs typeface="+mn-cs"/>
                </a:rPr>
                <a:t>Shared verification infrastructure</a:t>
              </a:r>
              <a:br>
                <a:rPr lang="en-US" sz="1500" dirty="0">
                  <a:solidFill>
                    <a:schemeClr val="dk1"/>
                  </a:solidFill>
                  <a:latin typeface="+mn-lt"/>
                  <a:ea typeface="+mn-ea"/>
                  <a:cs typeface="+mn-cs"/>
                </a:rPr>
              </a:br>
              <a:r>
                <a:rPr lang="en-US" sz="1500" dirty="0">
                  <a:solidFill>
                    <a:schemeClr val="dk1"/>
                  </a:solidFill>
                  <a:latin typeface="+mn-lt"/>
                  <a:ea typeface="+mn-ea"/>
                  <a:cs typeface="+mn-cs"/>
                </a:rPr>
                <a:t>compounds across tasks and allows</a:t>
              </a:r>
              <a:br>
                <a:rPr lang="en-US" sz="1500" dirty="0">
                  <a:solidFill>
                    <a:schemeClr val="dk1"/>
                  </a:solidFill>
                  <a:latin typeface="+mn-lt"/>
                  <a:ea typeface="+mn-ea"/>
                  <a:cs typeface="+mn-cs"/>
                </a:rPr>
              </a:br>
              <a:r>
                <a:rPr lang="en-US" sz="1500" dirty="0">
                  <a:solidFill>
                    <a:schemeClr val="dk1"/>
                  </a:solidFill>
                  <a:latin typeface="+mn-lt"/>
                  <a:ea typeface="+mn-ea"/>
                  <a:cs typeface="+mn-cs"/>
                </a:rPr>
                <a:t>practitioners to focus on the</a:t>
              </a:r>
              <a:br>
                <a:rPr lang="en-US" sz="1500" dirty="0">
                  <a:solidFill>
                    <a:schemeClr val="dk1"/>
                  </a:solidFill>
                  <a:latin typeface="+mn-lt"/>
                  <a:ea typeface="+mn-ea"/>
                  <a:cs typeface="+mn-cs"/>
                </a:rPr>
              </a:br>
              <a:r>
                <a:rPr lang="en-US" sz="1500" dirty="0">
                  <a:solidFill>
                    <a:schemeClr val="dk1"/>
                  </a:solidFill>
                  <a:latin typeface="+mn-lt"/>
                  <a:ea typeface="+mn-ea"/>
                  <a:cs typeface="+mn-cs"/>
                </a:rPr>
                <a:t>remaining judgment.</a:t>
              </a:r>
            </a:p>
          </p:txBody>
        </p:sp>
      </p:grpSp>
      <p:grpSp>
        <p:nvGrpSpPr>
          <p:cNvPr id="14" name="analysis-3"/>
          <p:cNvGrpSpPr/>
          <p:nvPr/>
        </p:nvGrpSpPr>
        <p:grpSpPr>
          <a:xfrm>
            <a:off x="8144256" y="1876425"/>
            <a:ext cx="2982506" cy="3236595"/>
            <a:chOff x="8144256" y="1876425"/>
            <a:chExt cx="2982506" cy="3236595"/>
          </a:xfrm>
        </p:grpSpPr>
        <p:sp>
          <p:nvSpPr>
            <p:cNvPr id="12" name="TextBox 12"/>
            <p:cNvSpPr txBox="1"/>
            <p:nvPr/>
          </p:nvSpPr>
          <p:spPr>
            <a:xfrm>
              <a:off x="8144256" y="1876425"/>
              <a:ext cx="2693457" cy="656844"/>
            </a:xfrm>
            <a:prstGeom prst="rect">
              <a:avLst/>
            </a:prstGeom>
            <a:noFill/>
            <a:ln>
              <a:noFill/>
            </a:ln>
          </p:spPr>
          <p:txBody>
            <a:bodyPr wrap="none" lIns="0" tIns="0" rIns="0" bIns="0" anchor="t" anchorCtr="0">
              <a:spAutoFit/>
            </a:bodyPr>
            <a:lstStyle/>
            <a:p>
              <a:pPr algn="l">
                <a:lnSpc>
                  <a:spcPts val="2400"/>
                </a:lnSpc>
              </a:pPr>
              <a:r>
                <a:rPr lang="en-US" sz="1800" dirty="0">
                  <a:solidFill>
                    <a:schemeClr val="accent2"/>
                  </a:solidFill>
                  <a:latin typeface="+mj-lt"/>
                  <a:ea typeface="+mj-ea"/>
                  <a:cs typeface="+mj-cs"/>
                </a:rPr>
                <a:t>Apply the same standard to</a:t>
              </a:r>
              <a:br>
                <a:rPr lang="en-US" sz="1800" dirty="0">
                  <a:solidFill>
                    <a:schemeClr val="accent2"/>
                  </a:solidFill>
                  <a:latin typeface="+mj-lt"/>
                  <a:ea typeface="+mj-ea"/>
                  <a:cs typeface="+mj-cs"/>
                </a:rPr>
              </a:br>
              <a:r>
                <a:rPr lang="en-US" sz="1800" dirty="0">
                  <a:solidFill>
                    <a:schemeClr val="accent2"/>
                  </a:solidFill>
                  <a:latin typeface="+mj-lt"/>
                  <a:ea typeface="+mj-ea"/>
                  <a:cs typeface="+mj-cs"/>
                </a:rPr>
                <a:t>artifacts</a:t>
              </a:r>
            </a:p>
          </p:txBody>
        </p:sp>
        <p:sp>
          <p:nvSpPr>
            <p:cNvPr id="13" name="TextBox 13"/>
            <p:cNvSpPr txBox="1"/>
            <p:nvPr/>
          </p:nvSpPr>
          <p:spPr>
            <a:xfrm>
              <a:off x="8145780" y="2505075"/>
              <a:ext cx="2980982" cy="2607945"/>
            </a:xfrm>
            <a:prstGeom prst="rect">
              <a:avLst/>
            </a:prstGeom>
            <a:noFill/>
            <a:ln>
              <a:noFill/>
            </a:ln>
          </p:spPr>
          <p:txBody>
            <a:bodyPr wrap="none" lIns="0" tIns="0" rIns="0" bIns="0" anchor="t" anchorCtr="0">
              <a:spAutoFit/>
            </a:bodyPr>
            <a:lstStyle/>
            <a:p>
              <a:pPr algn="l">
                <a:lnSpc>
                  <a:spcPts val="2025"/>
                </a:lnSpc>
              </a:pPr>
              <a:r>
                <a:rPr lang="en-US" sz="1500" dirty="0">
                  <a:solidFill>
                    <a:schemeClr val="dk1"/>
                  </a:solidFill>
                  <a:latin typeface="+mn-lt"/>
                  <a:ea typeface="+mn-ea"/>
                  <a:cs typeface="+mn-cs"/>
                </a:rPr>
                <a:t>For a report or presentation,</a:t>
              </a:r>
              <a:br>
                <a:rPr lang="en-US" sz="1500" dirty="0">
                  <a:solidFill>
                    <a:schemeClr val="dk1"/>
                  </a:solidFill>
                  <a:latin typeface="+mn-lt"/>
                  <a:ea typeface="+mn-ea"/>
                  <a:cs typeface="+mn-cs"/>
                </a:rPr>
              </a:br>
              <a:r>
                <a:rPr lang="en-US" sz="1500" dirty="0">
                  <a:solidFill>
                    <a:schemeClr val="dk1"/>
                  </a:solidFill>
                  <a:latin typeface="+mn-lt"/>
                  <a:ea typeface="+mn-ea"/>
                  <a:cs typeface="+mn-cs"/>
                </a:rPr>
                <a:t>acceptance includes the current</a:t>
              </a:r>
              <a:br>
                <a:rPr lang="en-US" sz="1500" dirty="0">
                  <a:solidFill>
                    <a:schemeClr val="dk1"/>
                  </a:solidFill>
                  <a:latin typeface="+mn-lt"/>
                  <a:ea typeface="+mn-ea"/>
                  <a:cs typeface="+mn-cs"/>
                </a:rPr>
              </a:br>
              <a:r>
                <a:rPr lang="en-US" sz="1500" dirty="0">
                  <a:solidFill>
                    <a:schemeClr val="dk1"/>
                  </a:solidFill>
                  <a:latin typeface="+mn-lt"/>
                  <a:ea typeface="+mn-ea"/>
                  <a:cs typeface="+mn-cs"/>
                </a:rPr>
                <a:t>saved output, its evidence and</a:t>
              </a:r>
              <a:br>
                <a:rPr lang="en-US" sz="1500" dirty="0">
                  <a:solidFill>
                    <a:schemeClr val="dk1"/>
                  </a:solidFill>
                  <a:latin typeface="+mn-lt"/>
                  <a:ea typeface="+mn-ea"/>
                  <a:cs typeface="+mn-cs"/>
                </a:rPr>
              </a:br>
              <a:r>
                <a:rPr lang="en-US" sz="1500" dirty="0">
                  <a:solidFill>
                    <a:schemeClr val="dk1"/>
                  </a:solidFill>
                  <a:latin typeface="+mn-lt"/>
                  <a:ea typeface="+mn-ea"/>
                  <a:cs typeface="+mn-cs"/>
                </a:rPr>
                <a:t>readability. For a financial</a:t>
              </a:r>
              <a:br>
                <a:rPr lang="en-US" sz="1500" dirty="0">
                  <a:solidFill>
                    <a:schemeClr val="dk1"/>
                  </a:solidFill>
                  <a:latin typeface="+mn-lt"/>
                  <a:ea typeface="+mn-ea"/>
                  <a:cs typeface="+mn-cs"/>
                </a:rPr>
              </a:br>
              <a:r>
                <a:rPr lang="en-US" sz="1500" dirty="0">
                  <a:solidFill>
                    <a:schemeClr val="dk1"/>
                  </a:solidFill>
                  <a:latin typeface="+mn-lt"/>
                  <a:ea typeface="+mn-ea"/>
                  <a:cs typeface="+mn-cs"/>
                </a:rPr>
                <a:t>action, it includes authorization</a:t>
              </a:r>
              <a:br>
                <a:rPr lang="en-US" sz="1500" dirty="0">
                  <a:solidFill>
                    <a:schemeClr val="dk1"/>
                  </a:solidFill>
                  <a:latin typeface="+mn-lt"/>
                  <a:ea typeface="+mn-ea"/>
                  <a:cs typeface="+mn-cs"/>
                </a:rPr>
              </a:br>
              <a:r>
                <a:rPr lang="en-US" sz="1500" dirty="0">
                  <a:solidFill>
                    <a:schemeClr val="dk1"/>
                  </a:solidFill>
                  <a:latin typeface="+mn-lt"/>
                  <a:ea typeface="+mn-ea"/>
                  <a:cs typeface="+mn-cs"/>
                </a:rPr>
                <a:t>and recovery. Match the check to</a:t>
              </a:r>
              <a:br>
                <a:rPr lang="en-US" sz="1500" dirty="0">
                  <a:solidFill>
                    <a:schemeClr val="dk1"/>
                  </a:solidFill>
                  <a:latin typeface="+mn-lt"/>
                  <a:ea typeface="+mn-ea"/>
                  <a:cs typeface="+mn-cs"/>
                </a:rPr>
              </a:br>
              <a:r>
                <a:rPr lang="en-US" sz="1500" dirty="0">
                  <a:solidFill>
                    <a:schemeClr val="dk1"/>
                  </a:solidFill>
                  <a:latin typeface="+mn-lt"/>
                  <a:ea typeface="+mn-ea"/>
                  <a:cs typeface="+mn-cs"/>
                </a:rPr>
                <a:t>the actual consequence; neither</a:t>
              </a:r>
              <a:br>
                <a:rPr lang="en-US" sz="1500" dirty="0">
                  <a:solidFill>
                    <a:schemeClr val="dk1"/>
                  </a:solidFill>
                  <a:latin typeface="+mn-lt"/>
                  <a:ea typeface="+mn-ea"/>
                  <a:cs typeface="+mn-cs"/>
                </a:rPr>
              </a:br>
              <a:r>
                <a:rPr lang="en-US" sz="1500" dirty="0">
                  <a:solidFill>
                    <a:schemeClr val="dk1"/>
                  </a:solidFill>
                  <a:latin typeface="+mn-lt"/>
                  <a:ea typeface="+mn-ea"/>
                  <a:cs typeface="+mn-cs"/>
                </a:rPr>
                <a:t>code generation speed nor another</a:t>
              </a:r>
              <a:br>
                <a:rPr lang="en-US" sz="1500" dirty="0">
                  <a:solidFill>
                    <a:schemeClr val="dk1"/>
                  </a:solidFill>
                  <a:latin typeface="+mn-lt"/>
                  <a:ea typeface="+mn-ea"/>
                  <a:cs typeface="+mn-cs"/>
                </a:rPr>
              </a:br>
              <a:r>
                <a:rPr lang="en-US" sz="1500" dirty="0">
                  <a:solidFill>
                    <a:schemeClr val="dk1"/>
                  </a:solidFill>
                  <a:latin typeface="+mn-lt"/>
                  <a:ea typeface="+mn-ea"/>
                  <a:cs typeface="+mn-cs"/>
                </a:rPr>
                <a:t>agent’s confidence resolves that</a:t>
              </a:r>
              <a:br>
                <a:rPr lang="en-US" sz="1500" dirty="0">
                  <a:solidFill>
                    <a:schemeClr val="dk1"/>
                  </a:solidFill>
                  <a:latin typeface="+mn-lt"/>
                  <a:ea typeface="+mn-ea"/>
                  <a:cs typeface="+mn-cs"/>
                </a:rPr>
              </a:br>
              <a:r>
                <a:rPr lang="en-US" sz="1500" dirty="0">
                  <a:solidFill>
                    <a:schemeClr val="dk1"/>
                  </a:solidFill>
                  <a:latin typeface="+mn-lt"/>
                  <a:ea typeface="+mn-ea"/>
                  <a:cs typeface="+mn-cs"/>
                </a:rPr>
                <a:t>decision.</a:t>
              </a:r>
            </a:p>
          </p:txBody>
        </p:sp>
      </p:grpSp>
      <p:grpSp>
        <p:nvGrpSpPr>
          <p:cNvPr id="17" name="footer"/>
          <p:cNvGrpSpPr/>
          <p:nvPr/>
        </p:nvGrpSpPr>
        <p:grpSpPr>
          <a:xfrm>
            <a:off x="452438" y="6477000"/>
            <a:ext cx="11287124" cy="176212"/>
            <a:chOff x="452438" y="6477000"/>
            <a:chExt cx="11287124" cy="176212"/>
          </a:xfrm>
        </p:grpSpPr>
        <p:sp>
          <p:nvSpPr>
            <p:cNvPr id="15" name="TextBox 15"/>
            <p:cNvSpPr txBox="1"/>
            <p:nvPr/>
          </p:nvSpPr>
          <p:spPr>
            <a:xfrm>
              <a:off x="452438" y="6477000"/>
              <a:ext cx="3222148" cy="176212"/>
            </a:xfrm>
            <a:prstGeom prst="rect">
              <a:avLst/>
            </a:prstGeom>
            <a:noFill/>
            <a:ln>
              <a:noFill/>
            </a:ln>
          </p:spPr>
          <p:txBody>
            <a:bodyPr wrap="none" lIns="0" tIns="0" rIns="0" bIns="0" anchor="t" anchorCtr="0">
              <a:spAutoFit/>
            </a:bodyPr>
            <a:lstStyle/>
            <a:p>
              <a:pPr algn="l"/>
              <a:r>
                <a:rPr lang="en-US" sz="900" dirty="0">
                  <a:solidFill>
                    <a:schemeClr val="accent5"/>
                  </a:solidFill>
                  <a:latin typeface="+mn-lt"/>
                  <a:ea typeface="+mn-ea"/>
                  <a:cs typeface="+mn-cs"/>
                </a:rPr>
                <a:t>Sources: Capital One · Sonar | Reviewed October 25, 2026</a:t>
              </a:r>
            </a:p>
          </p:txBody>
        </p:sp>
        <p:sp>
          <p:nvSpPr>
            <p:cNvPr id="16" name="TextBox 16"/>
            <p:cNvSpPr txBox="1"/>
            <p:nvPr/>
          </p:nvSpPr>
          <p:spPr>
            <a:xfrm>
              <a:off x="11359512" y="6477000"/>
              <a:ext cx="380050" cy="176212"/>
            </a:xfrm>
            <a:prstGeom prst="rect">
              <a:avLst/>
            </a:prstGeom>
            <a:noFill/>
            <a:ln>
              <a:noFill/>
            </a:ln>
          </p:spPr>
          <p:txBody>
            <a:bodyPr wrap="none" lIns="0" tIns="0" rIns="0" bIns="0" anchor="t" anchorCtr="0">
              <a:spAutoFit/>
            </a:bodyPr>
            <a:lstStyle/>
            <a:p>
              <a:pPr algn="r"/>
              <a:r>
                <a:rPr lang="en-US" sz="900" dirty="0">
                  <a:solidFill>
                    <a:schemeClr val="accent5"/>
                  </a:solidFill>
                  <a:latin typeface="+mn-lt"/>
                  <a:ea typeface="+mn-ea"/>
                  <a:cs typeface="+mn-cs"/>
                </a:rPr>
                <a:t>26 / 37</a:t>
              </a:r>
            </a:p>
          </p:txBody>
        </p:sp>
      </p:grpSp>
    </p:spTree>
  </p:cSld>
  <p:clrMapOvr>
    <a:masterClrMapping/>
  </p:clrMapOvr>
  <p:transition xmlns:p14="http://schemas.microsoft.com/office/powerpoint/2010/main" p14:dur="400">
    <p:fade/>
  </p:transition>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5" name="title"/>
          <p:cNvGrpSpPr/>
          <p:nvPr/>
        </p:nvGrpSpPr>
        <p:grpSpPr>
          <a:xfrm>
            <a:off x="443484" y="361950"/>
            <a:ext cx="9231624" cy="1100582"/>
            <a:chOff x="443484" y="361950"/>
            <a:chExt cx="9231624" cy="1100582"/>
          </a:xfrm>
        </p:grpSpPr>
        <p:sp>
          <p:nvSpPr>
            <p:cNvPr id="2" name="TextBox 2"/>
            <p:cNvSpPr txBox="1"/>
            <p:nvPr/>
          </p:nvSpPr>
          <p:spPr>
            <a:xfrm>
              <a:off x="451104" y="361950"/>
              <a:ext cx="2269370" cy="234696"/>
            </a:xfrm>
            <a:prstGeom prst="rect">
              <a:avLst/>
            </a:prstGeom>
            <a:noFill/>
            <a:ln>
              <a:noFill/>
            </a:ln>
          </p:spPr>
          <p:txBody>
            <a:bodyPr wrap="none" lIns="0" tIns="0" rIns="0" bIns="0" anchor="t" anchorCtr="0">
              <a:spAutoFit/>
            </a:bodyPr>
            <a:lstStyle/>
            <a:p>
              <a:pPr algn="l"/>
              <a:r>
                <a:rPr lang="en-US" sz="1200" dirty="0">
                  <a:solidFill>
                    <a:schemeClr val="accent2"/>
                  </a:solidFill>
                  <a:latin typeface="+mn-lt"/>
                  <a:ea typeface="+mn-ea"/>
                  <a:cs typeface="+mn-cs"/>
                </a:rPr>
                <a:t>05 / AI ENGINEER GROWTH</a:t>
              </a:r>
            </a:p>
          </p:txBody>
        </p:sp>
        <p:sp>
          <p:nvSpPr>
            <p:cNvPr id="3" name="TextBox 3"/>
            <p:cNvSpPr txBox="1"/>
            <p:nvPr/>
          </p:nvSpPr>
          <p:spPr>
            <a:xfrm>
              <a:off x="443484" y="593725"/>
              <a:ext cx="9231624" cy="528066"/>
            </a:xfrm>
            <a:prstGeom prst="rect">
              <a:avLst/>
            </a:prstGeom>
            <a:noFill/>
            <a:ln>
              <a:noFill/>
            </a:ln>
          </p:spPr>
          <p:txBody>
            <a:bodyPr wrap="none" lIns="0" tIns="0" rIns="0" bIns="0" anchor="t" anchorCtr="0">
              <a:spAutoFit/>
            </a:bodyPr>
            <a:lstStyle/>
            <a:p>
              <a:pPr algn="l"/>
              <a:r>
                <a:rPr lang="en-US" sz="2700" dirty="0">
                  <a:solidFill>
                    <a:schemeClr val="accent1"/>
                  </a:solidFill>
                  <a:latin typeface="+mj-lt"/>
                  <a:ea typeface="+mj-ea"/>
                  <a:cs typeface="+mj-cs"/>
                </a:rPr>
                <a:t>Prove one improvement through a bounded experiment</a:t>
              </a:r>
            </a:p>
          </p:txBody>
        </p:sp>
        <p:sp>
          <p:nvSpPr>
            <p:cNvPr id="4" name="TextBox 4"/>
            <p:cNvSpPr txBox="1"/>
            <p:nvPr/>
          </p:nvSpPr>
          <p:spPr>
            <a:xfrm>
              <a:off x="448818" y="1139825"/>
              <a:ext cx="8580826" cy="322707"/>
            </a:xfrm>
            <a:prstGeom prst="rect">
              <a:avLst/>
            </a:prstGeom>
            <a:noFill/>
            <a:ln>
              <a:noFill/>
            </a:ln>
          </p:spPr>
          <p:txBody>
            <a:bodyPr wrap="none" lIns="0" tIns="0" rIns="0" bIns="0" anchor="t" anchorCtr="0">
              <a:spAutoFit/>
            </a:bodyPr>
            <a:lstStyle/>
            <a:p>
              <a:pPr algn="l"/>
              <a:r>
                <a:rPr lang="en-US" sz="1650" dirty="0">
                  <a:solidFill>
                    <a:schemeClr val="accent5"/>
                  </a:solidFill>
                  <a:latin typeface="+mn-lt"/>
                  <a:ea typeface="+mn-ea"/>
                  <a:cs typeface="+mn-cs"/>
                </a:rPr>
                <a:t>One realistic task and one diagnosed failure can develop the full engineering discipline.</a:t>
              </a:r>
            </a:p>
          </p:txBody>
        </p:sp>
      </p:grpSp>
      <p:grpSp>
        <p:nvGrpSpPr>
          <p:cNvPr id="14" name="method-sequence"/>
          <p:cNvGrpSpPr/>
          <p:nvPr/>
        </p:nvGrpSpPr>
        <p:grpSpPr>
          <a:xfrm>
            <a:off x="457200" y="1714500"/>
            <a:ext cx="11277600" cy="533400"/>
            <a:chOff x="457200" y="1714500"/>
            <a:chExt cx="11277600" cy="533400"/>
          </a:xfrm>
        </p:grpSpPr>
        <p:sp>
          <p:nvSpPr>
            <p:cNvPr id="6" name="Rectangle 6"/>
            <p:cNvSpPr/>
            <p:nvPr/>
          </p:nvSpPr>
          <p:spPr>
            <a:xfrm>
              <a:off x="457200" y="1714500"/>
              <a:ext cx="2719388" cy="533400"/>
            </a:xfrm>
            <a:prstGeom prst="rect">
              <a:avLst/>
            </a:prstGeom>
            <a:solidFill>
              <a:schemeClr val="lt2"/>
            </a:solidFill>
            <a:ln>
              <a:noFill/>
            </a:ln>
          </p:spPr>
        </p:sp>
        <p:sp>
          <p:nvSpPr>
            <p:cNvPr id="7" name="TextBox 7"/>
            <p:cNvSpPr txBox="1"/>
            <p:nvPr/>
          </p:nvSpPr>
          <p:spPr>
            <a:xfrm>
              <a:off x="583692" y="1882775"/>
              <a:ext cx="766562" cy="264033"/>
            </a:xfrm>
            <a:prstGeom prst="rect">
              <a:avLst/>
            </a:prstGeom>
            <a:noFill/>
            <a:ln>
              <a:noFill/>
            </a:ln>
          </p:spPr>
          <p:txBody>
            <a:bodyPr wrap="none" lIns="0" tIns="0" rIns="0" bIns="0" anchor="t" anchorCtr="0">
              <a:spAutoFit/>
            </a:bodyPr>
            <a:lstStyle/>
            <a:p>
              <a:pPr algn="l"/>
              <a:r>
                <a:rPr lang="en-US" sz="1350" b="1" dirty="0">
                  <a:solidFill>
                    <a:schemeClr val="accent2"/>
                  </a:solidFill>
                  <a:latin typeface="+mn-lt"/>
                  <a:ea typeface="+mn-ea"/>
                  <a:cs typeface="+mn-cs"/>
                </a:rPr>
                <a:t>Baseline</a:t>
              </a:r>
            </a:p>
          </p:txBody>
        </p:sp>
        <p:sp>
          <p:nvSpPr>
            <p:cNvPr id="8" name="Rectangle 8"/>
            <p:cNvSpPr/>
            <p:nvPr/>
          </p:nvSpPr>
          <p:spPr>
            <a:xfrm>
              <a:off x="3309938" y="1714500"/>
              <a:ext cx="2719388" cy="533400"/>
            </a:xfrm>
            <a:prstGeom prst="rect">
              <a:avLst/>
            </a:prstGeom>
            <a:solidFill>
              <a:schemeClr val="lt2"/>
            </a:solidFill>
            <a:ln>
              <a:noFill/>
            </a:ln>
          </p:spPr>
        </p:sp>
        <p:sp>
          <p:nvSpPr>
            <p:cNvPr id="9" name="TextBox 9"/>
            <p:cNvSpPr txBox="1"/>
            <p:nvPr/>
          </p:nvSpPr>
          <p:spPr>
            <a:xfrm>
              <a:off x="3436429" y="1882775"/>
              <a:ext cx="1382934" cy="264033"/>
            </a:xfrm>
            <a:prstGeom prst="rect">
              <a:avLst/>
            </a:prstGeom>
            <a:noFill/>
            <a:ln>
              <a:noFill/>
            </a:ln>
          </p:spPr>
          <p:txBody>
            <a:bodyPr wrap="none" lIns="0" tIns="0" rIns="0" bIns="0" anchor="t" anchorCtr="0">
              <a:spAutoFit/>
            </a:bodyPr>
            <a:lstStyle/>
            <a:p>
              <a:pPr algn="l"/>
              <a:r>
                <a:rPr lang="en-US" sz="1350" b="1" dirty="0">
                  <a:solidFill>
                    <a:schemeClr val="accent2"/>
                  </a:solidFill>
                  <a:latin typeface="+mn-lt"/>
                  <a:ea typeface="+mn-ea"/>
                  <a:cs typeface="+mn-cs"/>
                </a:rPr>
                <a:t>One hypothesis</a:t>
              </a:r>
            </a:p>
          </p:txBody>
        </p:sp>
        <p:sp>
          <p:nvSpPr>
            <p:cNvPr id="10" name="Rectangle 10"/>
            <p:cNvSpPr/>
            <p:nvPr/>
          </p:nvSpPr>
          <p:spPr>
            <a:xfrm>
              <a:off x="6162675" y="1714500"/>
              <a:ext cx="2719388" cy="533400"/>
            </a:xfrm>
            <a:prstGeom prst="rect">
              <a:avLst/>
            </a:prstGeom>
            <a:solidFill>
              <a:schemeClr val="lt2"/>
            </a:solidFill>
            <a:ln>
              <a:noFill/>
            </a:ln>
          </p:spPr>
        </p:sp>
        <p:sp>
          <p:nvSpPr>
            <p:cNvPr id="11" name="TextBox 11"/>
            <p:cNvSpPr txBox="1"/>
            <p:nvPr/>
          </p:nvSpPr>
          <p:spPr>
            <a:xfrm>
              <a:off x="6289167" y="1882775"/>
              <a:ext cx="1666334" cy="264033"/>
            </a:xfrm>
            <a:prstGeom prst="rect">
              <a:avLst/>
            </a:prstGeom>
            <a:noFill/>
            <a:ln>
              <a:noFill/>
            </a:ln>
          </p:spPr>
          <p:txBody>
            <a:bodyPr wrap="none" lIns="0" tIns="0" rIns="0" bIns="0" anchor="t" anchorCtr="0">
              <a:spAutoFit/>
            </a:bodyPr>
            <a:lstStyle/>
            <a:p>
              <a:pPr algn="l"/>
              <a:r>
                <a:rPr lang="en-US" sz="1350" b="1" dirty="0">
                  <a:solidFill>
                    <a:schemeClr val="accent2"/>
                  </a:solidFill>
                  <a:latin typeface="+mn-lt"/>
                  <a:ea typeface="+mn-ea"/>
                  <a:cs typeface="+mn-cs"/>
                </a:rPr>
                <a:t>Paired assessment</a:t>
              </a:r>
            </a:p>
          </p:txBody>
        </p:sp>
        <p:sp>
          <p:nvSpPr>
            <p:cNvPr id="12" name="Rectangle 12"/>
            <p:cNvSpPr/>
            <p:nvPr/>
          </p:nvSpPr>
          <p:spPr>
            <a:xfrm>
              <a:off x="9015412" y="1714500"/>
              <a:ext cx="2719388" cy="533400"/>
            </a:xfrm>
            <a:prstGeom prst="rect">
              <a:avLst/>
            </a:prstGeom>
            <a:solidFill>
              <a:schemeClr val="lt2"/>
            </a:solidFill>
            <a:ln>
              <a:noFill/>
            </a:ln>
          </p:spPr>
        </p:sp>
        <p:sp>
          <p:nvSpPr>
            <p:cNvPr id="13" name="TextBox 13"/>
            <p:cNvSpPr txBox="1"/>
            <p:nvPr/>
          </p:nvSpPr>
          <p:spPr>
            <a:xfrm>
              <a:off x="9141904" y="1882775"/>
              <a:ext cx="1413092" cy="264033"/>
            </a:xfrm>
            <a:prstGeom prst="rect">
              <a:avLst/>
            </a:prstGeom>
            <a:noFill/>
            <a:ln>
              <a:noFill/>
            </a:ln>
          </p:spPr>
          <p:txBody>
            <a:bodyPr wrap="none" lIns="0" tIns="0" rIns="0" bIns="0" anchor="t" anchorCtr="0">
              <a:spAutoFit/>
            </a:bodyPr>
            <a:lstStyle/>
            <a:p>
              <a:pPr algn="l"/>
              <a:r>
                <a:rPr lang="en-US" sz="1350" b="1" dirty="0">
                  <a:solidFill>
                    <a:schemeClr val="accent2"/>
                  </a:solidFill>
                  <a:latin typeface="+mn-lt"/>
                  <a:ea typeface="+mn-ea"/>
                  <a:cs typeface="+mn-cs"/>
                </a:rPr>
                <a:t>Learning packet</a:t>
              </a:r>
            </a:p>
          </p:txBody>
        </p:sp>
      </p:grpSp>
      <p:grpSp>
        <p:nvGrpSpPr>
          <p:cNvPr id="17" name="analysis-1"/>
          <p:cNvGrpSpPr/>
          <p:nvPr/>
        </p:nvGrpSpPr>
        <p:grpSpPr>
          <a:xfrm>
            <a:off x="448056" y="2438400"/>
            <a:ext cx="3041952" cy="2712720"/>
            <a:chOff x="448056" y="2438400"/>
            <a:chExt cx="3041952" cy="2712720"/>
          </a:xfrm>
        </p:grpSpPr>
        <p:sp>
          <p:nvSpPr>
            <p:cNvPr id="15" name="TextBox 15"/>
            <p:cNvSpPr txBox="1"/>
            <p:nvPr/>
          </p:nvSpPr>
          <p:spPr>
            <a:xfrm>
              <a:off x="448056" y="2438400"/>
              <a:ext cx="3041952" cy="352044"/>
            </a:xfrm>
            <a:prstGeom prst="rect">
              <a:avLst/>
            </a:prstGeom>
            <a:noFill/>
            <a:ln>
              <a:noFill/>
            </a:ln>
          </p:spPr>
          <p:txBody>
            <a:bodyPr wrap="none" lIns="0" tIns="0" rIns="0" bIns="0" anchor="t" anchorCtr="0">
              <a:spAutoFit/>
            </a:bodyPr>
            <a:lstStyle/>
            <a:p>
              <a:pPr algn="l"/>
              <a:r>
                <a:rPr lang="en-US" sz="1800" dirty="0">
                  <a:solidFill>
                    <a:schemeClr val="accent2"/>
                  </a:solidFill>
                  <a:latin typeface="+mj-lt"/>
                  <a:ea typeface="+mj-ea"/>
                  <a:cs typeface="+mj-cs"/>
                </a:rPr>
                <a:t>Build a reviewable baseline</a:t>
              </a:r>
            </a:p>
          </p:txBody>
        </p:sp>
        <p:sp>
          <p:nvSpPr>
            <p:cNvPr id="16" name="TextBox 16"/>
            <p:cNvSpPr txBox="1"/>
            <p:nvPr/>
          </p:nvSpPr>
          <p:spPr>
            <a:xfrm>
              <a:off x="449580" y="3057525"/>
              <a:ext cx="3011881" cy="2093595"/>
            </a:xfrm>
            <a:prstGeom prst="rect">
              <a:avLst/>
            </a:prstGeom>
            <a:noFill/>
            <a:ln>
              <a:noFill/>
            </a:ln>
          </p:spPr>
          <p:txBody>
            <a:bodyPr wrap="none" lIns="0" tIns="0" rIns="0" bIns="0" anchor="t" anchorCtr="0">
              <a:spAutoFit/>
            </a:bodyPr>
            <a:lstStyle/>
            <a:p>
              <a:pPr algn="l">
                <a:lnSpc>
                  <a:spcPts val="2025"/>
                </a:lnSpc>
              </a:pPr>
              <a:r>
                <a:rPr lang="en-US" sz="1500" dirty="0">
                  <a:solidFill>
                    <a:schemeClr val="dk1"/>
                  </a:solidFill>
                  <a:latin typeface="+mn-lt"/>
                  <a:ea typeface="+mn-ea"/>
                  <a:cs typeface="+mn-cs"/>
                </a:rPr>
                <a:t>Interview a practitioner and choose</a:t>
              </a:r>
              <a:br>
                <a:rPr lang="en-US" sz="1500" dirty="0">
                  <a:solidFill>
                    <a:schemeClr val="dk1"/>
                  </a:solidFill>
                  <a:latin typeface="+mn-lt"/>
                  <a:ea typeface="+mn-ea"/>
                  <a:cs typeface="+mn-cs"/>
                </a:rPr>
              </a:br>
              <a:r>
                <a:rPr lang="en-US" sz="1500" dirty="0">
                  <a:solidFill>
                    <a:schemeClr val="dk1"/>
                  </a:solidFill>
                  <a:latin typeface="+mn-lt"/>
                  <a:ea typeface="+mn-ea"/>
                  <a:cs typeface="+mn-cs"/>
                </a:rPr>
                <a:t>a historical task with known</a:t>
              </a:r>
              <a:br>
                <a:rPr lang="en-US" sz="1500" dirty="0">
                  <a:solidFill>
                    <a:schemeClr val="dk1"/>
                  </a:solidFill>
                  <a:latin typeface="+mn-lt"/>
                  <a:ea typeface="+mn-ea"/>
                  <a:cs typeface="+mn-cs"/>
                </a:rPr>
              </a:br>
              <a:r>
                <a:rPr lang="en-US" sz="1500" dirty="0">
                  <a:solidFill>
                    <a:schemeClr val="dk1"/>
                  </a:solidFill>
                  <a:latin typeface="+mn-lt"/>
                  <a:ea typeface="+mn-ea"/>
                  <a:cs typeface="+mn-cs"/>
                </a:rPr>
                <a:t>accepted work. Preserve its input</a:t>
              </a:r>
              <a:br>
                <a:rPr lang="en-US" sz="1500" dirty="0">
                  <a:solidFill>
                    <a:schemeClr val="dk1"/>
                  </a:solidFill>
                  <a:latin typeface="+mn-lt"/>
                  <a:ea typeface="+mn-ea"/>
                  <a:cs typeface="+mn-cs"/>
                </a:rPr>
              </a:br>
              <a:r>
                <a:rPr lang="en-US" sz="1500" dirty="0">
                  <a:solidFill>
                    <a:schemeClr val="dk1"/>
                  </a:solidFill>
                  <a:latin typeface="+mn-lt"/>
                  <a:ea typeface="+mn-ea"/>
                  <a:cs typeface="+mn-cs"/>
                </a:rPr>
                <a:t>snapshot and permitted tools. Write</a:t>
              </a:r>
              <a:br>
                <a:rPr lang="en-US" sz="1500" dirty="0">
                  <a:solidFill>
                    <a:schemeClr val="dk1"/>
                  </a:solidFill>
                  <a:latin typeface="+mn-lt"/>
                  <a:ea typeface="+mn-ea"/>
                  <a:cs typeface="+mn-cs"/>
                </a:rPr>
              </a:br>
              <a:r>
                <a:rPr lang="en-US" sz="1500" dirty="0">
                  <a:solidFill>
                    <a:schemeClr val="dk1"/>
                  </a:solidFill>
                  <a:latin typeface="+mn-lt"/>
                  <a:ea typeface="+mn-ea"/>
                  <a:cs typeface="+mn-cs"/>
                </a:rPr>
                <a:t>exact checks, a short expert rubric</a:t>
              </a:r>
              <a:br>
                <a:rPr lang="en-US" sz="1500" dirty="0">
                  <a:solidFill>
                    <a:schemeClr val="dk1"/>
                  </a:solidFill>
                  <a:latin typeface="+mn-lt"/>
                  <a:ea typeface="+mn-ea"/>
                  <a:cs typeface="+mn-cs"/>
                </a:rPr>
              </a:br>
              <a:r>
                <a:rPr lang="en-US" sz="1500" dirty="0">
                  <a:solidFill>
                    <a:schemeClr val="dk1"/>
                  </a:solidFill>
                  <a:latin typeface="+mn-lt"/>
                  <a:ea typeface="+mn-ea"/>
                  <a:cs typeface="+mn-cs"/>
                </a:rPr>
                <a:t>and one critical behavior</a:t>
              </a:r>
              <a:br>
                <a:rPr lang="en-US" sz="1500" dirty="0">
                  <a:solidFill>
                    <a:schemeClr val="dk1"/>
                  </a:solidFill>
                  <a:latin typeface="+mn-lt"/>
                  <a:ea typeface="+mn-ea"/>
                  <a:cs typeface="+mn-cs"/>
                </a:rPr>
              </a:br>
              <a:r>
                <a:rPr lang="en-US" sz="1500" dirty="0">
                  <a:solidFill>
                    <a:schemeClr val="dk1"/>
                  </a:solidFill>
                  <a:latin typeface="+mn-lt"/>
                  <a:ea typeface="+mn-ea"/>
                  <a:cs typeface="+mn-cs"/>
                </a:rPr>
                <a:t>expectation before measuring the</a:t>
              </a:r>
              <a:br>
                <a:rPr lang="en-US" sz="1500" dirty="0">
                  <a:solidFill>
                    <a:schemeClr val="dk1"/>
                  </a:solidFill>
                  <a:latin typeface="+mn-lt"/>
                  <a:ea typeface="+mn-ea"/>
                  <a:cs typeface="+mn-cs"/>
                </a:rPr>
              </a:br>
              <a:r>
                <a:rPr lang="en-US" sz="1500" dirty="0">
                  <a:solidFill>
                    <a:schemeClr val="dk1"/>
                  </a:solidFill>
                  <a:latin typeface="+mn-lt"/>
                  <a:ea typeface="+mn-ea"/>
                  <a:cs typeface="+mn-cs"/>
                </a:rPr>
                <a:t>candidate.</a:t>
              </a:r>
            </a:p>
          </p:txBody>
        </p:sp>
      </p:grpSp>
      <p:grpSp>
        <p:nvGrpSpPr>
          <p:cNvPr id="20" name="analysis-2"/>
          <p:cNvGrpSpPr/>
          <p:nvPr/>
        </p:nvGrpSpPr>
        <p:grpSpPr>
          <a:xfrm>
            <a:off x="4296156" y="2438400"/>
            <a:ext cx="2886266" cy="2969895"/>
            <a:chOff x="4296156" y="2438400"/>
            <a:chExt cx="2886266" cy="2969895"/>
          </a:xfrm>
        </p:grpSpPr>
        <p:sp>
          <p:nvSpPr>
            <p:cNvPr id="18" name="TextBox 18"/>
            <p:cNvSpPr txBox="1"/>
            <p:nvPr/>
          </p:nvSpPr>
          <p:spPr>
            <a:xfrm>
              <a:off x="4296156" y="2438400"/>
              <a:ext cx="2269773" cy="352044"/>
            </a:xfrm>
            <a:prstGeom prst="rect">
              <a:avLst/>
            </a:prstGeom>
            <a:noFill/>
            <a:ln>
              <a:noFill/>
            </a:ln>
          </p:spPr>
          <p:txBody>
            <a:bodyPr wrap="none" lIns="0" tIns="0" rIns="0" bIns="0" anchor="t" anchorCtr="0">
              <a:spAutoFit/>
            </a:bodyPr>
            <a:lstStyle/>
            <a:p>
              <a:pPr algn="l"/>
              <a:r>
                <a:rPr lang="en-US" sz="1800" dirty="0">
                  <a:solidFill>
                    <a:schemeClr val="accent2"/>
                  </a:solidFill>
                  <a:latin typeface="+mj-lt"/>
                  <a:ea typeface="+mj-ea"/>
                  <a:cs typeface="+mj-cs"/>
                </a:rPr>
                <a:t>Vary one hypothesis</a:t>
              </a:r>
            </a:p>
          </p:txBody>
        </p:sp>
        <p:sp>
          <p:nvSpPr>
            <p:cNvPr id="19" name="TextBox 19"/>
            <p:cNvSpPr txBox="1"/>
            <p:nvPr/>
          </p:nvSpPr>
          <p:spPr>
            <a:xfrm>
              <a:off x="4297680" y="3057525"/>
              <a:ext cx="2884742" cy="2350770"/>
            </a:xfrm>
            <a:prstGeom prst="rect">
              <a:avLst/>
            </a:prstGeom>
            <a:noFill/>
            <a:ln>
              <a:noFill/>
            </a:ln>
          </p:spPr>
          <p:txBody>
            <a:bodyPr wrap="none" lIns="0" tIns="0" rIns="0" bIns="0" anchor="t" anchorCtr="0">
              <a:spAutoFit/>
            </a:bodyPr>
            <a:lstStyle/>
            <a:p>
              <a:pPr algn="l">
                <a:lnSpc>
                  <a:spcPts val="2025"/>
                </a:lnSpc>
              </a:pPr>
              <a:r>
                <a:rPr lang="en-US" sz="1500" dirty="0">
                  <a:solidFill>
                    <a:schemeClr val="dk1"/>
                  </a:solidFill>
                  <a:latin typeface="+mn-lt"/>
                  <a:ea typeface="+mn-ea"/>
                  <a:cs typeface="+mn-cs"/>
                </a:rPr>
                <a:t>Try a skill ablation, a narrower</a:t>
              </a:r>
              <a:br>
                <a:rPr lang="en-US" sz="1500" dirty="0">
                  <a:solidFill>
                    <a:schemeClr val="dk1"/>
                  </a:solidFill>
                  <a:latin typeface="+mn-lt"/>
                  <a:ea typeface="+mn-ea"/>
                  <a:cs typeface="+mn-cs"/>
                </a:rPr>
              </a:br>
              <a:r>
                <a:rPr lang="en-US" sz="1500" dirty="0">
                  <a:solidFill>
                    <a:schemeClr val="dk1"/>
                  </a:solidFill>
                  <a:latin typeface="+mn-lt"/>
                  <a:ea typeface="+mn-ea"/>
                  <a:cs typeface="+mn-cs"/>
                </a:rPr>
                <a:t>context or a repaired tool</a:t>
              </a:r>
              <a:br>
                <a:rPr lang="en-US" sz="1500" dirty="0">
                  <a:solidFill>
                    <a:schemeClr val="dk1"/>
                  </a:solidFill>
                  <a:latin typeface="+mn-lt"/>
                  <a:ea typeface="+mn-ea"/>
                  <a:cs typeface="+mn-cs"/>
                </a:rPr>
              </a:br>
              <a:r>
                <a:rPr lang="en-US" sz="1500" dirty="0">
                  <a:solidFill>
                    <a:schemeClr val="dk1"/>
                  </a:solidFill>
                  <a:latin typeface="+mn-lt"/>
                  <a:ea typeface="+mn-ea"/>
                  <a:cs typeface="+mn-cs"/>
                </a:rPr>
                <a:t>incentive. Add an answer-first</a:t>
              </a:r>
              <a:br>
                <a:rPr lang="en-US" sz="1500" dirty="0">
                  <a:solidFill>
                    <a:schemeClr val="dk1"/>
                  </a:solidFill>
                  <a:latin typeface="+mn-lt"/>
                  <a:ea typeface="+mn-ea"/>
                  <a:cs typeface="+mn-cs"/>
                </a:rPr>
              </a:br>
              <a:r>
                <a:rPr lang="en-US" sz="1500" dirty="0">
                  <a:solidFill>
                    <a:schemeClr val="dk1"/>
                  </a:solidFill>
                  <a:latin typeface="+mn-lt"/>
                  <a:ea typeface="+mn-ea"/>
                  <a:cs typeface="+mn-cs"/>
                </a:rPr>
                <a:t>missing-evidence case and a</a:t>
              </a:r>
              <a:br>
                <a:rPr lang="en-US" sz="1500" dirty="0">
                  <a:solidFill>
                    <a:schemeClr val="dk1"/>
                  </a:solidFill>
                  <a:latin typeface="+mn-lt"/>
                  <a:ea typeface="+mn-ea"/>
                  <a:cs typeface="+mn-cs"/>
                </a:rPr>
              </a:br>
              <a:r>
                <a:rPr lang="en-US" sz="1500" dirty="0">
                  <a:solidFill>
                    <a:schemeClr val="dk1"/>
                  </a:solidFill>
                  <a:latin typeface="+mn-lt"/>
                  <a:ea typeface="+mn-ea"/>
                  <a:cs typeface="+mn-cs"/>
                </a:rPr>
                <a:t>next-period memory case. Repeat</a:t>
              </a:r>
              <a:br>
                <a:rPr lang="en-US" sz="1500" dirty="0">
                  <a:solidFill>
                    <a:schemeClr val="dk1"/>
                  </a:solidFill>
                  <a:latin typeface="+mn-lt"/>
                  <a:ea typeface="+mn-ea"/>
                  <a:cs typeface="+mn-cs"/>
                </a:rPr>
              </a:br>
              <a:r>
                <a:rPr lang="en-US" sz="1500" dirty="0">
                  <a:solidFill>
                    <a:schemeClr val="dk1"/>
                  </a:solidFill>
                  <a:latin typeface="+mn-lt"/>
                  <a:ea typeface="+mn-ea"/>
                  <a:cs typeface="+mn-cs"/>
                </a:rPr>
                <a:t>when stochastic variation matters,</a:t>
              </a:r>
              <a:br>
                <a:rPr lang="en-US" sz="1500" dirty="0">
                  <a:solidFill>
                    <a:schemeClr val="dk1"/>
                  </a:solidFill>
                  <a:latin typeface="+mn-lt"/>
                  <a:ea typeface="+mn-ea"/>
                  <a:cs typeface="+mn-cs"/>
                </a:rPr>
              </a:br>
              <a:r>
                <a:rPr lang="en-US" sz="1500" dirty="0">
                  <a:solidFill>
                    <a:schemeClr val="dk1"/>
                  </a:solidFill>
                  <a:latin typeface="+mn-lt"/>
                  <a:ea typeface="+mn-ea"/>
                  <a:cs typeface="+mn-cs"/>
                </a:rPr>
                <a:t>keep held-out assessment and</a:t>
              </a:r>
              <a:br>
                <a:rPr lang="en-US" sz="1500" dirty="0">
                  <a:solidFill>
                    <a:schemeClr val="dk1"/>
                  </a:solidFill>
                  <a:latin typeface="+mn-lt"/>
                  <a:ea typeface="+mn-ea"/>
                  <a:cs typeface="+mn-cs"/>
                </a:rPr>
              </a:br>
              <a:r>
                <a:rPr lang="en-US" sz="1500" dirty="0">
                  <a:solidFill>
                    <a:schemeClr val="dk1"/>
                  </a:solidFill>
                  <a:latin typeface="+mn-lt"/>
                  <a:ea typeface="+mn-ea"/>
                  <a:cs typeface="+mn-cs"/>
                </a:rPr>
                <a:t>inspect regressions as well as the</a:t>
              </a:r>
              <a:br>
                <a:rPr lang="en-US" sz="1500" dirty="0">
                  <a:solidFill>
                    <a:schemeClr val="dk1"/>
                  </a:solidFill>
                  <a:latin typeface="+mn-lt"/>
                  <a:ea typeface="+mn-ea"/>
                  <a:cs typeface="+mn-cs"/>
                </a:rPr>
              </a:br>
              <a:r>
                <a:rPr lang="en-US" sz="1500" dirty="0">
                  <a:solidFill>
                    <a:schemeClr val="dk1"/>
                  </a:solidFill>
                  <a:latin typeface="+mn-lt"/>
                  <a:ea typeface="+mn-ea"/>
                  <a:cs typeface="+mn-cs"/>
                </a:rPr>
                <a:t>average.</a:t>
              </a:r>
            </a:p>
          </p:txBody>
        </p:sp>
      </p:grpSp>
      <p:grpSp>
        <p:nvGrpSpPr>
          <p:cNvPr id="23" name="analysis-3"/>
          <p:cNvGrpSpPr/>
          <p:nvPr/>
        </p:nvGrpSpPr>
        <p:grpSpPr>
          <a:xfrm>
            <a:off x="8144256" y="2438400"/>
            <a:ext cx="3020537" cy="3227070"/>
            <a:chOff x="8144256" y="2438400"/>
            <a:chExt cx="3020537" cy="3227070"/>
          </a:xfrm>
        </p:grpSpPr>
        <p:sp>
          <p:nvSpPr>
            <p:cNvPr id="21" name="TextBox 21"/>
            <p:cNvSpPr txBox="1"/>
            <p:nvPr/>
          </p:nvSpPr>
          <p:spPr>
            <a:xfrm>
              <a:off x="8144256" y="2438400"/>
              <a:ext cx="3020537" cy="352044"/>
            </a:xfrm>
            <a:prstGeom prst="rect">
              <a:avLst/>
            </a:prstGeom>
            <a:noFill/>
            <a:ln>
              <a:noFill/>
            </a:ln>
          </p:spPr>
          <p:txBody>
            <a:bodyPr wrap="none" lIns="0" tIns="0" rIns="0" bIns="0" anchor="t" anchorCtr="0">
              <a:spAutoFit/>
            </a:bodyPr>
            <a:lstStyle/>
            <a:p>
              <a:pPr algn="l"/>
              <a:r>
                <a:rPr lang="en-US" sz="1800" dirty="0">
                  <a:solidFill>
                    <a:schemeClr val="accent2"/>
                  </a:solidFill>
                  <a:latin typeface="+mj-lt"/>
                  <a:ea typeface="+mj-ea"/>
                  <a:cs typeface="+mj-cs"/>
                </a:rPr>
                <a:t>Publish the learning packet</a:t>
              </a:r>
            </a:p>
          </p:txBody>
        </p:sp>
        <p:sp>
          <p:nvSpPr>
            <p:cNvPr id="22" name="TextBox 22"/>
            <p:cNvSpPr txBox="1"/>
            <p:nvPr/>
          </p:nvSpPr>
          <p:spPr>
            <a:xfrm>
              <a:off x="8145780" y="3057525"/>
              <a:ext cx="3002394" cy="2607945"/>
            </a:xfrm>
            <a:prstGeom prst="rect">
              <a:avLst/>
            </a:prstGeom>
            <a:noFill/>
            <a:ln>
              <a:noFill/>
            </a:ln>
          </p:spPr>
          <p:txBody>
            <a:bodyPr wrap="none" lIns="0" tIns="0" rIns="0" bIns="0" anchor="t" anchorCtr="0">
              <a:spAutoFit/>
            </a:bodyPr>
            <a:lstStyle/>
            <a:p>
              <a:pPr algn="l">
                <a:lnSpc>
                  <a:spcPts val="2025"/>
                </a:lnSpc>
              </a:pPr>
              <a:r>
                <a:rPr lang="en-US" sz="1500" dirty="0">
                  <a:solidFill>
                    <a:schemeClr val="dk1"/>
                  </a:solidFill>
                  <a:latin typeface="+mn-lt"/>
                  <a:ea typeface="+mn-ea"/>
                  <a:cs typeface="+mn-cs"/>
                </a:rPr>
                <a:t>Retain the trace,</a:t>
              </a:r>
              <a:br>
                <a:rPr lang="en-US" sz="1500" dirty="0">
                  <a:solidFill>
                    <a:schemeClr val="dk1"/>
                  </a:solidFill>
                  <a:latin typeface="+mn-lt"/>
                  <a:ea typeface="+mn-ea"/>
                  <a:cs typeface="+mn-cs"/>
                </a:rPr>
              </a:br>
              <a:r>
                <a:rPr lang="en-US" sz="1500" dirty="0">
                  <a:solidFill>
                    <a:schemeClr val="dk1"/>
                  </a:solidFill>
                  <a:latin typeface="+mn-lt"/>
                  <a:ea typeface="+mn-ea"/>
                  <a:cs typeface="+mn-cs"/>
                </a:rPr>
                <a:t>baseline/candidate results,</a:t>
              </a:r>
              <a:br>
                <a:rPr lang="en-US" sz="1500" dirty="0">
                  <a:solidFill>
                    <a:schemeClr val="dk1"/>
                  </a:solidFill>
                  <a:latin typeface="+mn-lt"/>
                  <a:ea typeface="+mn-ea"/>
                  <a:cs typeface="+mn-cs"/>
                </a:rPr>
              </a:br>
              <a:r>
                <a:rPr lang="en-US" sz="1500" dirty="0">
                  <a:solidFill>
                    <a:schemeClr val="dk1"/>
                  </a:solidFill>
                  <a:latin typeface="+mn-lt"/>
                  <a:ea typeface="+mn-ea"/>
                  <a:cs typeface="+mn-cs"/>
                </a:rPr>
                <a:t>important disagreement, total</a:t>
              </a:r>
              <a:br>
                <a:rPr lang="en-US" sz="1500" dirty="0">
                  <a:solidFill>
                    <a:schemeClr val="dk1"/>
                  </a:solidFill>
                  <a:latin typeface="+mn-lt"/>
                  <a:ea typeface="+mn-ea"/>
                  <a:cs typeface="+mn-cs"/>
                </a:rPr>
              </a:br>
              <a:r>
                <a:rPr lang="en-US" sz="1500" dirty="0">
                  <a:solidFill>
                    <a:schemeClr val="dk1"/>
                  </a:solidFill>
                  <a:latin typeface="+mn-lt"/>
                  <a:ea typeface="+mn-ea"/>
                  <a:cs typeface="+mn-cs"/>
                </a:rPr>
                <a:t>review effort and the current</a:t>
              </a:r>
              <a:br>
                <a:rPr lang="en-US" sz="1500" dirty="0">
                  <a:solidFill>
                    <a:schemeClr val="dk1"/>
                  </a:solidFill>
                  <a:latin typeface="+mn-lt"/>
                  <a:ea typeface="+mn-ea"/>
                  <a:cs typeface="+mn-cs"/>
                </a:rPr>
              </a:br>
              <a:r>
                <a:rPr lang="en-US" sz="1500" dirty="0">
                  <a:solidFill>
                    <a:schemeClr val="dk1"/>
                  </a:solidFill>
                  <a:latin typeface="+mn-lt"/>
                  <a:ea typeface="+mn-ea"/>
                  <a:cs typeface="+mn-cs"/>
                </a:rPr>
                <a:t>artifact. State what improved, what</a:t>
              </a:r>
              <a:br>
                <a:rPr lang="en-US" sz="1500" dirty="0">
                  <a:solidFill>
                    <a:schemeClr val="dk1"/>
                  </a:solidFill>
                  <a:latin typeface="+mn-lt"/>
                  <a:ea typeface="+mn-ea"/>
                  <a:cs typeface="+mn-cs"/>
                </a:rPr>
              </a:br>
              <a:r>
                <a:rPr lang="en-US" sz="1500" dirty="0">
                  <a:solidFill>
                    <a:schemeClr val="dk1"/>
                  </a:solidFill>
                  <a:latin typeface="+mn-lt"/>
                  <a:ea typeface="+mn-ea"/>
                  <a:cs typeface="+mn-cs"/>
                </a:rPr>
                <a:t>failed and what remains uncertain.</a:t>
              </a:r>
              <a:br>
                <a:rPr lang="en-US" sz="1500" dirty="0">
                  <a:solidFill>
                    <a:schemeClr val="dk1"/>
                  </a:solidFill>
                  <a:latin typeface="+mn-lt"/>
                  <a:ea typeface="+mn-ea"/>
                  <a:cs typeface="+mn-cs"/>
                </a:rPr>
              </a:br>
              <a:r>
                <a:rPr lang="en-US" sz="1500" dirty="0">
                  <a:solidFill>
                    <a:schemeClr val="dk1"/>
                  </a:solidFill>
                  <a:latin typeface="+mn-lt"/>
                  <a:ea typeface="+mn-ea"/>
                  <a:cs typeface="+mn-cs"/>
                </a:rPr>
                <a:t>This develops product judgment,</a:t>
              </a:r>
              <a:br>
                <a:rPr lang="en-US" sz="1500" dirty="0">
                  <a:solidFill>
                    <a:schemeClr val="dk1"/>
                  </a:solidFill>
                  <a:latin typeface="+mn-lt"/>
                  <a:ea typeface="+mn-ea"/>
                  <a:cs typeface="+mn-cs"/>
                </a:rPr>
              </a:br>
              <a:r>
                <a:rPr lang="en-US" sz="1500" dirty="0">
                  <a:solidFill>
                    <a:schemeClr val="dk1"/>
                  </a:solidFill>
                  <a:latin typeface="+mn-lt"/>
                  <a:ea typeface="+mn-ea"/>
                  <a:cs typeface="+mn-cs"/>
                </a:rPr>
                <a:t>debugging and evaluation together;</a:t>
              </a:r>
              <a:br>
                <a:rPr lang="en-US" sz="1500" dirty="0">
                  <a:solidFill>
                    <a:schemeClr val="dk1"/>
                  </a:solidFill>
                  <a:latin typeface="+mn-lt"/>
                  <a:ea typeface="+mn-ea"/>
                  <a:cs typeface="+mn-cs"/>
                </a:rPr>
              </a:br>
              <a:r>
                <a:rPr lang="en-US" sz="1500" dirty="0">
                  <a:solidFill>
                    <a:schemeClr val="dk1"/>
                  </a:solidFill>
                  <a:latin typeface="+mn-lt"/>
                  <a:ea typeface="+mn-ea"/>
                  <a:cs typeface="+mn-cs"/>
                </a:rPr>
                <a:t>it is an optional learning exercise</a:t>
              </a:r>
              <a:br>
                <a:rPr lang="en-US" sz="1500" dirty="0">
                  <a:solidFill>
                    <a:schemeClr val="dk1"/>
                  </a:solidFill>
                  <a:latin typeface="+mn-lt"/>
                  <a:ea typeface="+mn-ea"/>
                  <a:cs typeface="+mn-cs"/>
                </a:rPr>
              </a:br>
              <a:r>
                <a:rPr lang="en-US" sz="1500" dirty="0">
                  <a:solidFill>
                    <a:schemeClr val="dk1"/>
                  </a:solidFill>
                  <a:latin typeface="+mn-lt"/>
                  <a:ea typeface="+mn-ea"/>
                  <a:cs typeface="+mn-cs"/>
                </a:rPr>
                <a:t>rather than a project commitment.</a:t>
              </a:r>
            </a:p>
          </p:txBody>
        </p:sp>
      </p:grpSp>
      <p:grpSp>
        <p:nvGrpSpPr>
          <p:cNvPr id="26" name="footer"/>
          <p:cNvGrpSpPr/>
          <p:nvPr/>
        </p:nvGrpSpPr>
        <p:grpSpPr>
          <a:xfrm>
            <a:off x="452438" y="6477000"/>
            <a:ext cx="11287124" cy="176212"/>
            <a:chOff x="452438" y="6477000"/>
            <a:chExt cx="11287124" cy="176212"/>
          </a:xfrm>
        </p:grpSpPr>
        <p:sp>
          <p:nvSpPr>
            <p:cNvPr id="24" name="TextBox 24"/>
            <p:cNvSpPr txBox="1"/>
            <p:nvPr/>
          </p:nvSpPr>
          <p:spPr>
            <a:xfrm>
              <a:off x="452438" y="6477000"/>
              <a:ext cx="4354408" cy="176212"/>
            </a:xfrm>
            <a:prstGeom prst="rect">
              <a:avLst/>
            </a:prstGeom>
            <a:noFill/>
            <a:ln>
              <a:noFill/>
            </a:ln>
          </p:spPr>
          <p:txBody>
            <a:bodyPr wrap="none" lIns="0" tIns="0" rIns="0" bIns="0" anchor="t" anchorCtr="0">
              <a:spAutoFit/>
            </a:bodyPr>
            <a:lstStyle/>
            <a:p>
              <a:pPr algn="l"/>
              <a:r>
                <a:rPr lang="en-US" sz="900" dirty="0">
                  <a:solidFill>
                    <a:schemeClr val="accent5"/>
                  </a:solidFill>
                  <a:latin typeface="+mn-lt"/>
                  <a:ea typeface="+mn-ea"/>
                  <a:cs typeface="+mn-cs"/>
                </a:rPr>
                <a:t>Sources: Basis · Ramp · Air Canada · Capital One | Reviewed October 25, 2026</a:t>
              </a:r>
            </a:p>
          </p:txBody>
        </p:sp>
        <p:sp>
          <p:nvSpPr>
            <p:cNvPr id="25" name="TextBox 25"/>
            <p:cNvSpPr txBox="1"/>
            <p:nvPr/>
          </p:nvSpPr>
          <p:spPr>
            <a:xfrm>
              <a:off x="11359512" y="6477000"/>
              <a:ext cx="380050" cy="176212"/>
            </a:xfrm>
            <a:prstGeom prst="rect">
              <a:avLst/>
            </a:prstGeom>
            <a:noFill/>
            <a:ln>
              <a:noFill/>
            </a:ln>
          </p:spPr>
          <p:txBody>
            <a:bodyPr wrap="none" lIns="0" tIns="0" rIns="0" bIns="0" anchor="t" anchorCtr="0">
              <a:spAutoFit/>
            </a:bodyPr>
            <a:lstStyle/>
            <a:p>
              <a:pPr algn="r"/>
              <a:r>
                <a:rPr lang="en-US" sz="900" dirty="0">
                  <a:solidFill>
                    <a:schemeClr val="accent5"/>
                  </a:solidFill>
                  <a:latin typeface="+mn-lt"/>
                  <a:ea typeface="+mn-ea"/>
                  <a:cs typeface="+mn-cs"/>
                </a:rPr>
                <a:t>27 / 37</a:t>
              </a:r>
            </a:p>
          </p:txBody>
        </p:sp>
      </p:grpSp>
    </p:spTree>
  </p:cSld>
  <p:clrMapOvr>
    <a:masterClrMapping/>
  </p:clrMapOvr>
  <p:transition xmlns:p14="http://schemas.microsoft.com/office/powerpoint/2010/main" p14:dur="400">
    <p:fade/>
  </p:transition>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5" name="title"/>
          <p:cNvGrpSpPr/>
          <p:nvPr/>
        </p:nvGrpSpPr>
        <p:grpSpPr>
          <a:xfrm>
            <a:off x="443484" y="361950"/>
            <a:ext cx="10525127" cy="1100582"/>
            <a:chOff x="443484" y="361950"/>
            <a:chExt cx="10525127" cy="1100582"/>
          </a:xfrm>
        </p:grpSpPr>
        <p:sp>
          <p:nvSpPr>
            <p:cNvPr id="2" name="TextBox 2"/>
            <p:cNvSpPr txBox="1"/>
            <p:nvPr/>
          </p:nvSpPr>
          <p:spPr>
            <a:xfrm>
              <a:off x="451104" y="361950"/>
              <a:ext cx="2345395" cy="234696"/>
            </a:xfrm>
            <a:prstGeom prst="rect">
              <a:avLst/>
            </a:prstGeom>
            <a:noFill/>
            <a:ln>
              <a:noFill/>
            </a:ln>
          </p:spPr>
          <p:txBody>
            <a:bodyPr wrap="none" lIns="0" tIns="0" rIns="0" bIns="0" anchor="t" anchorCtr="0">
              <a:spAutoFit/>
            </a:bodyPr>
            <a:lstStyle/>
            <a:p>
              <a:pPr algn="l"/>
              <a:r>
                <a:rPr lang="en-US" sz="1200" dirty="0">
                  <a:solidFill>
                    <a:schemeClr val="accent2"/>
                  </a:solidFill>
                  <a:latin typeface="+mn-lt"/>
                  <a:ea typeface="+mn-ea"/>
                  <a:cs typeface="+mn-cs"/>
                </a:rPr>
                <a:t>TAKEAWAYS &amp; DISCUSSION</a:t>
              </a:r>
            </a:p>
          </p:txBody>
        </p:sp>
        <p:sp>
          <p:nvSpPr>
            <p:cNvPr id="3" name="TextBox 3"/>
            <p:cNvSpPr txBox="1"/>
            <p:nvPr/>
          </p:nvSpPr>
          <p:spPr>
            <a:xfrm>
              <a:off x="443484" y="593725"/>
              <a:ext cx="8577106" cy="528066"/>
            </a:xfrm>
            <a:prstGeom prst="rect">
              <a:avLst/>
            </a:prstGeom>
            <a:noFill/>
            <a:ln>
              <a:noFill/>
            </a:ln>
          </p:spPr>
          <p:txBody>
            <a:bodyPr wrap="none" lIns="0" tIns="0" rIns="0" bIns="0" anchor="t" anchorCtr="0">
              <a:spAutoFit/>
            </a:bodyPr>
            <a:lstStyle/>
            <a:p>
              <a:pPr algn="l"/>
              <a:r>
                <a:rPr lang="en-US" sz="2700" dirty="0">
                  <a:solidFill>
                    <a:schemeClr val="accent1"/>
                  </a:solidFill>
                  <a:latin typeface="+mj-lt"/>
                  <a:ea typeface="+mj-ea"/>
                  <a:cs typeface="+mj-cs"/>
                </a:rPr>
                <a:t>Agree acceptance, preserve evidence, test the repair</a:t>
              </a:r>
            </a:p>
          </p:txBody>
        </p:sp>
        <p:sp>
          <p:nvSpPr>
            <p:cNvPr id="4" name="TextBox 4"/>
            <p:cNvSpPr txBox="1"/>
            <p:nvPr/>
          </p:nvSpPr>
          <p:spPr>
            <a:xfrm>
              <a:off x="448818" y="1139825"/>
              <a:ext cx="10519793" cy="322707"/>
            </a:xfrm>
            <a:prstGeom prst="rect">
              <a:avLst/>
            </a:prstGeom>
            <a:noFill/>
            <a:ln>
              <a:noFill/>
            </a:ln>
          </p:spPr>
          <p:txBody>
            <a:bodyPr wrap="none" lIns="0" tIns="0" rIns="0" bIns="0" anchor="t" anchorCtr="0">
              <a:spAutoFit/>
            </a:bodyPr>
            <a:lstStyle/>
            <a:p>
              <a:pPr algn="l"/>
              <a:r>
                <a:rPr lang="en-US" sz="1650" dirty="0">
                  <a:solidFill>
                    <a:schemeClr val="accent5"/>
                  </a:solidFill>
                  <a:latin typeface="+mn-lt"/>
                  <a:ea typeface="+mn-ea"/>
                  <a:cs typeface="+mn-cs"/>
                </a:rPr>
                <a:t>Prepare valuable work, retain inspectable evidence and make the next change an accountable experiment.</a:t>
              </a:r>
            </a:p>
          </p:txBody>
        </p:sp>
      </p:grpSp>
      <p:grpSp>
        <p:nvGrpSpPr>
          <p:cNvPr id="8" name="analysis-1"/>
          <p:cNvGrpSpPr/>
          <p:nvPr/>
        </p:nvGrpSpPr>
        <p:grpSpPr>
          <a:xfrm>
            <a:off x="448056" y="1876425"/>
            <a:ext cx="3077261" cy="2722245"/>
            <a:chOff x="448056" y="1876425"/>
            <a:chExt cx="3077261" cy="2722245"/>
          </a:xfrm>
        </p:grpSpPr>
        <p:sp>
          <p:nvSpPr>
            <p:cNvPr id="6" name="TextBox 6"/>
            <p:cNvSpPr txBox="1"/>
            <p:nvPr/>
          </p:nvSpPr>
          <p:spPr>
            <a:xfrm>
              <a:off x="448056" y="1876425"/>
              <a:ext cx="2775913" cy="656844"/>
            </a:xfrm>
            <a:prstGeom prst="rect">
              <a:avLst/>
            </a:prstGeom>
            <a:noFill/>
            <a:ln>
              <a:noFill/>
            </a:ln>
          </p:spPr>
          <p:txBody>
            <a:bodyPr wrap="none" lIns="0" tIns="0" rIns="0" bIns="0" anchor="t" anchorCtr="0">
              <a:spAutoFit/>
            </a:bodyPr>
            <a:lstStyle/>
            <a:p>
              <a:pPr algn="l">
                <a:lnSpc>
                  <a:spcPts val="2400"/>
                </a:lnSpc>
              </a:pPr>
              <a:r>
                <a:rPr lang="en-US" sz="1800" dirty="0">
                  <a:solidFill>
                    <a:schemeClr val="accent2"/>
                  </a:solidFill>
                  <a:latin typeface="+mj-lt"/>
                  <a:ea typeface="+mj-ea"/>
                  <a:cs typeface="+mj-cs"/>
                </a:rPr>
                <a:t>Agree what completed work</a:t>
              </a:r>
              <a:br>
                <a:rPr lang="en-US" sz="1800" dirty="0">
                  <a:solidFill>
                    <a:schemeClr val="accent2"/>
                  </a:solidFill>
                  <a:latin typeface="+mj-lt"/>
                  <a:ea typeface="+mj-ea"/>
                  <a:cs typeface="+mj-cs"/>
                </a:rPr>
              </a:br>
              <a:r>
                <a:rPr lang="en-US" sz="1800" dirty="0">
                  <a:solidFill>
                    <a:schemeClr val="accent2"/>
                  </a:solidFill>
                  <a:latin typeface="+mj-lt"/>
                  <a:ea typeface="+mj-ea"/>
                  <a:cs typeface="+mj-cs"/>
                </a:rPr>
                <a:t>means</a:t>
              </a:r>
            </a:p>
          </p:txBody>
        </p:sp>
        <p:sp>
          <p:nvSpPr>
            <p:cNvPr id="7" name="TextBox 7"/>
            <p:cNvSpPr txBox="1"/>
            <p:nvPr/>
          </p:nvSpPr>
          <p:spPr>
            <a:xfrm>
              <a:off x="449580" y="2505075"/>
              <a:ext cx="3075737" cy="2093595"/>
            </a:xfrm>
            <a:prstGeom prst="rect">
              <a:avLst/>
            </a:prstGeom>
            <a:noFill/>
            <a:ln>
              <a:noFill/>
            </a:ln>
          </p:spPr>
          <p:txBody>
            <a:bodyPr wrap="none" lIns="0" tIns="0" rIns="0" bIns="0" anchor="t" anchorCtr="0">
              <a:spAutoFit/>
            </a:bodyPr>
            <a:lstStyle/>
            <a:p>
              <a:pPr algn="l">
                <a:lnSpc>
                  <a:spcPts val="2025"/>
                </a:lnSpc>
              </a:pPr>
              <a:r>
                <a:rPr lang="en-US" sz="1500" dirty="0">
                  <a:solidFill>
                    <a:schemeClr val="dk1"/>
                  </a:solidFill>
                  <a:latin typeface="+mn-lt"/>
                  <a:ea typeface="+mn-ea"/>
                  <a:cs typeface="+mn-cs"/>
                </a:rPr>
                <a:t>Name the practitioner, accepted</a:t>
              </a:r>
              <a:br>
                <a:rPr lang="en-US" sz="1500" dirty="0">
                  <a:solidFill>
                    <a:schemeClr val="dk1"/>
                  </a:solidFill>
                  <a:latin typeface="+mn-lt"/>
                  <a:ea typeface="+mn-ea"/>
                  <a:cs typeface="+mn-cs"/>
                </a:rPr>
              </a:br>
              <a:r>
                <a:rPr lang="en-US" sz="1500" dirty="0">
                  <a:solidFill>
                    <a:schemeClr val="dk1"/>
                  </a:solidFill>
                  <a:latin typeface="+mn-lt"/>
                  <a:ea typeface="+mn-ea"/>
                  <a:cs typeface="+mn-cs"/>
                </a:rPr>
                <a:t>work product and critical limits.</a:t>
              </a:r>
              <a:br>
                <a:rPr lang="en-US" sz="1500" dirty="0">
                  <a:solidFill>
                    <a:schemeClr val="dk1"/>
                  </a:solidFill>
                  <a:latin typeface="+mn-lt"/>
                  <a:ea typeface="+mn-ea"/>
                  <a:cs typeface="+mn-cs"/>
                </a:rPr>
              </a:br>
              <a:r>
                <a:rPr lang="en-US" sz="1500" dirty="0">
                  <a:solidFill>
                    <a:schemeClr val="dk1"/>
                  </a:solidFill>
                  <a:latin typeface="+mn-lt"/>
                  <a:ea typeface="+mn-ea"/>
                  <a:cs typeface="+mn-cs"/>
                </a:rPr>
                <a:t>Compare quality, coverage and total</a:t>
              </a:r>
              <a:br>
                <a:rPr lang="en-US" sz="1500" dirty="0">
                  <a:solidFill>
                    <a:schemeClr val="dk1"/>
                  </a:solidFill>
                  <a:latin typeface="+mn-lt"/>
                  <a:ea typeface="+mn-ea"/>
                  <a:cs typeface="+mn-cs"/>
                </a:rPr>
              </a:br>
              <a:r>
                <a:rPr lang="en-US" sz="1500" dirty="0">
                  <a:solidFill>
                    <a:schemeClr val="dk1"/>
                  </a:solidFill>
                  <a:latin typeface="+mn-lt"/>
                  <a:ea typeface="+mn-ea"/>
                  <a:cs typeface="+mn-cs"/>
                </a:rPr>
                <a:t>human effort against a credible</a:t>
              </a:r>
              <a:br>
                <a:rPr lang="en-US" sz="1500" dirty="0">
                  <a:solidFill>
                    <a:schemeClr val="dk1"/>
                  </a:solidFill>
                  <a:latin typeface="+mn-lt"/>
                  <a:ea typeface="+mn-ea"/>
                  <a:cs typeface="+mn-cs"/>
                </a:rPr>
              </a:br>
              <a:r>
                <a:rPr lang="en-US" sz="1500" dirty="0">
                  <a:solidFill>
                    <a:schemeClr val="dk1"/>
                  </a:solidFill>
                  <a:latin typeface="+mn-lt"/>
                  <a:ea typeface="+mn-ea"/>
                  <a:cs typeface="+mn-cs"/>
                </a:rPr>
                <a:t>baseline. Preparation time, tool</a:t>
              </a:r>
              <a:br>
                <a:rPr lang="en-US" sz="1500" dirty="0">
                  <a:solidFill>
                    <a:schemeClr val="dk1"/>
                  </a:solidFill>
                  <a:latin typeface="+mn-lt"/>
                  <a:ea typeface="+mn-ea"/>
                  <a:cs typeface="+mn-cs"/>
                </a:rPr>
              </a:br>
              <a:r>
                <a:rPr lang="en-US" sz="1500" dirty="0">
                  <a:solidFill>
                    <a:schemeClr val="dk1"/>
                  </a:solidFill>
                  <a:latin typeface="+mn-lt"/>
                  <a:ea typeface="+mn-ea"/>
                  <a:cs typeface="+mn-cs"/>
                </a:rPr>
                <a:t>volume and rollout scope answer</a:t>
              </a:r>
              <a:br>
                <a:rPr lang="en-US" sz="1500" dirty="0">
                  <a:solidFill>
                    <a:schemeClr val="dk1"/>
                  </a:solidFill>
                  <a:latin typeface="+mn-lt"/>
                  <a:ea typeface="+mn-ea"/>
                  <a:cs typeface="+mn-cs"/>
                </a:rPr>
              </a:br>
              <a:r>
                <a:rPr lang="en-US" sz="1500" dirty="0">
                  <a:solidFill>
                    <a:schemeClr val="dk1"/>
                  </a:solidFill>
                  <a:latin typeface="+mn-lt"/>
                  <a:ea typeface="+mn-ea"/>
                  <a:cs typeface="+mn-cs"/>
                </a:rPr>
                <a:t>useful but different questions from</a:t>
              </a:r>
              <a:br>
                <a:rPr lang="en-US" sz="1500" dirty="0">
                  <a:solidFill>
                    <a:schemeClr val="dk1"/>
                  </a:solidFill>
                  <a:latin typeface="+mn-lt"/>
                  <a:ea typeface="+mn-ea"/>
                  <a:cs typeface="+mn-cs"/>
                </a:rPr>
              </a:br>
              <a:r>
                <a:rPr lang="en-US" sz="1500" dirty="0">
                  <a:solidFill>
                    <a:schemeClr val="dk1"/>
                  </a:solidFill>
                  <a:latin typeface="+mn-lt"/>
                  <a:ea typeface="+mn-ea"/>
                  <a:cs typeface="+mn-cs"/>
                </a:rPr>
                <a:t>financial impact.</a:t>
              </a:r>
            </a:p>
          </p:txBody>
        </p:sp>
      </p:grpSp>
      <p:grpSp>
        <p:nvGrpSpPr>
          <p:cNvPr id="11" name="analysis-2"/>
          <p:cNvGrpSpPr/>
          <p:nvPr/>
        </p:nvGrpSpPr>
        <p:grpSpPr>
          <a:xfrm>
            <a:off x="4296156" y="1876425"/>
            <a:ext cx="3104258" cy="2722245"/>
            <a:chOff x="4296156" y="1876425"/>
            <a:chExt cx="3104258" cy="2722245"/>
          </a:xfrm>
        </p:grpSpPr>
        <p:sp>
          <p:nvSpPr>
            <p:cNvPr id="9" name="TextBox 9"/>
            <p:cNvSpPr txBox="1"/>
            <p:nvPr/>
          </p:nvSpPr>
          <p:spPr>
            <a:xfrm>
              <a:off x="4296156" y="1876425"/>
              <a:ext cx="3104258" cy="352044"/>
            </a:xfrm>
            <a:prstGeom prst="rect">
              <a:avLst/>
            </a:prstGeom>
            <a:noFill/>
            <a:ln>
              <a:noFill/>
            </a:ln>
          </p:spPr>
          <p:txBody>
            <a:bodyPr wrap="none" lIns="0" tIns="0" rIns="0" bIns="0" anchor="t" anchorCtr="0">
              <a:spAutoFit/>
            </a:bodyPr>
            <a:lstStyle/>
            <a:p>
              <a:pPr algn="l"/>
              <a:r>
                <a:rPr lang="en-US" sz="1800" dirty="0">
                  <a:solidFill>
                    <a:schemeClr val="accent2"/>
                  </a:solidFill>
                  <a:latin typeface="+mj-lt"/>
                  <a:ea typeface="+mj-ea"/>
                  <a:cs typeface="+mj-cs"/>
                </a:rPr>
                <a:t>Preserve the evidence chain</a:t>
              </a:r>
            </a:p>
          </p:txBody>
        </p:sp>
        <p:sp>
          <p:nvSpPr>
            <p:cNvPr id="10" name="TextBox 10"/>
            <p:cNvSpPr txBox="1"/>
            <p:nvPr/>
          </p:nvSpPr>
          <p:spPr>
            <a:xfrm>
              <a:off x="4297680" y="2505075"/>
              <a:ext cx="3023121" cy="2093595"/>
            </a:xfrm>
            <a:prstGeom prst="rect">
              <a:avLst/>
            </a:prstGeom>
            <a:noFill/>
            <a:ln>
              <a:noFill/>
            </a:ln>
          </p:spPr>
          <p:txBody>
            <a:bodyPr wrap="none" lIns="0" tIns="0" rIns="0" bIns="0" anchor="t" anchorCtr="0">
              <a:spAutoFit/>
            </a:bodyPr>
            <a:lstStyle/>
            <a:p>
              <a:pPr algn="l">
                <a:lnSpc>
                  <a:spcPts val="2025"/>
                </a:lnSpc>
              </a:pPr>
              <a:r>
                <a:rPr lang="en-US" sz="1500" dirty="0">
                  <a:solidFill>
                    <a:schemeClr val="dk1"/>
                  </a:solidFill>
                  <a:latin typeface="+mn-lt"/>
                  <a:ea typeface="+mn-ea"/>
                  <a:cs typeface="+mn-cs"/>
                </a:rPr>
                <a:t>Carry entity, meaning, period,</a:t>
              </a:r>
              <a:br>
                <a:rPr lang="en-US" sz="1500" dirty="0">
                  <a:solidFill>
                    <a:schemeClr val="dk1"/>
                  </a:solidFill>
                  <a:latin typeface="+mn-lt"/>
                  <a:ea typeface="+mn-ea"/>
                  <a:cs typeface="+mn-cs"/>
                </a:rPr>
              </a:br>
              <a:r>
                <a:rPr lang="en-US" sz="1500" dirty="0">
                  <a:solidFill>
                    <a:schemeClr val="dk1"/>
                  </a:solidFill>
                  <a:latin typeface="+mn-lt"/>
                  <a:ea typeface="+mn-ea"/>
                  <a:cs typeface="+mn-cs"/>
                </a:rPr>
                <a:t>source version, access and</a:t>
              </a:r>
              <a:br>
                <a:rPr lang="en-US" sz="1500" dirty="0">
                  <a:solidFill>
                    <a:schemeClr val="dk1"/>
                  </a:solidFill>
                  <a:latin typeface="+mn-lt"/>
                  <a:ea typeface="+mn-ea"/>
                  <a:cs typeface="+mn-cs"/>
                </a:rPr>
              </a:br>
              <a:r>
                <a:rPr lang="en-US" sz="1500" dirty="0">
                  <a:solidFill>
                    <a:schemeClr val="dk1"/>
                  </a:solidFill>
                  <a:latin typeface="+mn-lt"/>
                  <a:ea typeface="+mn-ea"/>
                  <a:cs typeface="+mn-cs"/>
                </a:rPr>
                <a:t>calculation through the final</a:t>
              </a:r>
              <a:br>
                <a:rPr lang="en-US" sz="1500" dirty="0">
                  <a:solidFill>
                    <a:schemeClr val="dk1"/>
                  </a:solidFill>
                  <a:latin typeface="+mn-lt"/>
                  <a:ea typeface="+mn-ea"/>
                  <a:cs typeface="+mn-cs"/>
                </a:rPr>
              </a:br>
              <a:r>
                <a:rPr lang="en-US" sz="1500" dirty="0">
                  <a:solidFill>
                    <a:schemeClr val="dk1"/>
                  </a:solidFill>
                  <a:latin typeface="+mn-lt"/>
                  <a:ea typeface="+mn-ea"/>
                  <a:cs typeface="+mn-cs"/>
                </a:rPr>
                <a:t>artifact. Give memory a correction</a:t>
              </a:r>
              <a:br>
                <a:rPr lang="en-US" sz="1500" dirty="0">
                  <a:solidFill>
                    <a:schemeClr val="dk1"/>
                  </a:solidFill>
                  <a:latin typeface="+mn-lt"/>
                  <a:ea typeface="+mn-ea"/>
                  <a:cs typeface="+mn-cs"/>
                </a:rPr>
              </a:br>
              <a:r>
                <a:rPr lang="en-US" sz="1500" dirty="0">
                  <a:solidFill>
                    <a:schemeClr val="dk1"/>
                  </a:solidFill>
                  <a:latin typeface="+mn-lt"/>
                  <a:ea typeface="+mn-ea"/>
                  <a:cs typeface="+mn-cs"/>
                </a:rPr>
                <a:t>and aging policy. Keep professional</a:t>
              </a:r>
              <a:br>
                <a:rPr lang="en-US" sz="1500" dirty="0">
                  <a:solidFill>
                    <a:schemeClr val="dk1"/>
                  </a:solidFill>
                  <a:latin typeface="+mn-lt"/>
                  <a:ea typeface="+mn-ea"/>
                  <a:cs typeface="+mn-cs"/>
                </a:rPr>
              </a:br>
              <a:r>
                <a:rPr lang="en-US" sz="1500" dirty="0">
                  <a:solidFill>
                    <a:schemeClr val="dk1"/>
                  </a:solidFill>
                  <a:latin typeface="+mn-lt"/>
                  <a:ea typeface="+mn-ea"/>
                  <a:cs typeface="+mn-cs"/>
                </a:rPr>
                <a:t>review and permission to act as</a:t>
              </a:r>
              <a:br>
                <a:rPr lang="en-US" sz="1500" dirty="0">
                  <a:solidFill>
                    <a:schemeClr val="dk1"/>
                  </a:solidFill>
                  <a:latin typeface="+mn-lt"/>
                  <a:ea typeface="+mn-ea"/>
                  <a:cs typeface="+mn-cs"/>
                </a:rPr>
              </a:br>
              <a:r>
                <a:rPr lang="en-US" sz="1500" dirty="0">
                  <a:solidFill>
                    <a:schemeClr val="dk1"/>
                  </a:solidFill>
                  <a:latin typeface="+mn-lt"/>
                  <a:ea typeface="+mn-ea"/>
                  <a:cs typeface="+mn-cs"/>
                </a:rPr>
                <a:t>separate events, with durable</a:t>
              </a:r>
              <a:br>
                <a:rPr lang="en-US" sz="1500" dirty="0">
                  <a:solidFill>
                    <a:schemeClr val="dk1"/>
                  </a:solidFill>
                  <a:latin typeface="+mn-lt"/>
                  <a:ea typeface="+mn-ea"/>
                  <a:cs typeface="+mn-cs"/>
                </a:rPr>
              </a:br>
              <a:r>
                <a:rPr lang="en-US" sz="1500" dirty="0">
                  <a:solidFill>
                    <a:schemeClr val="dk1"/>
                  </a:solidFill>
                  <a:latin typeface="+mn-lt"/>
                  <a:ea typeface="+mn-ea"/>
                  <a:cs typeface="+mn-cs"/>
                </a:rPr>
                <a:t>workflow state between them.</a:t>
              </a:r>
            </a:p>
          </p:txBody>
        </p:sp>
      </p:grpSp>
      <p:grpSp>
        <p:nvGrpSpPr>
          <p:cNvPr id="14" name="analysis-3"/>
          <p:cNvGrpSpPr/>
          <p:nvPr/>
        </p:nvGrpSpPr>
        <p:grpSpPr>
          <a:xfrm>
            <a:off x="8144256" y="1876425"/>
            <a:ext cx="3246158" cy="2722245"/>
            <a:chOff x="8144256" y="1876425"/>
            <a:chExt cx="3246158" cy="2722245"/>
          </a:xfrm>
        </p:grpSpPr>
        <p:sp>
          <p:nvSpPr>
            <p:cNvPr id="12" name="TextBox 12"/>
            <p:cNvSpPr txBox="1"/>
            <p:nvPr/>
          </p:nvSpPr>
          <p:spPr>
            <a:xfrm>
              <a:off x="8144256" y="1876425"/>
              <a:ext cx="3060154" cy="352044"/>
            </a:xfrm>
            <a:prstGeom prst="rect">
              <a:avLst/>
            </a:prstGeom>
            <a:noFill/>
            <a:ln>
              <a:noFill/>
            </a:ln>
          </p:spPr>
          <p:txBody>
            <a:bodyPr wrap="none" lIns="0" tIns="0" rIns="0" bIns="0" anchor="t" anchorCtr="0">
              <a:spAutoFit/>
            </a:bodyPr>
            <a:lstStyle/>
            <a:p>
              <a:pPr algn="l"/>
              <a:r>
                <a:rPr lang="en-US" sz="1800" dirty="0">
                  <a:solidFill>
                    <a:schemeClr val="accent2"/>
                  </a:solidFill>
                  <a:latin typeface="+mj-lt"/>
                  <a:ea typeface="+mj-ea"/>
                  <a:cs typeface="+mj-cs"/>
                </a:rPr>
                <a:t>Make the next change a test</a:t>
              </a:r>
            </a:p>
          </p:txBody>
        </p:sp>
        <p:sp>
          <p:nvSpPr>
            <p:cNvPr id="13" name="TextBox 13"/>
            <p:cNvSpPr txBox="1"/>
            <p:nvPr/>
          </p:nvSpPr>
          <p:spPr>
            <a:xfrm>
              <a:off x="8145780" y="2505075"/>
              <a:ext cx="3244634" cy="2093595"/>
            </a:xfrm>
            <a:prstGeom prst="rect">
              <a:avLst/>
            </a:prstGeom>
            <a:noFill/>
            <a:ln>
              <a:noFill/>
            </a:ln>
          </p:spPr>
          <p:txBody>
            <a:bodyPr wrap="none" lIns="0" tIns="0" rIns="0" bIns="0" anchor="t" anchorCtr="0">
              <a:spAutoFit/>
            </a:bodyPr>
            <a:lstStyle/>
            <a:p>
              <a:pPr algn="l">
                <a:lnSpc>
                  <a:spcPts val="2025"/>
                </a:lnSpc>
              </a:pPr>
              <a:r>
                <a:rPr lang="en-US" sz="1500" dirty="0">
                  <a:solidFill>
                    <a:schemeClr val="dk1"/>
                  </a:solidFill>
                  <a:latin typeface="+mn-lt"/>
                  <a:ea typeface="+mn-ea"/>
                  <a:cs typeface="+mn-cs"/>
                </a:rPr>
                <a:t>Choose one failure mechanism and a</a:t>
              </a:r>
              <a:br>
                <a:rPr lang="en-US" sz="1500" dirty="0">
                  <a:solidFill>
                    <a:schemeClr val="dk1"/>
                  </a:solidFill>
                  <a:latin typeface="+mn-lt"/>
                  <a:ea typeface="+mn-ea"/>
                  <a:cs typeface="+mn-cs"/>
                </a:rPr>
              </a:br>
              <a:r>
                <a:rPr lang="en-US" sz="1500" dirty="0">
                  <a:solidFill>
                    <a:schemeClr val="dk1"/>
                  </a:solidFill>
                  <a:latin typeface="+mn-lt"/>
                  <a:ea typeface="+mn-ea"/>
                  <a:cs typeface="+mn-cs"/>
                </a:rPr>
                <a:t>bounded comparison. Score final</a:t>
              </a:r>
              <a:br>
                <a:rPr lang="en-US" sz="1500" dirty="0">
                  <a:solidFill>
                    <a:schemeClr val="dk1"/>
                  </a:solidFill>
                  <a:latin typeface="+mn-lt"/>
                  <a:ea typeface="+mn-ea"/>
                  <a:cs typeface="+mn-cs"/>
                </a:rPr>
              </a:br>
              <a:r>
                <a:rPr lang="en-US" sz="1500" dirty="0">
                  <a:solidFill>
                    <a:schemeClr val="dk1"/>
                  </a:solidFill>
                  <a:latin typeface="+mn-lt"/>
                  <a:ea typeface="+mn-ea"/>
                  <a:cs typeface="+mn-cs"/>
                </a:rPr>
                <a:t>output, consequential behavior and</a:t>
              </a:r>
              <a:br>
                <a:rPr lang="en-US" sz="1500" dirty="0">
                  <a:solidFill>
                    <a:schemeClr val="dk1"/>
                  </a:solidFill>
                  <a:latin typeface="+mn-lt"/>
                  <a:ea typeface="+mn-ea"/>
                  <a:cs typeface="+mn-cs"/>
                </a:rPr>
              </a:br>
              <a:r>
                <a:rPr lang="en-US" sz="1500" dirty="0">
                  <a:solidFill>
                    <a:schemeClr val="dk1"/>
                  </a:solidFill>
                  <a:latin typeface="+mn-lt"/>
                  <a:ea typeface="+mn-ea"/>
                  <a:cs typeface="+mn-cs"/>
                </a:rPr>
                <a:t>authority; inspect paired</a:t>
              </a:r>
              <a:br>
                <a:rPr lang="en-US" sz="1500" dirty="0">
                  <a:solidFill>
                    <a:schemeClr val="dk1"/>
                  </a:solidFill>
                  <a:latin typeface="+mn-lt"/>
                  <a:ea typeface="+mn-ea"/>
                  <a:cs typeface="+mn-cs"/>
                </a:rPr>
              </a:br>
              <a:r>
                <a:rPr lang="en-US" sz="1500" dirty="0">
                  <a:solidFill>
                    <a:schemeClr val="dk1"/>
                  </a:solidFill>
                  <a:latin typeface="+mn-lt"/>
                  <a:ea typeface="+mn-ea"/>
                  <a:cs typeface="+mn-cs"/>
                </a:rPr>
                <a:t>regressions. Preserve the case and</a:t>
              </a:r>
              <a:br>
                <a:rPr lang="en-US" sz="1500" dirty="0">
                  <a:solidFill>
                    <a:schemeClr val="dk1"/>
                  </a:solidFill>
                  <a:latin typeface="+mn-lt"/>
                  <a:ea typeface="+mn-ea"/>
                  <a:cs typeface="+mn-cs"/>
                </a:rPr>
              </a:br>
              <a:r>
                <a:rPr lang="en-US" sz="1500" dirty="0">
                  <a:solidFill>
                    <a:schemeClr val="dk1"/>
                  </a:solidFill>
                  <a:latin typeface="+mn-lt"/>
                  <a:ea typeface="+mn-ea"/>
                  <a:cs typeface="+mn-cs"/>
                </a:rPr>
                <a:t>correction so improvement becomes a</a:t>
              </a:r>
              <a:br>
                <a:rPr lang="en-US" sz="1500" dirty="0">
                  <a:solidFill>
                    <a:schemeClr val="dk1"/>
                  </a:solidFill>
                  <a:latin typeface="+mn-lt"/>
                  <a:ea typeface="+mn-ea"/>
                  <a:cs typeface="+mn-cs"/>
                </a:rPr>
              </a:br>
              <a:r>
                <a:rPr lang="en-US" sz="1500" dirty="0">
                  <a:solidFill>
                    <a:schemeClr val="dk1"/>
                  </a:solidFill>
                  <a:latin typeface="+mn-lt"/>
                  <a:ea typeface="+mn-ea"/>
                  <a:cs typeface="+mn-cs"/>
                </a:rPr>
                <a:t>team asset rather than a lesson one</a:t>
              </a:r>
              <a:br>
                <a:rPr lang="en-US" sz="1500" dirty="0">
                  <a:solidFill>
                    <a:schemeClr val="dk1"/>
                  </a:solidFill>
                  <a:latin typeface="+mn-lt"/>
                  <a:ea typeface="+mn-ea"/>
                  <a:cs typeface="+mn-cs"/>
                </a:rPr>
              </a:br>
              <a:r>
                <a:rPr lang="en-US" sz="1500" dirty="0">
                  <a:solidFill>
                    <a:schemeClr val="dk1"/>
                  </a:solidFill>
                  <a:latin typeface="+mn-lt"/>
                  <a:ea typeface="+mn-ea"/>
                  <a:cs typeface="+mn-cs"/>
                </a:rPr>
                <a:t>person must rediscover.</a:t>
              </a:r>
            </a:p>
          </p:txBody>
        </p:sp>
      </p:grpSp>
      <p:grpSp>
        <p:nvGrpSpPr>
          <p:cNvPr id="17" name="footer"/>
          <p:cNvGrpSpPr/>
          <p:nvPr/>
        </p:nvGrpSpPr>
        <p:grpSpPr>
          <a:xfrm>
            <a:off x="452438" y="6477000"/>
            <a:ext cx="11287124" cy="176212"/>
            <a:chOff x="452438" y="6477000"/>
            <a:chExt cx="11287124" cy="176212"/>
          </a:xfrm>
        </p:grpSpPr>
        <p:sp>
          <p:nvSpPr>
            <p:cNvPr id="15" name="TextBox 15"/>
            <p:cNvSpPr txBox="1"/>
            <p:nvPr/>
          </p:nvSpPr>
          <p:spPr>
            <a:xfrm>
              <a:off x="452438" y="6477000"/>
              <a:ext cx="5661615" cy="176212"/>
            </a:xfrm>
            <a:prstGeom prst="rect">
              <a:avLst/>
            </a:prstGeom>
            <a:noFill/>
            <a:ln>
              <a:noFill/>
            </a:ln>
          </p:spPr>
          <p:txBody>
            <a:bodyPr wrap="none" lIns="0" tIns="0" rIns="0" bIns="0" anchor="t" anchorCtr="0">
              <a:spAutoFit/>
            </a:bodyPr>
            <a:lstStyle/>
            <a:p>
              <a:pPr algn="l"/>
              <a:r>
                <a:rPr lang="en-US" sz="900" dirty="0">
                  <a:solidFill>
                    <a:schemeClr val="accent5"/>
                  </a:solidFill>
                  <a:latin typeface="+mn-lt"/>
                  <a:ea typeface="+mn-ea"/>
                  <a:cs typeface="+mn-cs"/>
                </a:rPr>
                <a:t>Sources: Range · Kepler · Basis · Blackstone / Norm.ai · Citadel Securities | Reviewed October 25, 2026</a:t>
              </a:r>
            </a:p>
          </p:txBody>
        </p:sp>
        <p:sp>
          <p:nvSpPr>
            <p:cNvPr id="16" name="TextBox 16"/>
            <p:cNvSpPr txBox="1"/>
            <p:nvPr/>
          </p:nvSpPr>
          <p:spPr>
            <a:xfrm>
              <a:off x="11359512" y="6477000"/>
              <a:ext cx="380050" cy="176212"/>
            </a:xfrm>
            <a:prstGeom prst="rect">
              <a:avLst/>
            </a:prstGeom>
            <a:noFill/>
            <a:ln>
              <a:noFill/>
            </a:ln>
          </p:spPr>
          <p:txBody>
            <a:bodyPr wrap="none" lIns="0" tIns="0" rIns="0" bIns="0" anchor="t" anchorCtr="0">
              <a:spAutoFit/>
            </a:bodyPr>
            <a:lstStyle/>
            <a:p>
              <a:pPr algn="r"/>
              <a:r>
                <a:rPr lang="en-US" sz="900" dirty="0">
                  <a:solidFill>
                    <a:schemeClr val="accent5"/>
                  </a:solidFill>
                  <a:latin typeface="+mn-lt"/>
                  <a:ea typeface="+mn-ea"/>
                  <a:cs typeface="+mn-cs"/>
                </a:rPr>
                <a:t>28 / 37</a:t>
              </a:r>
            </a:p>
          </p:txBody>
        </p:sp>
      </p:grpSp>
    </p:spTree>
  </p:cSld>
  <p:clrMapOvr>
    <a:masterClrMapping/>
  </p:clrMapOvr>
  <p:transition xmlns:p14="http://schemas.microsoft.com/office/powerpoint/2010/main" p14:dur="400">
    <p:fade/>
  </p:transition>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accent1"/>
        </a:solidFill>
        <a:effectLst/>
      </p:bgPr>
    </p:bg>
    <p:spTree>
      <p:nvGrpSpPr>
        <p:cNvPr id="1" name=""/>
        <p:cNvGrpSpPr/>
        <p:nvPr/>
      </p:nvGrpSpPr>
      <p:grpSpPr>
        <a:xfrm>
          <a:off x="0" y="0"/>
          <a:ext cx="0" cy="0"/>
          <a:chOff x="0" y="0"/>
          <a:chExt cx="0" cy="0"/>
        </a:xfrm>
      </p:grpSpPr>
      <p:grpSp>
        <p:nvGrpSpPr>
          <p:cNvPr id="5" name="title"/>
          <p:cNvGrpSpPr/>
          <p:nvPr/>
        </p:nvGrpSpPr>
        <p:grpSpPr>
          <a:xfrm>
            <a:off x="443484" y="371475"/>
            <a:ext cx="6758863" cy="1110107"/>
            <a:chOff x="443484" y="371475"/>
            <a:chExt cx="6758863" cy="1110107"/>
          </a:xfrm>
        </p:grpSpPr>
        <p:sp>
          <p:nvSpPr>
            <p:cNvPr id="2" name="TextBox 2"/>
            <p:cNvSpPr txBox="1"/>
            <p:nvPr/>
          </p:nvSpPr>
          <p:spPr>
            <a:xfrm>
              <a:off x="451104" y="371475"/>
              <a:ext cx="1074418" cy="234696"/>
            </a:xfrm>
            <a:prstGeom prst="rect">
              <a:avLst/>
            </a:prstGeom>
            <a:noFill/>
            <a:ln>
              <a:noFill/>
            </a:ln>
          </p:spPr>
          <p:txBody>
            <a:bodyPr wrap="none" lIns="0" tIns="0" rIns="0" bIns="0" anchor="t" anchorCtr="0">
              <a:spAutoFit/>
            </a:bodyPr>
            <a:lstStyle/>
            <a:p>
              <a:pPr algn="l"/>
              <a:r>
                <a:rPr lang="en-US" sz="1200" dirty="0">
                  <a:solidFill>
                    <a:schemeClr val="accent3"/>
                  </a:solidFill>
                  <a:latin typeface="+mn-lt"/>
                  <a:ea typeface="+mn-ea"/>
                  <a:cs typeface="+mn-cs"/>
                </a:rPr>
                <a:t>DISCUSSION</a:t>
              </a:r>
            </a:p>
          </p:txBody>
        </p:sp>
        <p:sp>
          <p:nvSpPr>
            <p:cNvPr id="3" name="TextBox 3"/>
            <p:cNvSpPr txBox="1"/>
            <p:nvPr/>
          </p:nvSpPr>
          <p:spPr>
            <a:xfrm>
              <a:off x="443484" y="603250"/>
              <a:ext cx="6758863" cy="528066"/>
            </a:xfrm>
            <a:prstGeom prst="rect">
              <a:avLst/>
            </a:prstGeom>
            <a:noFill/>
            <a:ln>
              <a:noFill/>
            </a:ln>
          </p:spPr>
          <p:txBody>
            <a:bodyPr wrap="none" lIns="0" tIns="0" rIns="0" bIns="0" anchor="t" anchorCtr="0">
              <a:spAutoFit/>
            </a:bodyPr>
            <a:lstStyle/>
            <a:p>
              <a:pPr algn="l"/>
              <a:r>
                <a:rPr lang="en-US" sz="2700" dirty="0">
                  <a:solidFill>
                    <a:srgbClr val="FFFDF7"/>
                  </a:solidFill>
                  <a:latin typeface="+mj-lt"/>
                  <a:ea typeface="+mj-ea"/>
                  <a:cs typeface="+mj-cs"/>
                </a:rPr>
                <a:t>Use disagreement to choose the next test</a:t>
              </a:r>
            </a:p>
          </p:txBody>
        </p:sp>
        <p:sp>
          <p:nvSpPr>
            <p:cNvPr id="4" name="TextBox 4"/>
            <p:cNvSpPr txBox="1"/>
            <p:nvPr/>
          </p:nvSpPr>
          <p:spPr>
            <a:xfrm>
              <a:off x="448818" y="1158875"/>
              <a:ext cx="6481029" cy="322707"/>
            </a:xfrm>
            <a:prstGeom prst="rect">
              <a:avLst/>
            </a:prstGeom>
            <a:noFill/>
            <a:ln>
              <a:noFill/>
            </a:ln>
          </p:spPr>
          <p:txBody>
            <a:bodyPr wrap="none" lIns="0" tIns="0" rIns="0" bIns="0" anchor="t" anchorCtr="0">
              <a:spAutoFit/>
            </a:bodyPr>
            <a:lstStyle/>
            <a:p>
              <a:pPr algn="l"/>
              <a:r>
                <a:rPr lang="en-US" sz="1650" dirty="0">
                  <a:solidFill>
                    <a:srgbClr val="E7F0EA"/>
                  </a:solidFill>
                  <a:latin typeface="+mn-lt"/>
                  <a:ea typeface="+mn-ea"/>
                  <a:cs typeface="+mn-cs"/>
                </a:rPr>
                <a:t>Start with a concrete workflow and one consequential uncertainty.</a:t>
              </a:r>
            </a:p>
          </p:txBody>
        </p:sp>
      </p:grpSp>
      <p:grpSp>
        <p:nvGrpSpPr>
          <p:cNvPr id="9" name="value-prompt"/>
          <p:cNvGrpSpPr/>
          <p:nvPr/>
        </p:nvGrpSpPr>
        <p:grpSpPr>
          <a:xfrm>
            <a:off x="448056" y="1978025"/>
            <a:ext cx="7743711" cy="960120"/>
            <a:chOff x="448056" y="1978025"/>
            <a:chExt cx="7743711" cy="960120"/>
          </a:xfrm>
        </p:grpSpPr>
        <p:sp>
          <p:nvSpPr>
            <p:cNvPr id="6" name="TextBox 6"/>
            <p:cNvSpPr txBox="1"/>
            <p:nvPr/>
          </p:nvSpPr>
          <p:spPr>
            <a:xfrm>
              <a:off x="448056" y="2000250"/>
              <a:ext cx="660007" cy="352044"/>
            </a:xfrm>
            <a:prstGeom prst="rect">
              <a:avLst/>
            </a:prstGeom>
            <a:noFill/>
            <a:ln>
              <a:noFill/>
            </a:ln>
          </p:spPr>
          <p:txBody>
            <a:bodyPr wrap="none" lIns="0" tIns="0" rIns="0" bIns="0" anchor="t" anchorCtr="0">
              <a:spAutoFit/>
            </a:bodyPr>
            <a:lstStyle/>
            <a:p>
              <a:pPr algn="l"/>
              <a:r>
                <a:rPr lang="en-US" sz="1800" dirty="0">
                  <a:solidFill>
                    <a:schemeClr val="accent3"/>
                  </a:solidFill>
                  <a:latin typeface="+mj-lt"/>
                  <a:ea typeface="+mj-ea"/>
                  <a:cs typeface="+mj-cs"/>
                </a:rPr>
                <a:t>Value</a:t>
              </a:r>
            </a:p>
          </p:txBody>
        </p:sp>
        <p:sp>
          <p:nvSpPr>
            <p:cNvPr id="7" name="TextBox 7"/>
            <p:cNvSpPr txBox="1"/>
            <p:nvPr/>
          </p:nvSpPr>
          <p:spPr>
            <a:xfrm>
              <a:off x="2563368" y="1978025"/>
              <a:ext cx="5493425" cy="322707"/>
            </a:xfrm>
            <a:prstGeom prst="rect">
              <a:avLst/>
            </a:prstGeom>
            <a:noFill/>
            <a:ln>
              <a:noFill/>
            </a:ln>
          </p:spPr>
          <p:txBody>
            <a:bodyPr wrap="none" lIns="0" tIns="0" rIns="0" bIns="0" anchor="t" anchorCtr="0">
              <a:spAutoFit/>
            </a:bodyPr>
            <a:lstStyle/>
            <a:p>
              <a:pPr algn="l"/>
              <a:r>
                <a:rPr lang="en-US" sz="1650" dirty="0">
                  <a:solidFill>
                    <a:srgbClr val="FFFDF7"/>
                  </a:solidFill>
                  <a:latin typeface="+mn-lt"/>
                  <a:ea typeface="+mn-ea"/>
                  <a:cs typeface="+mn-cs"/>
                </a:rPr>
                <a:t>Which accepted work product improves, and for whom?</a:t>
              </a:r>
            </a:p>
          </p:txBody>
        </p:sp>
        <p:sp>
          <p:nvSpPr>
            <p:cNvPr id="8" name="TextBox 8"/>
            <p:cNvSpPr txBox="1"/>
            <p:nvPr/>
          </p:nvSpPr>
          <p:spPr>
            <a:xfrm>
              <a:off x="2564130" y="2378075"/>
              <a:ext cx="5627637" cy="560070"/>
            </a:xfrm>
            <a:prstGeom prst="rect">
              <a:avLst/>
            </a:prstGeom>
            <a:noFill/>
            <a:ln>
              <a:noFill/>
            </a:ln>
          </p:spPr>
          <p:txBody>
            <a:bodyPr wrap="none" lIns="0" tIns="0" rIns="0" bIns="0" anchor="t" anchorCtr="0">
              <a:spAutoFit/>
            </a:bodyPr>
            <a:lstStyle/>
            <a:p>
              <a:pPr algn="l">
                <a:lnSpc>
                  <a:spcPts val="2100"/>
                </a:lnSpc>
              </a:pPr>
              <a:r>
                <a:rPr lang="en-US" sz="1500" dirty="0">
                  <a:solidFill>
                    <a:srgbClr val="E7F0EA"/>
                  </a:solidFill>
                  <a:latin typeface="+mn-lt"/>
                  <a:ea typeface="+mn-ea"/>
                  <a:cs typeface="+mn-cs"/>
                </a:rPr>
                <a:t>Challenge whether faster generation saves total effort after review.</a:t>
              </a:r>
              <a:br>
                <a:rPr lang="en-US" sz="1500" dirty="0">
                  <a:solidFill>
                    <a:srgbClr val="E7F0EA"/>
                  </a:solidFill>
                  <a:latin typeface="+mn-lt"/>
                  <a:ea typeface="+mn-ea"/>
                  <a:cs typeface="+mn-cs"/>
                </a:rPr>
              </a:br>
              <a:r>
                <a:rPr lang="en-US" sz="1500" dirty="0">
                  <a:solidFill>
                    <a:srgbClr val="E7F0EA"/>
                  </a:solidFill>
                  <a:latin typeface="+mn-lt"/>
                  <a:ea typeface="+mn-ea"/>
                  <a:cs typeface="+mn-cs"/>
                </a:rPr>
                <a:t>Name a measurable bottleneck rather than a favored tool.</a:t>
              </a:r>
            </a:p>
          </p:txBody>
        </p:sp>
      </p:grpSp>
      <p:grpSp>
        <p:nvGrpSpPr>
          <p:cNvPr id="14" name="risk-prompt"/>
          <p:cNvGrpSpPr/>
          <p:nvPr/>
        </p:nvGrpSpPr>
        <p:grpSpPr>
          <a:xfrm>
            <a:off x="448056" y="3219450"/>
            <a:ext cx="11286744" cy="1071245"/>
            <a:chOff x="448056" y="3219450"/>
            <a:chExt cx="11286744" cy="1071245"/>
          </a:xfrm>
        </p:grpSpPr>
        <p:sp>
          <p:nvSpPr>
            <p:cNvPr id="10" name="Line 10"/>
            <p:cNvSpPr/>
            <p:nvPr/>
          </p:nvSpPr>
          <p:spPr>
            <a:xfrm>
              <a:off x="457200" y="3219450"/>
              <a:ext cx="11277600" cy="9525"/>
            </a:xfrm>
            <a:custGeom>
              <a:avLst/>
              <a:gdLst/>
              <a:ahLst/>
              <a:cxnLst/>
              <a:rect l="l" t="t" r="r" b="b"/>
              <a:pathLst>
                <a:path w="11277600" h="9525">
                  <a:moveTo>
                    <a:pt x="0" y="0"/>
                  </a:moveTo>
                  <a:lnTo>
                    <a:pt x="11277600" y="0"/>
                  </a:lnTo>
                </a:path>
              </a:pathLst>
            </a:custGeom>
            <a:noFill/>
            <a:ln w="9525">
              <a:solidFill>
                <a:srgbClr val="50616A"/>
              </a:solidFill>
            </a:ln>
          </p:spPr>
        </p:sp>
        <p:sp>
          <p:nvSpPr>
            <p:cNvPr id="11" name="TextBox 11"/>
            <p:cNvSpPr txBox="1"/>
            <p:nvPr/>
          </p:nvSpPr>
          <p:spPr>
            <a:xfrm>
              <a:off x="448056" y="3352800"/>
              <a:ext cx="518131" cy="352044"/>
            </a:xfrm>
            <a:prstGeom prst="rect">
              <a:avLst/>
            </a:prstGeom>
            <a:noFill/>
            <a:ln>
              <a:noFill/>
            </a:ln>
          </p:spPr>
          <p:txBody>
            <a:bodyPr wrap="none" lIns="0" tIns="0" rIns="0" bIns="0" anchor="t" anchorCtr="0">
              <a:spAutoFit/>
            </a:bodyPr>
            <a:lstStyle/>
            <a:p>
              <a:pPr algn="l"/>
              <a:r>
                <a:rPr lang="en-US" sz="1800" dirty="0">
                  <a:solidFill>
                    <a:schemeClr val="accent3"/>
                  </a:solidFill>
                  <a:latin typeface="+mj-lt"/>
                  <a:ea typeface="+mj-ea"/>
                  <a:cs typeface="+mj-cs"/>
                </a:rPr>
                <a:t>Risk</a:t>
              </a:r>
            </a:p>
          </p:txBody>
        </p:sp>
        <p:sp>
          <p:nvSpPr>
            <p:cNvPr id="12" name="TextBox 12"/>
            <p:cNvSpPr txBox="1"/>
            <p:nvPr/>
          </p:nvSpPr>
          <p:spPr>
            <a:xfrm>
              <a:off x="2563368" y="3330575"/>
              <a:ext cx="5542096" cy="322707"/>
            </a:xfrm>
            <a:prstGeom prst="rect">
              <a:avLst/>
            </a:prstGeom>
            <a:noFill/>
            <a:ln>
              <a:noFill/>
            </a:ln>
          </p:spPr>
          <p:txBody>
            <a:bodyPr wrap="none" lIns="0" tIns="0" rIns="0" bIns="0" anchor="t" anchorCtr="0">
              <a:spAutoFit/>
            </a:bodyPr>
            <a:lstStyle/>
            <a:p>
              <a:pPr algn="l"/>
              <a:r>
                <a:rPr lang="en-US" sz="1650" dirty="0">
                  <a:solidFill>
                    <a:srgbClr val="FFFDF7"/>
                  </a:solidFill>
                  <a:latin typeface="+mn-lt"/>
                  <a:ea typeface="+mn-ea"/>
                  <a:cs typeface="+mn-cs"/>
                </a:rPr>
                <a:t>Which consequential failure could ordinary review miss?</a:t>
              </a:r>
            </a:p>
          </p:txBody>
        </p:sp>
        <p:sp>
          <p:nvSpPr>
            <p:cNvPr id="13" name="TextBox 13"/>
            <p:cNvSpPr txBox="1"/>
            <p:nvPr/>
          </p:nvSpPr>
          <p:spPr>
            <a:xfrm>
              <a:off x="2564130" y="3730625"/>
              <a:ext cx="6401448" cy="560070"/>
            </a:xfrm>
            <a:prstGeom prst="rect">
              <a:avLst/>
            </a:prstGeom>
            <a:noFill/>
            <a:ln>
              <a:noFill/>
            </a:ln>
          </p:spPr>
          <p:txBody>
            <a:bodyPr wrap="none" lIns="0" tIns="0" rIns="0" bIns="0" anchor="t" anchorCtr="0">
              <a:spAutoFit/>
            </a:bodyPr>
            <a:lstStyle/>
            <a:p>
              <a:pPr algn="l">
                <a:lnSpc>
                  <a:spcPts val="2100"/>
                </a:lnSpc>
              </a:pPr>
              <a:r>
                <a:rPr lang="en-US" sz="1500" dirty="0">
                  <a:solidFill>
                    <a:srgbClr val="E7F0EA"/>
                  </a:solidFill>
                  <a:latin typeface="+mn-lt"/>
                  <a:ea typeface="+mn-ea"/>
                  <a:cs typeface="+mn-cs"/>
                </a:rPr>
                <a:t>An unsupported fact, wrong period, unauthorized action or bypassed denial.</a:t>
              </a:r>
              <a:br>
                <a:rPr lang="en-US" sz="1500" dirty="0">
                  <a:solidFill>
                    <a:srgbClr val="E7F0EA"/>
                  </a:solidFill>
                  <a:latin typeface="+mn-lt"/>
                  <a:ea typeface="+mn-ea"/>
                  <a:cs typeface="+mn-cs"/>
                </a:rPr>
              </a:br>
              <a:r>
                <a:rPr lang="en-US" sz="1500" dirty="0">
                  <a:solidFill>
                    <a:srgbClr val="E7F0EA"/>
                  </a:solidFill>
                  <a:latin typeface="+mn-lt"/>
                  <a:ea typeface="+mn-ea"/>
                  <a:cs typeface="+mn-cs"/>
                </a:rPr>
                <a:t>Correct refusal is a control success. Test the reviewer or judge as well.</a:t>
              </a:r>
            </a:p>
          </p:txBody>
        </p:sp>
      </p:grpSp>
      <p:grpSp>
        <p:nvGrpSpPr>
          <p:cNvPr id="19" name="test-prompt"/>
          <p:cNvGrpSpPr/>
          <p:nvPr/>
        </p:nvGrpSpPr>
        <p:grpSpPr>
          <a:xfrm>
            <a:off x="448056" y="4572000"/>
            <a:ext cx="11286744" cy="1337945"/>
            <a:chOff x="448056" y="4572000"/>
            <a:chExt cx="11286744" cy="1337945"/>
          </a:xfrm>
        </p:grpSpPr>
        <p:sp>
          <p:nvSpPr>
            <p:cNvPr id="15" name="Line 15"/>
            <p:cNvSpPr/>
            <p:nvPr/>
          </p:nvSpPr>
          <p:spPr>
            <a:xfrm>
              <a:off x="457200" y="4572000"/>
              <a:ext cx="11277600" cy="9525"/>
            </a:xfrm>
            <a:custGeom>
              <a:avLst/>
              <a:gdLst/>
              <a:ahLst/>
              <a:cxnLst/>
              <a:rect l="l" t="t" r="r" b="b"/>
              <a:pathLst>
                <a:path w="11277600" h="9525">
                  <a:moveTo>
                    <a:pt x="0" y="0"/>
                  </a:moveTo>
                  <a:lnTo>
                    <a:pt x="11277600" y="0"/>
                  </a:lnTo>
                </a:path>
              </a:pathLst>
            </a:custGeom>
            <a:noFill/>
            <a:ln w="9525">
              <a:solidFill>
                <a:srgbClr val="50616A"/>
              </a:solidFill>
            </a:ln>
          </p:spPr>
        </p:sp>
        <p:sp>
          <p:nvSpPr>
            <p:cNvPr id="16" name="TextBox 16"/>
            <p:cNvSpPr txBox="1"/>
            <p:nvPr/>
          </p:nvSpPr>
          <p:spPr>
            <a:xfrm>
              <a:off x="448056" y="4705350"/>
              <a:ext cx="516971" cy="352044"/>
            </a:xfrm>
            <a:prstGeom prst="rect">
              <a:avLst/>
            </a:prstGeom>
            <a:noFill/>
            <a:ln>
              <a:noFill/>
            </a:ln>
          </p:spPr>
          <p:txBody>
            <a:bodyPr wrap="none" lIns="0" tIns="0" rIns="0" bIns="0" anchor="t" anchorCtr="0">
              <a:spAutoFit/>
            </a:bodyPr>
            <a:lstStyle/>
            <a:p>
              <a:pPr algn="l"/>
              <a:r>
                <a:rPr lang="en-US" sz="1800" dirty="0">
                  <a:solidFill>
                    <a:schemeClr val="accent3"/>
                  </a:solidFill>
                  <a:latin typeface="+mj-lt"/>
                  <a:ea typeface="+mj-ea"/>
                  <a:cs typeface="+mj-cs"/>
                </a:rPr>
                <a:t>Test</a:t>
              </a:r>
            </a:p>
          </p:txBody>
        </p:sp>
        <p:sp>
          <p:nvSpPr>
            <p:cNvPr id="17" name="TextBox 17"/>
            <p:cNvSpPr txBox="1"/>
            <p:nvPr/>
          </p:nvSpPr>
          <p:spPr>
            <a:xfrm>
              <a:off x="2563368" y="4683125"/>
              <a:ext cx="6543710" cy="322707"/>
            </a:xfrm>
            <a:prstGeom prst="rect">
              <a:avLst/>
            </a:prstGeom>
            <a:noFill/>
            <a:ln>
              <a:noFill/>
            </a:ln>
          </p:spPr>
          <p:txBody>
            <a:bodyPr wrap="none" lIns="0" tIns="0" rIns="0" bIns="0" anchor="t" anchorCtr="0">
              <a:spAutoFit/>
            </a:bodyPr>
            <a:lstStyle/>
            <a:p>
              <a:pPr algn="l"/>
              <a:r>
                <a:rPr lang="en-US" sz="1650" dirty="0">
                  <a:solidFill>
                    <a:srgbClr val="FFFDF7"/>
                  </a:solidFill>
                  <a:latin typeface="+mn-lt"/>
                  <a:ea typeface="+mn-ea"/>
                  <a:cs typeface="+mn-cs"/>
                </a:rPr>
                <a:t>What baseline, checks and cost evidence would change our view?</a:t>
              </a:r>
            </a:p>
          </p:txBody>
        </p:sp>
        <p:sp>
          <p:nvSpPr>
            <p:cNvPr id="18" name="TextBox 18"/>
            <p:cNvSpPr txBox="1"/>
            <p:nvPr/>
          </p:nvSpPr>
          <p:spPr>
            <a:xfrm>
              <a:off x="2564130" y="5083175"/>
              <a:ext cx="5744108" cy="826770"/>
            </a:xfrm>
            <a:prstGeom prst="rect">
              <a:avLst/>
            </a:prstGeom>
            <a:noFill/>
            <a:ln>
              <a:noFill/>
            </a:ln>
          </p:spPr>
          <p:txBody>
            <a:bodyPr wrap="none" lIns="0" tIns="0" rIns="0" bIns="0" anchor="t" anchorCtr="0">
              <a:spAutoFit/>
            </a:bodyPr>
            <a:lstStyle/>
            <a:p>
              <a:pPr algn="l">
                <a:lnSpc>
                  <a:spcPts val="2100"/>
                </a:lnSpc>
              </a:pPr>
              <a:r>
                <a:rPr lang="en-US" sz="1500" dirty="0">
                  <a:solidFill>
                    <a:srgbClr val="E7F0EA"/>
                  </a:solidFill>
                  <a:latin typeface="+mn-lt"/>
                  <a:ea typeface="+mn-ea"/>
                  <a:cs typeface="+mn-cs"/>
                </a:rPr>
                <a:t>Record one candidate experiment and one unresolved question.</a:t>
              </a:r>
              <a:br>
                <a:rPr lang="en-US" sz="1500" dirty="0">
                  <a:solidFill>
                    <a:srgbClr val="E7F0EA"/>
                  </a:solidFill>
                  <a:latin typeface="+mn-lt"/>
                  <a:ea typeface="+mn-ea"/>
                  <a:cs typeface="+mn-cs"/>
                </a:rPr>
              </a:br>
              <a:r>
                <a:rPr lang="en-US" sz="1500" dirty="0">
                  <a:solidFill>
                    <a:srgbClr val="E7F0EA"/>
                  </a:solidFill>
                  <a:latin typeface="+mn-lt"/>
                  <a:ea typeface="+mn-ea"/>
                  <a:cs typeface="+mn-cs"/>
                </a:rPr>
                <a:t>A missing prerequisite or “do not proceed” can be a useful outcome;</a:t>
              </a:r>
              <a:br>
                <a:rPr lang="en-US" sz="1500" dirty="0">
                  <a:solidFill>
                    <a:srgbClr val="E7F0EA"/>
                  </a:solidFill>
                  <a:latin typeface="+mn-lt"/>
                  <a:ea typeface="+mn-ea"/>
                  <a:cs typeface="+mn-cs"/>
                </a:rPr>
              </a:br>
              <a:r>
                <a:rPr lang="en-US" sz="1500" dirty="0">
                  <a:solidFill>
                    <a:srgbClr val="E7F0EA"/>
                  </a:solidFill>
                  <a:latin typeface="+mn-lt"/>
                  <a:ea typeface="+mn-ea"/>
                  <a:cs typeface="+mn-cs"/>
                </a:rPr>
                <a:t>avoid forcing consensus or an immediate project commitment.</a:t>
              </a:r>
            </a:p>
          </p:txBody>
        </p:sp>
      </p:grpSp>
      <p:grpSp>
        <p:nvGrpSpPr>
          <p:cNvPr id="22" name="footer"/>
          <p:cNvGrpSpPr/>
          <p:nvPr/>
        </p:nvGrpSpPr>
        <p:grpSpPr>
          <a:xfrm>
            <a:off x="452438" y="6438900"/>
            <a:ext cx="11287124" cy="176212"/>
            <a:chOff x="452438" y="6438900"/>
            <a:chExt cx="11287124" cy="176212"/>
          </a:xfrm>
        </p:grpSpPr>
        <p:sp>
          <p:nvSpPr>
            <p:cNvPr id="20" name="TextBox 20"/>
            <p:cNvSpPr txBox="1"/>
            <p:nvPr/>
          </p:nvSpPr>
          <p:spPr>
            <a:xfrm>
              <a:off x="452438" y="6438900"/>
              <a:ext cx="4599154" cy="176212"/>
            </a:xfrm>
            <a:prstGeom prst="rect">
              <a:avLst/>
            </a:prstGeom>
            <a:noFill/>
            <a:ln>
              <a:noFill/>
            </a:ln>
          </p:spPr>
          <p:txBody>
            <a:bodyPr wrap="none" lIns="0" tIns="0" rIns="0" bIns="0" anchor="t" anchorCtr="0">
              <a:spAutoFit/>
            </a:bodyPr>
            <a:lstStyle/>
            <a:p>
              <a:pPr algn="l"/>
              <a:r>
                <a:rPr lang="en-US" sz="900" dirty="0">
                  <a:solidFill>
                    <a:srgbClr val="E7F0EA"/>
                  </a:solidFill>
                  <a:latin typeface="+mn-lt"/>
                  <a:ea typeface="+mn-ea"/>
                  <a:cs typeface="+mn-cs"/>
                </a:rPr>
                <a:t>End of the 29-slide core briefing • Eight reference pages follow for independent study.</a:t>
              </a:r>
            </a:p>
          </p:txBody>
        </p:sp>
        <p:sp>
          <p:nvSpPr>
            <p:cNvPr id="21" name="TextBox 21"/>
            <p:cNvSpPr txBox="1"/>
            <p:nvPr/>
          </p:nvSpPr>
          <p:spPr>
            <a:xfrm>
              <a:off x="11359512" y="6438900"/>
              <a:ext cx="380050" cy="176212"/>
            </a:xfrm>
            <a:prstGeom prst="rect">
              <a:avLst/>
            </a:prstGeom>
            <a:noFill/>
            <a:ln>
              <a:noFill/>
            </a:ln>
          </p:spPr>
          <p:txBody>
            <a:bodyPr wrap="none" lIns="0" tIns="0" rIns="0" bIns="0" anchor="t" anchorCtr="0">
              <a:spAutoFit/>
            </a:bodyPr>
            <a:lstStyle/>
            <a:p>
              <a:pPr algn="r"/>
              <a:r>
                <a:rPr lang="en-US" sz="900" dirty="0">
                  <a:solidFill>
                    <a:srgbClr val="E7F0EA"/>
                  </a:solidFill>
                  <a:latin typeface="+mn-lt"/>
                  <a:ea typeface="+mn-ea"/>
                  <a:cs typeface="+mn-cs"/>
                </a:rPr>
                <a:t>29 / 37</a:t>
              </a:r>
            </a:p>
          </p:txBody>
        </p:sp>
      </p:grpSp>
    </p:spTree>
  </p:cSld>
  <p:clrMapOvr>
    <a:masterClrMapping/>
  </p:clrMapOvr>
  <p:transition xmlns:p14="http://schemas.microsoft.com/office/powerpoint/2010/main" p14:dur="400">
    <p:fade/>
  </p:transition>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5" name="title"/>
          <p:cNvGrpSpPr/>
          <p:nvPr/>
        </p:nvGrpSpPr>
        <p:grpSpPr>
          <a:xfrm>
            <a:off x="443484" y="371475"/>
            <a:ext cx="9746455" cy="1110107"/>
            <a:chOff x="443484" y="371475"/>
            <a:chExt cx="9746455" cy="1110107"/>
          </a:xfrm>
        </p:grpSpPr>
        <p:sp>
          <p:nvSpPr>
            <p:cNvPr id="2" name="TextBox 2"/>
            <p:cNvSpPr txBox="1"/>
            <p:nvPr/>
          </p:nvSpPr>
          <p:spPr>
            <a:xfrm>
              <a:off x="451104" y="371475"/>
              <a:ext cx="3606642" cy="234696"/>
            </a:xfrm>
            <a:prstGeom prst="rect">
              <a:avLst/>
            </a:prstGeom>
            <a:noFill/>
            <a:ln>
              <a:noFill/>
            </a:ln>
          </p:spPr>
          <p:txBody>
            <a:bodyPr wrap="none" lIns="0" tIns="0" rIns="0" bIns="0" anchor="t" anchorCtr="0">
              <a:spAutoFit/>
            </a:bodyPr>
            <a:lstStyle/>
            <a:p>
              <a:pPr algn="l"/>
              <a:r>
                <a:rPr lang="en-US" sz="1200" dirty="0">
                  <a:solidFill>
                    <a:schemeClr val="accent2"/>
                  </a:solidFill>
                  <a:latin typeface="+mn-lt"/>
                  <a:ea typeface="+mn-ea"/>
                  <a:cs typeface="+mn-cs"/>
                </a:rPr>
                <a:t>APPENDIX / A SHARED REVIEW CONTRACT</a:t>
              </a:r>
            </a:p>
          </p:txBody>
        </p:sp>
        <p:sp>
          <p:nvSpPr>
            <p:cNvPr id="3" name="TextBox 3"/>
            <p:cNvSpPr txBox="1"/>
            <p:nvPr/>
          </p:nvSpPr>
          <p:spPr>
            <a:xfrm>
              <a:off x="443484" y="603250"/>
              <a:ext cx="8664671" cy="528066"/>
            </a:xfrm>
            <a:prstGeom prst="rect">
              <a:avLst/>
            </a:prstGeom>
            <a:noFill/>
            <a:ln>
              <a:noFill/>
            </a:ln>
          </p:spPr>
          <p:txBody>
            <a:bodyPr wrap="none" lIns="0" tIns="0" rIns="0" bIns="0" anchor="t" anchorCtr="0">
              <a:spAutoFit/>
            </a:bodyPr>
            <a:lstStyle/>
            <a:p>
              <a:pPr algn="l"/>
              <a:r>
                <a:rPr lang="en-US" sz="2700" dirty="0">
                  <a:solidFill>
                    <a:schemeClr val="accent1"/>
                  </a:solidFill>
                  <a:latin typeface="+mj-lt"/>
                  <a:ea typeface="+mj-ea"/>
                  <a:cs typeface="+mj-cs"/>
                </a:rPr>
                <a:t>One checklist connects the complete agent workflow</a:t>
              </a:r>
            </a:p>
          </p:txBody>
        </p:sp>
        <p:sp>
          <p:nvSpPr>
            <p:cNvPr id="4" name="TextBox 4"/>
            <p:cNvSpPr txBox="1"/>
            <p:nvPr/>
          </p:nvSpPr>
          <p:spPr>
            <a:xfrm>
              <a:off x="448818" y="1158875"/>
              <a:ext cx="9741121" cy="322707"/>
            </a:xfrm>
            <a:prstGeom prst="rect">
              <a:avLst/>
            </a:prstGeom>
            <a:noFill/>
            <a:ln>
              <a:noFill/>
            </a:ln>
          </p:spPr>
          <p:txBody>
            <a:bodyPr wrap="none" lIns="0" tIns="0" rIns="0" bIns="0" anchor="t" anchorCtr="0">
              <a:spAutoFit/>
            </a:bodyPr>
            <a:lstStyle/>
            <a:p>
              <a:pPr algn="l"/>
              <a:r>
                <a:rPr lang="en-US" sz="1650" dirty="0">
                  <a:solidFill>
                    <a:schemeClr val="accent1"/>
                  </a:solidFill>
                  <a:latin typeface="+mn-lt"/>
                  <a:ea typeface="+mn-ea"/>
                  <a:cs typeface="+mn-cs"/>
                </a:rPr>
                <a:t>Replace broad goals such as accuracy and safety with behavior a reviewer and test can recognize.</a:t>
              </a:r>
            </a:p>
          </p:txBody>
        </p:sp>
      </p:grpSp>
      <p:graphicFrame>
        <p:nvGraphicFramePr>
          <p:cNvPr id="6" name="implementation-checklist"/>
          <p:cNvGraphicFramePr>
            <a:graphicFrameLocks noGrp="1"/>
          </p:cNvGraphicFramePr>
          <p:nvPr/>
        </p:nvGraphicFramePr>
        <p:xfrm>
          <a:off x="457200" y="1752600"/>
          <a:ext cx="11277600" cy="3829050"/>
        </p:xfrm>
        <a:graphic>
          <a:graphicData uri="http://schemas.openxmlformats.org/drawingml/2006/table">
            <a:tbl>
              <a:tblPr firstRow="1" bandRow="0">
                <a:tableStyleId>{5C22544A-7EE6-4342-B048-85BDC9FD1C3A}</a:tableStyleId>
              </a:tblPr>
              <a:tblGrid>
                <a:gridCol w="1905000"/>
                <a:gridCol w="4572000"/>
                <a:gridCol w="4800600"/>
              </a:tblGrid>
              <a:tr h="495300">
                <a:tc>
                  <a:txBody>
                    <a:bodyPr/>
                    <a:lstStyle/>
                    <a:p>
                      <a:pPr/>
                      <a:r>
                        <a:rPr lang="en-US" sz="1350" b="1">
                          <a:solidFill>
                            <a:srgbClr val="FFFDF7"/>
                          </a:solidFill>
                          <a:latin typeface="Arial"/>
                          <a:ea typeface="Microsoft YaHei"/>
                          <a:cs typeface="Arial"/>
                        </a:rPr>
                        <a:t>Responsibility</a:t>
                      </a:r>
                    </a:p>
                  </a:txBody>
                  <a:tcPr anchor="ctr" marL="152400" marR="152400" marT="76200" marB="76200">
                    <a:lnL>
                      <a:noFill/>
                    </a:lnL>
                    <a:lnR>
                      <a:noFill/>
                    </a:lnR>
                    <a:lnT>
                      <a:noFill/>
                    </a:lnT>
                    <a:lnB w="9525">
                      <a:solidFill>
                        <a:schemeClr val="accent6"/>
                      </a:solidFill>
                      <a:prstDash val="solid"/>
                    </a:lnB>
                    <a:solidFill>
                      <a:schemeClr val="accent1"/>
                    </a:solidFill>
                  </a:tcPr>
                </a:tc>
                <a:tc>
                  <a:txBody>
                    <a:bodyPr/>
                    <a:lstStyle/>
                    <a:p>
                      <a:pPr/>
                      <a:r>
                        <a:rPr lang="en-US" sz="1350" b="1">
                          <a:solidFill>
                            <a:srgbClr val="FFFDF7"/>
                          </a:solidFill>
                          <a:latin typeface="Arial"/>
                          <a:ea typeface="Microsoft YaHei"/>
                          <a:cs typeface="Arial"/>
                        </a:rPr>
                        <a:t>What to specify</a:t>
                      </a:r>
                    </a:p>
                  </a:txBody>
                  <a:tcPr anchor="ctr" marL="152400" marR="152400" marT="76200" marB="76200">
                    <a:lnL>
                      <a:noFill/>
                    </a:lnL>
                    <a:lnR>
                      <a:noFill/>
                    </a:lnR>
                    <a:lnT>
                      <a:noFill/>
                    </a:lnT>
                    <a:lnB w="9525">
                      <a:solidFill>
                        <a:schemeClr val="accent6"/>
                      </a:solidFill>
                      <a:prstDash val="solid"/>
                    </a:lnB>
                    <a:solidFill>
                      <a:schemeClr val="accent1"/>
                    </a:solidFill>
                  </a:tcPr>
                </a:tc>
                <a:tc>
                  <a:txBody>
                    <a:bodyPr/>
                    <a:lstStyle/>
                    <a:p>
                      <a:pPr/>
                      <a:r>
                        <a:rPr lang="en-US" sz="1350" b="1">
                          <a:solidFill>
                            <a:srgbClr val="FFFDF7"/>
                          </a:solidFill>
                          <a:latin typeface="Arial"/>
                          <a:ea typeface="Microsoft YaHei"/>
                          <a:cs typeface="Arial"/>
                        </a:rPr>
                        <a:t>What to inspect</a:t>
                      </a:r>
                    </a:p>
                  </a:txBody>
                  <a:tcPr anchor="ctr" marL="152400" marR="152400" marT="76200" marB="76200">
                    <a:lnL>
                      <a:noFill/>
                    </a:lnL>
                    <a:lnR>
                      <a:noFill/>
                    </a:lnR>
                    <a:lnT>
                      <a:noFill/>
                    </a:lnT>
                    <a:lnB w="9525">
                      <a:solidFill>
                        <a:schemeClr val="accent6"/>
                      </a:solidFill>
                      <a:prstDash val="solid"/>
                    </a:lnB>
                    <a:solidFill>
                      <a:schemeClr val="accent1"/>
                    </a:solidFill>
                  </a:tcPr>
                </a:tc>
              </a:tr>
              <a:tr h="666750">
                <a:tc>
                  <a:txBody>
                    <a:bodyPr/>
                    <a:lstStyle/>
                    <a:p>
                      <a:pPr/>
                      <a:r>
                        <a:rPr lang="en-US" sz="1350" b="0">
                          <a:solidFill>
                            <a:schemeClr val="dk1"/>
                          </a:solidFill>
                          <a:latin typeface="Arial"/>
                          <a:ea typeface="Microsoft YaHei"/>
                          <a:cs typeface="Arial"/>
                        </a:rPr>
                        <a:t>Task</a:t>
                      </a:r>
                    </a:p>
                  </a:txBody>
                  <a:tcPr anchor="ctr" marL="152400" marR="152400" marT="76200" marB="76200">
                    <a:lnL>
                      <a:noFill/>
                    </a:lnL>
                    <a:lnR>
                      <a:noFill/>
                    </a:lnR>
                    <a:lnT>
                      <a:noFill/>
                    </a:lnT>
                    <a:lnB w="9525">
                      <a:solidFill>
                        <a:schemeClr val="accent6"/>
                      </a:solidFill>
                      <a:prstDash val="solid"/>
                    </a:lnB>
                    <a:noFill/>
                  </a:tcPr>
                </a:tc>
                <a:tc>
                  <a:txBody>
                    <a:bodyPr/>
                    <a:lstStyle/>
                    <a:p>
                      <a:pPr/>
                      <a:r>
                        <a:rPr lang="en-US" sz="1350" b="0">
                          <a:solidFill>
                            <a:schemeClr val="dk1"/>
                          </a:solidFill>
                          <a:latin typeface="Arial"/>
                          <a:ea typeface="Microsoft YaHei"/>
                          <a:cs typeface="Arial"/>
                        </a:rPr>
                        <a:t>User, accepted work, baseline and acceptance.</a:t>
                      </a:r>
                    </a:p>
                  </a:txBody>
                  <a:tcPr anchor="ctr" marL="152400" marR="152400" marT="76200" marB="76200">
                    <a:lnL>
                      <a:noFill/>
                    </a:lnL>
                    <a:lnR>
                      <a:noFill/>
                    </a:lnR>
                    <a:lnT>
                      <a:noFill/>
                    </a:lnT>
                    <a:lnB w="9525">
                      <a:solidFill>
                        <a:schemeClr val="accent6"/>
                      </a:solidFill>
                      <a:prstDash val="solid"/>
                    </a:lnB>
                    <a:noFill/>
                  </a:tcPr>
                </a:tc>
                <a:tc>
                  <a:txBody>
                    <a:bodyPr/>
                    <a:lstStyle/>
                    <a:p>
                      <a:pPr/>
                      <a:r>
                        <a:rPr lang="en-US" sz="1350" b="0">
                          <a:solidFill>
                            <a:schemeClr val="dk1"/>
                          </a:solidFill>
                          <a:latin typeface="Arial"/>
                          <a:ea typeface="Microsoft YaHei"/>
                          <a:cs typeface="Arial"/>
                        </a:rPr>
                        <a:t>Can a reviewer recognize completed work?</a:t>
                      </a:r>
                    </a:p>
                  </a:txBody>
                  <a:tcPr anchor="ctr" marL="152400" marR="152400" marT="76200" marB="76200">
                    <a:lnL>
                      <a:noFill/>
                    </a:lnL>
                    <a:lnR>
                      <a:noFill/>
                    </a:lnR>
                    <a:lnT>
                      <a:noFill/>
                    </a:lnT>
                    <a:lnB w="9525">
                      <a:solidFill>
                        <a:schemeClr val="accent6"/>
                      </a:solidFill>
                      <a:prstDash val="solid"/>
                    </a:lnB>
                    <a:noFill/>
                  </a:tcPr>
                </a:tc>
              </a:tr>
              <a:tr h="666750">
                <a:tc>
                  <a:txBody>
                    <a:bodyPr/>
                    <a:lstStyle/>
                    <a:p>
                      <a:pPr/>
                      <a:r>
                        <a:rPr lang="en-US" sz="1350" b="0">
                          <a:solidFill>
                            <a:schemeClr val="dk1"/>
                          </a:solidFill>
                          <a:latin typeface="Arial"/>
                          <a:ea typeface="Microsoft YaHei"/>
                          <a:cs typeface="Arial"/>
                        </a:rPr>
                        <a:t>Evidence</a:t>
                      </a:r>
                    </a:p>
                  </a:txBody>
                  <a:tcPr anchor="ctr" marL="152400" marR="152400" marT="76200" marB="76200">
                    <a:lnL>
                      <a:noFill/>
                    </a:lnL>
                    <a:lnR>
                      <a:noFill/>
                    </a:lnR>
                    <a:lnT>
                      <a:noFill/>
                    </a:lnT>
                    <a:lnB w="9525">
                      <a:solidFill>
                        <a:schemeClr val="accent6"/>
                      </a:solidFill>
                      <a:prstDash val="solid"/>
                    </a:lnB>
                    <a:noFill/>
                  </a:tcPr>
                </a:tc>
                <a:tc>
                  <a:txBody>
                    <a:bodyPr/>
                    <a:lstStyle/>
                    <a:p>
                      <a:pPr/>
                      <a:r>
                        <a:rPr lang="en-US" sz="1350" b="0">
                          <a:solidFill>
                            <a:schemeClr val="dk1"/>
                          </a:solidFill>
                          <a:latin typeface="Arial"/>
                          <a:ea typeface="Microsoft YaHei"/>
                          <a:cs typeface="Arial"/>
                        </a:rPr>
                        <a:t>Entity, period, units, source/version, cutoff and access.</a:t>
                      </a:r>
                    </a:p>
                  </a:txBody>
                  <a:tcPr anchor="ctr" marL="152400" marR="152400" marT="76200" marB="76200">
                    <a:lnL>
                      <a:noFill/>
                    </a:lnL>
                    <a:lnR>
                      <a:noFill/>
                    </a:lnR>
                    <a:lnT>
                      <a:noFill/>
                    </a:lnT>
                    <a:lnB w="9525">
                      <a:solidFill>
                        <a:schemeClr val="accent6"/>
                      </a:solidFill>
                      <a:prstDash val="solid"/>
                    </a:lnB>
                    <a:noFill/>
                  </a:tcPr>
                </a:tc>
                <a:tc>
                  <a:txBody>
                    <a:bodyPr/>
                    <a:lstStyle/>
                    <a:p>
                      <a:pPr/>
                      <a:r>
                        <a:rPr lang="en-US" sz="1350" b="0">
                          <a:solidFill>
                            <a:schemeClr val="dk1"/>
                          </a:solidFill>
                          <a:latin typeface="Arial"/>
                          <a:ea typeface="Microsoft YaHei"/>
                          <a:cs typeface="Arial"/>
                        </a:rPr>
                        <a:t>Can each material claim be reproduced?</a:t>
                      </a:r>
                    </a:p>
                  </a:txBody>
                  <a:tcPr anchor="ctr" marL="152400" marR="152400" marT="76200" marB="76200">
                    <a:lnL>
                      <a:noFill/>
                    </a:lnL>
                    <a:lnR>
                      <a:noFill/>
                    </a:lnR>
                    <a:lnT>
                      <a:noFill/>
                    </a:lnT>
                    <a:lnB w="9525">
                      <a:solidFill>
                        <a:schemeClr val="accent6"/>
                      </a:solidFill>
                      <a:prstDash val="solid"/>
                    </a:lnB>
                    <a:noFill/>
                  </a:tcPr>
                </a:tc>
              </a:tr>
              <a:tr h="666750">
                <a:tc>
                  <a:txBody>
                    <a:bodyPr/>
                    <a:lstStyle/>
                    <a:p>
                      <a:pPr/>
                      <a:r>
                        <a:rPr lang="en-US" sz="1350" b="0">
                          <a:solidFill>
                            <a:schemeClr val="dk1"/>
                          </a:solidFill>
                          <a:latin typeface="Arial"/>
                          <a:ea typeface="Microsoft YaHei"/>
                          <a:cs typeface="Arial"/>
                        </a:rPr>
                        <a:t>Authority</a:t>
                      </a:r>
                    </a:p>
                  </a:txBody>
                  <a:tcPr anchor="ctr" marL="152400" marR="152400" marT="76200" marB="76200">
                    <a:lnL>
                      <a:noFill/>
                    </a:lnL>
                    <a:lnR>
                      <a:noFill/>
                    </a:lnR>
                    <a:lnT>
                      <a:noFill/>
                    </a:lnT>
                    <a:lnB w="9525">
                      <a:solidFill>
                        <a:schemeClr val="accent6"/>
                      </a:solidFill>
                      <a:prstDash val="solid"/>
                    </a:lnB>
                    <a:noFill/>
                  </a:tcPr>
                </a:tc>
                <a:tc>
                  <a:txBody>
                    <a:bodyPr/>
                    <a:lstStyle/>
                    <a:p>
                      <a:pPr/>
                      <a:r>
                        <a:rPr lang="en-US" sz="1350" b="0">
                          <a:solidFill>
                            <a:schemeClr val="dk1"/>
                          </a:solidFill>
                          <a:latin typeface="Arial"/>
                          <a:ea typeface="Microsoft YaHei"/>
                          <a:cs typeface="Arial"/>
                        </a:rPr>
                        <a:t>Resources, proposals, approvals and execution.</a:t>
                      </a:r>
                    </a:p>
                  </a:txBody>
                  <a:tcPr anchor="ctr" marL="152400" marR="152400" marT="76200" marB="76200">
                    <a:lnL>
                      <a:noFill/>
                    </a:lnL>
                    <a:lnR>
                      <a:noFill/>
                    </a:lnR>
                    <a:lnT>
                      <a:noFill/>
                    </a:lnT>
                    <a:lnB w="9525">
                      <a:solidFill>
                        <a:schemeClr val="accent6"/>
                      </a:solidFill>
                      <a:prstDash val="solid"/>
                    </a:lnB>
                    <a:noFill/>
                  </a:tcPr>
                </a:tc>
                <a:tc>
                  <a:txBody>
                    <a:bodyPr/>
                    <a:lstStyle/>
                    <a:p>
                      <a:pPr/>
                      <a:r>
                        <a:rPr lang="en-US" sz="1350" b="0">
                          <a:solidFill>
                            <a:schemeClr val="dk1"/>
                          </a:solidFill>
                          <a:latin typeface="Arial"/>
                          <a:ea typeface="Microsoft YaHei"/>
                          <a:cs typeface="Arial"/>
                        </a:rPr>
                        <a:t>Can a denied action bypass the boundary?</a:t>
                      </a:r>
                    </a:p>
                  </a:txBody>
                  <a:tcPr anchor="ctr" marL="152400" marR="152400" marT="76200" marB="76200">
                    <a:lnL>
                      <a:noFill/>
                    </a:lnL>
                    <a:lnR>
                      <a:noFill/>
                    </a:lnR>
                    <a:lnT>
                      <a:noFill/>
                    </a:lnT>
                    <a:lnB w="9525">
                      <a:solidFill>
                        <a:schemeClr val="accent6"/>
                      </a:solidFill>
                      <a:prstDash val="solid"/>
                    </a:lnB>
                    <a:noFill/>
                  </a:tcPr>
                </a:tc>
              </a:tr>
              <a:tr h="666750">
                <a:tc>
                  <a:txBody>
                    <a:bodyPr/>
                    <a:lstStyle/>
                    <a:p>
                      <a:pPr/>
                      <a:r>
                        <a:rPr lang="en-US" sz="1350" b="0">
                          <a:solidFill>
                            <a:schemeClr val="dk1"/>
                          </a:solidFill>
                          <a:latin typeface="Arial"/>
                          <a:ea typeface="Microsoft YaHei"/>
                          <a:cs typeface="Arial"/>
                        </a:rPr>
                        <a:t>Evaluation</a:t>
                      </a:r>
                    </a:p>
                  </a:txBody>
                  <a:tcPr anchor="ctr" marL="152400" marR="152400" marT="76200" marB="76200">
                    <a:lnL>
                      <a:noFill/>
                    </a:lnL>
                    <a:lnR>
                      <a:noFill/>
                    </a:lnR>
                    <a:lnT>
                      <a:noFill/>
                    </a:lnT>
                    <a:lnB w="9525">
                      <a:solidFill>
                        <a:schemeClr val="accent6"/>
                      </a:solidFill>
                      <a:prstDash val="solid"/>
                    </a:lnB>
                    <a:noFill/>
                  </a:tcPr>
                </a:tc>
                <a:tc>
                  <a:txBody>
                    <a:bodyPr/>
                    <a:lstStyle/>
                    <a:p>
                      <a:pPr/>
                      <a:r>
                        <a:rPr lang="en-US" sz="1350" b="0">
                          <a:solidFill>
                            <a:schemeClr val="dk1"/>
                          </a:solidFill>
                          <a:latin typeface="Arial"/>
                          <a:ea typeface="Microsoft YaHei"/>
                          <a:cs typeface="Arial"/>
                        </a:rPr>
                        <a:t>Cases, rubric, critical failures and calibrated judges.</a:t>
                      </a:r>
                    </a:p>
                  </a:txBody>
                  <a:tcPr anchor="ctr" marL="152400" marR="152400" marT="76200" marB="76200">
                    <a:lnL>
                      <a:noFill/>
                    </a:lnL>
                    <a:lnR>
                      <a:noFill/>
                    </a:lnR>
                    <a:lnT>
                      <a:noFill/>
                    </a:lnT>
                    <a:lnB w="9525">
                      <a:solidFill>
                        <a:schemeClr val="accent6"/>
                      </a:solidFill>
                      <a:prstDash val="solid"/>
                    </a:lnB>
                    <a:noFill/>
                  </a:tcPr>
                </a:tc>
                <a:tc>
                  <a:txBody>
                    <a:bodyPr/>
                    <a:lstStyle/>
                    <a:p>
                      <a:pPr/>
                      <a:r>
                        <a:rPr lang="en-US" sz="1350" b="0">
                          <a:solidFill>
                            <a:schemeClr val="dk1"/>
                          </a:solidFill>
                          <a:latin typeface="Arial"/>
                          <a:ea typeface="Microsoft YaHei"/>
                          <a:cs typeface="Arial"/>
                        </a:rPr>
                        <a:t>Which serious failure could still receive a pass?</a:t>
                      </a:r>
                    </a:p>
                  </a:txBody>
                  <a:tcPr anchor="ctr" marL="152400" marR="152400" marT="76200" marB="76200">
                    <a:lnL>
                      <a:noFill/>
                    </a:lnL>
                    <a:lnR>
                      <a:noFill/>
                    </a:lnR>
                    <a:lnT>
                      <a:noFill/>
                    </a:lnT>
                    <a:lnB w="9525">
                      <a:solidFill>
                        <a:schemeClr val="accent6"/>
                      </a:solidFill>
                      <a:prstDash val="solid"/>
                    </a:lnB>
                    <a:noFill/>
                  </a:tcPr>
                </a:tc>
              </a:tr>
              <a:tr h="666750">
                <a:tc>
                  <a:txBody>
                    <a:bodyPr/>
                    <a:lstStyle/>
                    <a:p>
                      <a:pPr/>
                      <a:r>
                        <a:rPr lang="en-US" sz="1350" b="0">
                          <a:solidFill>
                            <a:schemeClr val="dk1"/>
                          </a:solidFill>
                          <a:latin typeface="Arial"/>
                          <a:ea typeface="Microsoft YaHei"/>
                          <a:cs typeface="Arial"/>
                        </a:rPr>
                        <a:t>Operation</a:t>
                      </a:r>
                    </a:p>
                  </a:txBody>
                  <a:tcPr anchor="ctr" marL="152400" marR="152400" marT="76200" marB="76200">
                    <a:lnL>
                      <a:noFill/>
                    </a:lnL>
                    <a:lnR>
                      <a:noFill/>
                    </a:lnR>
                    <a:lnT>
                      <a:noFill/>
                    </a:lnT>
                    <a:lnB w="9525">
                      <a:solidFill>
                        <a:schemeClr val="accent6"/>
                      </a:solidFill>
                      <a:prstDash val="solid"/>
                    </a:lnB>
                    <a:noFill/>
                  </a:tcPr>
                </a:tc>
                <a:tc>
                  <a:txBody>
                    <a:bodyPr/>
                    <a:lstStyle/>
                    <a:p>
                      <a:pPr/>
                      <a:r>
                        <a:rPr lang="en-US" sz="1350" b="0">
                          <a:solidFill>
                            <a:schemeClr val="dk1"/>
                          </a:solidFill>
                          <a:latin typeface="Arial"/>
                          <a:ea typeface="Microsoft YaHei"/>
                          <a:cs typeface="Arial"/>
                        </a:rPr>
                        <a:t>Versions, traces, release owner, stop and rollback.</a:t>
                      </a:r>
                    </a:p>
                  </a:txBody>
                  <a:tcPr anchor="ctr" marL="152400" marR="152400" marT="76200" marB="76200">
                    <a:lnL>
                      <a:noFill/>
                    </a:lnL>
                    <a:lnR>
                      <a:noFill/>
                    </a:lnR>
                    <a:lnT>
                      <a:noFill/>
                    </a:lnT>
                    <a:lnB w="9525">
                      <a:solidFill>
                        <a:schemeClr val="accent6"/>
                      </a:solidFill>
                      <a:prstDash val="solid"/>
                    </a:lnB>
                    <a:noFill/>
                  </a:tcPr>
                </a:tc>
                <a:tc>
                  <a:txBody>
                    <a:bodyPr/>
                    <a:lstStyle/>
                    <a:p>
                      <a:pPr/>
                      <a:r>
                        <a:rPr lang="en-US" sz="1350" b="0">
                          <a:solidFill>
                            <a:schemeClr val="dk1"/>
                          </a:solidFill>
                          <a:latin typeface="Arial"/>
                          <a:ea typeface="Microsoft YaHei"/>
                          <a:cs typeface="Arial"/>
                        </a:rPr>
                        <a:t>Can failure be diagnosed and repair verified?</a:t>
                      </a:r>
                    </a:p>
                  </a:txBody>
                  <a:tcPr anchor="ctr" marL="152400" marR="152400" marT="76200" marB="76200">
                    <a:lnL>
                      <a:noFill/>
                    </a:lnL>
                    <a:lnR>
                      <a:noFill/>
                    </a:lnR>
                    <a:lnT>
                      <a:noFill/>
                    </a:lnT>
                    <a:lnB w="9525">
                      <a:solidFill>
                        <a:schemeClr val="accent6"/>
                      </a:solidFill>
                      <a:prstDash val="solid"/>
                    </a:lnB>
                    <a:noFill/>
                  </a:tcPr>
                </a:tc>
              </a:tr>
            </a:tbl>
          </a:graphicData>
        </a:graphic>
      </p:graphicFrame>
      <p:grpSp>
        <p:nvGrpSpPr>
          <p:cNvPr id="8" name="revisit-exposure"/>
          <p:cNvGrpSpPr/>
          <p:nvPr/>
        </p:nvGrpSpPr>
        <p:grpSpPr>
          <a:xfrm>
            <a:off x="450342" y="5813425"/>
            <a:ext cx="9029483" cy="492633"/>
            <a:chOff x="450342" y="5813425"/>
            <a:chExt cx="9029483" cy="492633"/>
          </a:xfrm>
        </p:grpSpPr>
        <p:sp>
          <p:nvSpPr>
            <p:cNvPr id="7" name="TextBox 7"/>
            <p:cNvSpPr txBox="1"/>
            <p:nvPr/>
          </p:nvSpPr>
          <p:spPr>
            <a:xfrm>
              <a:off x="450342" y="5813425"/>
              <a:ext cx="9029483" cy="492633"/>
            </a:xfrm>
            <a:prstGeom prst="rect">
              <a:avLst/>
            </a:prstGeom>
            <a:noFill/>
            <a:ln>
              <a:noFill/>
            </a:ln>
          </p:spPr>
          <p:txBody>
            <a:bodyPr wrap="none" lIns="0" tIns="0" rIns="0" bIns="0" anchor="t" anchorCtr="0">
              <a:spAutoFit/>
            </a:bodyPr>
            <a:lstStyle/>
            <a:p>
              <a:pPr algn="l">
                <a:lnSpc>
                  <a:spcPts val="1800"/>
                </a:lnSpc>
              </a:pPr>
              <a:r>
                <a:rPr lang="en-US" sz="1350" dirty="0">
                  <a:solidFill>
                    <a:schemeClr val="accent2"/>
                  </a:solidFill>
                  <a:latin typeface="+mn-lt"/>
                  <a:ea typeface="+mn-ea"/>
                  <a:cs typeface="+mn-cs"/>
                </a:rPr>
                <a:t>Retain versions, disagreement and accepted limits. A new source, user group, tool or permission can change exposure</a:t>
              </a:r>
              <a:br>
                <a:rPr lang="en-US" sz="1350" dirty="0">
                  <a:solidFill>
                    <a:schemeClr val="accent2"/>
                  </a:solidFill>
                  <a:latin typeface="+mn-lt"/>
                  <a:ea typeface="+mn-ea"/>
                  <a:cs typeface="+mn-cs"/>
                </a:rPr>
              </a:br>
              <a:r>
                <a:rPr lang="en-US" sz="1350" dirty="0">
                  <a:solidFill>
                    <a:schemeClr val="accent2"/>
                  </a:solidFill>
                  <a:latin typeface="+mn-lt"/>
                  <a:ea typeface="+mn-ea"/>
                  <a:cs typeface="+mn-cs"/>
                </a:rPr>
                <a:t>without changing the prompt; reassess when uncertainty could alter the decision.</a:t>
              </a:r>
            </a:p>
          </p:txBody>
        </p:sp>
      </p:grpSp>
      <p:grpSp>
        <p:nvGrpSpPr>
          <p:cNvPr id="11" name="footer"/>
          <p:cNvGrpSpPr/>
          <p:nvPr/>
        </p:nvGrpSpPr>
        <p:grpSpPr>
          <a:xfrm>
            <a:off x="452438" y="6496050"/>
            <a:ext cx="11287124" cy="176212"/>
            <a:chOff x="452438" y="6496050"/>
            <a:chExt cx="11287124" cy="176212"/>
          </a:xfrm>
        </p:grpSpPr>
        <p:sp>
          <p:nvSpPr>
            <p:cNvPr id="9" name="TextBox 9"/>
            <p:cNvSpPr txBox="1"/>
            <p:nvPr/>
          </p:nvSpPr>
          <p:spPr>
            <a:xfrm>
              <a:off x="452438" y="6496050"/>
              <a:ext cx="6095101" cy="176212"/>
            </a:xfrm>
            <a:prstGeom prst="rect">
              <a:avLst/>
            </a:prstGeom>
            <a:noFill/>
            <a:ln>
              <a:noFill/>
            </a:ln>
          </p:spPr>
          <p:txBody>
            <a:bodyPr wrap="none" lIns="0" tIns="0" rIns="0" bIns="0" anchor="t" anchorCtr="0">
              <a:spAutoFit/>
            </a:bodyPr>
            <a:lstStyle/>
            <a:p>
              <a:pPr algn="l"/>
              <a:r>
                <a:rPr lang="en-US" sz="900" dirty="0">
                  <a:solidFill>
                    <a:schemeClr val="accent5"/>
                  </a:solidFill>
                  <a:latin typeface="+mn-lt"/>
                  <a:ea typeface="+mn-ea"/>
                  <a:cs typeface="+mn-cs"/>
                </a:rPr>
                <a:t>Proposed synthesis connecting the conference’s task, evidence, authority, evaluation and operation mechanisms.</a:t>
              </a:r>
            </a:p>
          </p:txBody>
        </p:sp>
        <p:sp>
          <p:nvSpPr>
            <p:cNvPr id="10" name="TextBox 10"/>
            <p:cNvSpPr txBox="1"/>
            <p:nvPr/>
          </p:nvSpPr>
          <p:spPr>
            <a:xfrm>
              <a:off x="11359512" y="6496050"/>
              <a:ext cx="380050" cy="176212"/>
            </a:xfrm>
            <a:prstGeom prst="rect">
              <a:avLst/>
            </a:prstGeom>
            <a:noFill/>
            <a:ln>
              <a:noFill/>
            </a:ln>
          </p:spPr>
          <p:txBody>
            <a:bodyPr wrap="none" lIns="0" tIns="0" rIns="0" bIns="0" anchor="t" anchorCtr="0">
              <a:spAutoFit/>
            </a:bodyPr>
            <a:lstStyle/>
            <a:p>
              <a:pPr algn="r"/>
              <a:r>
                <a:rPr lang="en-US" sz="900" dirty="0">
                  <a:solidFill>
                    <a:schemeClr val="accent5"/>
                  </a:solidFill>
                  <a:latin typeface="+mn-lt"/>
                  <a:ea typeface="+mn-ea"/>
                  <a:cs typeface="+mn-cs"/>
                </a:rPr>
                <a:t>30 / 37</a:t>
              </a:r>
            </a:p>
          </p:txBody>
        </p:sp>
      </p:grpSp>
    </p:spTree>
  </p:cSld>
  <p:clrMapOvr>
    <a:masterClrMapping/>
  </p:clrMapOvr>
  <p:transition xmlns:p14="http://schemas.microsoft.com/office/powerpoint/2010/main" p14:dur="400">
    <p:fade/>
  </p:transition>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5" name="title"/>
          <p:cNvGrpSpPr/>
          <p:nvPr/>
        </p:nvGrpSpPr>
        <p:grpSpPr>
          <a:xfrm>
            <a:off x="443484" y="361950"/>
            <a:ext cx="9055562" cy="1100582"/>
            <a:chOff x="443484" y="361950"/>
            <a:chExt cx="9055562" cy="1100582"/>
          </a:xfrm>
        </p:grpSpPr>
        <p:sp>
          <p:nvSpPr>
            <p:cNvPr id="2" name="TextBox 2"/>
            <p:cNvSpPr txBox="1"/>
            <p:nvPr/>
          </p:nvSpPr>
          <p:spPr>
            <a:xfrm>
              <a:off x="451104" y="361950"/>
              <a:ext cx="2971068" cy="234696"/>
            </a:xfrm>
            <a:prstGeom prst="rect">
              <a:avLst/>
            </a:prstGeom>
            <a:noFill/>
            <a:ln>
              <a:noFill/>
            </a:ln>
          </p:spPr>
          <p:txBody>
            <a:bodyPr wrap="none" lIns="0" tIns="0" rIns="0" bIns="0" anchor="t" anchorCtr="0">
              <a:spAutoFit/>
            </a:bodyPr>
            <a:lstStyle/>
            <a:p>
              <a:pPr algn="l"/>
              <a:r>
                <a:rPr lang="en-US" sz="1200" dirty="0">
                  <a:solidFill>
                    <a:schemeClr val="accent2"/>
                  </a:solidFill>
                  <a:latin typeface="+mn-lt"/>
                  <a:ea typeface="+mn-ea"/>
                  <a:cs typeface="+mn-cs"/>
                </a:rPr>
                <a:t>REFERENCE / RECORDING REVIEW</a:t>
              </a:r>
            </a:p>
          </p:txBody>
        </p:sp>
        <p:sp>
          <p:nvSpPr>
            <p:cNvPr id="3" name="TextBox 3"/>
            <p:cNvSpPr txBox="1"/>
            <p:nvPr/>
          </p:nvSpPr>
          <p:spPr>
            <a:xfrm>
              <a:off x="443484" y="593725"/>
              <a:ext cx="8869104" cy="528066"/>
            </a:xfrm>
            <a:prstGeom prst="rect">
              <a:avLst/>
            </a:prstGeom>
            <a:noFill/>
            <a:ln>
              <a:noFill/>
            </a:ln>
          </p:spPr>
          <p:txBody>
            <a:bodyPr wrap="none" lIns="0" tIns="0" rIns="0" bIns="0" anchor="t" anchorCtr="0">
              <a:spAutoFit/>
            </a:bodyPr>
            <a:lstStyle/>
            <a:p>
              <a:pPr algn="l"/>
              <a:r>
                <a:rPr lang="en-US" sz="2700" dirty="0">
                  <a:solidFill>
                    <a:schemeClr val="accent1"/>
                  </a:solidFill>
                  <a:latin typeface="+mj-lt"/>
                  <a:ea typeface="+mj-ea"/>
                  <a:cs typeface="+mj-cs"/>
                </a:rPr>
                <a:t>Company cases teach different operating mechanisms</a:t>
              </a:r>
            </a:p>
          </p:txBody>
        </p:sp>
        <p:sp>
          <p:nvSpPr>
            <p:cNvPr id="4" name="TextBox 4"/>
            <p:cNvSpPr txBox="1"/>
            <p:nvPr/>
          </p:nvSpPr>
          <p:spPr>
            <a:xfrm>
              <a:off x="448818" y="1139825"/>
              <a:ext cx="9050228" cy="322707"/>
            </a:xfrm>
            <a:prstGeom prst="rect">
              <a:avLst/>
            </a:prstGeom>
            <a:noFill/>
            <a:ln>
              <a:noFill/>
            </a:ln>
          </p:spPr>
          <p:txBody>
            <a:bodyPr wrap="none" lIns="0" tIns="0" rIns="0" bIns="0" anchor="t" anchorCtr="0">
              <a:spAutoFit/>
            </a:bodyPr>
            <a:lstStyle/>
            <a:p>
              <a:pPr algn="l"/>
              <a:r>
                <a:rPr lang="en-US" sz="1650" dirty="0">
                  <a:solidFill>
                    <a:schemeClr val="accent5"/>
                  </a:solidFill>
                  <a:latin typeface="+mn-lt"/>
                  <a:ea typeface="+mn-ea"/>
                  <a:cs typeface="+mn-cs"/>
                </a:rPr>
                <a:t>The reading edition expands these themes into 37 later-source company and method briefs.</a:t>
              </a:r>
            </a:p>
          </p:txBody>
        </p:sp>
      </p:grpSp>
      <p:graphicFrame>
        <p:nvGraphicFramePr>
          <p:cNvPr id="6" name="company-mechanisms"/>
          <p:cNvGraphicFramePr>
            <a:graphicFrameLocks noGrp="1"/>
          </p:cNvGraphicFramePr>
          <p:nvPr/>
        </p:nvGraphicFramePr>
        <p:xfrm>
          <a:off x="457200" y="1752600"/>
          <a:ext cx="11277600" cy="3829050"/>
        </p:xfrm>
        <a:graphic>
          <a:graphicData uri="http://schemas.openxmlformats.org/drawingml/2006/table">
            <a:tbl>
              <a:tblPr firstRow="1" bandRow="0">
                <a:tableStyleId>{5C22544A-7EE6-4342-B048-85BDC9FD1C3A}</a:tableStyleId>
              </a:tblPr>
              <a:tblGrid>
                <a:gridCol w="2343150"/>
                <a:gridCol w="4476750"/>
                <a:gridCol w="4457700"/>
              </a:tblGrid>
              <a:tr h="495300">
                <a:tc>
                  <a:txBody>
                    <a:bodyPr/>
                    <a:lstStyle/>
                    <a:p>
                      <a:pPr/>
                      <a:r>
                        <a:rPr lang="en-US" sz="1350" b="1">
                          <a:solidFill>
                            <a:srgbClr val="FFFDF7"/>
                          </a:solidFill>
                          <a:latin typeface="Arial"/>
                          <a:ea typeface="Microsoft YaHei"/>
                          <a:cs typeface="Arial"/>
                        </a:rPr>
                        <a:t>Problem</a:t>
                      </a:r>
                    </a:p>
                  </a:txBody>
                  <a:tcPr anchor="ctr" marL="152400" marR="152400" marT="76200" marB="76200">
                    <a:lnL>
                      <a:noFill/>
                    </a:lnL>
                    <a:lnR>
                      <a:noFill/>
                    </a:lnR>
                    <a:lnT>
                      <a:noFill/>
                    </a:lnT>
                    <a:lnB w="9525">
                      <a:solidFill>
                        <a:schemeClr val="accent6"/>
                      </a:solidFill>
                      <a:prstDash val="solid"/>
                    </a:lnB>
                    <a:solidFill>
                      <a:schemeClr val="accent1"/>
                    </a:solidFill>
                  </a:tcPr>
                </a:tc>
                <a:tc>
                  <a:txBody>
                    <a:bodyPr/>
                    <a:lstStyle/>
                    <a:p>
                      <a:pPr/>
                      <a:r>
                        <a:rPr lang="en-US" sz="1350" b="1">
                          <a:solidFill>
                            <a:srgbClr val="FFFDF7"/>
                          </a:solidFill>
                          <a:latin typeface="Arial"/>
                          <a:ea typeface="Microsoft YaHei"/>
                          <a:cs typeface="Arial"/>
                        </a:rPr>
                        <a:t>Selected later sources</a:t>
                      </a:r>
                    </a:p>
                  </a:txBody>
                  <a:tcPr anchor="ctr" marL="152400" marR="152400" marT="76200" marB="76200">
                    <a:lnL>
                      <a:noFill/>
                    </a:lnL>
                    <a:lnR>
                      <a:noFill/>
                    </a:lnR>
                    <a:lnT>
                      <a:noFill/>
                    </a:lnT>
                    <a:lnB w="9525">
                      <a:solidFill>
                        <a:schemeClr val="accent6"/>
                      </a:solidFill>
                      <a:prstDash val="solid"/>
                    </a:lnB>
                    <a:solidFill>
                      <a:schemeClr val="accent1"/>
                    </a:solidFill>
                  </a:tcPr>
                </a:tc>
                <a:tc>
                  <a:txBody>
                    <a:bodyPr/>
                    <a:lstStyle/>
                    <a:p>
                      <a:pPr/>
                      <a:r>
                        <a:rPr lang="en-US" sz="1350" b="1">
                          <a:solidFill>
                            <a:srgbClr val="FFFDF7"/>
                          </a:solidFill>
                          <a:latin typeface="Arial"/>
                          <a:ea typeface="Microsoft YaHei"/>
                          <a:cs typeface="Arial"/>
                        </a:rPr>
                        <a:t>Transferable mechanism</a:t>
                      </a:r>
                    </a:p>
                  </a:txBody>
                  <a:tcPr anchor="ctr" marL="152400" marR="152400" marT="76200" marB="76200">
                    <a:lnL>
                      <a:noFill/>
                    </a:lnL>
                    <a:lnR>
                      <a:noFill/>
                    </a:lnR>
                    <a:lnT>
                      <a:noFill/>
                    </a:lnT>
                    <a:lnB w="9525">
                      <a:solidFill>
                        <a:schemeClr val="accent6"/>
                      </a:solidFill>
                      <a:prstDash val="solid"/>
                    </a:lnB>
                    <a:solidFill>
                      <a:schemeClr val="accent1"/>
                    </a:solidFill>
                  </a:tcPr>
                </a:tc>
              </a:tr>
              <a:tr h="666750">
                <a:tc>
                  <a:txBody>
                    <a:bodyPr/>
                    <a:lstStyle/>
                    <a:p>
                      <a:pPr/>
                      <a:r>
                        <a:rPr lang="en-US" sz="1350" b="0">
                          <a:solidFill>
                            <a:schemeClr val="dk1"/>
                          </a:solidFill>
                          <a:latin typeface="Arial"/>
                          <a:ea typeface="Microsoft YaHei"/>
                          <a:cs typeface="Arial"/>
                        </a:rPr>
                        <a:t>Grounding / memory</a:t>
                      </a:r>
                    </a:p>
                  </a:txBody>
                  <a:tcPr anchor="ctr" marL="152400" marR="152400" marT="76200" marB="76200">
                    <a:lnL>
                      <a:noFill/>
                    </a:lnL>
                    <a:lnR>
                      <a:noFill/>
                    </a:lnR>
                    <a:lnT>
                      <a:noFill/>
                    </a:lnT>
                    <a:lnB w="9525">
                      <a:solidFill>
                        <a:schemeClr val="accent6"/>
                      </a:solidFill>
                      <a:prstDash val="solid"/>
                    </a:lnB>
                    <a:noFill/>
                  </a:tcPr>
                </a:tc>
                <a:tc>
                  <a:txBody>
                    <a:bodyPr/>
                    <a:lstStyle/>
                    <a:p>
                      <a:pPr/>
                      <a:r>
                        <a:rPr lang="en-US" sz="1350" b="0">
                          <a:solidFill>
                            <a:schemeClr val="dk1"/>
                          </a:solidFill>
                          <a:latin typeface="Arial"/>
                          <a:ea typeface="Microsoft YaHei"/>
                          <a:cs typeface="Arial"/>
                        </a:rPr>
                        <a:t>Bridgewater · Kepler · Citadel Securities</a:t>
                      </a:r>
                    </a:p>
                  </a:txBody>
                  <a:tcPr anchor="ctr" marL="152400" marR="152400" marT="76200" marB="76200">
                    <a:lnL>
                      <a:noFill/>
                    </a:lnL>
                    <a:lnR>
                      <a:noFill/>
                    </a:lnR>
                    <a:lnT>
                      <a:noFill/>
                    </a:lnT>
                    <a:lnB w="9525">
                      <a:solidFill>
                        <a:schemeClr val="accent6"/>
                      </a:solidFill>
                      <a:prstDash val="solid"/>
                    </a:lnB>
                    <a:noFill/>
                  </a:tcPr>
                </a:tc>
                <a:tc>
                  <a:txBody>
                    <a:bodyPr/>
                    <a:lstStyle/>
                    <a:p>
                      <a:pPr/>
                      <a:r>
                        <a:rPr lang="en-US" sz="1350" b="0">
                          <a:solidFill>
                            <a:schemeClr val="dk1"/>
                          </a:solidFill>
                          <a:latin typeface="Arial"/>
                          <a:ea typeface="Microsoft YaHei"/>
                          <a:cs typeface="Arial"/>
                        </a:rPr>
                        <a:t>Time-scoped evidence; fact resolution; aged beliefs.</a:t>
                      </a:r>
                    </a:p>
                  </a:txBody>
                  <a:tcPr anchor="ctr" marL="152400" marR="152400" marT="76200" marB="76200">
                    <a:lnL>
                      <a:noFill/>
                    </a:lnL>
                    <a:lnR>
                      <a:noFill/>
                    </a:lnR>
                    <a:lnT>
                      <a:noFill/>
                    </a:lnT>
                    <a:lnB w="9525">
                      <a:solidFill>
                        <a:schemeClr val="accent6"/>
                      </a:solidFill>
                      <a:prstDash val="solid"/>
                    </a:lnB>
                    <a:noFill/>
                  </a:tcPr>
                </a:tc>
              </a:tr>
              <a:tr h="666750">
                <a:tc>
                  <a:txBody>
                    <a:bodyPr/>
                    <a:lstStyle/>
                    <a:p>
                      <a:pPr/>
                      <a:r>
                        <a:rPr lang="en-US" sz="1350" b="0">
                          <a:solidFill>
                            <a:schemeClr val="dk1"/>
                          </a:solidFill>
                          <a:latin typeface="Arial"/>
                          <a:ea typeface="Microsoft YaHei"/>
                          <a:cs typeface="Arial"/>
                        </a:rPr>
                        <a:t>Professional workflows</a:t>
                      </a:r>
                    </a:p>
                  </a:txBody>
                  <a:tcPr anchor="ctr" marL="152400" marR="152400" marT="76200" marB="76200">
                    <a:lnL>
                      <a:noFill/>
                    </a:lnL>
                    <a:lnR>
                      <a:noFill/>
                    </a:lnR>
                    <a:lnT>
                      <a:noFill/>
                    </a:lnT>
                    <a:lnB w="9525">
                      <a:solidFill>
                        <a:schemeClr val="accent6"/>
                      </a:solidFill>
                      <a:prstDash val="solid"/>
                    </a:lnB>
                    <a:noFill/>
                  </a:tcPr>
                </a:tc>
                <a:tc>
                  <a:txBody>
                    <a:bodyPr/>
                    <a:lstStyle/>
                    <a:p>
                      <a:pPr/>
                      <a:r>
                        <a:rPr lang="en-US" sz="1350" b="0">
                          <a:solidFill>
                            <a:schemeClr val="dk1"/>
                          </a:solidFill>
                          <a:latin typeface="Arial"/>
                          <a:ea typeface="Microsoft YaHei"/>
                          <a:cs typeface="Arial"/>
                        </a:rPr>
                        <a:t>Range · Arca · Perpetual · Apollo</a:t>
                      </a:r>
                    </a:p>
                  </a:txBody>
                  <a:tcPr anchor="ctr" marL="152400" marR="152400" marT="76200" marB="76200">
                    <a:lnL>
                      <a:noFill/>
                    </a:lnL>
                    <a:lnR>
                      <a:noFill/>
                    </a:lnR>
                    <a:lnT>
                      <a:noFill/>
                    </a:lnT>
                    <a:lnB w="9525">
                      <a:solidFill>
                        <a:schemeClr val="accent6"/>
                      </a:solidFill>
                      <a:prstDash val="solid"/>
                    </a:lnB>
                    <a:noFill/>
                  </a:tcPr>
                </a:tc>
                <a:tc>
                  <a:txBody>
                    <a:bodyPr/>
                    <a:lstStyle/>
                    <a:p>
                      <a:pPr/>
                      <a:r>
                        <a:rPr lang="en-US" sz="1350" b="0">
                          <a:solidFill>
                            <a:schemeClr val="dk1"/>
                          </a:solidFill>
                          <a:latin typeface="Arial"/>
                          <a:ea typeface="Microsoft YaHei"/>
                          <a:cs typeface="Arial"/>
                        </a:rPr>
                        <a:t>Expert method; handoffs; compiled plans; QA.</a:t>
                      </a:r>
                    </a:p>
                  </a:txBody>
                  <a:tcPr anchor="ctr" marL="152400" marR="152400" marT="76200" marB="76200">
                    <a:lnL>
                      <a:noFill/>
                    </a:lnL>
                    <a:lnR>
                      <a:noFill/>
                    </a:lnR>
                    <a:lnT>
                      <a:noFill/>
                    </a:lnT>
                    <a:lnB w="9525">
                      <a:solidFill>
                        <a:schemeClr val="accent6"/>
                      </a:solidFill>
                      <a:prstDash val="solid"/>
                    </a:lnB>
                    <a:noFill/>
                  </a:tcPr>
                </a:tc>
              </a:tr>
              <a:tr h="666750">
                <a:tc>
                  <a:txBody>
                    <a:bodyPr/>
                    <a:lstStyle/>
                    <a:p>
                      <a:pPr/>
                      <a:r>
                        <a:rPr lang="en-US" sz="1350" b="0">
                          <a:solidFill>
                            <a:schemeClr val="dk1"/>
                          </a:solidFill>
                          <a:latin typeface="Arial"/>
                          <a:ea typeface="Microsoft YaHei"/>
                          <a:cs typeface="Arial"/>
                        </a:rPr>
                        <a:t>Evaluation</a:t>
                      </a:r>
                    </a:p>
                  </a:txBody>
                  <a:tcPr anchor="ctr" marL="152400" marR="152400" marT="76200" marB="76200">
                    <a:lnL>
                      <a:noFill/>
                    </a:lnL>
                    <a:lnR>
                      <a:noFill/>
                    </a:lnR>
                    <a:lnT>
                      <a:noFill/>
                    </a:lnT>
                    <a:lnB w="9525">
                      <a:solidFill>
                        <a:schemeClr val="accent6"/>
                      </a:solidFill>
                      <a:prstDash val="solid"/>
                    </a:lnB>
                    <a:noFill/>
                  </a:tcPr>
                </a:tc>
                <a:tc>
                  <a:txBody>
                    <a:bodyPr/>
                    <a:lstStyle/>
                    <a:p>
                      <a:pPr/>
                      <a:r>
                        <a:rPr lang="en-US" sz="1350" b="0">
                          <a:solidFill>
                            <a:schemeClr val="dk1"/>
                          </a:solidFill>
                          <a:latin typeface="Arial"/>
                          <a:ea typeface="Microsoft YaHei"/>
                          <a:cs typeface="Arial"/>
                        </a:rPr>
                        <a:t>Basis · Ramp / Ryan · Vals</a:t>
                      </a:r>
                    </a:p>
                  </a:txBody>
                  <a:tcPr anchor="ctr" marL="152400" marR="152400" marT="76200" marB="76200">
                    <a:lnL>
                      <a:noFill/>
                    </a:lnL>
                    <a:lnR>
                      <a:noFill/>
                    </a:lnR>
                    <a:lnT>
                      <a:noFill/>
                    </a:lnT>
                    <a:lnB w="9525">
                      <a:solidFill>
                        <a:schemeClr val="accent6"/>
                      </a:solidFill>
                      <a:prstDash val="solid"/>
                    </a:lnB>
                    <a:noFill/>
                  </a:tcPr>
                </a:tc>
                <a:tc>
                  <a:txBody>
                    <a:bodyPr/>
                    <a:lstStyle/>
                    <a:p>
                      <a:pPr/>
                      <a:r>
                        <a:rPr lang="en-US" sz="1350" b="0">
                          <a:solidFill>
                            <a:schemeClr val="dk1"/>
                          </a:solidFill>
                          <a:latin typeface="Arial"/>
                          <a:ea typeface="Microsoft YaHei"/>
                          <a:cs typeface="Arial"/>
                        </a:rPr>
                        <a:t>Behavior specs; roll-forward worlds; accepted work.</a:t>
                      </a:r>
                    </a:p>
                  </a:txBody>
                  <a:tcPr anchor="ctr" marL="152400" marR="152400" marT="76200" marB="76200">
                    <a:lnL>
                      <a:noFill/>
                    </a:lnL>
                    <a:lnR>
                      <a:noFill/>
                    </a:lnR>
                    <a:lnT>
                      <a:noFill/>
                    </a:lnT>
                    <a:lnB w="9525">
                      <a:solidFill>
                        <a:schemeClr val="accent6"/>
                      </a:solidFill>
                      <a:prstDash val="solid"/>
                    </a:lnB>
                    <a:noFill/>
                  </a:tcPr>
                </a:tc>
              </a:tr>
              <a:tr h="666750">
                <a:tc>
                  <a:txBody>
                    <a:bodyPr/>
                    <a:lstStyle/>
                    <a:p>
                      <a:pPr/>
                      <a:r>
                        <a:rPr lang="en-US" sz="1350" b="0">
                          <a:solidFill>
                            <a:schemeClr val="dk1"/>
                          </a:solidFill>
                          <a:latin typeface="Arial"/>
                          <a:ea typeface="Microsoft YaHei"/>
                          <a:cs typeface="Arial"/>
                        </a:rPr>
                        <a:t>Authority / platform</a:t>
                      </a:r>
                    </a:p>
                  </a:txBody>
                  <a:tcPr anchor="ctr" marL="152400" marR="152400" marT="76200" marB="76200">
                    <a:lnL>
                      <a:noFill/>
                    </a:lnL>
                    <a:lnR>
                      <a:noFill/>
                    </a:lnR>
                    <a:lnT>
                      <a:noFill/>
                    </a:lnT>
                    <a:lnB w="9525">
                      <a:solidFill>
                        <a:schemeClr val="accent6"/>
                      </a:solidFill>
                      <a:prstDash val="solid"/>
                    </a:lnB>
                    <a:noFill/>
                  </a:tcPr>
                </a:tc>
                <a:tc>
                  <a:txBody>
                    <a:bodyPr/>
                    <a:lstStyle/>
                    <a:p>
                      <a:pPr/>
                      <a:r>
                        <a:rPr lang="en-US" sz="1350" b="0">
                          <a:solidFill>
                            <a:schemeClr val="dk1"/>
                          </a:solidFill>
                          <a:latin typeface="Arial"/>
                          <a:ea typeface="Microsoft YaHei"/>
                          <a:cs typeface="Arial"/>
                        </a:rPr>
                        <a:t>Two Sigma · Bloomberg · Credit Karma</a:t>
                      </a:r>
                    </a:p>
                  </a:txBody>
                  <a:tcPr anchor="ctr" marL="152400" marR="152400" marT="76200" marB="76200">
                    <a:lnL>
                      <a:noFill/>
                    </a:lnL>
                    <a:lnR>
                      <a:noFill/>
                    </a:lnR>
                    <a:lnT>
                      <a:noFill/>
                    </a:lnT>
                    <a:lnB w="9525">
                      <a:solidFill>
                        <a:schemeClr val="accent6"/>
                      </a:solidFill>
                      <a:prstDash val="solid"/>
                    </a:lnB>
                    <a:noFill/>
                  </a:tcPr>
                </a:tc>
                <a:tc>
                  <a:txBody>
                    <a:bodyPr/>
                    <a:lstStyle/>
                    <a:p>
                      <a:pPr/>
                      <a:r>
                        <a:rPr lang="en-US" sz="1350" b="0">
                          <a:solidFill>
                            <a:schemeClr val="dk1"/>
                          </a:solidFill>
                          <a:latin typeface="Arial"/>
                          <a:ea typeface="Microsoft YaHei"/>
                          <a:cs typeface="Arial"/>
                        </a:rPr>
                        <a:t>Identity, scope, runtime checks, state and traces.</a:t>
                      </a:r>
                    </a:p>
                  </a:txBody>
                  <a:tcPr anchor="ctr" marL="152400" marR="152400" marT="76200" marB="76200">
                    <a:lnL>
                      <a:noFill/>
                    </a:lnL>
                    <a:lnR>
                      <a:noFill/>
                    </a:lnR>
                    <a:lnT>
                      <a:noFill/>
                    </a:lnT>
                    <a:lnB w="9525">
                      <a:solidFill>
                        <a:schemeClr val="accent6"/>
                      </a:solidFill>
                      <a:prstDash val="solid"/>
                    </a:lnB>
                    <a:noFill/>
                  </a:tcPr>
                </a:tc>
              </a:tr>
              <a:tr h="666750">
                <a:tc>
                  <a:txBody>
                    <a:bodyPr/>
                    <a:lstStyle/>
                    <a:p>
                      <a:pPr/>
                      <a:r>
                        <a:rPr lang="en-US" sz="1350" b="0">
                          <a:solidFill>
                            <a:schemeClr val="dk1"/>
                          </a:solidFill>
                          <a:latin typeface="Arial"/>
                          <a:ea typeface="Microsoft YaHei"/>
                          <a:cs typeface="Arial"/>
                        </a:rPr>
                        <a:t>Engineering growth</a:t>
                      </a:r>
                    </a:p>
                  </a:txBody>
                  <a:tcPr anchor="ctr" marL="152400" marR="152400" marT="76200" marB="76200">
                    <a:lnL>
                      <a:noFill/>
                    </a:lnL>
                    <a:lnR>
                      <a:noFill/>
                    </a:lnR>
                    <a:lnT>
                      <a:noFill/>
                    </a:lnT>
                    <a:lnB w="9525">
                      <a:solidFill>
                        <a:schemeClr val="accent6"/>
                      </a:solidFill>
                      <a:prstDash val="solid"/>
                    </a:lnB>
                    <a:noFill/>
                  </a:tcPr>
                </a:tc>
                <a:tc>
                  <a:txBody>
                    <a:bodyPr/>
                    <a:lstStyle/>
                    <a:p>
                      <a:pPr/>
                      <a:r>
                        <a:rPr lang="en-US" sz="1350" b="0">
                          <a:solidFill>
                            <a:schemeClr val="dk1"/>
                          </a:solidFill>
                          <a:latin typeface="Arial"/>
                          <a:ea typeface="Microsoft YaHei"/>
                          <a:cs typeface="Arial"/>
                        </a:rPr>
                        <a:t>Arize · Sonar · Capital One · Monzo</a:t>
                      </a:r>
                    </a:p>
                  </a:txBody>
                  <a:tcPr anchor="ctr" marL="152400" marR="152400" marT="76200" marB="76200">
                    <a:lnL>
                      <a:noFill/>
                    </a:lnL>
                    <a:lnR>
                      <a:noFill/>
                    </a:lnR>
                    <a:lnT>
                      <a:noFill/>
                    </a:lnT>
                    <a:lnB w="9525">
                      <a:solidFill>
                        <a:schemeClr val="accent6"/>
                      </a:solidFill>
                      <a:prstDash val="solid"/>
                    </a:lnB>
                    <a:noFill/>
                  </a:tcPr>
                </a:tc>
                <a:tc>
                  <a:txBody>
                    <a:bodyPr/>
                    <a:lstStyle/>
                    <a:p>
                      <a:pPr/>
                      <a:r>
                        <a:rPr lang="en-US" sz="1350" b="0">
                          <a:solidFill>
                            <a:schemeClr val="dk1"/>
                          </a:solidFill>
                          <a:latin typeface="Arial"/>
                          <a:ea typeface="Microsoft YaHei"/>
                          <a:cs typeface="Arial"/>
                        </a:rPr>
                        <a:t>Durable learning; cheap checks; supported delivery.</a:t>
                      </a:r>
                    </a:p>
                  </a:txBody>
                  <a:tcPr anchor="ctr" marL="152400" marR="152400" marT="76200" marB="76200">
                    <a:lnL>
                      <a:noFill/>
                    </a:lnL>
                    <a:lnR>
                      <a:noFill/>
                    </a:lnR>
                    <a:lnT>
                      <a:noFill/>
                    </a:lnT>
                    <a:lnB w="9525">
                      <a:solidFill>
                        <a:schemeClr val="accent6"/>
                      </a:solidFill>
                      <a:prstDash val="solid"/>
                    </a:lnB>
                    <a:noFill/>
                  </a:tcPr>
                </a:tc>
              </a:tr>
            </a:tbl>
          </a:graphicData>
        </a:graphic>
      </p:graphicFrame>
      <p:grpSp>
        <p:nvGrpSpPr>
          <p:cNvPr id="8" name="case-boundary"/>
          <p:cNvGrpSpPr/>
          <p:nvPr/>
        </p:nvGrpSpPr>
        <p:grpSpPr>
          <a:xfrm>
            <a:off x="450342" y="5842000"/>
            <a:ext cx="9600308" cy="492633"/>
            <a:chOff x="450342" y="5842000"/>
            <a:chExt cx="9600308" cy="492633"/>
          </a:xfrm>
        </p:grpSpPr>
        <p:sp>
          <p:nvSpPr>
            <p:cNvPr id="7" name="TextBox 7"/>
            <p:cNvSpPr txBox="1"/>
            <p:nvPr/>
          </p:nvSpPr>
          <p:spPr>
            <a:xfrm>
              <a:off x="450342" y="5842000"/>
              <a:ext cx="9600308" cy="492633"/>
            </a:xfrm>
            <a:prstGeom prst="rect">
              <a:avLst/>
            </a:prstGeom>
            <a:noFill/>
            <a:ln>
              <a:noFill/>
            </a:ln>
          </p:spPr>
          <p:txBody>
            <a:bodyPr wrap="none" lIns="0" tIns="0" rIns="0" bIns="0" anchor="t" anchorCtr="0">
              <a:spAutoFit/>
            </a:bodyPr>
            <a:lstStyle/>
            <a:p>
              <a:pPr algn="l">
                <a:lnSpc>
                  <a:spcPts val="1800"/>
                </a:lnSpc>
              </a:pPr>
              <a:r>
                <a:rPr lang="en-US" sz="1350" dirty="0">
                  <a:solidFill>
                    <a:schemeClr val="accent5"/>
                  </a:solidFill>
                  <a:latin typeface="+mn-lt"/>
                  <a:ea typeface="+mn-ea"/>
                  <a:cs typeface="+mn-cs"/>
                </a:rPr>
                <a:t>The HTML reading atlas and recording supplement preserve 37 briefs, timestamp links, source classes and limits. Mechanism,</a:t>
              </a:r>
              <a:br>
                <a:rPr lang="en-US" sz="1350" dirty="0">
                  <a:solidFill>
                    <a:schemeClr val="accent5"/>
                  </a:solidFill>
                  <a:latin typeface="+mn-lt"/>
                  <a:ea typeface="+mn-ea"/>
                  <a:cs typeface="+mn-cs"/>
                </a:rPr>
              </a:br>
              <a:r>
                <a:rPr lang="en-US" sz="1350" dirty="0">
                  <a:solidFill>
                    <a:schemeClr val="accent5"/>
                  </a:solidFill>
                  <a:latin typeface="+mn-lt"/>
                  <a:ea typeface="+mn-ea"/>
                  <a:cs typeface="+mn-cs"/>
                </a:rPr>
                <a:t>adoption and measured effectiveness remain distinct.</a:t>
              </a:r>
            </a:p>
          </p:txBody>
        </p:sp>
      </p:grpSp>
      <p:grpSp>
        <p:nvGrpSpPr>
          <p:cNvPr id="11" name="footer"/>
          <p:cNvGrpSpPr/>
          <p:nvPr/>
        </p:nvGrpSpPr>
        <p:grpSpPr>
          <a:xfrm>
            <a:off x="452438" y="6477000"/>
            <a:ext cx="11287124" cy="176212"/>
            <a:chOff x="452438" y="6477000"/>
            <a:chExt cx="11287124" cy="176212"/>
          </a:xfrm>
        </p:grpSpPr>
        <p:sp>
          <p:nvSpPr>
            <p:cNvPr id="9" name="TextBox 9"/>
            <p:cNvSpPr txBox="1"/>
            <p:nvPr/>
          </p:nvSpPr>
          <p:spPr>
            <a:xfrm>
              <a:off x="452438" y="6477000"/>
              <a:ext cx="6623372" cy="176212"/>
            </a:xfrm>
            <a:prstGeom prst="rect">
              <a:avLst/>
            </a:prstGeom>
            <a:noFill/>
            <a:ln>
              <a:noFill/>
            </a:ln>
          </p:spPr>
          <p:txBody>
            <a:bodyPr wrap="none" lIns="0" tIns="0" rIns="0" bIns="0" anchor="t" anchorCtr="0">
              <a:spAutoFit/>
            </a:bodyPr>
            <a:lstStyle/>
            <a:p>
              <a:pPr algn="l"/>
              <a:r>
                <a:rPr lang="en-US" sz="900" dirty="0">
                  <a:solidFill>
                    <a:schemeClr val="accent5"/>
                  </a:solidFill>
                  <a:latin typeface="+mn-lt"/>
                  <a:ea typeface="+mn-ea"/>
                  <a:cs typeface="+mn-cs"/>
                </a:rPr>
                <a:t>Sources: AIE NYC recordings, original notes, primary written follow-up and dated disclosures | Reviewed October 25, 2026</a:t>
              </a:r>
            </a:p>
          </p:txBody>
        </p:sp>
        <p:sp>
          <p:nvSpPr>
            <p:cNvPr id="10" name="TextBox 10"/>
            <p:cNvSpPr txBox="1"/>
            <p:nvPr/>
          </p:nvSpPr>
          <p:spPr>
            <a:xfrm>
              <a:off x="11359512" y="6477000"/>
              <a:ext cx="380050" cy="176212"/>
            </a:xfrm>
            <a:prstGeom prst="rect">
              <a:avLst/>
            </a:prstGeom>
            <a:noFill/>
            <a:ln>
              <a:noFill/>
            </a:ln>
          </p:spPr>
          <p:txBody>
            <a:bodyPr wrap="none" lIns="0" tIns="0" rIns="0" bIns="0" anchor="t" anchorCtr="0">
              <a:spAutoFit/>
            </a:bodyPr>
            <a:lstStyle/>
            <a:p>
              <a:pPr algn="r"/>
              <a:r>
                <a:rPr lang="en-US" sz="900" dirty="0">
                  <a:solidFill>
                    <a:schemeClr val="accent5"/>
                  </a:solidFill>
                  <a:latin typeface="+mn-lt"/>
                  <a:ea typeface="+mn-ea"/>
                  <a:cs typeface="+mn-cs"/>
                </a:rPr>
                <a:t>31 / 37</a:t>
              </a:r>
            </a:p>
          </p:txBody>
        </p:sp>
      </p:grpSp>
    </p:spTree>
  </p:cSld>
  <p:clrMapOvr>
    <a:masterClrMapping/>
  </p:clrMapOvr>
  <p:transition xmlns:p14="http://schemas.microsoft.com/office/powerpoint/2010/main" p14:dur="400">
    <p:fade/>
  </p:transition>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5" name="title"/>
          <p:cNvGrpSpPr/>
          <p:nvPr/>
        </p:nvGrpSpPr>
        <p:grpSpPr>
          <a:xfrm>
            <a:off x="443484" y="371475"/>
            <a:ext cx="8524995" cy="1110107"/>
            <a:chOff x="443484" y="371475"/>
            <a:chExt cx="8524995" cy="1110107"/>
          </a:xfrm>
        </p:grpSpPr>
        <p:sp>
          <p:nvSpPr>
            <p:cNvPr id="2" name="TextBox 2"/>
            <p:cNvSpPr txBox="1"/>
            <p:nvPr/>
          </p:nvSpPr>
          <p:spPr>
            <a:xfrm>
              <a:off x="451104" y="371475"/>
              <a:ext cx="4355963" cy="234696"/>
            </a:xfrm>
            <a:prstGeom prst="rect">
              <a:avLst/>
            </a:prstGeom>
            <a:noFill/>
            <a:ln>
              <a:noFill/>
            </a:ln>
          </p:spPr>
          <p:txBody>
            <a:bodyPr wrap="none" lIns="0" tIns="0" rIns="0" bIns="0" anchor="t" anchorCtr="0">
              <a:spAutoFit/>
            </a:bodyPr>
            <a:lstStyle/>
            <a:p>
              <a:pPr algn="l"/>
              <a:r>
                <a:rPr lang="en-US" sz="1200" dirty="0">
                  <a:solidFill>
                    <a:schemeClr val="accent2"/>
                  </a:solidFill>
                  <a:latin typeface="+mn-lt"/>
                  <a:ea typeface="+mn-ea"/>
                  <a:cs typeface="+mn-cs"/>
                </a:rPr>
                <a:t>APPENDIX / COMPACT EVALUATION SPECIFICATION</a:t>
              </a:r>
            </a:p>
          </p:txBody>
        </p:sp>
        <p:sp>
          <p:nvSpPr>
            <p:cNvPr id="3" name="TextBox 3"/>
            <p:cNvSpPr txBox="1"/>
            <p:nvPr/>
          </p:nvSpPr>
          <p:spPr>
            <a:xfrm>
              <a:off x="443484" y="603250"/>
              <a:ext cx="8103723" cy="528066"/>
            </a:xfrm>
            <a:prstGeom prst="rect">
              <a:avLst/>
            </a:prstGeom>
            <a:noFill/>
            <a:ln>
              <a:noFill/>
            </a:ln>
          </p:spPr>
          <p:txBody>
            <a:bodyPr wrap="none" lIns="0" tIns="0" rIns="0" bIns="0" anchor="t" anchorCtr="0">
              <a:spAutoFit/>
            </a:bodyPr>
            <a:lstStyle/>
            <a:p>
              <a:pPr algn="l"/>
              <a:r>
                <a:rPr lang="en-US" sz="2700" dirty="0">
                  <a:solidFill>
                    <a:schemeClr val="accent1"/>
                  </a:solidFill>
                  <a:latin typeface="+mj-lt"/>
                  <a:ea typeface="+mj-ea"/>
                  <a:cs typeface="+mj-cs"/>
                </a:rPr>
                <a:t>Version the evaluation contract with the decision</a:t>
              </a:r>
            </a:p>
          </p:txBody>
        </p:sp>
        <p:sp>
          <p:nvSpPr>
            <p:cNvPr id="4" name="TextBox 4"/>
            <p:cNvSpPr txBox="1"/>
            <p:nvPr/>
          </p:nvSpPr>
          <p:spPr>
            <a:xfrm>
              <a:off x="448818" y="1158875"/>
              <a:ext cx="8519661" cy="322707"/>
            </a:xfrm>
            <a:prstGeom prst="rect">
              <a:avLst/>
            </a:prstGeom>
            <a:noFill/>
            <a:ln>
              <a:noFill/>
            </a:ln>
          </p:spPr>
          <p:txBody>
            <a:bodyPr wrap="none" lIns="0" tIns="0" rIns="0" bIns="0" anchor="t" anchorCtr="0">
              <a:spAutoFit/>
            </a:bodyPr>
            <a:lstStyle/>
            <a:p>
              <a:pPr algn="l"/>
              <a:r>
                <a:rPr lang="en-US" sz="1650" dirty="0">
                  <a:solidFill>
                    <a:schemeClr val="accent1"/>
                  </a:solidFill>
                  <a:latin typeface="+mn-lt"/>
                  <a:ea typeface="+mn-ea"/>
                  <a:cs typeface="+mn-cs"/>
                </a:rPr>
                <a:t>A judge or rubric change can alter reported quality even when the agent is unchanged.</a:t>
              </a:r>
            </a:p>
          </p:txBody>
        </p:sp>
      </p:grpSp>
      <p:grpSp>
        <p:nvGrpSpPr>
          <p:cNvPr id="9" name="illustrative-schema"/>
          <p:cNvGrpSpPr/>
          <p:nvPr/>
        </p:nvGrpSpPr>
        <p:grpSpPr>
          <a:xfrm>
            <a:off x="457200" y="1752600"/>
            <a:ext cx="5334000" cy="4286250"/>
            <a:chOff x="457200" y="1752600"/>
            <a:chExt cx="5334000" cy="4286250"/>
          </a:xfrm>
        </p:grpSpPr>
        <p:sp>
          <p:nvSpPr>
            <p:cNvPr id="6" name="Rectangle 6"/>
            <p:cNvSpPr/>
            <p:nvPr/>
          </p:nvSpPr>
          <p:spPr>
            <a:xfrm>
              <a:off x="457200" y="1752600"/>
              <a:ext cx="5334000" cy="4286250"/>
            </a:xfrm>
            <a:prstGeom prst="rect">
              <a:avLst/>
            </a:prstGeom>
            <a:solidFill>
              <a:schemeClr val="accent1"/>
            </a:solidFill>
            <a:ln>
              <a:noFill/>
            </a:ln>
          </p:spPr>
        </p:sp>
        <p:sp>
          <p:nvSpPr>
            <p:cNvPr id="7" name="TextBox 7"/>
            <p:cNvSpPr txBox="1"/>
            <p:nvPr/>
          </p:nvSpPr>
          <p:spPr>
            <a:xfrm>
              <a:off x="679704" y="1962150"/>
              <a:ext cx="4801629" cy="234696"/>
            </a:xfrm>
            <a:prstGeom prst="rect">
              <a:avLst/>
            </a:prstGeom>
            <a:noFill/>
            <a:ln>
              <a:noFill/>
            </a:ln>
          </p:spPr>
          <p:txBody>
            <a:bodyPr wrap="none" lIns="0" tIns="0" rIns="0" bIns="0" anchor="t" anchorCtr="0">
              <a:spAutoFit/>
            </a:bodyPr>
            <a:lstStyle/>
            <a:p>
              <a:pPr algn="l"/>
              <a:r>
                <a:rPr lang="en-US" sz="1200" dirty="0">
                  <a:solidFill>
                    <a:schemeClr val="accent3"/>
                  </a:solidFill>
                  <a:latin typeface="+mn-lt"/>
                  <a:ea typeface="+mn-ea"/>
                  <a:cs typeface="+mn-cs"/>
                </a:rPr>
                <a:t>ILLUSTRATIVE SCHEMA / NOT A RUNNABLE FRAMEWORK</a:t>
              </a:r>
            </a:p>
          </p:txBody>
        </p:sp>
        <p:sp>
          <p:nvSpPr>
            <p:cNvPr id="8" name="TextBox 8"/>
            <p:cNvSpPr txBox="1"/>
            <p:nvPr/>
          </p:nvSpPr>
          <p:spPr>
            <a:xfrm>
              <a:off x="679704" y="2425700"/>
              <a:ext cx="3784092" cy="2768346"/>
            </a:xfrm>
            <a:prstGeom prst="rect">
              <a:avLst/>
            </a:prstGeom>
            <a:noFill/>
            <a:ln>
              <a:noFill/>
            </a:ln>
          </p:spPr>
          <p:txBody>
            <a:bodyPr wrap="none" lIns="0" tIns="0" rIns="0" bIns="0" anchor="t" anchorCtr="0">
              <a:spAutoFit/>
            </a:bodyPr>
            <a:lstStyle/>
            <a:p>
              <a:pPr algn="l">
                <a:lnSpc>
                  <a:spcPts val="2100"/>
                </a:lnSpc>
              </a:pPr>
              <a:r>
                <a:rPr lang="en-US" sz="1200" dirty="0">
                  <a:solidFill>
                    <a:srgbClr val="FFFDF7"/>
                  </a:solidFill>
                  <a:latin typeface="Consolas"/>
                  <a:ea typeface="Consolas"/>
                  <a:cs typeface="Consolas"/>
                </a:rPr>
                <a:t>task: draft_review_packet</a:t>
              </a:r>
            </a:p>
            <a:p>
              <a:pPr algn="l">
                <a:lnSpc>
                  <a:spcPts val="2100"/>
                </a:lnSpc>
                <a:spcBef>
                  <a:spcPts val="450"/>
                </a:spcBef>
              </a:pPr>
              <a:r>
                <a:rPr lang="en-US" sz="1200" dirty="0">
                  <a:solidFill>
                    <a:srgbClr val="FFFDF7"/>
                  </a:solidFill>
                  <a:latin typeface="Consolas"/>
                  <a:ea typeface="Consolas"/>
                  <a:cs typeface="Consolas"/>
                </a:rPr>
                <a:t>snapshot: approved_inputs_v1</a:t>
              </a:r>
            </a:p>
            <a:p>
              <a:pPr algn="l">
                <a:lnSpc>
                  <a:spcPts val="2100"/>
                </a:lnSpc>
                <a:spcBef>
                  <a:spcPts val="450"/>
                </a:spcBef>
              </a:pPr>
              <a:r>
                <a:rPr lang="en-US" sz="1200" dirty="0">
                  <a:solidFill>
                    <a:srgbClr val="FFFDF7"/>
                  </a:solidFill>
                  <a:latin typeface="Consolas"/>
                  <a:ea typeface="Consolas"/>
                  <a:cs typeface="Consolas"/>
                </a:rPr>
                <a:t>acceptance: reviewed_complete_output</a:t>
              </a:r>
            </a:p>
            <a:p>
              <a:pPr algn="l">
                <a:lnSpc>
                  <a:spcPts val="2100"/>
                </a:lnSpc>
                <a:spcBef>
                  <a:spcPts val="450"/>
                </a:spcBef>
              </a:pPr>
              <a:r>
                <a:rPr lang="en-US" sz="1200" dirty="0">
                  <a:solidFill>
                    <a:srgbClr val="FFFDF7"/>
                  </a:solidFill>
                  <a:latin typeface="Consolas"/>
                  <a:ea typeface="Consolas"/>
                  <a:cs typeface="Consolas"/>
                </a:rPr>
                <a:t>critical: unauthorized_access,</a:t>
              </a:r>
              <a:br>
                <a:rPr lang="en-US" sz="1200" dirty="0">
                  <a:solidFill>
                    <a:srgbClr val="FFFDF7"/>
                  </a:solidFill>
                  <a:latin typeface="Consolas"/>
                  <a:ea typeface="Consolas"/>
                  <a:cs typeface="Consolas"/>
                </a:rPr>
              </a:br>
              <a:r>
                <a:rPr lang="en-US" sz="1200" dirty="0">
                  <a:solidFill>
                    <a:srgbClr val="FFFDF7"/>
                  </a:solidFill>
                  <a:latin typeface="Consolas"/>
                  <a:ea typeface="Consolas"/>
                  <a:cs typeface="Consolas"/>
                </a:rPr>
                <a:t>unsupported_number</a:t>
              </a:r>
            </a:p>
            <a:p>
              <a:pPr algn="l">
                <a:lnSpc>
                  <a:spcPts val="2100"/>
                </a:lnSpc>
                <a:spcBef>
                  <a:spcPts val="450"/>
                </a:spcBef>
              </a:pPr>
              <a:r>
                <a:rPr lang="en-US" sz="1200" dirty="0">
                  <a:solidFill>
                    <a:srgbClr val="FFFDF7"/>
                  </a:solidFill>
                  <a:latin typeface="Consolas"/>
                  <a:ea typeface="Consolas"/>
                  <a:cs typeface="Consolas"/>
                </a:rPr>
                <a:t>cases: common, missing, difficult, regression</a:t>
              </a:r>
            </a:p>
            <a:p>
              <a:pPr algn="l">
                <a:lnSpc>
                  <a:spcPts val="2100"/>
                </a:lnSpc>
                <a:spcBef>
                  <a:spcPts val="450"/>
                </a:spcBef>
              </a:pPr>
              <a:r>
                <a:rPr lang="en-US" sz="1200" dirty="0">
                  <a:solidFill>
                    <a:srgbClr val="FFFDF7"/>
                  </a:solidFill>
                  <a:latin typeface="Consolas"/>
                  <a:ea typeface="Consolas"/>
                  <a:cs typeface="Consolas"/>
                </a:rPr>
                <a:t>judge: model + rubric + threshold + version</a:t>
              </a:r>
            </a:p>
            <a:p>
              <a:pPr algn="l">
                <a:lnSpc>
                  <a:spcPts val="2100"/>
                </a:lnSpc>
                <a:spcBef>
                  <a:spcPts val="450"/>
                </a:spcBef>
              </a:pPr>
              <a:r>
                <a:rPr lang="en-US" sz="1200" dirty="0">
                  <a:solidFill>
                    <a:srgbClr val="FFFDF7"/>
                  </a:solidFill>
                  <a:latin typeface="Consolas"/>
                  <a:ea typeface="Consolas"/>
                  <a:cs typeface="Consolas"/>
                </a:rPr>
                <a:t>compare: baseline_vs_candidate</a:t>
              </a:r>
            </a:p>
            <a:p>
              <a:pPr algn="l">
                <a:lnSpc>
                  <a:spcPts val="2100"/>
                </a:lnSpc>
                <a:spcBef>
                  <a:spcPts val="450"/>
                </a:spcBef>
              </a:pPr>
              <a:r>
                <a:rPr lang="en-US" sz="1200" dirty="0">
                  <a:solidFill>
                    <a:srgbClr val="FFFDF7"/>
                  </a:solidFill>
                  <a:latin typeface="Consolas"/>
                  <a:ea typeface="Consolas"/>
                  <a:cs typeface="Consolas"/>
                </a:rPr>
                <a:t>decision: accountable_owner</a:t>
              </a:r>
            </a:p>
          </p:txBody>
        </p:sp>
      </p:grpSp>
      <p:grpSp>
        <p:nvGrpSpPr>
          <p:cNvPr id="12" name="permitted-completion"/>
          <p:cNvGrpSpPr/>
          <p:nvPr/>
        </p:nvGrpSpPr>
        <p:grpSpPr>
          <a:xfrm>
            <a:off x="6086856" y="1838325"/>
            <a:ext cx="4675784" cy="985520"/>
            <a:chOff x="6086856" y="1838325"/>
            <a:chExt cx="4675784" cy="985520"/>
          </a:xfrm>
        </p:grpSpPr>
        <p:sp>
          <p:nvSpPr>
            <p:cNvPr id="10" name="TextBox 10"/>
            <p:cNvSpPr txBox="1"/>
            <p:nvPr/>
          </p:nvSpPr>
          <p:spPr>
            <a:xfrm>
              <a:off x="6086856" y="1838325"/>
              <a:ext cx="3610922" cy="352044"/>
            </a:xfrm>
            <a:prstGeom prst="rect">
              <a:avLst/>
            </a:prstGeom>
            <a:noFill/>
            <a:ln>
              <a:noFill/>
            </a:ln>
          </p:spPr>
          <p:txBody>
            <a:bodyPr wrap="none" lIns="0" tIns="0" rIns="0" bIns="0" anchor="t" anchorCtr="0">
              <a:spAutoFit/>
            </a:bodyPr>
            <a:lstStyle/>
            <a:p>
              <a:pPr algn="l"/>
              <a:r>
                <a:rPr lang="en-US" sz="1800" dirty="0">
                  <a:solidFill>
                    <a:schemeClr val="accent2"/>
                  </a:solidFill>
                  <a:latin typeface="+mj-lt"/>
                  <a:ea typeface="+mj-ea"/>
                  <a:cs typeface="+mj-cs"/>
                </a:rPr>
                <a:t>Define the permitted completion</a:t>
              </a:r>
            </a:p>
          </p:txBody>
        </p:sp>
        <p:sp>
          <p:nvSpPr>
            <p:cNvPr id="11" name="TextBox 11"/>
            <p:cNvSpPr txBox="1"/>
            <p:nvPr/>
          </p:nvSpPr>
          <p:spPr>
            <a:xfrm>
              <a:off x="6088380" y="2263775"/>
              <a:ext cx="4674260" cy="560070"/>
            </a:xfrm>
            <a:prstGeom prst="rect">
              <a:avLst/>
            </a:prstGeom>
            <a:noFill/>
            <a:ln>
              <a:noFill/>
            </a:ln>
          </p:spPr>
          <p:txBody>
            <a:bodyPr wrap="none" lIns="0" tIns="0" rIns="0" bIns="0" anchor="t" anchorCtr="0">
              <a:spAutoFit/>
            </a:bodyPr>
            <a:lstStyle/>
            <a:p>
              <a:pPr algn="l">
                <a:lnSpc>
                  <a:spcPts val="2100"/>
                </a:lnSpc>
              </a:pPr>
              <a:r>
                <a:rPr lang="en-US" sz="1500" dirty="0">
                  <a:solidFill>
                    <a:schemeClr val="dk1"/>
                  </a:solidFill>
                  <a:latin typeface="+mn-lt"/>
                  <a:ea typeface="+mn-ea"/>
                  <a:cs typeface="+mn-cs"/>
                </a:rPr>
                <a:t>Outputs, action limits and clarification/abstention.</a:t>
              </a:r>
              <a:br>
                <a:rPr lang="en-US" sz="1500" dirty="0">
                  <a:solidFill>
                    <a:schemeClr val="dk1"/>
                  </a:solidFill>
                  <a:latin typeface="+mn-lt"/>
                  <a:ea typeface="+mn-ea"/>
                  <a:cs typeface="+mn-cs"/>
                </a:rPr>
              </a:br>
              <a:r>
                <a:rPr lang="en-US" sz="1500" dirty="0">
                  <a:solidFill>
                    <a:schemeClr val="dk1"/>
                  </a:solidFill>
                  <a:latin typeface="+mn-lt"/>
                  <a:ea typeface="+mn-ea"/>
                  <a:cs typeface="+mn-cs"/>
                </a:rPr>
                <a:t>Unauthorized access fails; correct refusal can succeed.</a:t>
              </a:r>
            </a:p>
          </p:txBody>
        </p:sp>
      </p:grpSp>
      <p:grpSp>
        <p:nvGrpSpPr>
          <p:cNvPr id="16" name="version-evaluator"/>
          <p:cNvGrpSpPr/>
          <p:nvPr/>
        </p:nvGrpSpPr>
        <p:grpSpPr>
          <a:xfrm>
            <a:off x="6086856" y="3248025"/>
            <a:ext cx="5647944" cy="1090295"/>
            <a:chOff x="6086856" y="3248025"/>
            <a:chExt cx="5647944" cy="1090295"/>
          </a:xfrm>
        </p:grpSpPr>
        <p:sp>
          <p:nvSpPr>
            <p:cNvPr id="13" name="Line 13"/>
            <p:cNvSpPr/>
            <p:nvPr/>
          </p:nvSpPr>
          <p:spPr>
            <a:xfrm>
              <a:off x="6096000" y="3248025"/>
              <a:ext cx="5638800" cy="9525"/>
            </a:xfrm>
            <a:custGeom>
              <a:avLst/>
              <a:gdLst/>
              <a:ahLst/>
              <a:cxnLst/>
              <a:rect l="l" t="t" r="r" b="b"/>
              <a:pathLst>
                <a:path w="5638800" h="9525">
                  <a:moveTo>
                    <a:pt x="0" y="0"/>
                  </a:moveTo>
                  <a:lnTo>
                    <a:pt x="5638800" y="0"/>
                  </a:lnTo>
                </a:path>
              </a:pathLst>
            </a:custGeom>
            <a:noFill/>
            <a:ln w="9525">
              <a:solidFill>
                <a:schemeClr val="accent6"/>
              </a:solidFill>
            </a:ln>
          </p:spPr>
        </p:sp>
        <p:sp>
          <p:nvSpPr>
            <p:cNvPr id="14" name="TextBox 14"/>
            <p:cNvSpPr txBox="1"/>
            <p:nvPr/>
          </p:nvSpPr>
          <p:spPr>
            <a:xfrm>
              <a:off x="6086856" y="3352800"/>
              <a:ext cx="4647764" cy="352044"/>
            </a:xfrm>
            <a:prstGeom prst="rect">
              <a:avLst/>
            </a:prstGeom>
            <a:noFill/>
            <a:ln>
              <a:noFill/>
            </a:ln>
          </p:spPr>
          <p:txBody>
            <a:bodyPr wrap="none" lIns="0" tIns="0" rIns="0" bIns="0" anchor="t" anchorCtr="0">
              <a:spAutoFit/>
            </a:bodyPr>
            <a:lstStyle/>
            <a:p>
              <a:pPr algn="l"/>
              <a:r>
                <a:rPr lang="en-US" sz="1800" dirty="0">
                  <a:solidFill>
                    <a:schemeClr val="accent2"/>
                  </a:solidFill>
                  <a:latin typeface="+mj-lt"/>
                  <a:ea typeface="+mj-ea"/>
                  <a:cs typeface="+mj-cs"/>
                </a:rPr>
                <a:t>Version the evaluator, not only the system</a:t>
              </a:r>
            </a:p>
          </p:txBody>
        </p:sp>
        <p:sp>
          <p:nvSpPr>
            <p:cNvPr id="15" name="TextBox 15"/>
            <p:cNvSpPr txBox="1"/>
            <p:nvPr/>
          </p:nvSpPr>
          <p:spPr>
            <a:xfrm>
              <a:off x="6088380" y="3778250"/>
              <a:ext cx="5002949" cy="560070"/>
            </a:xfrm>
            <a:prstGeom prst="rect">
              <a:avLst/>
            </a:prstGeom>
            <a:noFill/>
            <a:ln>
              <a:noFill/>
            </a:ln>
          </p:spPr>
          <p:txBody>
            <a:bodyPr wrap="none" lIns="0" tIns="0" rIns="0" bIns="0" anchor="t" anchorCtr="0">
              <a:spAutoFit/>
            </a:bodyPr>
            <a:lstStyle/>
            <a:p>
              <a:pPr algn="l">
                <a:lnSpc>
                  <a:spcPts val="2100"/>
                </a:lnSpc>
              </a:pPr>
              <a:r>
                <a:rPr lang="en-US" sz="1500" dirty="0">
                  <a:solidFill>
                    <a:schemeClr val="dk1"/>
                  </a:solidFill>
                  <a:latin typeface="+mn-lt"/>
                  <a:ea typeface="+mn-ea"/>
                  <a:cs typeface="+mn-cs"/>
                </a:rPr>
                <a:t>Retain judge model, prompt, rubric and threshold.</a:t>
              </a:r>
              <a:br>
                <a:rPr lang="en-US" sz="1500" dirty="0">
                  <a:solidFill>
                    <a:schemeClr val="dk1"/>
                  </a:solidFill>
                  <a:latin typeface="+mn-lt"/>
                  <a:ea typeface="+mn-ea"/>
                  <a:cs typeface="+mn-cs"/>
                </a:rPr>
              </a:br>
              <a:r>
                <a:rPr lang="en-US" sz="1500" dirty="0">
                  <a:solidFill>
                    <a:schemeClr val="dk1"/>
                  </a:solidFill>
                  <a:latin typeface="+mn-lt"/>
                  <a:ea typeface="+mn-ea"/>
                  <a:cs typeface="+mn-cs"/>
                </a:rPr>
                <a:t>Recalibrate on reviewed cases when they or users change.</a:t>
              </a:r>
            </a:p>
          </p:txBody>
        </p:sp>
      </p:grpSp>
      <p:grpSp>
        <p:nvGrpSpPr>
          <p:cNvPr id="20" name="decision-specific-evidence"/>
          <p:cNvGrpSpPr/>
          <p:nvPr/>
        </p:nvGrpSpPr>
        <p:grpSpPr>
          <a:xfrm>
            <a:off x="6086856" y="4733925"/>
            <a:ext cx="5647944" cy="1356995"/>
            <a:chOff x="6086856" y="4733925"/>
            <a:chExt cx="5647944" cy="1356995"/>
          </a:xfrm>
        </p:grpSpPr>
        <p:sp>
          <p:nvSpPr>
            <p:cNvPr id="17" name="Line 17"/>
            <p:cNvSpPr/>
            <p:nvPr/>
          </p:nvSpPr>
          <p:spPr>
            <a:xfrm>
              <a:off x="6096000" y="4733925"/>
              <a:ext cx="5638800" cy="9525"/>
            </a:xfrm>
            <a:custGeom>
              <a:avLst/>
              <a:gdLst/>
              <a:ahLst/>
              <a:cxnLst/>
              <a:rect l="l" t="t" r="r" b="b"/>
              <a:pathLst>
                <a:path w="5638800" h="9525">
                  <a:moveTo>
                    <a:pt x="0" y="0"/>
                  </a:moveTo>
                  <a:lnTo>
                    <a:pt x="5638800" y="0"/>
                  </a:lnTo>
                </a:path>
              </a:pathLst>
            </a:custGeom>
            <a:noFill/>
            <a:ln w="9525">
              <a:solidFill>
                <a:schemeClr val="accent6"/>
              </a:solidFill>
            </a:ln>
          </p:spPr>
        </p:sp>
        <p:sp>
          <p:nvSpPr>
            <p:cNvPr id="18" name="TextBox 18"/>
            <p:cNvSpPr txBox="1"/>
            <p:nvPr/>
          </p:nvSpPr>
          <p:spPr>
            <a:xfrm>
              <a:off x="6086856" y="4838700"/>
              <a:ext cx="3471452" cy="352044"/>
            </a:xfrm>
            <a:prstGeom prst="rect">
              <a:avLst/>
            </a:prstGeom>
            <a:noFill/>
            <a:ln>
              <a:noFill/>
            </a:ln>
          </p:spPr>
          <p:txBody>
            <a:bodyPr wrap="none" lIns="0" tIns="0" rIns="0" bIns="0" anchor="t" anchorCtr="0">
              <a:spAutoFit/>
            </a:bodyPr>
            <a:lstStyle/>
            <a:p>
              <a:pPr algn="l"/>
              <a:r>
                <a:rPr lang="en-US" sz="1800" dirty="0">
                  <a:solidFill>
                    <a:schemeClr val="accent2"/>
                  </a:solidFill>
                  <a:latin typeface="+mj-lt"/>
                  <a:ea typeface="+mj-ea"/>
                  <a:cs typeface="+mj-cs"/>
                </a:rPr>
                <a:t>Select evidence for the decision</a:t>
              </a:r>
            </a:p>
          </p:txBody>
        </p:sp>
        <p:sp>
          <p:nvSpPr>
            <p:cNvPr id="19" name="TextBox 19"/>
            <p:cNvSpPr txBox="1"/>
            <p:nvPr/>
          </p:nvSpPr>
          <p:spPr>
            <a:xfrm>
              <a:off x="6088380" y="5264150"/>
              <a:ext cx="4865180" cy="826770"/>
            </a:xfrm>
            <a:prstGeom prst="rect">
              <a:avLst/>
            </a:prstGeom>
            <a:noFill/>
            <a:ln>
              <a:noFill/>
            </a:ln>
          </p:spPr>
          <p:txBody>
            <a:bodyPr wrap="none" lIns="0" tIns="0" rIns="0" bIns="0" anchor="t" anchorCtr="0">
              <a:spAutoFit/>
            </a:bodyPr>
            <a:lstStyle/>
            <a:p>
              <a:pPr algn="l">
                <a:lnSpc>
                  <a:spcPts val="2100"/>
                </a:lnSpc>
              </a:pPr>
              <a:r>
                <a:rPr lang="en-US" sz="1500" dirty="0">
                  <a:solidFill>
                    <a:schemeClr val="dk1"/>
                  </a:solidFill>
                  <a:latin typeface="+mn-lt"/>
                  <a:ea typeface="+mn-ea"/>
                  <a:cs typeface="+mn-cs"/>
                </a:rPr>
                <a:t>Model choice, less review and greater execution authority</a:t>
              </a:r>
              <a:br>
                <a:rPr lang="en-US" sz="1500" dirty="0">
                  <a:solidFill>
                    <a:schemeClr val="dk1"/>
                  </a:solidFill>
                  <a:latin typeface="+mn-lt"/>
                  <a:ea typeface="+mn-ea"/>
                  <a:cs typeface="+mn-cs"/>
                </a:rPr>
              </a:br>
              <a:r>
                <a:rPr lang="en-US" sz="1500" dirty="0">
                  <a:solidFill>
                    <a:schemeClr val="dk1"/>
                  </a:solidFill>
                  <a:latin typeface="+mn-lt"/>
                  <a:ea typeface="+mn-ea"/>
                  <a:cs typeface="+mn-cs"/>
                </a:rPr>
                <a:t>require different evidence. Finite tests support a scoped</a:t>
              </a:r>
              <a:br>
                <a:rPr lang="en-US" sz="1500" dirty="0">
                  <a:solidFill>
                    <a:schemeClr val="dk1"/>
                  </a:solidFill>
                  <a:latin typeface="+mn-lt"/>
                  <a:ea typeface="+mn-ea"/>
                  <a:cs typeface="+mn-cs"/>
                </a:rPr>
              </a:br>
              <a:r>
                <a:rPr lang="en-US" sz="1500" dirty="0">
                  <a:solidFill>
                    <a:schemeClr val="dk1"/>
                  </a:solidFill>
                  <a:latin typeface="+mn-lt"/>
                  <a:ea typeface="+mn-ea"/>
                  <a:cs typeface="+mn-cs"/>
                </a:rPr>
                <a:t>judgment with known limits, not proof of zero failure.</a:t>
              </a:r>
            </a:p>
          </p:txBody>
        </p:sp>
      </p:grpSp>
      <p:grpSp>
        <p:nvGrpSpPr>
          <p:cNvPr id="23" name="footer"/>
          <p:cNvGrpSpPr/>
          <p:nvPr/>
        </p:nvGrpSpPr>
        <p:grpSpPr>
          <a:xfrm>
            <a:off x="452438" y="6410325"/>
            <a:ext cx="11287124" cy="176212"/>
            <a:chOff x="452438" y="6410325"/>
            <a:chExt cx="11287124" cy="176212"/>
          </a:xfrm>
        </p:grpSpPr>
        <p:sp>
          <p:nvSpPr>
            <p:cNvPr id="21" name="TextBox 21"/>
            <p:cNvSpPr txBox="1"/>
            <p:nvPr/>
          </p:nvSpPr>
          <p:spPr>
            <a:xfrm>
              <a:off x="452438" y="6410325"/>
              <a:ext cx="6870353" cy="176212"/>
            </a:xfrm>
            <a:prstGeom prst="rect">
              <a:avLst/>
            </a:prstGeom>
            <a:noFill/>
            <a:ln>
              <a:noFill/>
            </a:ln>
          </p:spPr>
          <p:txBody>
            <a:bodyPr wrap="none" lIns="0" tIns="0" rIns="0" bIns="0" anchor="t" anchorCtr="0">
              <a:spAutoFit/>
            </a:bodyPr>
            <a:lstStyle/>
            <a:p>
              <a:pPr algn="l"/>
              <a:r>
                <a:rPr lang="en-US" sz="900" dirty="0">
                  <a:solidFill>
                    <a:schemeClr val="accent5"/>
                  </a:solidFill>
                  <a:latin typeface="+mn-lt"/>
                  <a:ea typeface="+mn-ea"/>
                  <a:cs typeface="+mn-cs"/>
                </a:rPr>
                <a:t>Proposed schema informed by Ramp and the system-failure discussion. Adapt the contract to the actual task and consequence.</a:t>
              </a:r>
            </a:p>
          </p:txBody>
        </p:sp>
        <p:sp>
          <p:nvSpPr>
            <p:cNvPr id="22" name="TextBox 22"/>
            <p:cNvSpPr txBox="1"/>
            <p:nvPr/>
          </p:nvSpPr>
          <p:spPr>
            <a:xfrm>
              <a:off x="11359512" y="6410325"/>
              <a:ext cx="380050" cy="176212"/>
            </a:xfrm>
            <a:prstGeom prst="rect">
              <a:avLst/>
            </a:prstGeom>
            <a:noFill/>
            <a:ln>
              <a:noFill/>
            </a:ln>
          </p:spPr>
          <p:txBody>
            <a:bodyPr wrap="none" lIns="0" tIns="0" rIns="0" bIns="0" anchor="t" anchorCtr="0">
              <a:spAutoFit/>
            </a:bodyPr>
            <a:lstStyle/>
            <a:p>
              <a:pPr algn="r"/>
              <a:r>
                <a:rPr lang="en-US" sz="900" dirty="0">
                  <a:solidFill>
                    <a:schemeClr val="accent5"/>
                  </a:solidFill>
                  <a:latin typeface="+mn-lt"/>
                  <a:ea typeface="+mn-ea"/>
                  <a:cs typeface="+mn-cs"/>
                </a:rPr>
                <a:t>32 / 37</a:t>
              </a:r>
            </a:p>
          </p:txBody>
        </p:sp>
      </p:grpSp>
    </p:spTree>
  </p:cSld>
  <p:clrMapOvr>
    <a:masterClrMapping/>
  </p:clrMapOvr>
  <p:transition xmlns:p14="http://schemas.microsoft.com/office/powerpoint/2010/main" p14:dur="400">
    <p:fade/>
  </p:transition>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5" name="title"/>
          <p:cNvGrpSpPr/>
          <p:nvPr/>
        </p:nvGrpSpPr>
        <p:grpSpPr>
          <a:xfrm>
            <a:off x="443484" y="371475"/>
            <a:ext cx="7698188" cy="1110107"/>
            <a:chOff x="443484" y="371475"/>
            <a:chExt cx="7698188" cy="1110107"/>
          </a:xfrm>
        </p:grpSpPr>
        <p:sp>
          <p:nvSpPr>
            <p:cNvPr id="2" name="TextBox 2"/>
            <p:cNvSpPr txBox="1"/>
            <p:nvPr/>
          </p:nvSpPr>
          <p:spPr>
            <a:xfrm>
              <a:off x="451104" y="371475"/>
              <a:ext cx="3170500" cy="234696"/>
            </a:xfrm>
            <a:prstGeom prst="rect">
              <a:avLst/>
            </a:prstGeom>
            <a:noFill/>
            <a:ln>
              <a:noFill/>
            </a:ln>
          </p:spPr>
          <p:txBody>
            <a:bodyPr wrap="none" lIns="0" tIns="0" rIns="0" bIns="0" anchor="t" anchorCtr="0">
              <a:spAutoFit/>
            </a:bodyPr>
            <a:lstStyle/>
            <a:p>
              <a:pPr algn="l"/>
              <a:r>
                <a:rPr lang="en-US" sz="1200" dirty="0">
                  <a:solidFill>
                    <a:srgbClr val="8B411C"/>
                  </a:solidFill>
                  <a:latin typeface="+mn-lt"/>
                  <a:ea typeface="+mn-ea"/>
                  <a:cs typeface="+mn-cs"/>
                </a:rPr>
                <a:t>APPENDIX / SYNTHETIC TYPED CLAIM</a:t>
              </a:r>
            </a:p>
          </p:txBody>
        </p:sp>
        <p:sp>
          <p:nvSpPr>
            <p:cNvPr id="3" name="TextBox 3"/>
            <p:cNvSpPr txBox="1"/>
            <p:nvPr/>
          </p:nvSpPr>
          <p:spPr>
            <a:xfrm>
              <a:off x="443484" y="603250"/>
              <a:ext cx="7698188" cy="528066"/>
            </a:xfrm>
            <a:prstGeom prst="rect">
              <a:avLst/>
            </a:prstGeom>
            <a:noFill/>
            <a:ln>
              <a:noFill/>
            </a:ln>
          </p:spPr>
          <p:txBody>
            <a:bodyPr wrap="none" lIns="0" tIns="0" rIns="0" bIns="0" anchor="t" anchorCtr="0">
              <a:spAutoFit/>
            </a:bodyPr>
            <a:lstStyle/>
            <a:p>
              <a:pPr algn="l"/>
              <a:r>
                <a:rPr lang="en-US" sz="2700" dirty="0">
                  <a:solidFill>
                    <a:schemeClr val="accent1"/>
                  </a:solidFill>
                  <a:latin typeface="+mj-lt"/>
                  <a:ea typeface="+mj-ea"/>
                  <a:cs typeface="+mj-cs"/>
                </a:rPr>
                <a:t>Keep the typed claim attached to its derivation</a:t>
              </a:r>
            </a:p>
          </p:txBody>
        </p:sp>
        <p:sp>
          <p:nvSpPr>
            <p:cNvPr id="4" name="TextBox 4"/>
            <p:cNvSpPr txBox="1"/>
            <p:nvPr/>
          </p:nvSpPr>
          <p:spPr>
            <a:xfrm>
              <a:off x="448818" y="1158875"/>
              <a:ext cx="6877790" cy="322707"/>
            </a:xfrm>
            <a:prstGeom prst="rect">
              <a:avLst/>
            </a:prstGeom>
            <a:noFill/>
            <a:ln>
              <a:noFill/>
            </a:ln>
          </p:spPr>
          <p:txBody>
            <a:bodyPr wrap="none" lIns="0" tIns="0" rIns="0" bIns="0" anchor="t" anchorCtr="0">
              <a:spAutoFit/>
            </a:bodyPr>
            <a:lstStyle/>
            <a:p>
              <a:pPr algn="l"/>
              <a:r>
                <a:rPr lang="en-US" sz="1650" dirty="0">
                  <a:solidFill>
                    <a:schemeClr val="accent1"/>
                  </a:solidFill>
                  <a:latin typeface="+mn-lt"/>
                  <a:ea typeface="+mn-ea"/>
                  <a:cs typeface="+mn-cs"/>
                </a:rPr>
                <a:t>AsterCo’s growth value is a ratio; its revenue inputs are USD millions.</a:t>
              </a:r>
            </a:p>
          </p:txBody>
        </p:sp>
      </p:grpSp>
      <p:grpSp>
        <p:nvGrpSpPr>
          <p:cNvPr id="9" name="typed-claim"/>
          <p:cNvGrpSpPr/>
          <p:nvPr/>
        </p:nvGrpSpPr>
        <p:grpSpPr>
          <a:xfrm>
            <a:off x="457200" y="1752600"/>
            <a:ext cx="5334000" cy="4286250"/>
            <a:chOff x="457200" y="1752600"/>
            <a:chExt cx="5334000" cy="4286250"/>
          </a:xfrm>
        </p:grpSpPr>
        <p:sp>
          <p:nvSpPr>
            <p:cNvPr id="6" name="Freeform 6"/>
            <p:cNvSpPr/>
            <p:nvPr/>
          </p:nvSpPr>
          <p:spPr>
            <a:xfrm>
              <a:off x="457200" y="1752600"/>
              <a:ext cx="5334000" cy="4286250"/>
            </a:xfrm>
            <a:prstGeom prst="foldedCorner">
              <a:avLst/>
            </a:prstGeom>
            <a:solidFill>
              <a:schemeClr val="lt2"/>
            </a:solidFill>
            <a:ln>
              <a:noFill/>
            </a:ln>
          </p:spPr>
        </p:sp>
        <p:sp>
          <p:nvSpPr>
            <p:cNvPr id="7" name="TextBox 7"/>
            <p:cNvSpPr txBox="1"/>
            <p:nvPr/>
          </p:nvSpPr>
          <p:spPr>
            <a:xfrm>
              <a:off x="679704" y="1962150"/>
              <a:ext cx="4365589" cy="234696"/>
            </a:xfrm>
            <a:prstGeom prst="rect">
              <a:avLst/>
            </a:prstGeom>
            <a:noFill/>
            <a:ln>
              <a:noFill/>
            </a:ln>
          </p:spPr>
          <p:txBody>
            <a:bodyPr wrap="none" lIns="0" tIns="0" rIns="0" bIns="0" anchor="t" anchorCtr="0">
              <a:spAutoFit/>
            </a:bodyPr>
            <a:lstStyle/>
            <a:p>
              <a:pPr algn="l"/>
              <a:r>
                <a:rPr lang="en-US" sz="1200" dirty="0">
                  <a:solidFill>
                    <a:schemeClr val="accent2"/>
                  </a:solidFill>
                  <a:latin typeface="+mn-lt"/>
                  <a:ea typeface="+mn-ea"/>
                  <a:cs typeface="+mn-cs"/>
                </a:rPr>
                <a:t>ALL ENTITIES, VALUES AND DOCUMENTS INVENTED</a:t>
              </a:r>
            </a:p>
          </p:txBody>
        </p:sp>
        <p:sp>
          <p:nvSpPr>
            <p:cNvPr id="8" name="TextBox 8"/>
            <p:cNvSpPr txBox="1"/>
            <p:nvPr/>
          </p:nvSpPr>
          <p:spPr>
            <a:xfrm>
              <a:off x="679704" y="2413000"/>
              <a:ext cx="2526792" cy="2501646"/>
            </a:xfrm>
            <a:prstGeom prst="rect">
              <a:avLst/>
            </a:prstGeom>
            <a:noFill/>
            <a:ln>
              <a:noFill/>
            </a:ln>
          </p:spPr>
          <p:txBody>
            <a:bodyPr wrap="none" lIns="0" tIns="0" rIns="0" bIns="0" anchor="t" anchorCtr="0">
              <a:spAutoFit/>
            </a:bodyPr>
            <a:lstStyle/>
            <a:p>
              <a:pPr algn="l">
                <a:lnSpc>
                  <a:spcPts val="2550"/>
                </a:lnSpc>
              </a:pPr>
              <a:r>
                <a:rPr lang="en-US" sz="1200" dirty="0">
                  <a:solidFill>
                    <a:schemeClr val="dk1"/>
                  </a:solidFill>
                  <a:latin typeface="Consolas"/>
                  <a:ea typeface="Consolas"/>
                  <a:cs typeface="Consolas"/>
                </a:rPr>
                <a:t>entity: AsterCo</a:t>
              </a:r>
              <a:br>
                <a:rPr lang="en-US" sz="1200" dirty="0">
                  <a:solidFill>
                    <a:schemeClr val="dk1"/>
                  </a:solidFill>
                  <a:latin typeface="Consolas"/>
                  <a:ea typeface="Consolas"/>
                  <a:cs typeface="Consolas"/>
                </a:rPr>
              </a:br>
              <a:r>
                <a:rPr lang="en-US" sz="1200" dirty="0">
                  <a:solidFill>
                    <a:schemeClr val="dk1"/>
                  </a:solidFill>
                  <a:latin typeface="Consolas"/>
                  <a:ea typeface="Consolas"/>
                  <a:cs typeface="Consolas"/>
                </a:rPr>
                <a:t>metric: annual_revenue_growth</a:t>
              </a:r>
              <a:br>
                <a:rPr lang="en-US" sz="1200" dirty="0">
                  <a:solidFill>
                    <a:schemeClr val="dk1"/>
                  </a:solidFill>
                  <a:latin typeface="Consolas"/>
                  <a:ea typeface="Consolas"/>
                  <a:cs typeface="Consolas"/>
                </a:rPr>
              </a:br>
              <a:r>
                <a:rPr lang="en-US" sz="1200" dirty="0">
                  <a:solidFill>
                    <a:schemeClr val="dk1"/>
                  </a:solidFill>
                  <a:latin typeface="Consolas"/>
                  <a:ea typeface="Consolas"/>
                  <a:cs typeface="Consolas"/>
                </a:rPr>
                <a:t>period: FY2025</a:t>
              </a:r>
              <a:br>
                <a:rPr lang="en-US" sz="1200" dirty="0">
                  <a:solidFill>
                    <a:schemeClr val="dk1"/>
                  </a:solidFill>
                  <a:latin typeface="Consolas"/>
                  <a:ea typeface="Consolas"/>
                  <a:cs typeface="Consolas"/>
                </a:rPr>
              </a:br>
              <a:r>
                <a:rPr lang="en-US" sz="1200" dirty="0">
                  <a:solidFill>
                    <a:schemeClr val="dk1"/>
                  </a:solidFill>
                  <a:latin typeface="Consolas"/>
                  <a:ea typeface="Consolas"/>
                  <a:cs typeface="Consolas"/>
                </a:rPr>
                <a:t>unit: ratio</a:t>
              </a:r>
              <a:br>
                <a:rPr lang="en-US" sz="1200" dirty="0">
                  <a:solidFill>
                    <a:schemeClr val="dk1"/>
                  </a:solidFill>
                  <a:latin typeface="Consolas"/>
                  <a:ea typeface="Consolas"/>
                  <a:cs typeface="Consolas"/>
                </a:rPr>
              </a:br>
              <a:r>
                <a:rPr lang="en-US" sz="1200" dirty="0">
                  <a:solidFill>
                    <a:schemeClr val="dk1"/>
                  </a:solidFill>
                  <a:latin typeface="Consolas"/>
                  <a:ea typeface="Consolas"/>
                  <a:cs typeface="Consolas"/>
                </a:rPr>
                <a:t>value: 0.20</a:t>
              </a:r>
              <a:br>
                <a:rPr lang="en-US" sz="1200" dirty="0">
                  <a:solidFill>
                    <a:schemeClr val="dk1"/>
                  </a:solidFill>
                  <a:latin typeface="Consolas"/>
                  <a:ea typeface="Consolas"/>
                  <a:cs typeface="Consolas"/>
                </a:rPr>
              </a:br>
              <a:r>
                <a:rPr lang="en-US" sz="1200" dirty="0">
                  <a:solidFill>
                    <a:schemeClr val="dk1"/>
                  </a:solidFill>
                  <a:latin typeface="Consolas"/>
                  <a:ea typeface="Consolas"/>
                  <a:cs typeface="Consolas"/>
                </a:rPr>
                <a:t>inputs: D1=100; D3=120 # USD_m</a:t>
              </a:r>
              <a:br>
                <a:rPr lang="en-US" sz="1200" dirty="0">
                  <a:solidFill>
                    <a:schemeClr val="dk1"/>
                  </a:solidFill>
                  <a:latin typeface="Consolas"/>
                  <a:ea typeface="Consolas"/>
                  <a:cs typeface="Consolas"/>
                </a:rPr>
              </a:br>
              <a:r>
                <a:rPr lang="en-US" sz="1200" dirty="0">
                  <a:solidFill>
                    <a:schemeClr val="dk1"/>
                  </a:solidFill>
                  <a:latin typeface="Consolas"/>
                  <a:ea typeface="Consolas"/>
                  <a:cs typeface="Consolas"/>
                </a:rPr>
                <a:t>as_of: 2026-03-01</a:t>
              </a:r>
              <a:br>
                <a:rPr lang="en-US" sz="1200" dirty="0">
                  <a:solidFill>
                    <a:schemeClr val="dk1"/>
                  </a:solidFill>
                  <a:latin typeface="Consolas"/>
                  <a:ea typeface="Consolas"/>
                  <a:cs typeface="Consolas"/>
                </a:rPr>
              </a:br>
              <a:r>
                <a:rPr lang="en-US" sz="1200" dirty="0">
                  <a:solidFill>
                    <a:schemeClr val="dk1"/>
                  </a:solidFill>
                  <a:latin typeface="Consolas"/>
                  <a:ea typeface="Consolas"/>
                  <a:cs typeface="Consolas"/>
                </a:rPr>
                <a:t>calculation: (120 - 100) / 100</a:t>
              </a:r>
            </a:p>
          </p:txBody>
        </p:sp>
      </p:grpSp>
      <p:grpSp>
        <p:nvGrpSpPr>
          <p:cNvPr id="12" name="metric-unit"/>
          <p:cNvGrpSpPr/>
          <p:nvPr/>
        </p:nvGrpSpPr>
        <p:grpSpPr>
          <a:xfrm>
            <a:off x="6086856" y="1838325"/>
            <a:ext cx="4729010" cy="985520"/>
            <a:chOff x="6086856" y="1838325"/>
            <a:chExt cx="4729010" cy="985520"/>
          </a:xfrm>
        </p:grpSpPr>
        <p:sp>
          <p:nvSpPr>
            <p:cNvPr id="10" name="TextBox 10"/>
            <p:cNvSpPr txBox="1"/>
            <p:nvPr/>
          </p:nvSpPr>
          <p:spPr>
            <a:xfrm>
              <a:off x="6086856" y="1838325"/>
              <a:ext cx="3789804" cy="352044"/>
            </a:xfrm>
            <a:prstGeom prst="rect">
              <a:avLst/>
            </a:prstGeom>
            <a:noFill/>
            <a:ln>
              <a:noFill/>
            </a:ln>
          </p:spPr>
          <p:txBody>
            <a:bodyPr wrap="none" lIns="0" tIns="0" rIns="0" bIns="0" anchor="t" anchorCtr="0">
              <a:spAutoFit/>
            </a:bodyPr>
            <a:lstStyle/>
            <a:p>
              <a:pPr algn="l"/>
              <a:r>
                <a:rPr lang="en-US" sz="1800" dirty="0">
                  <a:solidFill>
                    <a:schemeClr val="accent2"/>
                  </a:solidFill>
                  <a:latin typeface="+mj-lt"/>
                  <a:ea typeface="+mj-ea"/>
                  <a:cs typeface="+mj-cs"/>
                </a:rPr>
                <a:t>0.20 growth ≠ USD120m revenue</a:t>
              </a:r>
            </a:p>
          </p:txBody>
        </p:sp>
        <p:sp>
          <p:nvSpPr>
            <p:cNvPr id="11" name="TextBox 11"/>
            <p:cNvSpPr txBox="1"/>
            <p:nvPr/>
          </p:nvSpPr>
          <p:spPr>
            <a:xfrm>
              <a:off x="6088380" y="2263775"/>
              <a:ext cx="4727486" cy="560070"/>
            </a:xfrm>
            <a:prstGeom prst="rect">
              <a:avLst/>
            </a:prstGeom>
            <a:noFill/>
            <a:ln>
              <a:noFill/>
            </a:ln>
          </p:spPr>
          <p:txBody>
            <a:bodyPr wrap="none" lIns="0" tIns="0" rIns="0" bIns="0" anchor="t" anchorCtr="0">
              <a:spAutoFit/>
            </a:bodyPr>
            <a:lstStyle/>
            <a:p>
              <a:pPr algn="l">
                <a:lnSpc>
                  <a:spcPts val="2100"/>
                </a:lnSpc>
              </a:pPr>
              <a:r>
                <a:rPr lang="en-US" sz="1500" dirty="0">
                  <a:solidFill>
                    <a:schemeClr val="dk1"/>
                  </a:solidFill>
                  <a:latin typeface="+mn-lt"/>
                  <a:ea typeface="+mn-ea"/>
                  <a:cs typeface="+mn-cs"/>
                </a:rPr>
                <a:t>Preserve entity, metric definition, period and unit.</a:t>
              </a:r>
              <a:br>
                <a:rPr lang="en-US" sz="1500" dirty="0">
                  <a:solidFill>
                    <a:schemeClr val="dk1"/>
                  </a:solidFill>
                  <a:latin typeface="+mn-lt"/>
                  <a:ea typeface="+mn-ea"/>
                  <a:cs typeface="+mn-cs"/>
                </a:rPr>
              </a:br>
              <a:r>
                <a:rPr lang="en-US" sz="1500" dirty="0">
                  <a:solidFill>
                    <a:schemeClr val="dk1"/>
                  </a:solidFill>
                  <a:latin typeface="+mn-lt"/>
                  <a:ea typeface="+mn-ea"/>
                  <a:cs typeface="+mn-cs"/>
                </a:rPr>
                <a:t>A document match cannot establish a valid comparison.</a:t>
              </a:r>
            </a:p>
          </p:txBody>
        </p:sp>
      </p:grpSp>
      <p:grpSp>
        <p:nvGrpSpPr>
          <p:cNvPr id="16" name="source-identity"/>
          <p:cNvGrpSpPr/>
          <p:nvPr/>
        </p:nvGrpSpPr>
        <p:grpSpPr>
          <a:xfrm>
            <a:off x="6086856" y="3248025"/>
            <a:ext cx="5647944" cy="1090295"/>
            <a:chOff x="6086856" y="3248025"/>
            <a:chExt cx="5647944" cy="1090295"/>
          </a:xfrm>
        </p:grpSpPr>
        <p:sp>
          <p:nvSpPr>
            <p:cNvPr id="13" name="Line 13"/>
            <p:cNvSpPr/>
            <p:nvPr/>
          </p:nvSpPr>
          <p:spPr>
            <a:xfrm>
              <a:off x="6096000" y="3248025"/>
              <a:ext cx="5638800" cy="9525"/>
            </a:xfrm>
            <a:custGeom>
              <a:avLst/>
              <a:gdLst/>
              <a:ahLst/>
              <a:cxnLst/>
              <a:rect l="l" t="t" r="r" b="b"/>
              <a:pathLst>
                <a:path w="5638800" h="9525">
                  <a:moveTo>
                    <a:pt x="0" y="0"/>
                  </a:moveTo>
                  <a:lnTo>
                    <a:pt x="5638800" y="0"/>
                  </a:lnTo>
                </a:path>
              </a:pathLst>
            </a:custGeom>
            <a:noFill/>
            <a:ln w="9525">
              <a:solidFill>
                <a:schemeClr val="accent6"/>
              </a:solidFill>
            </a:ln>
          </p:spPr>
        </p:sp>
        <p:sp>
          <p:nvSpPr>
            <p:cNvPr id="14" name="TextBox 14"/>
            <p:cNvSpPr txBox="1"/>
            <p:nvPr/>
          </p:nvSpPr>
          <p:spPr>
            <a:xfrm>
              <a:off x="6086856" y="3352800"/>
              <a:ext cx="4004375" cy="352044"/>
            </a:xfrm>
            <a:prstGeom prst="rect">
              <a:avLst/>
            </a:prstGeom>
            <a:noFill/>
            <a:ln>
              <a:noFill/>
            </a:ln>
          </p:spPr>
          <p:txBody>
            <a:bodyPr wrap="none" lIns="0" tIns="0" rIns="0" bIns="0" anchor="t" anchorCtr="0">
              <a:spAutoFit/>
            </a:bodyPr>
            <a:lstStyle/>
            <a:p>
              <a:pPr algn="l"/>
              <a:r>
                <a:rPr lang="en-US" sz="1800" dirty="0">
                  <a:solidFill>
                    <a:schemeClr val="accent2"/>
                  </a:solidFill>
                  <a:latin typeface="+mj-lt"/>
                  <a:ea typeface="+mj-ea"/>
                  <a:cs typeface="+mj-cs"/>
                </a:rPr>
                <a:t>Retain source identity and eligibility</a:t>
              </a:r>
            </a:p>
          </p:txBody>
        </p:sp>
        <p:sp>
          <p:nvSpPr>
            <p:cNvPr id="15" name="TextBox 15"/>
            <p:cNvSpPr txBox="1"/>
            <p:nvPr/>
          </p:nvSpPr>
          <p:spPr>
            <a:xfrm>
              <a:off x="6088380" y="3778250"/>
              <a:ext cx="4558017" cy="560070"/>
            </a:xfrm>
            <a:prstGeom prst="rect">
              <a:avLst/>
            </a:prstGeom>
            <a:noFill/>
            <a:ln>
              <a:noFill/>
            </a:ln>
          </p:spPr>
          <p:txBody>
            <a:bodyPr wrap="none" lIns="0" tIns="0" rIns="0" bIns="0" anchor="t" anchorCtr="0">
              <a:spAutoFit/>
            </a:bodyPr>
            <a:lstStyle/>
            <a:p>
              <a:pPr algn="l">
                <a:lnSpc>
                  <a:spcPts val="2100"/>
                </a:lnSpc>
              </a:pPr>
              <a:r>
                <a:rPr lang="en-US" sz="1500" dirty="0">
                  <a:solidFill>
                    <a:schemeClr val="dk1"/>
                  </a:solidFill>
                  <a:latin typeface="+mn-lt"/>
                  <a:ea typeface="+mn-ea"/>
                  <a:cs typeface="+mn-cs"/>
                </a:rPr>
                <a:t>Document, passage, version and available-as-of time.</a:t>
              </a:r>
              <a:br>
                <a:rPr lang="en-US" sz="1500" dirty="0">
                  <a:solidFill>
                    <a:schemeClr val="dk1"/>
                  </a:solidFill>
                  <a:latin typeface="+mn-lt"/>
                  <a:ea typeface="+mn-ea"/>
                  <a:cs typeface="+mn-cs"/>
                </a:rPr>
              </a:br>
              <a:r>
                <a:rPr lang="en-US" sz="1500" dirty="0">
                  <a:solidFill>
                    <a:schemeClr val="dk1"/>
                  </a:solidFill>
                  <a:latin typeface="+mn-lt"/>
                  <a:ea typeface="+mn-ea"/>
                  <a:cs typeface="+mn-cs"/>
                </a:rPr>
                <a:t>Publication, reporting period and access are distinct.</a:t>
              </a:r>
            </a:p>
          </p:txBody>
        </p:sp>
      </p:grpSp>
      <p:grpSp>
        <p:nvGrpSpPr>
          <p:cNvPr id="20" name="correction-propagation"/>
          <p:cNvGrpSpPr/>
          <p:nvPr/>
        </p:nvGrpSpPr>
        <p:grpSpPr>
          <a:xfrm>
            <a:off x="6086856" y="4733925"/>
            <a:ext cx="5647944" cy="1356995"/>
            <a:chOff x="6086856" y="4733925"/>
            <a:chExt cx="5647944" cy="1356995"/>
          </a:xfrm>
        </p:grpSpPr>
        <p:sp>
          <p:nvSpPr>
            <p:cNvPr id="17" name="Line 17"/>
            <p:cNvSpPr/>
            <p:nvPr/>
          </p:nvSpPr>
          <p:spPr>
            <a:xfrm>
              <a:off x="6096000" y="4733925"/>
              <a:ext cx="5638800" cy="9525"/>
            </a:xfrm>
            <a:custGeom>
              <a:avLst/>
              <a:gdLst/>
              <a:ahLst/>
              <a:cxnLst/>
              <a:rect l="l" t="t" r="r" b="b"/>
              <a:pathLst>
                <a:path w="5638800" h="9525">
                  <a:moveTo>
                    <a:pt x="0" y="0"/>
                  </a:moveTo>
                  <a:lnTo>
                    <a:pt x="5638800" y="0"/>
                  </a:lnTo>
                </a:path>
              </a:pathLst>
            </a:custGeom>
            <a:noFill/>
            <a:ln w="9525">
              <a:solidFill>
                <a:schemeClr val="accent6"/>
              </a:solidFill>
            </a:ln>
          </p:spPr>
        </p:sp>
        <p:sp>
          <p:nvSpPr>
            <p:cNvPr id="18" name="TextBox 18"/>
            <p:cNvSpPr txBox="1"/>
            <p:nvPr/>
          </p:nvSpPr>
          <p:spPr>
            <a:xfrm>
              <a:off x="6086856" y="4838700"/>
              <a:ext cx="4355351" cy="352044"/>
            </a:xfrm>
            <a:prstGeom prst="rect">
              <a:avLst/>
            </a:prstGeom>
            <a:noFill/>
            <a:ln>
              <a:noFill/>
            </a:ln>
          </p:spPr>
          <p:txBody>
            <a:bodyPr wrap="none" lIns="0" tIns="0" rIns="0" bIns="0" anchor="t" anchorCtr="0">
              <a:spAutoFit/>
            </a:bodyPr>
            <a:lstStyle/>
            <a:p>
              <a:pPr algn="l"/>
              <a:r>
                <a:rPr lang="en-US" sz="1800" dirty="0">
                  <a:solidFill>
                    <a:schemeClr val="accent2"/>
                  </a:solidFill>
                  <a:latin typeface="+mj-lt"/>
                  <a:ea typeface="+mj-ea"/>
                  <a:cs typeface="+mj-cs"/>
                </a:rPr>
                <a:t>Propagate corrections through artifacts</a:t>
              </a:r>
            </a:p>
          </p:txBody>
        </p:sp>
        <p:sp>
          <p:nvSpPr>
            <p:cNvPr id="19" name="TextBox 19"/>
            <p:cNvSpPr txBox="1"/>
            <p:nvPr/>
          </p:nvSpPr>
          <p:spPr>
            <a:xfrm>
              <a:off x="6088380" y="5264150"/>
              <a:ext cx="4632350" cy="826770"/>
            </a:xfrm>
            <a:prstGeom prst="rect">
              <a:avLst/>
            </a:prstGeom>
            <a:noFill/>
            <a:ln>
              <a:noFill/>
            </a:ln>
          </p:spPr>
          <p:txBody>
            <a:bodyPr wrap="none" lIns="0" tIns="0" rIns="0" bIns="0" anchor="t" anchorCtr="0">
              <a:spAutoFit/>
            </a:bodyPr>
            <a:lstStyle/>
            <a:p>
              <a:pPr algn="l">
                <a:lnSpc>
                  <a:spcPts val="2100"/>
                </a:lnSpc>
              </a:pPr>
              <a:r>
                <a:rPr lang="en-US" sz="1500" dirty="0">
                  <a:solidFill>
                    <a:schemeClr val="dk1"/>
                  </a:solidFill>
                  <a:latin typeface="+mn-lt"/>
                  <a:ea typeface="+mn-ea"/>
                  <a:cs typeface="+mn-cs"/>
                </a:rPr>
                <a:t>Recompute dependent claims, charts and tables;</a:t>
              </a:r>
              <a:br>
                <a:rPr lang="en-US" sz="1500" dirty="0">
                  <a:solidFill>
                    <a:schemeClr val="dk1"/>
                  </a:solidFill>
                  <a:latin typeface="+mn-lt"/>
                  <a:ea typeface="+mn-ea"/>
                  <a:cs typeface="+mn-cs"/>
                </a:rPr>
              </a:br>
              <a:r>
                <a:rPr lang="en-US" sz="1500" dirty="0">
                  <a:solidFill>
                    <a:schemeClr val="dk1"/>
                  </a:solidFill>
                  <a:latin typeface="+mn-lt"/>
                  <a:ea typeface="+mn-ea"/>
                  <a:cs typeface="+mn-cs"/>
                </a:rPr>
                <a:t>retain earlier values and change reasons. Verify export</a:t>
              </a:r>
              <a:br>
                <a:rPr lang="en-US" sz="1500" dirty="0">
                  <a:solidFill>
                    <a:schemeClr val="dk1"/>
                  </a:solidFill>
                  <a:latin typeface="+mn-lt"/>
                  <a:ea typeface="+mn-ea"/>
                  <a:cs typeface="+mn-cs"/>
                </a:rPr>
              </a:br>
              <a:r>
                <a:rPr lang="en-US" sz="1500" dirty="0">
                  <a:solidFill>
                    <a:schemeClr val="dk1"/>
                  </a:solidFill>
                  <a:latin typeface="+mn-lt"/>
                  <a:ea typeface="+mn-ea"/>
                  <a:cs typeface="+mn-cs"/>
                </a:rPr>
                <a:t>has preserved units, periods and evidence links.</a:t>
              </a:r>
            </a:p>
          </p:txBody>
        </p:sp>
      </p:grpSp>
      <p:grpSp>
        <p:nvGrpSpPr>
          <p:cNvPr id="23" name="footer"/>
          <p:cNvGrpSpPr/>
          <p:nvPr/>
        </p:nvGrpSpPr>
        <p:grpSpPr>
          <a:xfrm>
            <a:off x="452438" y="6410325"/>
            <a:ext cx="11287124" cy="176212"/>
            <a:chOff x="452438" y="6410325"/>
            <a:chExt cx="11287124" cy="176212"/>
          </a:xfrm>
        </p:grpSpPr>
        <p:sp>
          <p:nvSpPr>
            <p:cNvPr id="21" name="TextBox 21"/>
            <p:cNvSpPr txBox="1"/>
            <p:nvPr/>
          </p:nvSpPr>
          <p:spPr>
            <a:xfrm>
              <a:off x="452438" y="6410325"/>
              <a:ext cx="7109136" cy="176212"/>
            </a:xfrm>
            <a:prstGeom prst="rect">
              <a:avLst/>
            </a:prstGeom>
            <a:noFill/>
            <a:ln>
              <a:noFill/>
            </a:ln>
          </p:spPr>
          <p:txBody>
            <a:bodyPr wrap="none" lIns="0" tIns="0" rIns="0" bIns="0" anchor="t" anchorCtr="0">
              <a:spAutoFit/>
            </a:bodyPr>
            <a:lstStyle/>
            <a:p>
              <a:pPr algn="l"/>
              <a:r>
                <a:rPr lang="en-US" sz="900" dirty="0">
                  <a:solidFill>
                    <a:schemeClr val="accent5"/>
                  </a:solidFill>
                  <a:latin typeface="+mn-lt"/>
                  <a:ea typeface="+mn-ea"/>
                  <a:cs typeface="+mn-cs"/>
                </a:rPr>
                <a:t>Proposed contract informed by Kepler and Bridgewater, not verified coverage of either implementation. All AsterCo data is synthetic.</a:t>
              </a:r>
            </a:p>
          </p:txBody>
        </p:sp>
        <p:sp>
          <p:nvSpPr>
            <p:cNvPr id="22" name="TextBox 22"/>
            <p:cNvSpPr txBox="1"/>
            <p:nvPr/>
          </p:nvSpPr>
          <p:spPr>
            <a:xfrm>
              <a:off x="11359512" y="6410325"/>
              <a:ext cx="380050" cy="176212"/>
            </a:xfrm>
            <a:prstGeom prst="rect">
              <a:avLst/>
            </a:prstGeom>
            <a:noFill/>
            <a:ln>
              <a:noFill/>
            </a:ln>
          </p:spPr>
          <p:txBody>
            <a:bodyPr wrap="none" lIns="0" tIns="0" rIns="0" bIns="0" anchor="t" anchorCtr="0">
              <a:spAutoFit/>
            </a:bodyPr>
            <a:lstStyle/>
            <a:p>
              <a:pPr algn="r"/>
              <a:r>
                <a:rPr lang="en-US" sz="900" dirty="0">
                  <a:solidFill>
                    <a:schemeClr val="accent5"/>
                  </a:solidFill>
                  <a:latin typeface="+mn-lt"/>
                  <a:ea typeface="+mn-ea"/>
                  <a:cs typeface="+mn-cs"/>
                </a:rPr>
                <a:t>33 / 37</a:t>
              </a:r>
            </a:p>
          </p:txBody>
        </p:sp>
      </p:grpSp>
    </p:spTree>
  </p:cSld>
  <p:clrMapOvr>
    <a:masterClrMapping/>
  </p:clrMapOvr>
  <p:transition xmlns:p14="http://schemas.microsoft.com/office/powerpoint/2010/main" p14:dur="400">
    <p:fade/>
  </p:transition>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5" name="title"/>
          <p:cNvGrpSpPr/>
          <p:nvPr/>
        </p:nvGrpSpPr>
        <p:grpSpPr>
          <a:xfrm>
            <a:off x="443484" y="371475"/>
            <a:ext cx="9104716" cy="1110107"/>
            <a:chOff x="443484" y="371475"/>
            <a:chExt cx="9104716" cy="1110107"/>
          </a:xfrm>
        </p:grpSpPr>
        <p:sp>
          <p:nvSpPr>
            <p:cNvPr id="2" name="TextBox 2"/>
            <p:cNvSpPr txBox="1"/>
            <p:nvPr/>
          </p:nvSpPr>
          <p:spPr>
            <a:xfrm>
              <a:off x="451104" y="371475"/>
              <a:ext cx="4924763" cy="234696"/>
            </a:xfrm>
            <a:prstGeom prst="rect">
              <a:avLst/>
            </a:prstGeom>
            <a:noFill/>
            <a:ln>
              <a:noFill/>
            </a:ln>
          </p:spPr>
          <p:txBody>
            <a:bodyPr wrap="none" lIns="0" tIns="0" rIns="0" bIns="0" anchor="t" anchorCtr="0">
              <a:spAutoFit/>
            </a:bodyPr>
            <a:lstStyle/>
            <a:p>
              <a:pPr algn="l"/>
              <a:r>
                <a:rPr lang="en-US" sz="1200" dirty="0">
                  <a:solidFill>
                    <a:schemeClr val="accent2"/>
                  </a:solidFill>
                  <a:latin typeface="+mn-lt"/>
                  <a:ea typeface="+mn-ea"/>
                  <a:cs typeface="+mn-cs"/>
                </a:rPr>
                <a:t>APPENDIX / GENERATION IS DIFFERENT FROM SELECTION</a:t>
              </a:r>
            </a:p>
          </p:txBody>
        </p:sp>
        <p:sp>
          <p:nvSpPr>
            <p:cNvPr id="3" name="TextBox 3"/>
            <p:cNvSpPr txBox="1"/>
            <p:nvPr/>
          </p:nvSpPr>
          <p:spPr>
            <a:xfrm>
              <a:off x="443484" y="603250"/>
              <a:ext cx="7122834" cy="528066"/>
            </a:xfrm>
            <a:prstGeom prst="rect">
              <a:avLst/>
            </a:prstGeom>
            <a:noFill/>
            <a:ln>
              <a:noFill/>
            </a:ln>
          </p:spPr>
          <p:txBody>
            <a:bodyPr wrap="none" lIns="0" tIns="0" rIns="0" bIns="0" anchor="t" anchorCtr="0">
              <a:spAutoFit/>
            </a:bodyPr>
            <a:lstStyle/>
            <a:p>
              <a:pPr algn="l"/>
              <a:r>
                <a:rPr lang="en-US" sz="2700" dirty="0">
                  <a:solidFill>
                    <a:schemeClr val="accent1"/>
                  </a:solidFill>
                  <a:latin typeface="+mj-lt"/>
                  <a:ea typeface="+mj-ea"/>
                  <a:cs typeface="+mj-cs"/>
                </a:rPr>
                <a:t>pass@k is not deployed selection reliability</a:t>
              </a:r>
            </a:p>
          </p:txBody>
        </p:sp>
        <p:sp>
          <p:nvSpPr>
            <p:cNvPr id="4" name="TextBox 4"/>
            <p:cNvSpPr txBox="1"/>
            <p:nvPr/>
          </p:nvSpPr>
          <p:spPr>
            <a:xfrm>
              <a:off x="448818" y="1158875"/>
              <a:ext cx="9099382" cy="322707"/>
            </a:xfrm>
            <a:prstGeom prst="rect">
              <a:avLst/>
            </a:prstGeom>
            <a:noFill/>
            <a:ln>
              <a:noFill/>
            </a:ln>
          </p:spPr>
          <p:txBody>
            <a:bodyPr wrap="none" lIns="0" tIns="0" rIns="0" bIns="0" anchor="t" anchorCtr="0">
              <a:spAutoFit/>
            </a:bodyPr>
            <a:lstStyle/>
            <a:p>
              <a:pPr algn="l"/>
              <a:r>
                <a:rPr lang="en-US" sz="1650" dirty="0">
                  <a:solidFill>
                    <a:schemeClr val="accent1"/>
                  </a:solidFill>
                  <a:latin typeface="+mn-lt"/>
                  <a:ea typeface="+mn-ea"/>
                  <a:cs typeface="+mn-cs"/>
                </a:rPr>
                <a:t>A benchmark can recognize a passing candidate that an operational selector fails to choose.</a:t>
              </a:r>
            </a:p>
          </p:txBody>
        </p:sp>
      </p:grpSp>
      <p:grpSp>
        <p:nvGrpSpPr>
          <p:cNvPr id="10" name="benchmark-question"/>
          <p:cNvGrpSpPr/>
          <p:nvPr/>
        </p:nvGrpSpPr>
        <p:grpSpPr>
          <a:xfrm>
            <a:off x="457200" y="1752600"/>
            <a:ext cx="5334000" cy="2419350"/>
            <a:chOff x="457200" y="1752600"/>
            <a:chExt cx="5334000" cy="2419350"/>
          </a:xfrm>
        </p:grpSpPr>
        <p:sp>
          <p:nvSpPr>
            <p:cNvPr id="6" name="Rectangle 6"/>
            <p:cNvSpPr/>
            <p:nvPr/>
          </p:nvSpPr>
          <p:spPr>
            <a:xfrm>
              <a:off x="457200" y="1752600"/>
              <a:ext cx="5334000" cy="2419350"/>
            </a:xfrm>
            <a:prstGeom prst="rect">
              <a:avLst/>
            </a:prstGeom>
            <a:solidFill>
              <a:schemeClr val="lt2"/>
            </a:solidFill>
            <a:ln>
              <a:noFill/>
            </a:ln>
          </p:spPr>
        </p:sp>
        <p:sp>
          <p:nvSpPr>
            <p:cNvPr id="7" name="TextBox 7"/>
            <p:cNvSpPr txBox="1"/>
            <p:nvPr/>
          </p:nvSpPr>
          <p:spPr>
            <a:xfrm>
              <a:off x="676656" y="1905000"/>
              <a:ext cx="4718852" cy="352044"/>
            </a:xfrm>
            <a:prstGeom prst="rect">
              <a:avLst/>
            </a:prstGeom>
            <a:noFill/>
            <a:ln>
              <a:noFill/>
            </a:ln>
          </p:spPr>
          <p:txBody>
            <a:bodyPr wrap="none" lIns="0" tIns="0" rIns="0" bIns="0" anchor="t" anchorCtr="0">
              <a:spAutoFit/>
            </a:bodyPr>
            <a:lstStyle/>
            <a:p>
              <a:pPr algn="l"/>
              <a:r>
                <a:rPr lang="en-US" sz="1800" dirty="0">
                  <a:solidFill>
                    <a:schemeClr val="accent2"/>
                  </a:solidFill>
                  <a:latin typeface="+mj-lt"/>
                  <a:ea typeface="+mj-ea"/>
                  <a:cs typeface="+mj-cs"/>
                </a:rPr>
                <a:t>Benchmark: was any candidate successful?</a:t>
              </a:r>
            </a:p>
          </p:txBody>
        </p:sp>
        <p:sp>
          <p:nvSpPr>
            <p:cNvPr id="8" name="TextBox 8"/>
            <p:cNvSpPr txBox="1"/>
            <p:nvPr/>
          </p:nvSpPr>
          <p:spPr>
            <a:xfrm>
              <a:off x="678180" y="2435225"/>
              <a:ext cx="4018178" cy="826770"/>
            </a:xfrm>
            <a:prstGeom prst="rect">
              <a:avLst/>
            </a:prstGeom>
            <a:noFill/>
            <a:ln>
              <a:noFill/>
            </a:ln>
          </p:spPr>
          <p:txBody>
            <a:bodyPr wrap="none" lIns="0" tIns="0" rIns="0" bIns="0" anchor="t" anchorCtr="0">
              <a:spAutoFit/>
            </a:bodyPr>
            <a:lstStyle/>
            <a:p>
              <a:pPr algn="l">
                <a:lnSpc>
                  <a:spcPts val="2100"/>
                </a:lnSpc>
              </a:pPr>
              <a:r>
                <a:rPr lang="en-US" sz="1500" dirty="0">
                  <a:solidFill>
                    <a:schemeClr val="dk1"/>
                  </a:solidFill>
                  <a:latin typeface="+mn-lt"/>
                  <a:ea typeface="+mn-ea"/>
                  <a:cs typeface="+mn-cs"/>
                </a:rPr>
                <a:t>At least one of k sampled candidates meets the</a:t>
              </a:r>
              <a:br>
                <a:rPr lang="en-US" sz="1500" dirty="0">
                  <a:solidFill>
                    <a:schemeClr val="dk1"/>
                  </a:solidFill>
                  <a:latin typeface="+mn-lt"/>
                  <a:ea typeface="+mn-ea"/>
                  <a:cs typeface="+mn-cs"/>
                </a:rPr>
              </a:br>
              <a:r>
                <a:rPr lang="en-US" sz="1500" dirty="0">
                  <a:solidFill>
                    <a:schemeClr val="dk1"/>
                  </a:solidFill>
                  <a:latin typeface="+mn-lt"/>
                  <a:ea typeface="+mn-ea"/>
                  <a:cs typeface="+mn-cs"/>
                </a:rPr>
                <a:t>specified test; summarize the result over tasks.</a:t>
              </a:r>
              <a:br>
                <a:rPr lang="en-US" sz="1500" dirty="0">
                  <a:solidFill>
                    <a:schemeClr val="dk1"/>
                  </a:solidFill>
                  <a:latin typeface="+mn-lt"/>
                  <a:ea typeface="+mn-ea"/>
                  <a:cs typeface="+mn-cs"/>
                </a:rPr>
              </a:br>
              <a:r>
                <a:rPr lang="en-US" sz="1500" dirty="0">
                  <a:solidFill>
                    <a:schemeClr val="dk1"/>
                  </a:solidFill>
                  <a:latin typeface="+mn-lt"/>
                  <a:ea typeface="+mn-ea"/>
                  <a:cs typeface="+mn-cs"/>
                </a:rPr>
                <a:t>State k, task distribution and the test.</a:t>
              </a:r>
            </a:p>
          </p:txBody>
        </p:sp>
        <p:sp>
          <p:nvSpPr>
            <p:cNvPr id="9" name="TextBox 9"/>
            <p:cNvSpPr txBox="1"/>
            <p:nvPr/>
          </p:nvSpPr>
          <p:spPr>
            <a:xfrm>
              <a:off x="678942" y="3616325"/>
              <a:ext cx="4151273" cy="264033"/>
            </a:xfrm>
            <a:prstGeom prst="rect">
              <a:avLst/>
            </a:prstGeom>
            <a:noFill/>
            <a:ln>
              <a:noFill/>
            </a:ln>
          </p:spPr>
          <p:txBody>
            <a:bodyPr wrap="none" lIns="0" tIns="0" rIns="0" bIns="0" anchor="t" anchorCtr="0">
              <a:spAutoFit/>
            </a:bodyPr>
            <a:lstStyle/>
            <a:p>
              <a:pPr algn="l"/>
              <a:r>
                <a:rPr lang="en-US" sz="1350" dirty="0">
                  <a:solidFill>
                    <a:schemeClr val="accent5"/>
                  </a:solidFill>
                  <a:latin typeface="+mn-lt"/>
                  <a:ea typeface="+mn-ea"/>
                  <a:cs typeface="+mn-cs"/>
                </a:rPr>
                <a:t>Ground-truth recognition can behave like an oracle.</a:t>
              </a:r>
            </a:p>
          </p:txBody>
        </p:sp>
      </p:grpSp>
      <p:grpSp>
        <p:nvGrpSpPr>
          <p:cNvPr id="15" name="deployment-question"/>
          <p:cNvGrpSpPr/>
          <p:nvPr/>
        </p:nvGrpSpPr>
        <p:grpSpPr>
          <a:xfrm>
            <a:off x="6096000" y="1752600"/>
            <a:ext cx="5638800" cy="2419350"/>
            <a:chOff x="6096000" y="1752600"/>
            <a:chExt cx="5638800" cy="2419350"/>
          </a:xfrm>
        </p:grpSpPr>
        <p:sp>
          <p:nvSpPr>
            <p:cNvPr id="11" name="Rectangle 11"/>
            <p:cNvSpPr/>
            <p:nvPr/>
          </p:nvSpPr>
          <p:spPr>
            <a:xfrm>
              <a:off x="6096000" y="1752600"/>
              <a:ext cx="5638800" cy="2419350"/>
            </a:xfrm>
            <a:prstGeom prst="rect">
              <a:avLst/>
            </a:prstGeom>
            <a:solidFill>
              <a:schemeClr val="accent1"/>
            </a:solidFill>
            <a:ln>
              <a:noFill/>
            </a:ln>
          </p:spPr>
        </p:sp>
        <p:sp>
          <p:nvSpPr>
            <p:cNvPr id="12" name="TextBox 12"/>
            <p:cNvSpPr txBox="1"/>
            <p:nvPr/>
          </p:nvSpPr>
          <p:spPr>
            <a:xfrm>
              <a:off x="6315456" y="1905000"/>
              <a:ext cx="5095244" cy="352044"/>
            </a:xfrm>
            <a:prstGeom prst="rect">
              <a:avLst/>
            </a:prstGeom>
            <a:noFill/>
            <a:ln>
              <a:noFill/>
            </a:ln>
          </p:spPr>
          <p:txBody>
            <a:bodyPr wrap="none" lIns="0" tIns="0" rIns="0" bIns="0" anchor="t" anchorCtr="0">
              <a:spAutoFit/>
            </a:bodyPr>
            <a:lstStyle/>
            <a:p>
              <a:pPr algn="l"/>
              <a:r>
                <a:rPr lang="en-US" sz="1800" dirty="0">
                  <a:solidFill>
                    <a:schemeClr val="accent3"/>
                  </a:solidFill>
                  <a:latin typeface="+mj-lt"/>
                  <a:ea typeface="+mj-ea"/>
                  <a:cs typeface="+mj-cs"/>
                </a:rPr>
                <a:t>Deployment: can the system choose correctly?</a:t>
              </a:r>
            </a:p>
          </p:txBody>
        </p:sp>
        <p:sp>
          <p:nvSpPr>
            <p:cNvPr id="13" name="TextBox 13"/>
            <p:cNvSpPr txBox="1"/>
            <p:nvPr/>
          </p:nvSpPr>
          <p:spPr>
            <a:xfrm>
              <a:off x="6316980" y="2435225"/>
              <a:ext cx="4758728" cy="826770"/>
            </a:xfrm>
            <a:prstGeom prst="rect">
              <a:avLst/>
            </a:prstGeom>
            <a:noFill/>
            <a:ln>
              <a:noFill/>
            </a:ln>
          </p:spPr>
          <p:txBody>
            <a:bodyPr wrap="none" lIns="0" tIns="0" rIns="0" bIns="0" anchor="t" anchorCtr="0">
              <a:spAutoFit/>
            </a:bodyPr>
            <a:lstStyle/>
            <a:p>
              <a:pPr algn="l">
                <a:lnSpc>
                  <a:spcPts val="2100"/>
                </a:lnSpc>
              </a:pPr>
              <a:r>
                <a:rPr lang="en-US" sz="1500" dirty="0">
                  <a:solidFill>
                    <a:srgbClr val="FFFDF7"/>
                  </a:solidFill>
                  <a:latin typeface="+mn-lt"/>
                  <a:ea typeface="+mn-ea"/>
                  <a:cs typeface="+mn-cs"/>
                </a:rPr>
                <a:t>Run the actual verifier, ranker or human-review process.</a:t>
              </a:r>
              <a:br>
                <a:rPr lang="en-US" sz="1500" dirty="0">
                  <a:solidFill>
                    <a:srgbClr val="FFFDF7"/>
                  </a:solidFill>
                  <a:latin typeface="+mn-lt"/>
                  <a:ea typeface="+mn-ea"/>
                  <a:cs typeface="+mn-cs"/>
                </a:rPr>
              </a:br>
              <a:r>
                <a:rPr lang="en-US" sz="1500" dirty="0">
                  <a:solidFill>
                    <a:srgbClr val="FFFDF7"/>
                  </a:solidFill>
                  <a:latin typeface="+mn-lt"/>
                  <a:ea typeface="+mn-ea"/>
                  <a:cs typeface="+mn-cs"/>
                </a:rPr>
                <a:t>Measure chosen-output acceptance, missed defects,</a:t>
              </a:r>
              <a:br>
                <a:rPr lang="en-US" sz="1500" dirty="0">
                  <a:solidFill>
                    <a:srgbClr val="FFFDF7"/>
                  </a:solidFill>
                  <a:latin typeface="+mn-lt"/>
                  <a:ea typeface="+mn-ea"/>
                  <a:cs typeface="+mn-cs"/>
                </a:rPr>
              </a:br>
              <a:r>
                <a:rPr lang="en-US" sz="1500" dirty="0">
                  <a:solidFill>
                    <a:srgbClr val="FFFDF7"/>
                  </a:solidFill>
                  <a:latin typeface="+mn-lt"/>
                  <a:ea typeface="+mn-ea"/>
                  <a:cs typeface="+mn-cs"/>
                </a:rPr>
                <a:t>rejected useful candidates and first-attempt behavior.</a:t>
              </a:r>
            </a:p>
          </p:txBody>
        </p:sp>
        <p:sp>
          <p:nvSpPr>
            <p:cNvPr id="14" name="TextBox 14"/>
            <p:cNvSpPr txBox="1"/>
            <p:nvPr/>
          </p:nvSpPr>
          <p:spPr>
            <a:xfrm>
              <a:off x="6317742" y="3616325"/>
              <a:ext cx="3604729" cy="264033"/>
            </a:xfrm>
            <a:prstGeom prst="rect">
              <a:avLst/>
            </a:prstGeom>
            <a:noFill/>
            <a:ln>
              <a:noFill/>
            </a:ln>
          </p:spPr>
          <p:txBody>
            <a:bodyPr wrap="none" lIns="0" tIns="0" rIns="0" bIns="0" anchor="t" anchorCtr="0">
              <a:spAutoFit/>
            </a:bodyPr>
            <a:lstStyle/>
            <a:p>
              <a:pPr algn="l"/>
              <a:r>
                <a:rPr lang="en-US" sz="1350" dirty="0">
                  <a:solidFill>
                    <a:srgbClr val="E7F0EA"/>
                  </a:solidFill>
                  <a:latin typeface="+mn-lt"/>
                  <a:ea typeface="+mn-ea"/>
                  <a:cs typeface="+mn-cs"/>
                </a:rPr>
                <a:t>Critical action/evidence conditions still apply.</a:t>
              </a:r>
            </a:p>
          </p:txBody>
        </p:sp>
      </p:grpSp>
      <p:grpSp>
        <p:nvGrpSpPr>
          <p:cNvPr id="17" name="attempt-costs"/>
          <p:cNvGrpSpPr/>
          <p:nvPr/>
        </p:nvGrpSpPr>
        <p:grpSpPr>
          <a:xfrm>
            <a:off x="449580" y="4578350"/>
            <a:ext cx="8942299" cy="560070"/>
            <a:chOff x="449580" y="4578350"/>
            <a:chExt cx="8942299" cy="560070"/>
          </a:xfrm>
        </p:grpSpPr>
        <p:sp>
          <p:nvSpPr>
            <p:cNvPr id="16" name="TextBox 16"/>
            <p:cNvSpPr txBox="1"/>
            <p:nvPr/>
          </p:nvSpPr>
          <p:spPr>
            <a:xfrm>
              <a:off x="449580" y="4578350"/>
              <a:ext cx="8942299" cy="560070"/>
            </a:xfrm>
            <a:prstGeom prst="rect">
              <a:avLst/>
            </a:prstGeom>
            <a:noFill/>
            <a:ln>
              <a:noFill/>
            </a:ln>
          </p:spPr>
          <p:txBody>
            <a:bodyPr wrap="none" lIns="0" tIns="0" rIns="0" bIns="0" anchor="t" anchorCtr="0">
              <a:spAutoFit/>
            </a:bodyPr>
            <a:lstStyle/>
            <a:p>
              <a:pPr algn="l">
                <a:lnSpc>
                  <a:spcPts val="2100"/>
                </a:lnSpc>
              </a:pPr>
              <a:r>
                <a:rPr lang="en-US" sz="1500" dirty="0">
                  <a:solidFill>
                    <a:schemeClr val="dk1"/>
                  </a:solidFill>
                  <a:latin typeface="+mn-lt"/>
                  <a:ea typeface="+mn-ea"/>
                  <a:cs typeface="+mn-cs"/>
                </a:rPr>
                <a:t>Count all candidates, tool calls, verification, review and latency. Compare explicit budgets and acceptance</a:t>
              </a:r>
              <a:br>
                <a:rPr lang="en-US" sz="1500" dirty="0">
                  <a:solidFill>
                    <a:schemeClr val="dk1"/>
                  </a:solidFill>
                  <a:latin typeface="+mn-lt"/>
                  <a:ea typeface="+mn-ea"/>
                  <a:cs typeface="+mn-cs"/>
                </a:rPr>
              </a:br>
              <a:r>
                <a:rPr lang="en-US" sz="1500" dirty="0">
                  <a:solidFill>
                    <a:schemeClr val="dk1"/>
                  </a:solidFill>
                  <a:latin typeface="+mn-lt"/>
                  <a:ea typeface="+mn-ea"/>
                  <a:cs typeface="+mn-cs"/>
                </a:rPr>
                <a:t>standards. More attempts can increase success opportunity while also increasing cost and exposure.</a:t>
              </a:r>
            </a:p>
          </p:txBody>
        </p:sp>
      </p:grpSp>
      <p:grpSp>
        <p:nvGrpSpPr>
          <p:cNvPr id="19" name="metric-boundary"/>
          <p:cNvGrpSpPr/>
          <p:nvPr/>
        </p:nvGrpSpPr>
        <p:grpSpPr>
          <a:xfrm>
            <a:off x="450342" y="5619750"/>
            <a:ext cx="8838590" cy="511683"/>
            <a:chOff x="450342" y="5619750"/>
            <a:chExt cx="8838590" cy="511683"/>
          </a:xfrm>
        </p:grpSpPr>
        <p:sp>
          <p:nvSpPr>
            <p:cNvPr id="18" name="TextBox 18"/>
            <p:cNvSpPr txBox="1"/>
            <p:nvPr/>
          </p:nvSpPr>
          <p:spPr>
            <a:xfrm>
              <a:off x="450342" y="5619750"/>
              <a:ext cx="8838590" cy="511683"/>
            </a:xfrm>
            <a:prstGeom prst="rect">
              <a:avLst/>
            </a:prstGeom>
            <a:noFill/>
            <a:ln>
              <a:noFill/>
            </a:ln>
          </p:spPr>
          <p:txBody>
            <a:bodyPr wrap="none" lIns="0" tIns="0" rIns="0" bIns="0" anchor="t" anchorCtr="0">
              <a:spAutoFit/>
            </a:bodyPr>
            <a:lstStyle/>
            <a:p>
              <a:pPr algn="l">
                <a:lnSpc>
                  <a:spcPts val="1950"/>
                </a:lnSpc>
              </a:pPr>
              <a:r>
                <a:rPr lang="en-US" sz="1350" dirty="0">
                  <a:solidFill>
                    <a:schemeClr val="accent2"/>
                  </a:solidFill>
                  <a:latin typeface="+mn-lt"/>
                  <a:ea typeface="+mn-ea"/>
                  <a:cs typeface="+mn-cs"/>
                </a:rPr>
                <a:t>Keep partial-credit quality, pass@k, first-attempt success and selected-output reliability distinct. Chen et al.’s</a:t>
              </a:r>
              <a:br>
                <a:rPr lang="en-US" sz="1350" dirty="0">
                  <a:solidFill>
                    <a:schemeClr val="accent2"/>
                  </a:solidFill>
                  <a:latin typeface="+mn-lt"/>
                  <a:ea typeface="+mn-ea"/>
                  <a:cs typeface="+mn-cs"/>
                </a:rPr>
              </a:br>
              <a:r>
                <a:rPr lang="en-US" sz="1350" dirty="0">
                  <a:solidFill>
                    <a:schemeClr val="accent2"/>
                  </a:solidFill>
                  <a:latin typeface="+mn-lt"/>
                  <a:ea typeface="+mn-ea"/>
                  <a:cs typeface="+mn-cs"/>
                </a:rPr>
                <a:t>HumanEval paper supplies the metric/selection distinction, not a finance performance result or a general retry policy.</a:t>
              </a:r>
            </a:p>
          </p:txBody>
        </p:sp>
      </p:grpSp>
      <p:grpSp>
        <p:nvGrpSpPr>
          <p:cNvPr id="22" name="footer"/>
          <p:cNvGrpSpPr/>
          <p:nvPr/>
        </p:nvGrpSpPr>
        <p:grpSpPr>
          <a:xfrm>
            <a:off x="452438" y="6477000"/>
            <a:ext cx="11287124" cy="176212"/>
            <a:chOff x="452438" y="6477000"/>
            <a:chExt cx="11287124" cy="176212"/>
          </a:xfrm>
        </p:grpSpPr>
        <p:sp>
          <p:nvSpPr>
            <p:cNvPr id="20" name="TextBox 20"/>
            <p:cNvSpPr txBox="1"/>
            <p:nvPr/>
          </p:nvSpPr>
          <p:spPr>
            <a:xfrm>
              <a:off x="452438" y="6477000"/>
              <a:ext cx="6570600" cy="176212"/>
            </a:xfrm>
            <a:prstGeom prst="rect">
              <a:avLst/>
            </a:prstGeom>
            <a:noFill/>
            <a:ln>
              <a:noFill/>
            </a:ln>
          </p:spPr>
          <p:txBody>
            <a:bodyPr wrap="none" lIns="0" tIns="0" rIns="0" bIns="0" anchor="t" anchorCtr="0">
              <a:spAutoFit/>
            </a:bodyPr>
            <a:lstStyle/>
            <a:p>
              <a:pPr algn="l"/>
              <a:r>
                <a:rPr lang="en-US" sz="900" dirty="0">
                  <a:solidFill>
                    <a:schemeClr val="accent5"/>
                  </a:solidFill>
                  <a:latin typeface="+mn-lt"/>
                  <a:ea typeface="+mn-ea"/>
                  <a:cs typeface="+mn-cs"/>
                </a:rPr>
                <a:t>Primary reference: Chen et al., Evaluating Large Language Models Trained on Code (2021); link on page 37 and in notes.</a:t>
              </a:r>
            </a:p>
          </p:txBody>
        </p:sp>
        <p:sp>
          <p:nvSpPr>
            <p:cNvPr id="21" name="TextBox 21"/>
            <p:cNvSpPr txBox="1"/>
            <p:nvPr/>
          </p:nvSpPr>
          <p:spPr>
            <a:xfrm>
              <a:off x="11359512" y="6477000"/>
              <a:ext cx="380050" cy="176212"/>
            </a:xfrm>
            <a:prstGeom prst="rect">
              <a:avLst/>
            </a:prstGeom>
            <a:noFill/>
            <a:ln>
              <a:noFill/>
            </a:ln>
          </p:spPr>
          <p:txBody>
            <a:bodyPr wrap="none" lIns="0" tIns="0" rIns="0" bIns="0" anchor="t" anchorCtr="0">
              <a:spAutoFit/>
            </a:bodyPr>
            <a:lstStyle/>
            <a:p>
              <a:pPr algn="r"/>
              <a:r>
                <a:rPr lang="en-US" sz="900" dirty="0">
                  <a:solidFill>
                    <a:schemeClr val="accent5"/>
                  </a:solidFill>
                  <a:latin typeface="+mn-lt"/>
                  <a:ea typeface="+mn-ea"/>
                  <a:cs typeface="+mn-cs"/>
                </a:rPr>
                <a:t>34 / 37</a:t>
              </a:r>
            </a:p>
          </p:txBody>
        </p:sp>
      </p:grpSp>
    </p:spTree>
  </p:cSld>
  <p:clrMapOvr>
    <a:masterClrMapping/>
  </p:clrMapOvr>
  <p:transition xmlns:p14="http://schemas.microsoft.com/office/powerpoint/2010/main" p14:dur="400">
    <p:fade/>
  </p:transition>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5" name="title"/>
          <p:cNvGrpSpPr/>
          <p:nvPr/>
        </p:nvGrpSpPr>
        <p:grpSpPr>
          <a:xfrm>
            <a:off x="443484" y="371475"/>
            <a:ext cx="9300925" cy="1110107"/>
            <a:chOff x="443484" y="371475"/>
            <a:chExt cx="9300925" cy="1110107"/>
          </a:xfrm>
        </p:grpSpPr>
        <p:sp>
          <p:nvSpPr>
            <p:cNvPr id="2" name="TextBox 2"/>
            <p:cNvSpPr txBox="1"/>
            <p:nvPr/>
          </p:nvSpPr>
          <p:spPr>
            <a:xfrm>
              <a:off x="451104" y="371475"/>
              <a:ext cx="4033362" cy="234696"/>
            </a:xfrm>
            <a:prstGeom prst="rect">
              <a:avLst/>
            </a:prstGeom>
            <a:noFill/>
            <a:ln>
              <a:noFill/>
            </a:ln>
          </p:spPr>
          <p:txBody>
            <a:bodyPr wrap="none" lIns="0" tIns="0" rIns="0" bIns="0" anchor="t" anchorCtr="0">
              <a:spAutoFit/>
            </a:bodyPr>
            <a:lstStyle/>
            <a:p>
              <a:pPr algn="l"/>
              <a:r>
                <a:rPr lang="en-US" sz="1200" dirty="0">
                  <a:solidFill>
                    <a:schemeClr val="accent2"/>
                  </a:solidFill>
                  <a:latin typeface="+mn-lt"/>
                  <a:ea typeface="+mn-ea"/>
                  <a:cs typeface="+mn-cs"/>
                </a:rPr>
                <a:t>APPENDIX / DENOMINATORS AND COMPARISON</a:t>
              </a:r>
            </a:p>
          </p:txBody>
        </p:sp>
        <p:sp>
          <p:nvSpPr>
            <p:cNvPr id="3" name="TextBox 3"/>
            <p:cNvSpPr txBox="1"/>
            <p:nvPr/>
          </p:nvSpPr>
          <p:spPr>
            <a:xfrm>
              <a:off x="443484" y="603250"/>
              <a:ext cx="6045052" cy="528066"/>
            </a:xfrm>
            <a:prstGeom prst="rect">
              <a:avLst/>
            </a:prstGeom>
            <a:noFill/>
            <a:ln>
              <a:noFill/>
            </a:ln>
          </p:spPr>
          <p:txBody>
            <a:bodyPr wrap="none" lIns="0" tIns="0" rIns="0" bIns="0" anchor="t" anchorCtr="0">
              <a:spAutoFit/>
            </a:bodyPr>
            <a:lstStyle/>
            <a:p>
              <a:pPr algn="l"/>
              <a:r>
                <a:rPr lang="en-US" sz="2700" dirty="0">
                  <a:solidFill>
                    <a:schemeClr val="accent1"/>
                  </a:solidFill>
                  <a:latin typeface="+mj-lt"/>
                  <a:ea typeface="+mj-ea"/>
                  <a:cs typeface="+mj-cs"/>
                </a:rPr>
                <a:t>Pair accepted-task rate with full cost</a:t>
              </a:r>
            </a:p>
          </p:txBody>
        </p:sp>
        <p:sp>
          <p:nvSpPr>
            <p:cNvPr id="4" name="TextBox 4"/>
            <p:cNvSpPr txBox="1"/>
            <p:nvPr/>
          </p:nvSpPr>
          <p:spPr>
            <a:xfrm>
              <a:off x="448818" y="1158875"/>
              <a:ext cx="9295591" cy="322707"/>
            </a:xfrm>
            <a:prstGeom prst="rect">
              <a:avLst/>
            </a:prstGeom>
            <a:noFill/>
            <a:ln>
              <a:noFill/>
            </a:ln>
          </p:spPr>
          <p:txBody>
            <a:bodyPr wrap="none" lIns="0" tIns="0" rIns="0" bIns="0" anchor="t" anchorCtr="0">
              <a:spAutoFit/>
            </a:bodyPr>
            <a:lstStyle/>
            <a:p>
              <a:pPr algn="l"/>
              <a:r>
                <a:rPr lang="en-US" sz="1650" dirty="0">
                  <a:solidFill>
                    <a:schemeClr val="accent1"/>
                  </a:solidFill>
                  <a:latin typeface="+mn-lt"/>
                  <a:ea typeface="+mn-ea"/>
                  <a:cs typeface="+mn-cs"/>
                </a:rPr>
                <a:t>Agree eligibility, completion, exclusions, quality and task mix before reporting an improvement.</a:t>
              </a:r>
            </a:p>
          </p:txBody>
        </p:sp>
      </p:grpSp>
      <p:graphicFrame>
        <p:nvGraphicFramePr>
          <p:cNvPr id="6" name="measurement-contract"/>
          <p:cNvGraphicFramePr>
            <a:graphicFrameLocks noGrp="1"/>
          </p:cNvGraphicFramePr>
          <p:nvPr/>
        </p:nvGraphicFramePr>
        <p:xfrm>
          <a:off x="457200" y="1752600"/>
          <a:ext cx="11277600" cy="3619500"/>
        </p:xfrm>
        <a:graphic>
          <a:graphicData uri="http://schemas.openxmlformats.org/drawingml/2006/table">
            <a:tbl>
              <a:tblPr firstRow="1" bandRow="0">
                <a:tableStyleId>{5C22544A-7EE6-4342-B048-85BDC9FD1C3A}</a:tableStyleId>
              </a:tblPr>
              <a:tblGrid>
                <a:gridCol w="2476500"/>
                <a:gridCol w="4381500"/>
                <a:gridCol w="4419600"/>
              </a:tblGrid>
              <a:tr h="495300">
                <a:tc>
                  <a:txBody>
                    <a:bodyPr/>
                    <a:lstStyle/>
                    <a:p>
                      <a:pPr/>
                      <a:r>
                        <a:rPr lang="en-US" sz="1350" b="1">
                          <a:solidFill>
                            <a:srgbClr val="FFFDF7"/>
                          </a:solidFill>
                          <a:latin typeface="Arial"/>
                          <a:ea typeface="Microsoft YaHei"/>
                          <a:cs typeface="Arial"/>
                        </a:rPr>
                        <a:t>Measure</a:t>
                      </a:r>
                    </a:p>
                  </a:txBody>
                  <a:tcPr anchor="ctr" marL="152400" marR="152400" marT="76200" marB="76200">
                    <a:lnL>
                      <a:noFill/>
                    </a:lnL>
                    <a:lnR>
                      <a:noFill/>
                    </a:lnR>
                    <a:lnT>
                      <a:noFill/>
                    </a:lnT>
                    <a:lnB w="9525">
                      <a:solidFill>
                        <a:schemeClr val="accent6"/>
                      </a:solidFill>
                      <a:prstDash val="solid"/>
                    </a:lnB>
                    <a:solidFill>
                      <a:schemeClr val="accent1"/>
                    </a:solidFill>
                  </a:tcPr>
                </a:tc>
                <a:tc>
                  <a:txBody>
                    <a:bodyPr/>
                    <a:lstStyle/>
                    <a:p>
                      <a:pPr/>
                      <a:r>
                        <a:rPr lang="en-US" sz="1350" b="1">
                          <a:solidFill>
                            <a:srgbClr val="FFFDF7"/>
                          </a:solidFill>
                          <a:latin typeface="Arial"/>
                          <a:ea typeface="Microsoft YaHei"/>
                          <a:cs typeface="Arial"/>
                        </a:rPr>
                        <a:t>Definition to agree</a:t>
                      </a:r>
                    </a:p>
                  </a:txBody>
                  <a:tcPr anchor="ctr" marL="152400" marR="152400" marT="76200" marB="76200">
                    <a:lnL>
                      <a:noFill/>
                    </a:lnL>
                    <a:lnR>
                      <a:noFill/>
                    </a:lnR>
                    <a:lnT>
                      <a:noFill/>
                    </a:lnT>
                    <a:lnB w="9525">
                      <a:solidFill>
                        <a:schemeClr val="accent6"/>
                      </a:solidFill>
                      <a:prstDash val="solid"/>
                    </a:lnB>
                    <a:solidFill>
                      <a:schemeClr val="accent1"/>
                    </a:solidFill>
                  </a:tcPr>
                </a:tc>
                <a:tc>
                  <a:txBody>
                    <a:bodyPr/>
                    <a:lstStyle/>
                    <a:p>
                      <a:pPr/>
                      <a:r>
                        <a:rPr lang="en-US" sz="1350" b="1">
                          <a:solidFill>
                            <a:srgbClr val="FFFDF7"/>
                          </a:solidFill>
                          <a:latin typeface="Arial"/>
                          <a:ea typeface="Microsoft YaHei"/>
                          <a:cs typeface="Arial"/>
                        </a:rPr>
                        <a:t>Interpretation boundary</a:t>
                      </a:r>
                    </a:p>
                  </a:txBody>
                  <a:tcPr anchor="ctr" marL="152400" marR="152400" marT="76200" marB="76200">
                    <a:lnL>
                      <a:noFill/>
                    </a:lnL>
                    <a:lnR>
                      <a:noFill/>
                    </a:lnR>
                    <a:lnT>
                      <a:noFill/>
                    </a:lnT>
                    <a:lnB w="9525">
                      <a:solidFill>
                        <a:schemeClr val="accent6"/>
                      </a:solidFill>
                      <a:prstDash val="solid"/>
                    </a:lnB>
                    <a:solidFill>
                      <a:schemeClr val="accent1"/>
                    </a:solidFill>
                  </a:tcPr>
                </a:tc>
              </a:tr>
              <a:tr h="781050">
                <a:tc>
                  <a:txBody>
                    <a:bodyPr/>
                    <a:lstStyle/>
                    <a:p>
                      <a:pPr/>
                      <a:r>
                        <a:rPr lang="en-US" sz="1350" b="0">
                          <a:solidFill>
                            <a:schemeClr val="dk1"/>
                          </a:solidFill>
                          <a:latin typeface="Arial"/>
                          <a:ea typeface="Microsoft YaHei"/>
                          <a:cs typeface="Arial"/>
                        </a:rPr>
                        <a:t>Accepted-task rate</a:t>
                      </a:r>
                    </a:p>
                  </a:txBody>
                  <a:tcPr anchor="ctr" marL="152400" marR="152400" marT="76200" marB="76200">
                    <a:lnL>
                      <a:noFill/>
                    </a:lnL>
                    <a:lnR>
                      <a:noFill/>
                    </a:lnR>
                    <a:lnT>
                      <a:noFill/>
                    </a:lnT>
                    <a:lnB w="9525">
                      <a:solidFill>
                        <a:schemeClr val="accent6"/>
                      </a:solidFill>
                      <a:prstDash val="solid"/>
                    </a:lnB>
                    <a:noFill/>
                  </a:tcPr>
                </a:tc>
                <a:tc>
                  <a:txBody>
                    <a:bodyPr/>
                    <a:lstStyle/>
                    <a:p>
                      <a:pPr/>
                      <a:r>
                        <a:rPr lang="en-US" sz="1350" b="0">
                          <a:solidFill>
                            <a:schemeClr val="dk1"/>
                          </a:solidFill>
                          <a:latin typeface="Arial"/>
                          <a:ea typeface="Microsoft YaHei"/>
                          <a:cs typeface="Arial"/>
                        </a:rPr>
                        <a:t>Accepted / eligible assigned tasks.</a:t>
                      </a:r>
                    </a:p>
                  </a:txBody>
                  <a:tcPr anchor="ctr" marL="152400" marR="152400" marT="76200" marB="76200">
                    <a:lnL>
                      <a:noFill/>
                    </a:lnL>
                    <a:lnR>
                      <a:noFill/>
                    </a:lnR>
                    <a:lnT>
                      <a:noFill/>
                    </a:lnT>
                    <a:lnB w="9525">
                      <a:solidFill>
                        <a:schemeClr val="accent6"/>
                      </a:solidFill>
                      <a:prstDash val="solid"/>
                    </a:lnB>
                    <a:noFill/>
                  </a:tcPr>
                </a:tc>
                <a:tc>
                  <a:txBody>
                    <a:bodyPr/>
                    <a:lstStyle/>
                    <a:p>
                      <a:pPr/>
                      <a:r>
                        <a:rPr lang="en-US" sz="1350" b="0">
                          <a:solidFill>
                            <a:schemeClr val="dk1"/>
                          </a:solidFill>
                          <a:latin typeface="Arial"/>
                          <a:ea typeface="Microsoft YaHei"/>
                          <a:cs typeface="Arial"/>
                        </a:rPr>
                        <a:t>Show excluded, rejected and abandoned outcomes.</a:t>
                      </a:r>
                    </a:p>
                  </a:txBody>
                  <a:tcPr anchor="ctr" marL="152400" marR="152400" marT="76200" marB="76200">
                    <a:lnL>
                      <a:noFill/>
                    </a:lnL>
                    <a:lnR>
                      <a:noFill/>
                    </a:lnR>
                    <a:lnT>
                      <a:noFill/>
                    </a:lnT>
                    <a:lnB w="9525">
                      <a:solidFill>
                        <a:schemeClr val="accent6"/>
                      </a:solidFill>
                      <a:prstDash val="solid"/>
                    </a:lnB>
                    <a:noFill/>
                  </a:tcPr>
                </a:tc>
              </a:tr>
              <a:tr h="781050">
                <a:tc>
                  <a:txBody>
                    <a:bodyPr/>
                    <a:lstStyle/>
                    <a:p>
                      <a:pPr/>
                      <a:r>
                        <a:rPr lang="en-US" sz="1350" b="0">
                          <a:solidFill>
                            <a:schemeClr val="dk1"/>
                          </a:solidFill>
                          <a:latin typeface="Arial"/>
                          <a:ea typeface="Microsoft YaHei"/>
                          <a:cs typeface="Arial"/>
                        </a:rPr>
                        <a:t>Cost per accepted task</a:t>
                      </a:r>
                    </a:p>
                  </a:txBody>
                  <a:tcPr anchor="ctr" marL="152400" marR="152400" marT="76200" marB="76200">
                    <a:lnL>
                      <a:noFill/>
                    </a:lnL>
                    <a:lnR>
                      <a:noFill/>
                    </a:lnR>
                    <a:lnT>
                      <a:noFill/>
                    </a:lnT>
                    <a:lnB w="9525">
                      <a:solidFill>
                        <a:schemeClr val="accent6"/>
                      </a:solidFill>
                      <a:prstDash val="solid"/>
                    </a:lnB>
                    <a:noFill/>
                  </a:tcPr>
                </a:tc>
                <a:tc>
                  <a:txBody>
                    <a:bodyPr/>
                    <a:lstStyle/>
                    <a:p>
                      <a:pPr/>
                      <a:r>
                        <a:rPr lang="en-US" sz="1350" b="0">
                          <a:solidFill>
                            <a:schemeClr val="dk1"/>
                          </a:solidFill>
                          <a:latin typeface="Arial"/>
                          <a:ea typeface="Microsoft YaHei"/>
                          <a:cs typeface="Arial"/>
                        </a:rPr>
                        <a:t>Total workflow cost / accepted tasks.</a:t>
                      </a:r>
                    </a:p>
                  </a:txBody>
                  <a:tcPr anchor="ctr" marL="152400" marR="152400" marT="76200" marB="76200">
                    <a:lnL>
                      <a:noFill/>
                    </a:lnL>
                    <a:lnR>
                      <a:noFill/>
                    </a:lnR>
                    <a:lnT>
                      <a:noFill/>
                    </a:lnT>
                    <a:lnB w="9525">
                      <a:solidFill>
                        <a:schemeClr val="accent6"/>
                      </a:solidFill>
                      <a:prstDash val="solid"/>
                    </a:lnB>
                    <a:noFill/>
                  </a:tcPr>
                </a:tc>
                <a:tc>
                  <a:txBody>
                    <a:bodyPr/>
                    <a:lstStyle/>
                    <a:p>
                      <a:pPr/>
                      <a:r>
                        <a:rPr lang="en-US" sz="1350" b="0">
                          <a:solidFill>
                            <a:schemeClr val="dk1"/>
                          </a:solidFill>
                          <a:latin typeface="Arial"/>
                          <a:ea typeface="Microsoft YaHei"/>
                          <a:cs typeface="Arial"/>
                        </a:rPr>
                        <a:t>Include failed attempts, retries, verification, review and rework.</a:t>
                      </a:r>
                    </a:p>
                  </a:txBody>
                  <a:tcPr anchor="ctr" marL="152400" marR="152400" marT="76200" marB="76200">
                    <a:lnL>
                      <a:noFill/>
                    </a:lnL>
                    <a:lnR>
                      <a:noFill/>
                    </a:lnR>
                    <a:lnT>
                      <a:noFill/>
                    </a:lnT>
                    <a:lnB w="9525">
                      <a:solidFill>
                        <a:schemeClr val="accent6"/>
                      </a:solidFill>
                      <a:prstDash val="solid"/>
                    </a:lnB>
                    <a:noFill/>
                  </a:tcPr>
                </a:tc>
              </a:tr>
              <a:tr h="781050">
                <a:tc>
                  <a:txBody>
                    <a:bodyPr/>
                    <a:lstStyle/>
                    <a:p>
                      <a:pPr/>
                      <a:r>
                        <a:rPr lang="en-US" sz="1350" b="0">
                          <a:solidFill>
                            <a:schemeClr val="dk1"/>
                          </a:solidFill>
                          <a:latin typeface="Arial"/>
                          <a:ea typeface="Microsoft YaHei"/>
                          <a:cs typeface="Arial"/>
                        </a:rPr>
                        <a:t>Capacity</a:t>
                      </a:r>
                    </a:p>
                  </a:txBody>
                  <a:tcPr anchor="ctr" marL="152400" marR="152400" marT="76200" marB="76200">
                    <a:lnL>
                      <a:noFill/>
                    </a:lnL>
                    <a:lnR>
                      <a:noFill/>
                    </a:lnR>
                    <a:lnT>
                      <a:noFill/>
                    </a:lnT>
                    <a:lnB w="9525">
                      <a:solidFill>
                        <a:schemeClr val="accent6"/>
                      </a:solidFill>
                      <a:prstDash val="solid"/>
                    </a:lnB>
                    <a:noFill/>
                  </a:tcPr>
                </a:tc>
                <a:tc>
                  <a:txBody>
                    <a:bodyPr/>
                    <a:lstStyle/>
                    <a:p>
                      <a:pPr/>
                      <a:r>
                        <a:rPr lang="en-US" sz="1350" b="0">
                          <a:solidFill>
                            <a:schemeClr val="dk1"/>
                          </a:solidFill>
                          <a:latin typeface="Arial"/>
                          <a:ea typeface="Microsoft YaHei"/>
                          <a:cs typeface="Arial"/>
                        </a:rPr>
                        <a:t>Accepted outputs / human effort or period.</a:t>
                      </a:r>
                    </a:p>
                  </a:txBody>
                  <a:tcPr anchor="ctr" marL="152400" marR="152400" marT="76200" marB="76200">
                    <a:lnL>
                      <a:noFill/>
                    </a:lnL>
                    <a:lnR>
                      <a:noFill/>
                    </a:lnR>
                    <a:lnT>
                      <a:noFill/>
                    </a:lnT>
                    <a:lnB w="9525">
                      <a:solidFill>
                        <a:schemeClr val="accent6"/>
                      </a:solidFill>
                      <a:prstDash val="solid"/>
                    </a:lnB>
                    <a:noFill/>
                  </a:tcPr>
                </a:tc>
                <a:tc>
                  <a:txBody>
                    <a:bodyPr/>
                    <a:lstStyle/>
                    <a:p>
                      <a:pPr/>
                      <a:r>
                        <a:rPr lang="en-US" sz="1350" b="0">
                          <a:solidFill>
                            <a:schemeClr val="dk1"/>
                          </a:solidFill>
                          <a:latin typeface="Arial"/>
                          <a:ea typeface="Microsoft YaHei"/>
                          <a:cs typeface="Arial"/>
                        </a:rPr>
                        <a:t>Compare equivalent work, quality and task mix.</a:t>
                      </a:r>
                    </a:p>
                  </a:txBody>
                  <a:tcPr anchor="ctr" marL="152400" marR="152400" marT="76200" marB="76200">
                    <a:lnL>
                      <a:noFill/>
                    </a:lnL>
                    <a:lnR>
                      <a:noFill/>
                    </a:lnR>
                    <a:lnT>
                      <a:noFill/>
                    </a:lnT>
                    <a:lnB w="9525">
                      <a:solidFill>
                        <a:schemeClr val="accent6"/>
                      </a:solidFill>
                      <a:prstDash val="solid"/>
                    </a:lnB>
                    <a:noFill/>
                  </a:tcPr>
                </a:tc>
              </a:tr>
              <a:tr h="781050">
                <a:tc>
                  <a:txBody>
                    <a:bodyPr/>
                    <a:lstStyle/>
                    <a:p>
                      <a:pPr/>
                      <a:r>
                        <a:rPr lang="en-US" sz="1350" b="0">
                          <a:solidFill>
                            <a:schemeClr val="dk1"/>
                          </a:solidFill>
                          <a:latin typeface="Arial"/>
                          <a:ea typeface="Microsoft YaHei"/>
                          <a:cs typeface="Arial"/>
                        </a:rPr>
                        <a:t>Business impact</a:t>
                      </a:r>
                    </a:p>
                  </a:txBody>
                  <a:tcPr anchor="ctr" marL="152400" marR="152400" marT="76200" marB="76200">
                    <a:lnL>
                      <a:noFill/>
                    </a:lnL>
                    <a:lnR>
                      <a:noFill/>
                    </a:lnR>
                    <a:lnT>
                      <a:noFill/>
                    </a:lnT>
                    <a:lnB w="9525">
                      <a:solidFill>
                        <a:schemeClr val="accent6"/>
                      </a:solidFill>
                      <a:prstDash val="solid"/>
                    </a:lnB>
                    <a:noFill/>
                  </a:tcPr>
                </a:tc>
                <a:tc>
                  <a:txBody>
                    <a:bodyPr/>
                    <a:lstStyle/>
                    <a:p>
                      <a:pPr/>
                      <a:r>
                        <a:rPr lang="en-US" sz="1350" b="0">
                          <a:solidFill>
                            <a:schemeClr val="dk1"/>
                          </a:solidFill>
                          <a:latin typeface="Arial"/>
                          <a:ea typeface="Microsoft YaHei"/>
                          <a:cs typeface="Arial"/>
                        </a:rPr>
                        <a:t>Outcome against a credible alternative.</a:t>
                      </a:r>
                    </a:p>
                  </a:txBody>
                  <a:tcPr anchor="ctr" marL="152400" marR="152400" marT="76200" marB="76200">
                    <a:lnL>
                      <a:noFill/>
                    </a:lnL>
                    <a:lnR>
                      <a:noFill/>
                    </a:lnR>
                    <a:lnT>
                      <a:noFill/>
                    </a:lnT>
                    <a:lnB w="9525">
                      <a:solidFill>
                        <a:schemeClr val="accent6"/>
                      </a:solidFill>
                      <a:prstDash val="solid"/>
                    </a:lnB>
                    <a:noFill/>
                  </a:tcPr>
                </a:tc>
                <a:tc>
                  <a:txBody>
                    <a:bodyPr/>
                    <a:lstStyle/>
                    <a:p>
                      <a:pPr/>
                      <a:r>
                        <a:rPr lang="en-US" sz="1350" b="0">
                          <a:solidFill>
                            <a:schemeClr val="dk1"/>
                          </a:solidFill>
                          <a:latin typeface="Arial"/>
                          <a:ea typeface="Microsoft YaHei"/>
                          <a:cs typeface="Arial"/>
                        </a:rPr>
                        <a:t>Account for selection and other drivers; process speed is not causal revenue or returns.</a:t>
                      </a:r>
                    </a:p>
                  </a:txBody>
                  <a:tcPr anchor="ctr" marL="152400" marR="152400" marT="76200" marB="76200">
                    <a:lnL>
                      <a:noFill/>
                    </a:lnL>
                    <a:lnR>
                      <a:noFill/>
                    </a:lnR>
                    <a:lnT>
                      <a:noFill/>
                    </a:lnT>
                    <a:lnB w="9525">
                      <a:solidFill>
                        <a:schemeClr val="accent6"/>
                      </a:solidFill>
                      <a:prstDash val="solid"/>
                    </a:lnB>
                    <a:noFill/>
                  </a:tcPr>
                </a:tc>
              </a:tr>
            </a:tbl>
          </a:graphicData>
        </a:graphic>
      </p:graphicFrame>
      <p:grpSp>
        <p:nvGrpSpPr>
          <p:cNvPr id="8" name="effort-and-attribution"/>
          <p:cNvGrpSpPr/>
          <p:nvPr/>
        </p:nvGrpSpPr>
        <p:grpSpPr>
          <a:xfrm>
            <a:off x="450342" y="5591175"/>
            <a:ext cx="9296739" cy="759333"/>
            <a:chOff x="450342" y="5591175"/>
            <a:chExt cx="9296739" cy="759333"/>
          </a:xfrm>
        </p:grpSpPr>
        <p:sp>
          <p:nvSpPr>
            <p:cNvPr id="7" name="TextBox 7"/>
            <p:cNvSpPr txBox="1"/>
            <p:nvPr/>
          </p:nvSpPr>
          <p:spPr>
            <a:xfrm>
              <a:off x="450342" y="5591175"/>
              <a:ext cx="9296739" cy="759333"/>
            </a:xfrm>
            <a:prstGeom prst="rect">
              <a:avLst/>
            </a:prstGeom>
            <a:noFill/>
            <a:ln>
              <a:noFill/>
            </a:ln>
          </p:spPr>
          <p:txBody>
            <a:bodyPr wrap="none" lIns="0" tIns="0" rIns="0" bIns="0" anchor="t" anchorCtr="0">
              <a:spAutoFit/>
            </a:bodyPr>
            <a:lstStyle/>
            <a:p>
              <a:pPr algn="l">
                <a:lnSpc>
                  <a:spcPts val="1950"/>
                </a:lnSpc>
              </a:pPr>
              <a:r>
                <a:rPr lang="en-US" sz="1350" dirty="0">
                  <a:solidFill>
                    <a:schemeClr val="dk1"/>
                  </a:solidFill>
                  <a:latin typeface="+mn-lt"/>
                  <a:ea typeface="+mn-ea"/>
                  <a:cs typeface="+mn-cs"/>
                </a:rPr>
                <a:t>Count preparation, correction, evidence checking, approval and follow-up alongside system costs. Report both acceptance</a:t>
              </a:r>
              <a:br>
                <a:rPr lang="en-US" sz="1350" dirty="0">
                  <a:solidFill>
                    <a:schemeClr val="dk1"/>
                  </a:solidFill>
                  <a:latin typeface="+mn-lt"/>
                  <a:ea typeface="+mn-ea"/>
                  <a:cs typeface="+mn-cs"/>
                </a:rPr>
              </a:br>
              <a:r>
                <a:rPr lang="en-US" sz="1350" dirty="0">
                  <a:solidFill>
                    <a:schemeClr val="dk1"/>
                  </a:solidFill>
                  <a:latin typeface="+mn-lt"/>
                  <a:ea typeface="+mn-ea"/>
                  <a:cs typeface="+mn-cs"/>
                </a:rPr>
                <a:t>rate and unit cost: low cost can coexist with poor coverage. Contour’s roughly three-month tracking account contains no</a:t>
              </a:r>
              <a:br>
                <a:rPr lang="en-US" sz="1350" dirty="0">
                  <a:solidFill>
                    <a:schemeClr val="dk1"/>
                  </a:solidFill>
                  <a:latin typeface="+mn-lt"/>
                  <a:ea typeface="+mn-ea"/>
                  <a:cs typeface="+mn-cs"/>
                </a:rPr>
              </a:br>
              <a:r>
                <a:rPr lang="en-US" sz="1350" dirty="0">
                  <a:solidFill>
                    <a:schemeClr val="dk1"/>
                  </a:solidFill>
                  <a:latin typeface="+mn-lt"/>
                  <a:ea typeface="+mn-ea"/>
                  <a:cs typeface="+mn-cs"/>
                </a:rPr>
                <a:t>captured sample, assignment, controls or causal estimate; it motivates a comparison, not a universal validation window.</a:t>
              </a:r>
            </a:p>
          </p:txBody>
        </p:sp>
      </p:grpSp>
      <p:grpSp>
        <p:nvGrpSpPr>
          <p:cNvPr id="11" name="footer"/>
          <p:cNvGrpSpPr/>
          <p:nvPr/>
        </p:nvGrpSpPr>
        <p:grpSpPr>
          <a:xfrm>
            <a:off x="452438" y="6505575"/>
            <a:ext cx="11287124" cy="176212"/>
            <a:chOff x="452438" y="6505575"/>
            <a:chExt cx="11287124" cy="176212"/>
          </a:xfrm>
        </p:grpSpPr>
        <p:sp>
          <p:nvSpPr>
            <p:cNvPr id="9" name="TextBox 9"/>
            <p:cNvSpPr txBox="1"/>
            <p:nvPr/>
          </p:nvSpPr>
          <p:spPr>
            <a:xfrm>
              <a:off x="452438" y="6505575"/>
              <a:ext cx="6071986" cy="176212"/>
            </a:xfrm>
            <a:prstGeom prst="rect">
              <a:avLst/>
            </a:prstGeom>
            <a:noFill/>
            <a:ln>
              <a:noFill/>
            </a:ln>
          </p:spPr>
          <p:txBody>
            <a:bodyPr wrap="none" lIns="0" tIns="0" rIns="0" bIns="0" anchor="t" anchorCtr="0">
              <a:spAutoFit/>
            </a:bodyPr>
            <a:lstStyle/>
            <a:p>
              <a:pPr algn="l"/>
              <a:r>
                <a:rPr lang="en-US" sz="900" dirty="0">
                  <a:solidFill>
                    <a:schemeClr val="accent5"/>
                  </a:solidFill>
                  <a:latin typeface="+mn-lt"/>
                  <a:ea typeface="+mn-ea"/>
                  <a:cs typeface="+mn-cs"/>
                </a:rPr>
                <a:t>Proposed measurement definitions informed by Contour. No ROI, capacity or causal financial effect is fabricated.</a:t>
              </a:r>
            </a:p>
          </p:txBody>
        </p:sp>
        <p:sp>
          <p:nvSpPr>
            <p:cNvPr id="10" name="TextBox 10"/>
            <p:cNvSpPr txBox="1"/>
            <p:nvPr/>
          </p:nvSpPr>
          <p:spPr>
            <a:xfrm>
              <a:off x="11359512" y="6505575"/>
              <a:ext cx="380050" cy="176212"/>
            </a:xfrm>
            <a:prstGeom prst="rect">
              <a:avLst/>
            </a:prstGeom>
            <a:noFill/>
            <a:ln>
              <a:noFill/>
            </a:ln>
          </p:spPr>
          <p:txBody>
            <a:bodyPr wrap="none" lIns="0" tIns="0" rIns="0" bIns="0" anchor="t" anchorCtr="0">
              <a:spAutoFit/>
            </a:bodyPr>
            <a:lstStyle/>
            <a:p>
              <a:pPr algn="r"/>
              <a:r>
                <a:rPr lang="en-US" sz="900" dirty="0">
                  <a:solidFill>
                    <a:schemeClr val="accent5"/>
                  </a:solidFill>
                  <a:latin typeface="+mn-lt"/>
                  <a:ea typeface="+mn-ea"/>
                  <a:cs typeface="+mn-cs"/>
                </a:rPr>
                <a:t>35 / 37</a:t>
              </a:r>
            </a:p>
          </p:txBody>
        </p:sp>
      </p:grpSp>
    </p:spTree>
  </p:cSld>
  <p:clrMapOvr>
    <a:masterClrMapping/>
  </p:clrMapOvr>
  <p:transition xmlns:p14="http://schemas.microsoft.com/office/powerpoint/2010/main" p14:dur="400">
    <p:fade/>
  </p:transition>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5" name="title"/>
          <p:cNvGrpSpPr/>
          <p:nvPr/>
        </p:nvGrpSpPr>
        <p:grpSpPr>
          <a:xfrm>
            <a:off x="443484" y="361950"/>
            <a:ext cx="9693763" cy="1100582"/>
            <a:chOff x="443484" y="361950"/>
            <a:chExt cx="9693763" cy="1100582"/>
          </a:xfrm>
        </p:grpSpPr>
        <p:sp>
          <p:nvSpPr>
            <p:cNvPr id="2" name="TextBox 2"/>
            <p:cNvSpPr txBox="1"/>
            <p:nvPr/>
          </p:nvSpPr>
          <p:spPr>
            <a:xfrm>
              <a:off x="451104" y="361950"/>
              <a:ext cx="2971068" cy="234696"/>
            </a:xfrm>
            <a:prstGeom prst="rect">
              <a:avLst/>
            </a:prstGeom>
            <a:noFill/>
            <a:ln>
              <a:noFill/>
            </a:ln>
          </p:spPr>
          <p:txBody>
            <a:bodyPr wrap="none" lIns="0" tIns="0" rIns="0" bIns="0" anchor="t" anchorCtr="0">
              <a:spAutoFit/>
            </a:bodyPr>
            <a:lstStyle/>
            <a:p>
              <a:pPr algn="l"/>
              <a:r>
                <a:rPr lang="en-US" sz="1200" dirty="0">
                  <a:solidFill>
                    <a:schemeClr val="accent2"/>
                  </a:solidFill>
                  <a:latin typeface="+mn-lt"/>
                  <a:ea typeface="+mn-ea"/>
                  <a:cs typeface="+mn-cs"/>
                </a:rPr>
                <a:t>REFERENCE / RECORDING REVIEW</a:t>
              </a:r>
            </a:p>
          </p:txBody>
        </p:sp>
        <p:sp>
          <p:nvSpPr>
            <p:cNvPr id="3" name="TextBox 3"/>
            <p:cNvSpPr txBox="1"/>
            <p:nvPr/>
          </p:nvSpPr>
          <p:spPr>
            <a:xfrm>
              <a:off x="443484" y="593725"/>
              <a:ext cx="9693763" cy="528066"/>
            </a:xfrm>
            <a:prstGeom prst="rect">
              <a:avLst/>
            </a:prstGeom>
            <a:noFill/>
            <a:ln>
              <a:noFill/>
            </a:ln>
          </p:spPr>
          <p:txBody>
            <a:bodyPr wrap="none" lIns="0" tIns="0" rIns="0" bIns="0" anchor="t" anchorCtr="0">
              <a:spAutoFit/>
            </a:bodyPr>
            <a:lstStyle/>
            <a:p>
              <a:pPr algn="l"/>
              <a:r>
                <a:rPr lang="en-US" sz="2700" dirty="0">
                  <a:solidFill>
                    <a:schemeClr val="accent1"/>
                  </a:solidFill>
                  <a:latin typeface="+mj-lt"/>
                  <a:ea typeface="+mj-ea"/>
                  <a:cs typeface="+mj-cs"/>
                </a:rPr>
                <a:t>The recordings clarify methods and expose open questions</a:t>
              </a:r>
            </a:p>
          </p:txBody>
        </p:sp>
        <p:sp>
          <p:nvSpPr>
            <p:cNvPr id="4" name="TextBox 4"/>
            <p:cNvSpPr txBox="1"/>
            <p:nvPr/>
          </p:nvSpPr>
          <p:spPr>
            <a:xfrm>
              <a:off x="448818" y="1139825"/>
              <a:ext cx="9160258" cy="322707"/>
            </a:xfrm>
            <a:prstGeom prst="rect">
              <a:avLst/>
            </a:prstGeom>
            <a:noFill/>
            <a:ln>
              <a:noFill/>
            </a:ln>
          </p:spPr>
          <p:txBody>
            <a:bodyPr wrap="none" lIns="0" tIns="0" rIns="0" bIns="0" anchor="t" anchorCtr="0">
              <a:spAutoFit/>
            </a:bodyPr>
            <a:lstStyle/>
            <a:p>
              <a:pPr algn="l"/>
              <a:r>
                <a:rPr lang="en-US" sz="1650" dirty="0">
                  <a:solidFill>
                    <a:schemeClr val="accent5"/>
                  </a:solidFill>
                  <a:latin typeface="+mn-lt"/>
                  <a:ea typeface="+mn-ea"/>
                  <a:cs typeface="+mn-cs"/>
                </a:rPr>
                <a:t>Keep clarified mechanisms, separate talk editions and specific unanswered questions visible.</a:t>
              </a:r>
            </a:p>
          </p:txBody>
        </p:sp>
      </p:grpSp>
      <p:grpSp>
        <p:nvGrpSpPr>
          <p:cNvPr id="8" name="analysis-1"/>
          <p:cNvGrpSpPr/>
          <p:nvPr/>
        </p:nvGrpSpPr>
        <p:grpSpPr>
          <a:xfrm>
            <a:off x="448056" y="1895475"/>
            <a:ext cx="3130106" cy="3236595"/>
            <a:chOff x="448056" y="1895475"/>
            <a:chExt cx="3130106" cy="3236595"/>
          </a:xfrm>
        </p:grpSpPr>
        <p:sp>
          <p:nvSpPr>
            <p:cNvPr id="6" name="TextBox 6"/>
            <p:cNvSpPr txBox="1"/>
            <p:nvPr/>
          </p:nvSpPr>
          <p:spPr>
            <a:xfrm>
              <a:off x="448056" y="1895475"/>
              <a:ext cx="971569" cy="352044"/>
            </a:xfrm>
            <a:prstGeom prst="rect">
              <a:avLst/>
            </a:prstGeom>
            <a:noFill/>
            <a:ln>
              <a:noFill/>
            </a:ln>
          </p:spPr>
          <p:txBody>
            <a:bodyPr wrap="none" lIns="0" tIns="0" rIns="0" bIns="0" anchor="t" anchorCtr="0">
              <a:spAutoFit/>
            </a:bodyPr>
            <a:lstStyle/>
            <a:p>
              <a:pPr algn="l"/>
              <a:r>
                <a:rPr lang="en-US" sz="1800" dirty="0">
                  <a:solidFill>
                    <a:schemeClr val="accent2"/>
                  </a:solidFill>
                  <a:latin typeface="+mj-lt"/>
                  <a:ea typeface="+mj-ea"/>
                  <a:cs typeface="+mj-cs"/>
                </a:rPr>
                <a:t>Clarified</a:t>
              </a:r>
            </a:p>
          </p:txBody>
        </p:sp>
        <p:sp>
          <p:nvSpPr>
            <p:cNvPr id="7" name="TextBox 7"/>
            <p:cNvSpPr txBox="1"/>
            <p:nvPr/>
          </p:nvSpPr>
          <p:spPr>
            <a:xfrm>
              <a:off x="449580" y="2524125"/>
              <a:ext cx="3128582" cy="2607945"/>
            </a:xfrm>
            <a:prstGeom prst="rect">
              <a:avLst/>
            </a:prstGeom>
            <a:noFill/>
            <a:ln>
              <a:noFill/>
            </a:ln>
          </p:spPr>
          <p:txBody>
            <a:bodyPr wrap="none" lIns="0" tIns="0" rIns="0" bIns="0" anchor="t" anchorCtr="0">
              <a:spAutoFit/>
            </a:bodyPr>
            <a:lstStyle/>
            <a:p>
              <a:pPr algn="l">
                <a:lnSpc>
                  <a:spcPts val="2025"/>
                </a:lnSpc>
              </a:pPr>
              <a:r>
                <a:rPr lang="en-US" sz="1500" dirty="0">
                  <a:solidFill>
                    <a:schemeClr val="dk1"/>
                  </a:solidFill>
                  <a:latin typeface="+mn-lt"/>
                  <a:ea typeface="+mn-ea"/>
                  <a:cs typeface="+mn-cs"/>
                </a:rPr>
                <a:t>Bridgewater’s metric is</a:t>
              </a:r>
              <a:br>
                <a:rPr lang="en-US" sz="1500" dirty="0">
                  <a:solidFill>
                    <a:schemeClr val="dk1"/>
                  </a:solidFill>
                  <a:latin typeface="+mn-lt"/>
                  <a:ea typeface="+mn-ea"/>
                  <a:cs typeface="+mn-cs"/>
                </a:rPr>
              </a:br>
              <a:r>
                <a:rPr lang="en-US" sz="1500" dirty="0">
                  <a:solidFill>
                    <a:schemeClr val="dk1"/>
                  </a:solidFill>
                  <a:latin typeface="+mn-lt"/>
                  <a:ea typeface="+mn-ea"/>
                  <a:cs typeface="+mn-cs"/>
                </a:rPr>
                <a:t>precision@10 and its product</a:t>
              </a:r>
              <a:br>
                <a:rPr lang="en-US" sz="1500" dirty="0">
                  <a:solidFill>
                    <a:schemeClr val="dk1"/>
                  </a:solidFill>
                  <a:latin typeface="+mn-lt"/>
                  <a:ea typeface="+mn-ea"/>
                  <a:cs typeface="+mn-cs"/>
                </a:rPr>
              </a:br>
              <a:r>
                <a:rPr lang="en-US" sz="1500" dirty="0">
                  <a:solidFill>
                    <a:schemeClr val="dk1"/>
                  </a:solidFill>
                  <a:latin typeface="+mn-lt"/>
                  <a:ea typeface="+mn-ea"/>
                  <a:cs typeface="+mn-cs"/>
                </a:rPr>
                <a:t>direction is proactive</a:t>
              </a:r>
              <a:br>
                <a:rPr lang="en-US" sz="1500" dirty="0">
                  <a:solidFill>
                    <a:schemeClr val="dk1"/>
                  </a:solidFill>
                  <a:latin typeface="+mn-lt"/>
                  <a:ea typeface="+mn-ea"/>
                  <a:cs typeface="+mn-cs"/>
                </a:rPr>
              </a:br>
              <a:r>
                <a:rPr lang="en-US" sz="1500" dirty="0">
                  <a:solidFill>
                    <a:schemeClr val="dk1"/>
                  </a:solidFill>
                  <a:latin typeface="+mn-lt"/>
                  <a:ea typeface="+mn-ea"/>
                  <a:cs typeface="+mn-cs"/>
                </a:rPr>
                <a:t>participation. Range confirms an</a:t>
              </a:r>
              <a:br>
                <a:rPr lang="en-US" sz="1500" dirty="0">
                  <a:solidFill>
                    <a:schemeClr val="dk1"/>
                  </a:solidFill>
                  <a:latin typeface="+mn-lt"/>
                  <a:ea typeface="+mn-ea"/>
                  <a:cs typeface="+mn-cs"/>
                </a:rPr>
              </a:br>
              <a:r>
                <a:rPr lang="en-US" sz="1500" dirty="0">
                  <a:solidFill>
                    <a:schemeClr val="dk1"/>
                  </a:solidFill>
                  <a:latin typeface="+mn-lt"/>
                  <a:ea typeface="+mn-ea"/>
                  <a:cs typeface="+mn-cs"/>
                </a:rPr>
                <a:t>owner and separate reviewer. Kepler</a:t>
              </a:r>
              <a:br>
                <a:rPr lang="en-US" sz="1500" dirty="0">
                  <a:solidFill>
                    <a:schemeClr val="dk1"/>
                  </a:solidFill>
                  <a:latin typeface="+mn-lt"/>
                  <a:ea typeface="+mn-ea"/>
                  <a:cs typeface="+mn-cs"/>
                </a:rPr>
              </a:br>
              <a:r>
                <a:rPr lang="en-US" sz="1500" dirty="0">
                  <a:solidFill>
                    <a:schemeClr val="dk1"/>
                  </a:solidFill>
                  <a:latin typeface="+mn-lt"/>
                  <a:ea typeface="+mn-ea"/>
                  <a:cs typeface="+mn-cs"/>
                </a:rPr>
                <a:t>retains final post-processing.</a:t>
              </a:r>
              <a:br>
                <a:rPr lang="en-US" sz="1500" dirty="0">
                  <a:solidFill>
                    <a:schemeClr val="dk1"/>
                  </a:solidFill>
                  <a:latin typeface="+mn-lt"/>
                  <a:ea typeface="+mn-ea"/>
                  <a:cs typeface="+mn-cs"/>
                </a:rPr>
              </a:br>
              <a:r>
                <a:rPr lang="en-US" sz="1500" dirty="0">
                  <a:solidFill>
                    <a:schemeClr val="dk1"/>
                  </a:solidFill>
                  <a:latin typeface="+mn-lt"/>
                  <a:ea typeface="+mn-ea"/>
                  <a:cs typeface="+mn-cs"/>
                </a:rPr>
                <a:t>Vanguard’s</a:t>
              </a:r>
              <a:br>
                <a:rPr lang="en-US" sz="1500" dirty="0">
                  <a:solidFill>
                    <a:schemeClr val="dk1"/>
                  </a:solidFill>
                  <a:latin typeface="+mn-lt"/>
                  <a:ea typeface="+mn-ea"/>
                  <a:cs typeface="+mn-cs"/>
                </a:rPr>
              </a:br>
              <a:r>
                <a:rPr lang="en-US" sz="1500" dirty="0">
                  <a:solidFill>
                    <a:schemeClr val="dk1"/>
                  </a:solidFill>
                  <a:latin typeface="+mn-lt"/>
                  <a:ea typeface="+mn-ea"/>
                  <a:cs typeface="+mn-cs"/>
                </a:rPr>
                <a:t>seven-days-to-fifteen-minutes title</a:t>
              </a:r>
              <a:br>
                <a:rPr lang="en-US" sz="1500" dirty="0">
                  <a:solidFill>
                    <a:schemeClr val="dk1"/>
                  </a:solidFill>
                  <a:latin typeface="+mn-lt"/>
                  <a:ea typeface="+mn-ea"/>
                  <a:cs typeface="+mn-cs"/>
                </a:rPr>
              </a:br>
              <a:r>
                <a:rPr lang="en-US" sz="1500" dirty="0">
                  <a:solidFill>
                    <a:schemeClr val="dk1"/>
                  </a:solidFill>
                  <a:latin typeface="+mn-lt"/>
                  <a:ea typeface="+mn-ea"/>
                  <a:cs typeface="+mn-cs"/>
                </a:rPr>
                <a:t>concerns mainframe-code research,</a:t>
              </a:r>
              <a:br>
                <a:rPr lang="en-US" sz="1500" dirty="0">
                  <a:solidFill>
                    <a:schemeClr val="dk1"/>
                  </a:solidFill>
                  <a:latin typeface="+mn-lt"/>
                  <a:ea typeface="+mn-ea"/>
                  <a:cs typeface="+mn-cs"/>
                </a:rPr>
              </a:br>
              <a:r>
                <a:rPr lang="en-US" sz="1500" dirty="0">
                  <a:solidFill>
                    <a:schemeClr val="dk1"/>
                  </a:solidFill>
                  <a:latin typeface="+mn-lt"/>
                  <a:ea typeface="+mn-ea"/>
                  <a:cs typeface="+mn-cs"/>
                </a:rPr>
                <a:t>not investment research.</a:t>
              </a:r>
            </a:p>
          </p:txBody>
        </p:sp>
      </p:grpSp>
      <p:grpSp>
        <p:nvGrpSpPr>
          <p:cNvPr id="11" name="analysis-2"/>
          <p:cNvGrpSpPr/>
          <p:nvPr/>
        </p:nvGrpSpPr>
        <p:grpSpPr>
          <a:xfrm>
            <a:off x="4296156" y="1895475"/>
            <a:ext cx="2971571" cy="2979420"/>
            <a:chOff x="4296156" y="1895475"/>
            <a:chExt cx="2971571" cy="2979420"/>
          </a:xfrm>
        </p:grpSpPr>
        <p:sp>
          <p:nvSpPr>
            <p:cNvPr id="9" name="TextBox 9"/>
            <p:cNvSpPr txBox="1"/>
            <p:nvPr/>
          </p:nvSpPr>
          <p:spPr>
            <a:xfrm>
              <a:off x="4296156" y="1895475"/>
              <a:ext cx="2540518" cy="352044"/>
            </a:xfrm>
            <a:prstGeom prst="rect">
              <a:avLst/>
            </a:prstGeom>
            <a:noFill/>
            <a:ln>
              <a:noFill/>
            </a:ln>
          </p:spPr>
          <p:txBody>
            <a:bodyPr wrap="none" lIns="0" tIns="0" rIns="0" bIns="0" anchor="t" anchorCtr="0">
              <a:spAutoFit/>
            </a:bodyPr>
            <a:lstStyle/>
            <a:p>
              <a:pPr algn="l"/>
              <a:r>
                <a:rPr lang="en-US" sz="1800" dirty="0">
                  <a:solidFill>
                    <a:schemeClr val="accent2"/>
                  </a:solidFill>
                  <a:latin typeface="+mj-lt"/>
                  <a:ea typeface="+mj-ea"/>
                  <a:cs typeface="+mj-cs"/>
                </a:rPr>
                <a:t>Keep editions separate</a:t>
              </a:r>
            </a:p>
          </p:txBody>
        </p:sp>
        <p:sp>
          <p:nvSpPr>
            <p:cNvPr id="10" name="TextBox 10"/>
            <p:cNvSpPr txBox="1"/>
            <p:nvPr/>
          </p:nvSpPr>
          <p:spPr>
            <a:xfrm>
              <a:off x="4297680" y="2524125"/>
              <a:ext cx="2970047" cy="2350770"/>
            </a:xfrm>
            <a:prstGeom prst="rect">
              <a:avLst/>
            </a:prstGeom>
            <a:noFill/>
            <a:ln>
              <a:noFill/>
            </a:ln>
          </p:spPr>
          <p:txBody>
            <a:bodyPr wrap="none" lIns="0" tIns="0" rIns="0" bIns="0" anchor="t" anchorCtr="0">
              <a:spAutoFit/>
            </a:bodyPr>
            <a:lstStyle/>
            <a:p>
              <a:pPr algn="l">
                <a:lnSpc>
                  <a:spcPts val="2025"/>
                </a:lnSpc>
              </a:pPr>
              <a:r>
                <a:rPr lang="en-US" sz="1500" dirty="0">
                  <a:solidFill>
                    <a:schemeClr val="dk1"/>
                  </a:solidFill>
                  <a:latin typeface="+mn-lt"/>
                  <a:ea typeface="+mn-ea"/>
                  <a:cs typeface="+mn-cs"/>
                </a:rPr>
                <a:t>Ryan Stevens’s written Ramp</a:t>
              </a:r>
              <a:br>
                <a:rPr lang="en-US" sz="1500" dirty="0">
                  <a:solidFill>
                    <a:schemeClr val="dk1"/>
                  </a:solidFill>
                  <a:latin typeface="+mn-lt"/>
                  <a:ea typeface="+mn-ea"/>
                  <a:cs typeface="+mn-cs"/>
                </a:rPr>
              </a:br>
              <a:r>
                <a:rPr lang="en-US" sz="1500" dirty="0">
                  <a:solidFill>
                    <a:schemeClr val="dk1"/>
                  </a:solidFill>
                  <a:latin typeface="+mn-lt"/>
                  <a:ea typeface="+mn-ea"/>
                  <a:cs typeface="+mn-cs"/>
                </a:rPr>
                <a:t>evaluation account differs from</a:t>
              </a:r>
              <a:br>
                <a:rPr lang="en-US" sz="1500" dirty="0">
                  <a:solidFill>
                    <a:schemeClr val="dk1"/>
                  </a:solidFill>
                  <a:latin typeface="+mn-lt"/>
                  <a:ea typeface="+mn-ea"/>
                  <a:cs typeface="+mn-cs"/>
                </a:rPr>
              </a:br>
              <a:r>
                <a:rPr lang="en-US" sz="1500" dirty="0">
                  <a:solidFill>
                    <a:schemeClr val="dk1"/>
                  </a:solidFill>
                  <a:latin typeface="+mn-lt"/>
                  <a:ea typeface="+mn-ea"/>
                  <a:cs typeface="+mn-cs"/>
                </a:rPr>
                <a:t>Alexander Shevchenko’s keynote.</a:t>
              </a:r>
              <a:br>
                <a:rPr lang="en-US" sz="1500" dirty="0">
                  <a:solidFill>
                    <a:schemeClr val="dk1"/>
                  </a:solidFill>
                  <a:latin typeface="+mn-lt"/>
                  <a:ea typeface="+mn-ea"/>
                  <a:cs typeface="+mn-cs"/>
                </a:rPr>
              </a:br>
              <a:r>
                <a:rPr lang="en-US" sz="1500" dirty="0">
                  <a:solidFill>
                    <a:schemeClr val="dk1"/>
                  </a:solidFill>
                  <a:latin typeface="+mn-lt"/>
                  <a:ea typeface="+mn-ea"/>
                  <a:cs typeface="+mn-cs"/>
                </a:rPr>
                <a:t>Kepler’s attended breakout and</a:t>
              </a:r>
              <a:br>
                <a:rPr lang="en-US" sz="1500" dirty="0">
                  <a:solidFill>
                    <a:schemeClr val="dk1"/>
                  </a:solidFill>
                  <a:latin typeface="+mn-lt"/>
                  <a:ea typeface="+mn-ea"/>
                  <a:cs typeface="+mn-cs"/>
                </a:rPr>
              </a:br>
              <a:r>
                <a:rPr lang="en-US" sz="1500" dirty="0">
                  <a:solidFill>
                    <a:schemeClr val="dk1"/>
                  </a:solidFill>
                  <a:latin typeface="+mn-lt"/>
                  <a:ea typeface="+mn-ea"/>
                  <a:cs typeface="+mn-cs"/>
                </a:rPr>
                <a:t>next-day follow-up are different</a:t>
              </a:r>
              <a:br>
                <a:rPr lang="en-US" sz="1500" dirty="0">
                  <a:solidFill>
                    <a:schemeClr val="dk1"/>
                  </a:solidFill>
                  <a:latin typeface="+mn-lt"/>
                  <a:ea typeface="+mn-ea"/>
                  <a:cs typeface="+mn-cs"/>
                </a:rPr>
              </a:br>
              <a:r>
                <a:rPr lang="en-US" sz="1500" dirty="0">
                  <a:solidFill>
                    <a:schemeClr val="dk1"/>
                  </a:solidFill>
                  <a:latin typeface="+mn-lt"/>
                  <a:ea typeface="+mn-ea"/>
                  <a:cs typeface="+mn-cs"/>
                </a:rPr>
                <a:t>editions. Range’s online index</a:t>
              </a:r>
              <a:br>
                <a:rPr lang="en-US" sz="1500" dirty="0">
                  <a:solidFill>
                    <a:schemeClr val="dk1"/>
                  </a:solidFill>
                  <a:latin typeface="+mn-lt"/>
                  <a:ea typeface="+mn-ea"/>
                  <a:cs typeface="+mn-cs"/>
                </a:rPr>
              </a:br>
              <a:r>
                <a:rPr lang="en-US" sz="1500" dirty="0">
                  <a:solidFill>
                    <a:schemeClr val="dk1"/>
                  </a:solidFill>
                  <a:latin typeface="+mn-lt"/>
                  <a:ea typeface="+mn-ea"/>
                  <a:cs typeface="+mn-cs"/>
                </a:rPr>
                <a:t>label is October 13; attended notes</a:t>
              </a:r>
              <a:br>
                <a:rPr lang="en-US" sz="1500" dirty="0">
                  <a:solidFill>
                    <a:schemeClr val="dk1"/>
                  </a:solidFill>
                  <a:latin typeface="+mn-lt"/>
                  <a:ea typeface="+mn-ea"/>
                  <a:cs typeface="+mn-cs"/>
                </a:rPr>
              </a:br>
              <a:r>
                <a:rPr lang="en-US" sz="1500" dirty="0">
                  <a:solidFill>
                    <a:schemeClr val="dk1"/>
                  </a:solidFill>
                  <a:latin typeface="+mn-lt"/>
                  <a:ea typeface="+mn-ea"/>
                  <a:cs typeface="+mn-cs"/>
                </a:rPr>
                <a:t>remain Day 2. An index label is not</a:t>
              </a:r>
              <a:br>
                <a:rPr lang="en-US" sz="1500" dirty="0">
                  <a:solidFill>
                    <a:schemeClr val="dk1"/>
                  </a:solidFill>
                  <a:latin typeface="+mn-lt"/>
                  <a:ea typeface="+mn-ea"/>
                  <a:cs typeface="+mn-cs"/>
                </a:rPr>
              </a:br>
              <a:r>
                <a:rPr lang="en-US" sz="1500" dirty="0">
                  <a:solidFill>
                    <a:schemeClr val="dk1"/>
                  </a:solidFill>
                  <a:latin typeface="+mn-lt"/>
                  <a:ea typeface="+mn-ea"/>
                  <a:cs typeface="+mn-cs"/>
                </a:rPr>
                <a:t>a filming date.</a:t>
              </a:r>
            </a:p>
          </p:txBody>
        </p:sp>
      </p:grpSp>
      <p:grpSp>
        <p:nvGrpSpPr>
          <p:cNvPr id="14" name="analysis-3"/>
          <p:cNvGrpSpPr/>
          <p:nvPr/>
        </p:nvGrpSpPr>
        <p:grpSpPr>
          <a:xfrm>
            <a:off x="8144256" y="1895475"/>
            <a:ext cx="2950083" cy="3236595"/>
            <a:chOff x="8144256" y="1895475"/>
            <a:chExt cx="2950083" cy="3236595"/>
          </a:xfrm>
        </p:grpSpPr>
        <p:sp>
          <p:nvSpPr>
            <p:cNvPr id="12" name="TextBox 12"/>
            <p:cNvSpPr txBox="1"/>
            <p:nvPr/>
          </p:nvSpPr>
          <p:spPr>
            <a:xfrm>
              <a:off x="8144256" y="1895475"/>
              <a:ext cx="1069002" cy="352044"/>
            </a:xfrm>
            <a:prstGeom prst="rect">
              <a:avLst/>
            </a:prstGeom>
            <a:noFill/>
            <a:ln>
              <a:noFill/>
            </a:ln>
          </p:spPr>
          <p:txBody>
            <a:bodyPr wrap="none" lIns="0" tIns="0" rIns="0" bIns="0" anchor="t" anchorCtr="0">
              <a:spAutoFit/>
            </a:bodyPr>
            <a:lstStyle/>
            <a:p>
              <a:pPr algn="l"/>
              <a:r>
                <a:rPr lang="en-US" sz="1800" dirty="0">
                  <a:solidFill>
                    <a:schemeClr val="accent2"/>
                  </a:solidFill>
                  <a:latin typeface="+mj-lt"/>
                  <a:ea typeface="+mj-ea"/>
                  <a:cs typeface="+mj-cs"/>
                </a:rPr>
                <a:t>Still open</a:t>
              </a:r>
            </a:p>
          </p:txBody>
        </p:sp>
        <p:sp>
          <p:nvSpPr>
            <p:cNvPr id="13" name="TextBox 13"/>
            <p:cNvSpPr txBox="1"/>
            <p:nvPr/>
          </p:nvSpPr>
          <p:spPr>
            <a:xfrm>
              <a:off x="8145780" y="2524125"/>
              <a:ext cx="2948559" cy="2607945"/>
            </a:xfrm>
            <a:prstGeom prst="rect">
              <a:avLst/>
            </a:prstGeom>
            <a:noFill/>
            <a:ln>
              <a:noFill/>
            </a:ln>
          </p:spPr>
          <p:txBody>
            <a:bodyPr wrap="none" lIns="0" tIns="0" rIns="0" bIns="0" anchor="t" anchorCtr="0">
              <a:spAutoFit/>
            </a:bodyPr>
            <a:lstStyle/>
            <a:p>
              <a:pPr algn="l">
                <a:lnSpc>
                  <a:spcPts val="2025"/>
                </a:lnSpc>
              </a:pPr>
              <a:r>
                <a:rPr lang="en-US" sz="1500" dirty="0">
                  <a:solidFill>
                    <a:schemeClr val="dk1"/>
                  </a:solidFill>
                  <a:latin typeface="+mn-lt"/>
                  <a:ea typeface="+mn-ea"/>
                  <a:cs typeface="+mn-cs"/>
                </a:rPr>
                <a:t>Banking affiliation and</a:t>
              </a:r>
              <a:br>
                <a:rPr lang="en-US" sz="1500" dirty="0">
                  <a:solidFill>
                    <a:schemeClr val="dk1"/>
                  </a:solidFill>
                  <a:latin typeface="+mn-lt"/>
                  <a:ea typeface="+mn-ea"/>
                  <a:cs typeface="+mn-cs"/>
                </a:rPr>
              </a:br>
              <a:r>
                <a:rPr lang="en-US" sz="1500" dirty="0">
                  <a:solidFill>
                    <a:schemeClr val="dk1"/>
                  </a:solidFill>
                  <a:latin typeface="+mn-lt"/>
                  <a:ea typeface="+mn-ea"/>
                  <a:cs typeface="+mn-cs"/>
                </a:rPr>
                <a:t>“roundedness,” provider spelling,</a:t>
              </a:r>
              <a:br>
                <a:rPr lang="en-US" sz="1500" dirty="0">
                  <a:solidFill>
                    <a:schemeClr val="dk1"/>
                  </a:solidFill>
                  <a:latin typeface="+mn-lt"/>
                  <a:ea typeface="+mn-ea"/>
                  <a:cs typeface="+mn-cs"/>
                </a:rPr>
              </a:br>
              <a:r>
                <a:rPr lang="en-US" sz="1500" dirty="0">
                  <a:solidFill>
                    <a:schemeClr val="dk1"/>
                  </a:solidFill>
                  <a:latin typeface="+mn-lt"/>
                  <a:ea typeface="+mn-ea"/>
                  <a:cs typeface="+mn-cs"/>
                </a:rPr>
                <a:t>exact breakout retrieval defaults</a:t>
              </a:r>
              <a:br>
                <a:rPr lang="en-US" sz="1500" dirty="0">
                  <a:solidFill>
                    <a:schemeClr val="dk1"/>
                  </a:solidFill>
                  <a:latin typeface="+mn-lt"/>
                  <a:ea typeface="+mn-ea"/>
                  <a:cs typeface="+mn-cs"/>
                </a:rPr>
              </a:br>
              <a:r>
                <a:rPr lang="en-US" sz="1500" dirty="0">
                  <a:solidFill>
                    <a:schemeClr val="dk1"/>
                  </a:solidFill>
                  <a:latin typeface="+mn-lt"/>
                  <a:ea typeface="+mn-ea"/>
                  <a:cs typeface="+mn-cs"/>
                </a:rPr>
                <a:t>and several result denominators</a:t>
              </a:r>
              <a:br>
                <a:rPr lang="en-US" sz="1500" dirty="0">
                  <a:solidFill>
                    <a:schemeClr val="dk1"/>
                  </a:solidFill>
                  <a:latin typeface="+mn-lt"/>
                  <a:ea typeface="+mn-ea"/>
                  <a:cs typeface="+mn-cs"/>
                </a:rPr>
              </a:br>
              <a:r>
                <a:rPr lang="en-US" sz="1500" dirty="0">
                  <a:solidFill>
                    <a:schemeClr val="dk1"/>
                  </a:solidFill>
                  <a:latin typeface="+mn-lt"/>
                  <a:ea typeface="+mn-ea"/>
                  <a:cs typeface="+mn-cs"/>
                </a:rPr>
                <a:t>remain unresolved. Do not turn the</a:t>
              </a:r>
              <a:br>
                <a:rPr lang="en-US" sz="1500" dirty="0">
                  <a:solidFill>
                    <a:schemeClr val="dk1"/>
                  </a:solidFill>
                  <a:latin typeface="+mn-lt"/>
                  <a:ea typeface="+mn-ea"/>
                  <a:cs typeface="+mn-cs"/>
                </a:rPr>
              </a:br>
              <a:r>
                <a:rPr lang="en-US" sz="1500" dirty="0">
                  <a:solidFill>
                    <a:schemeClr val="dk1"/>
                  </a:solidFill>
                  <a:latin typeface="+mn-lt"/>
                  <a:ea typeface="+mn-ea"/>
                  <a:cs typeface="+mn-cs"/>
                </a:rPr>
                <a:t>confidence metaphor or incident</a:t>
              </a:r>
              <a:br>
                <a:rPr lang="en-US" sz="1500" dirty="0">
                  <a:solidFill>
                    <a:schemeClr val="dk1"/>
                  </a:solidFill>
                  <a:latin typeface="+mn-lt"/>
                  <a:ea typeface="+mn-ea"/>
                  <a:cs typeface="+mn-cs"/>
                </a:rPr>
              </a:br>
              <a:r>
                <a:rPr lang="en-US" sz="1500" dirty="0">
                  <a:solidFill>
                    <a:schemeClr val="dk1"/>
                  </a:solidFill>
                  <a:latin typeface="+mn-lt"/>
                  <a:ea typeface="+mn-ea"/>
                  <a:cs typeface="+mn-cs"/>
                </a:rPr>
                <a:t>coverage into a calibrated</a:t>
              </a:r>
              <a:br>
                <a:rPr lang="en-US" sz="1500" dirty="0">
                  <a:solidFill>
                    <a:schemeClr val="dk1"/>
                  </a:solidFill>
                  <a:latin typeface="+mn-lt"/>
                  <a:ea typeface="+mn-ea"/>
                  <a:cs typeface="+mn-cs"/>
                </a:rPr>
              </a:br>
              <a:r>
                <a:rPr lang="en-US" sz="1500" dirty="0">
                  <a:solidFill>
                    <a:schemeClr val="dk1"/>
                  </a:solidFill>
                  <a:latin typeface="+mn-lt"/>
                  <a:ea typeface="+mn-ea"/>
                  <a:cs typeface="+mn-cs"/>
                </a:rPr>
                <a:t>assurance or incidence estimate.</a:t>
              </a:r>
              <a:br>
                <a:rPr lang="en-US" sz="1500" dirty="0">
                  <a:solidFill>
                    <a:schemeClr val="dk1"/>
                  </a:solidFill>
                  <a:latin typeface="+mn-lt"/>
                  <a:ea typeface="+mn-ea"/>
                  <a:cs typeface="+mn-cs"/>
                </a:rPr>
              </a:br>
              <a:r>
                <a:rPr lang="en-US" sz="1500" dirty="0">
                  <a:solidFill>
                    <a:schemeClr val="dk1"/>
                  </a:solidFill>
                  <a:latin typeface="+mn-lt"/>
                  <a:ea typeface="+mn-ea"/>
                  <a:cs typeface="+mn-cs"/>
                </a:rPr>
                <a:t>Ask for the workload, population</a:t>
              </a:r>
              <a:br>
                <a:rPr lang="en-US" sz="1500" dirty="0">
                  <a:solidFill>
                    <a:schemeClr val="dk1"/>
                  </a:solidFill>
                  <a:latin typeface="+mn-lt"/>
                  <a:ea typeface="+mn-ea"/>
                  <a:cs typeface="+mn-cs"/>
                </a:rPr>
              </a:br>
              <a:r>
                <a:rPr lang="en-US" sz="1500" dirty="0">
                  <a:solidFill>
                    <a:schemeClr val="dk1"/>
                  </a:solidFill>
                  <a:latin typeface="+mn-lt"/>
                  <a:ea typeface="+mn-ea"/>
                  <a:cs typeface="+mn-cs"/>
                </a:rPr>
                <a:t>and comparison needed.</a:t>
              </a:r>
            </a:p>
          </p:txBody>
        </p:sp>
      </p:grpSp>
      <p:grpSp>
        <p:nvGrpSpPr>
          <p:cNvPr id="17" name="footer"/>
          <p:cNvGrpSpPr/>
          <p:nvPr/>
        </p:nvGrpSpPr>
        <p:grpSpPr>
          <a:xfrm>
            <a:off x="452438" y="6477000"/>
            <a:ext cx="11287124" cy="176212"/>
            <a:chOff x="452438" y="6477000"/>
            <a:chExt cx="11287124" cy="176212"/>
          </a:xfrm>
        </p:grpSpPr>
        <p:sp>
          <p:nvSpPr>
            <p:cNvPr id="15" name="TextBox 15"/>
            <p:cNvSpPr txBox="1"/>
            <p:nvPr/>
          </p:nvSpPr>
          <p:spPr>
            <a:xfrm>
              <a:off x="452438" y="6477000"/>
              <a:ext cx="6623372" cy="176212"/>
            </a:xfrm>
            <a:prstGeom prst="rect">
              <a:avLst/>
            </a:prstGeom>
            <a:noFill/>
            <a:ln>
              <a:noFill/>
            </a:ln>
          </p:spPr>
          <p:txBody>
            <a:bodyPr wrap="none" lIns="0" tIns="0" rIns="0" bIns="0" anchor="t" anchorCtr="0">
              <a:spAutoFit/>
            </a:bodyPr>
            <a:lstStyle/>
            <a:p>
              <a:pPr algn="l"/>
              <a:r>
                <a:rPr lang="en-US" sz="900" dirty="0">
                  <a:solidFill>
                    <a:schemeClr val="accent5"/>
                  </a:solidFill>
                  <a:latin typeface="+mn-lt"/>
                  <a:ea typeface="+mn-ea"/>
                  <a:cs typeface="+mn-cs"/>
                </a:rPr>
                <a:t>Sources: AIE NYC recordings, original notes, primary written follow-up and dated disclosures | Reviewed October 25, 2026</a:t>
              </a:r>
            </a:p>
          </p:txBody>
        </p:sp>
        <p:sp>
          <p:nvSpPr>
            <p:cNvPr id="16" name="TextBox 16"/>
            <p:cNvSpPr txBox="1"/>
            <p:nvPr/>
          </p:nvSpPr>
          <p:spPr>
            <a:xfrm>
              <a:off x="11359512" y="6477000"/>
              <a:ext cx="380050" cy="176212"/>
            </a:xfrm>
            <a:prstGeom prst="rect">
              <a:avLst/>
            </a:prstGeom>
            <a:noFill/>
            <a:ln>
              <a:noFill/>
            </a:ln>
          </p:spPr>
          <p:txBody>
            <a:bodyPr wrap="none" lIns="0" tIns="0" rIns="0" bIns="0" anchor="t" anchorCtr="0">
              <a:spAutoFit/>
            </a:bodyPr>
            <a:lstStyle/>
            <a:p>
              <a:pPr algn="r"/>
              <a:r>
                <a:rPr lang="en-US" sz="900" dirty="0">
                  <a:solidFill>
                    <a:schemeClr val="accent5"/>
                  </a:solidFill>
                  <a:latin typeface="+mn-lt"/>
                  <a:ea typeface="+mn-ea"/>
                  <a:cs typeface="+mn-cs"/>
                </a:rPr>
                <a:t>36 / 37</a:t>
              </a:r>
            </a:p>
          </p:txBody>
        </p:sp>
      </p:grpSp>
    </p:spTree>
  </p:cSld>
  <p:clrMapOvr>
    <a:masterClrMapping/>
  </p:clrMapOvr>
  <p:transition xmlns:p14="http://schemas.microsoft.com/office/powerpoint/2010/main" p14:dur="400">
    <p:fade/>
  </p:transition>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5" name="title"/>
          <p:cNvGrpSpPr/>
          <p:nvPr/>
        </p:nvGrpSpPr>
        <p:grpSpPr>
          <a:xfrm>
            <a:off x="443484" y="361950"/>
            <a:ext cx="9026545" cy="1364107"/>
            <a:chOff x="443484" y="361950"/>
            <a:chExt cx="9026545" cy="1364107"/>
          </a:xfrm>
        </p:grpSpPr>
        <p:sp>
          <p:nvSpPr>
            <p:cNvPr id="2" name="TextBox 2"/>
            <p:cNvSpPr txBox="1"/>
            <p:nvPr/>
          </p:nvSpPr>
          <p:spPr>
            <a:xfrm>
              <a:off x="451104" y="361950"/>
              <a:ext cx="2971068" cy="234696"/>
            </a:xfrm>
            <a:prstGeom prst="rect">
              <a:avLst/>
            </a:prstGeom>
            <a:noFill/>
            <a:ln>
              <a:noFill/>
            </a:ln>
          </p:spPr>
          <p:txBody>
            <a:bodyPr wrap="none" lIns="0" tIns="0" rIns="0" bIns="0" anchor="t" anchorCtr="0">
              <a:spAutoFit/>
            </a:bodyPr>
            <a:lstStyle/>
            <a:p>
              <a:pPr algn="l"/>
              <a:r>
                <a:rPr lang="en-US" sz="1200" dirty="0">
                  <a:solidFill>
                    <a:schemeClr val="accent2"/>
                  </a:solidFill>
                  <a:latin typeface="+mn-lt"/>
                  <a:ea typeface="+mn-ea"/>
                  <a:cs typeface="+mn-cs"/>
                </a:rPr>
                <a:t>REFERENCE / RECORDING REVIEW</a:t>
              </a:r>
            </a:p>
          </p:txBody>
        </p:sp>
        <p:sp>
          <p:nvSpPr>
            <p:cNvPr id="3" name="TextBox 3"/>
            <p:cNvSpPr txBox="1"/>
            <p:nvPr/>
          </p:nvSpPr>
          <p:spPr>
            <a:xfrm>
              <a:off x="443484" y="593725"/>
              <a:ext cx="8758989" cy="528066"/>
            </a:xfrm>
            <a:prstGeom prst="rect">
              <a:avLst/>
            </a:prstGeom>
            <a:noFill/>
            <a:ln>
              <a:noFill/>
            </a:ln>
          </p:spPr>
          <p:txBody>
            <a:bodyPr wrap="none" lIns="0" tIns="0" rIns="0" bIns="0" anchor="t" anchorCtr="0">
              <a:spAutoFit/>
            </a:bodyPr>
            <a:lstStyle/>
            <a:p>
              <a:pPr algn="l"/>
              <a:r>
                <a:rPr lang="en-US" sz="2700" dirty="0">
                  <a:solidFill>
                    <a:schemeClr val="accent1"/>
                  </a:solidFill>
                  <a:latin typeface="+mj-lt"/>
                  <a:ea typeface="+mj-ea"/>
                  <a:cs typeface="+mj-cs"/>
                </a:rPr>
                <a:t>Follow the source, its date and its evidence boundary</a:t>
              </a:r>
            </a:p>
          </p:txBody>
        </p:sp>
        <p:sp>
          <p:nvSpPr>
            <p:cNvPr id="4" name="TextBox 4"/>
            <p:cNvSpPr txBox="1"/>
            <p:nvPr/>
          </p:nvSpPr>
          <p:spPr>
            <a:xfrm>
              <a:off x="448818" y="1127125"/>
              <a:ext cx="9021211" cy="598932"/>
            </a:xfrm>
            <a:prstGeom prst="rect">
              <a:avLst/>
            </a:prstGeom>
            <a:noFill/>
            <a:ln>
              <a:noFill/>
            </a:ln>
          </p:spPr>
          <p:txBody>
            <a:bodyPr wrap="none" lIns="0" tIns="0" rIns="0" bIns="0" anchor="t" anchorCtr="0">
              <a:spAutoFit/>
            </a:bodyPr>
            <a:lstStyle/>
            <a:p>
              <a:pPr algn="l">
                <a:lnSpc>
                  <a:spcPts val="2175"/>
                </a:lnSpc>
              </a:pPr>
              <a:r>
                <a:rPr lang="en-US" sz="1650" dirty="0">
                  <a:solidFill>
                    <a:schemeClr val="accent5"/>
                  </a:solidFill>
                  <a:latin typeface="+mn-lt"/>
                  <a:ea typeface="+mn-ea"/>
                  <a:cs typeface="+mn-cs"/>
                </a:rPr>
                <a:t>Screened 90 uploads; inspected 50 official descriptions and selected transcripts from 52 archived</a:t>
              </a:r>
              <a:br>
                <a:rPr lang="en-US" sz="1650" dirty="0">
                  <a:solidFill>
                    <a:schemeClr val="accent5"/>
                  </a:solidFill>
                  <a:latin typeface="+mn-lt"/>
                  <a:ea typeface="+mn-ea"/>
                  <a:cs typeface="+mn-cs"/>
                </a:rPr>
              </a:br>
              <a:r>
                <a:rPr lang="en-US" sz="1650" dirty="0">
                  <a:solidFill>
                    <a:schemeClr val="accent5"/>
                  </a:solidFill>
                  <a:latin typeface="+mn-lt"/>
                  <a:ea typeface="+mn-ea"/>
                  <a:cs typeface="+mn-cs"/>
                </a:rPr>
                <a:t>sessions.</a:t>
              </a:r>
            </a:p>
          </p:txBody>
        </p:sp>
      </p:grpSp>
      <p:grpSp>
        <p:nvGrpSpPr>
          <p:cNvPr id="21" name="source-links-0"/>
          <p:cNvGrpSpPr/>
          <p:nvPr/>
        </p:nvGrpSpPr>
        <p:grpSpPr>
          <a:xfrm>
            <a:off x="450342" y="1739900"/>
            <a:ext cx="2897737" cy="3864483"/>
            <a:chOff x="450342" y="1739900"/>
            <a:chExt cx="2897737" cy="3864483"/>
          </a:xfrm>
        </p:grpSpPr>
        <p:sp>
          <p:nvSpPr>
            <p:cNvPr id="6" name="TextBox 6">
              <a:hlinkClick r:id="rId2"/>
            </p:cNvPr>
            <p:cNvSpPr txBox="1"/>
            <p:nvPr/>
          </p:nvSpPr>
          <p:spPr>
            <a:xfrm>
              <a:off x="450342" y="1739900"/>
              <a:ext cx="988491" cy="264033"/>
            </a:xfrm>
            <a:prstGeom prst="rect">
              <a:avLst/>
            </a:prstGeom>
            <a:noFill/>
            <a:ln>
              <a:noFill/>
            </a:ln>
          </p:spPr>
          <p:txBody>
            <a:bodyPr wrap="none" lIns="0" tIns="0" rIns="0" bIns="0" anchor="t" anchorCtr="0">
              <a:spAutoFit/>
            </a:bodyPr>
            <a:lstStyle/>
            <a:p>
              <a:pPr algn="l"/>
              <a:r>
                <a:rPr lang="en-US" sz="1350" dirty="0">
                  <a:solidFill>
                    <a:schemeClr val="accent2"/>
                  </a:solidFill>
                  <a:latin typeface="+mn-lt"/>
                  <a:ea typeface="+mn-ea"/>
                  <a:cs typeface="+mn-cs"/>
                </a:rPr>
                <a:t>Bridgewater</a:t>
              </a:r>
            </a:p>
          </p:txBody>
        </p:sp>
        <p:sp>
          <p:nvSpPr>
            <p:cNvPr id="7" name="TextBox 7">
              <a:hlinkClick r:id="rId3"/>
            </p:cNvPr>
            <p:cNvSpPr txBox="1"/>
            <p:nvPr/>
          </p:nvSpPr>
          <p:spPr>
            <a:xfrm>
              <a:off x="450342" y="1997075"/>
              <a:ext cx="555358" cy="264033"/>
            </a:xfrm>
            <a:prstGeom prst="rect">
              <a:avLst/>
            </a:prstGeom>
            <a:noFill/>
            <a:ln>
              <a:noFill/>
            </a:ln>
          </p:spPr>
          <p:txBody>
            <a:bodyPr wrap="none" lIns="0" tIns="0" rIns="0" bIns="0" anchor="t" anchorCtr="0">
              <a:spAutoFit/>
            </a:bodyPr>
            <a:lstStyle/>
            <a:p>
              <a:pPr algn="l"/>
              <a:r>
                <a:rPr lang="en-US" sz="1350" dirty="0">
                  <a:solidFill>
                    <a:schemeClr val="accent2"/>
                  </a:solidFill>
                  <a:latin typeface="+mn-lt"/>
                  <a:ea typeface="+mn-ea"/>
                  <a:cs typeface="+mn-cs"/>
                </a:rPr>
                <a:t>Range</a:t>
              </a:r>
            </a:p>
          </p:txBody>
        </p:sp>
        <p:sp>
          <p:nvSpPr>
            <p:cNvPr id="8" name="TextBox 8">
              <a:hlinkClick r:id="rId4"/>
            </p:cNvPr>
            <p:cNvSpPr txBox="1"/>
            <p:nvPr/>
          </p:nvSpPr>
          <p:spPr>
            <a:xfrm>
              <a:off x="450342" y="2254250"/>
              <a:ext cx="392692" cy="264033"/>
            </a:xfrm>
            <a:prstGeom prst="rect">
              <a:avLst/>
            </a:prstGeom>
            <a:noFill/>
            <a:ln>
              <a:noFill/>
            </a:ln>
          </p:spPr>
          <p:txBody>
            <a:bodyPr wrap="none" lIns="0" tIns="0" rIns="0" bIns="0" anchor="t" anchorCtr="0">
              <a:spAutoFit/>
            </a:bodyPr>
            <a:lstStyle/>
            <a:p>
              <a:pPr algn="l"/>
              <a:r>
                <a:rPr lang="en-US" sz="1350" dirty="0">
                  <a:solidFill>
                    <a:schemeClr val="accent2"/>
                  </a:solidFill>
                  <a:latin typeface="+mn-lt"/>
                  <a:ea typeface="+mn-ea"/>
                  <a:cs typeface="+mn-cs"/>
                </a:rPr>
                <a:t>Arca</a:t>
              </a:r>
            </a:p>
          </p:txBody>
        </p:sp>
        <p:sp>
          <p:nvSpPr>
            <p:cNvPr id="9" name="TextBox 9">
              <a:hlinkClick r:id="rId5"/>
            </p:cNvPr>
            <p:cNvSpPr txBox="1"/>
            <p:nvPr/>
          </p:nvSpPr>
          <p:spPr>
            <a:xfrm>
              <a:off x="450342" y="2511425"/>
              <a:ext cx="796625" cy="264033"/>
            </a:xfrm>
            <a:prstGeom prst="rect">
              <a:avLst/>
            </a:prstGeom>
            <a:noFill/>
            <a:ln>
              <a:noFill/>
            </a:ln>
          </p:spPr>
          <p:txBody>
            <a:bodyPr wrap="none" lIns="0" tIns="0" rIns="0" bIns="0" anchor="t" anchorCtr="0">
              <a:spAutoFit/>
            </a:bodyPr>
            <a:lstStyle/>
            <a:p>
              <a:pPr algn="l"/>
              <a:r>
                <a:rPr lang="en-US" sz="1350" dirty="0">
                  <a:solidFill>
                    <a:schemeClr val="accent2"/>
                  </a:solidFill>
                  <a:latin typeface="+mn-lt"/>
                  <a:ea typeface="+mn-ea"/>
                  <a:cs typeface="+mn-cs"/>
                </a:rPr>
                <a:t>Perpetual</a:t>
              </a:r>
            </a:p>
          </p:txBody>
        </p:sp>
        <p:sp>
          <p:nvSpPr>
            <p:cNvPr id="10" name="TextBox 10">
              <a:hlinkClick r:id="rId6"/>
            </p:cNvPr>
            <p:cNvSpPr txBox="1"/>
            <p:nvPr/>
          </p:nvSpPr>
          <p:spPr>
            <a:xfrm>
              <a:off x="450342" y="2768600"/>
              <a:ext cx="605310" cy="264033"/>
            </a:xfrm>
            <a:prstGeom prst="rect">
              <a:avLst/>
            </a:prstGeom>
            <a:noFill/>
            <a:ln>
              <a:noFill/>
            </a:ln>
          </p:spPr>
          <p:txBody>
            <a:bodyPr wrap="none" lIns="0" tIns="0" rIns="0" bIns="0" anchor="t" anchorCtr="0">
              <a:spAutoFit/>
            </a:bodyPr>
            <a:lstStyle/>
            <a:p>
              <a:pPr algn="l"/>
              <a:r>
                <a:rPr lang="en-US" sz="1350" dirty="0">
                  <a:solidFill>
                    <a:schemeClr val="accent2"/>
                  </a:solidFill>
                  <a:latin typeface="+mn-lt"/>
                  <a:ea typeface="+mn-ea"/>
                  <a:cs typeface="+mn-cs"/>
                </a:rPr>
                <a:t>Coatue</a:t>
              </a:r>
            </a:p>
          </p:txBody>
        </p:sp>
        <p:sp>
          <p:nvSpPr>
            <p:cNvPr id="11" name="TextBox 11">
              <a:hlinkClick r:id="rId7"/>
            </p:cNvPr>
            <p:cNvSpPr txBox="1"/>
            <p:nvPr/>
          </p:nvSpPr>
          <p:spPr>
            <a:xfrm>
              <a:off x="450342" y="3025775"/>
              <a:ext cx="1702248" cy="264033"/>
            </a:xfrm>
            <a:prstGeom prst="rect">
              <a:avLst/>
            </a:prstGeom>
            <a:noFill/>
            <a:ln>
              <a:noFill/>
            </a:ln>
          </p:spPr>
          <p:txBody>
            <a:bodyPr wrap="none" lIns="0" tIns="0" rIns="0" bIns="0" anchor="t" anchorCtr="0">
              <a:spAutoFit/>
            </a:bodyPr>
            <a:lstStyle/>
            <a:p>
              <a:pPr algn="l"/>
              <a:r>
                <a:rPr lang="en-US" sz="1350" dirty="0">
                  <a:solidFill>
                    <a:schemeClr val="accent2"/>
                  </a:solidFill>
                  <a:latin typeface="+mn-lt"/>
                  <a:ea typeface="+mn-ea"/>
                  <a:cs typeface="+mn-cs"/>
                </a:rPr>
                <a:t>Blackstone / Norm.ai</a:t>
              </a:r>
            </a:p>
          </p:txBody>
        </p:sp>
        <p:sp>
          <p:nvSpPr>
            <p:cNvPr id="12" name="TextBox 12">
              <a:hlinkClick r:id="rId8"/>
            </p:cNvPr>
            <p:cNvSpPr txBox="1"/>
            <p:nvPr/>
          </p:nvSpPr>
          <p:spPr>
            <a:xfrm>
              <a:off x="450342" y="3282950"/>
              <a:ext cx="2897737" cy="264033"/>
            </a:xfrm>
            <a:prstGeom prst="rect">
              <a:avLst/>
            </a:prstGeom>
            <a:noFill/>
            <a:ln>
              <a:noFill/>
            </a:ln>
          </p:spPr>
          <p:txBody>
            <a:bodyPr wrap="none" lIns="0" tIns="0" rIns="0" bIns="0" anchor="t" anchorCtr="0">
              <a:spAutoFit/>
            </a:bodyPr>
            <a:lstStyle/>
            <a:p>
              <a:pPr algn="l"/>
              <a:r>
                <a:rPr lang="en-US" sz="1350" dirty="0">
                  <a:solidFill>
                    <a:schemeClr val="accent2"/>
                  </a:solidFill>
                  <a:latin typeface="+mn-lt"/>
                  <a:ea typeface="+mn-ea"/>
                  <a:cs typeface="+mn-cs"/>
                </a:rPr>
                <a:t>Apollo / Redding Ridge / Rowspace</a:t>
              </a:r>
            </a:p>
          </p:txBody>
        </p:sp>
        <p:sp>
          <p:nvSpPr>
            <p:cNvPr id="13" name="TextBox 13">
              <a:hlinkClick r:id="rId9"/>
            </p:cNvPr>
            <p:cNvSpPr txBox="1"/>
            <p:nvPr/>
          </p:nvSpPr>
          <p:spPr>
            <a:xfrm>
              <a:off x="450342" y="3540125"/>
              <a:ext cx="994186" cy="264033"/>
            </a:xfrm>
            <a:prstGeom prst="rect">
              <a:avLst/>
            </a:prstGeom>
            <a:noFill/>
            <a:ln>
              <a:noFill/>
            </a:ln>
          </p:spPr>
          <p:txBody>
            <a:bodyPr wrap="none" lIns="0" tIns="0" rIns="0" bIns="0" anchor="t" anchorCtr="0">
              <a:spAutoFit/>
            </a:bodyPr>
            <a:lstStyle/>
            <a:p>
              <a:pPr algn="l"/>
              <a:r>
                <a:rPr lang="en-US" sz="1350" dirty="0">
                  <a:solidFill>
                    <a:schemeClr val="accent2"/>
                  </a:solidFill>
                  <a:latin typeface="+mn-lt"/>
                  <a:ea typeface="+mn-ea"/>
                  <a:cs typeface="+mn-cs"/>
                </a:rPr>
                <a:t>Wells Fargo</a:t>
              </a:r>
            </a:p>
          </p:txBody>
        </p:sp>
        <p:sp>
          <p:nvSpPr>
            <p:cNvPr id="14" name="TextBox 14">
              <a:hlinkClick r:id="rId10"/>
            </p:cNvPr>
            <p:cNvSpPr txBox="1"/>
            <p:nvPr/>
          </p:nvSpPr>
          <p:spPr>
            <a:xfrm>
              <a:off x="450342" y="3797300"/>
              <a:ext cx="2390276" cy="264033"/>
            </a:xfrm>
            <a:prstGeom prst="rect">
              <a:avLst/>
            </a:prstGeom>
            <a:noFill/>
            <a:ln>
              <a:noFill/>
            </a:ln>
          </p:spPr>
          <p:txBody>
            <a:bodyPr wrap="none" lIns="0" tIns="0" rIns="0" bIns="0" anchor="t" anchorCtr="0">
              <a:spAutoFit/>
            </a:bodyPr>
            <a:lstStyle/>
            <a:p>
              <a:pPr algn="l"/>
              <a:r>
                <a:rPr lang="en-US" sz="1350" dirty="0">
                  <a:solidFill>
                    <a:schemeClr val="accent2"/>
                  </a:solidFill>
                  <a:latin typeface="+mn-lt"/>
                  <a:ea typeface="+mn-ea"/>
                  <a:cs typeface="+mn-cs"/>
                </a:rPr>
                <a:t>Kepler · October 14 follow-up</a:t>
              </a:r>
            </a:p>
          </p:txBody>
        </p:sp>
        <p:sp>
          <p:nvSpPr>
            <p:cNvPr id="15" name="TextBox 15">
              <a:hlinkClick r:id="rId11"/>
            </p:cNvPr>
            <p:cNvSpPr txBox="1"/>
            <p:nvPr/>
          </p:nvSpPr>
          <p:spPr>
            <a:xfrm>
              <a:off x="450342" y="4054475"/>
              <a:ext cx="2817856" cy="264033"/>
            </a:xfrm>
            <a:prstGeom prst="rect">
              <a:avLst/>
            </a:prstGeom>
            <a:noFill/>
            <a:ln>
              <a:noFill/>
            </a:ln>
          </p:spPr>
          <p:txBody>
            <a:bodyPr wrap="none" lIns="0" tIns="0" rIns="0" bIns="0" anchor="t" anchorCtr="0">
              <a:spAutoFit/>
            </a:bodyPr>
            <a:lstStyle/>
            <a:p>
              <a:pPr algn="l"/>
              <a:r>
                <a:rPr lang="en-US" sz="1350" dirty="0">
                  <a:solidFill>
                    <a:schemeClr val="accent2"/>
                  </a:solidFill>
                  <a:latin typeface="+mn-lt"/>
                  <a:ea typeface="+mn-ea"/>
                  <a:cs typeface="+mn-cs"/>
                </a:rPr>
                <a:t>Kepler · attended breakout release</a:t>
              </a:r>
            </a:p>
          </p:txBody>
        </p:sp>
        <p:sp>
          <p:nvSpPr>
            <p:cNvPr id="16" name="TextBox 16">
              <a:hlinkClick r:id="rId12"/>
            </p:cNvPr>
            <p:cNvSpPr txBox="1"/>
            <p:nvPr/>
          </p:nvSpPr>
          <p:spPr>
            <a:xfrm>
              <a:off x="450342" y="4311650"/>
              <a:ext cx="998940" cy="264033"/>
            </a:xfrm>
            <a:prstGeom prst="rect">
              <a:avLst/>
            </a:prstGeom>
            <a:noFill/>
            <a:ln>
              <a:noFill/>
            </a:ln>
          </p:spPr>
          <p:txBody>
            <a:bodyPr wrap="none" lIns="0" tIns="0" rIns="0" bIns="0" anchor="t" anchorCtr="0">
              <a:spAutoFit/>
            </a:bodyPr>
            <a:lstStyle/>
            <a:p>
              <a:pPr algn="l"/>
              <a:r>
                <a:rPr lang="en-US" sz="1350" dirty="0">
                  <a:solidFill>
                    <a:schemeClr val="accent2"/>
                  </a:solidFill>
                  <a:latin typeface="+mn-lt"/>
                  <a:ea typeface="+mn-ea"/>
                  <a:cs typeface="+mn-cs"/>
                </a:rPr>
                <a:t>Southbridge</a:t>
              </a:r>
            </a:p>
          </p:txBody>
        </p:sp>
        <p:sp>
          <p:nvSpPr>
            <p:cNvPr id="17" name="TextBox 17">
              <a:hlinkClick r:id="rId13"/>
            </p:cNvPr>
            <p:cNvSpPr txBox="1"/>
            <p:nvPr/>
          </p:nvSpPr>
          <p:spPr>
            <a:xfrm>
              <a:off x="450342" y="4568825"/>
              <a:ext cx="1437338" cy="264033"/>
            </a:xfrm>
            <a:prstGeom prst="rect">
              <a:avLst/>
            </a:prstGeom>
            <a:noFill/>
            <a:ln>
              <a:noFill/>
            </a:ln>
          </p:spPr>
          <p:txBody>
            <a:bodyPr wrap="none" lIns="0" tIns="0" rIns="0" bIns="0" anchor="t" anchorCtr="0">
              <a:spAutoFit/>
            </a:bodyPr>
            <a:lstStyle/>
            <a:p>
              <a:pPr algn="l"/>
              <a:r>
                <a:rPr lang="en-US" sz="1350" dirty="0">
                  <a:solidFill>
                    <a:schemeClr val="accent2"/>
                  </a:solidFill>
                  <a:latin typeface="+mn-lt"/>
                  <a:ea typeface="+mn-ea"/>
                  <a:cs typeface="+mn-cs"/>
                </a:rPr>
                <a:t>Citadel Securities</a:t>
              </a:r>
            </a:p>
          </p:txBody>
        </p:sp>
        <p:sp>
          <p:nvSpPr>
            <p:cNvPr id="18" name="TextBox 18">
              <a:hlinkClick r:id="rId14"/>
            </p:cNvPr>
            <p:cNvSpPr txBox="1"/>
            <p:nvPr/>
          </p:nvSpPr>
          <p:spPr>
            <a:xfrm>
              <a:off x="450342" y="4826000"/>
              <a:ext cx="647465" cy="264033"/>
            </a:xfrm>
            <a:prstGeom prst="rect">
              <a:avLst/>
            </a:prstGeom>
            <a:noFill/>
            <a:ln>
              <a:noFill/>
            </a:ln>
          </p:spPr>
          <p:txBody>
            <a:bodyPr wrap="none" lIns="0" tIns="0" rIns="0" bIns="0" anchor="t" anchorCtr="0">
              <a:spAutoFit/>
            </a:bodyPr>
            <a:lstStyle/>
            <a:p>
              <a:pPr algn="l"/>
              <a:r>
                <a:rPr lang="en-US" sz="1350" dirty="0">
                  <a:solidFill>
                    <a:schemeClr val="accent2"/>
                  </a:solidFill>
                  <a:latin typeface="+mn-lt"/>
                  <a:ea typeface="+mn-ea"/>
                  <a:cs typeface="+mn-cs"/>
                </a:rPr>
                <a:t>OpenAI</a:t>
              </a:r>
            </a:p>
          </p:txBody>
        </p:sp>
        <p:sp>
          <p:nvSpPr>
            <p:cNvPr id="19" name="TextBox 19">
              <a:hlinkClick r:id="rId15"/>
            </p:cNvPr>
            <p:cNvSpPr txBox="1"/>
            <p:nvPr/>
          </p:nvSpPr>
          <p:spPr>
            <a:xfrm>
              <a:off x="450342" y="5083175"/>
              <a:ext cx="1143909" cy="264033"/>
            </a:xfrm>
            <a:prstGeom prst="rect">
              <a:avLst/>
            </a:prstGeom>
            <a:noFill/>
            <a:ln>
              <a:noFill/>
            </a:ln>
          </p:spPr>
          <p:txBody>
            <a:bodyPr wrap="none" lIns="0" tIns="0" rIns="0" bIns="0" anchor="t" anchorCtr="0">
              <a:spAutoFit/>
            </a:bodyPr>
            <a:lstStyle/>
            <a:p>
              <a:pPr algn="l"/>
              <a:r>
                <a:rPr lang="en-US" sz="1350" dirty="0">
                  <a:solidFill>
                    <a:schemeClr val="accent2"/>
                  </a:solidFill>
                  <a:latin typeface="+mn-lt"/>
                  <a:ea typeface="+mn-ea"/>
                  <a:cs typeface="+mn-cs"/>
                </a:rPr>
                <a:t>Compound AI</a:t>
              </a:r>
            </a:p>
          </p:txBody>
        </p:sp>
        <p:sp>
          <p:nvSpPr>
            <p:cNvPr id="20" name="TextBox 20">
              <a:hlinkClick r:id="rId16"/>
            </p:cNvPr>
            <p:cNvSpPr txBox="1"/>
            <p:nvPr/>
          </p:nvSpPr>
          <p:spPr>
            <a:xfrm>
              <a:off x="450342" y="5340350"/>
              <a:ext cx="463167" cy="264033"/>
            </a:xfrm>
            <a:prstGeom prst="rect">
              <a:avLst/>
            </a:prstGeom>
            <a:noFill/>
            <a:ln>
              <a:noFill/>
            </a:ln>
          </p:spPr>
          <p:txBody>
            <a:bodyPr wrap="none" lIns="0" tIns="0" rIns="0" bIns="0" anchor="t" anchorCtr="0">
              <a:spAutoFit/>
            </a:bodyPr>
            <a:lstStyle/>
            <a:p>
              <a:pPr algn="l"/>
              <a:r>
                <a:rPr lang="en-US" sz="1350" dirty="0">
                  <a:solidFill>
                    <a:schemeClr val="accent2"/>
                  </a:solidFill>
                  <a:latin typeface="+mn-lt"/>
                  <a:ea typeface="+mn-ea"/>
                  <a:cs typeface="+mn-cs"/>
                </a:rPr>
                <a:t>Basis</a:t>
              </a:r>
            </a:p>
          </p:txBody>
        </p:sp>
      </p:grpSp>
      <p:grpSp>
        <p:nvGrpSpPr>
          <p:cNvPr id="37" name="source-links-1"/>
          <p:cNvGrpSpPr/>
          <p:nvPr/>
        </p:nvGrpSpPr>
        <p:grpSpPr>
          <a:xfrm>
            <a:off x="6203442" y="1739900"/>
            <a:ext cx="3234377" cy="3864483"/>
            <a:chOff x="6203442" y="1739900"/>
            <a:chExt cx="3234377" cy="3864483"/>
          </a:xfrm>
        </p:grpSpPr>
        <p:sp>
          <p:nvSpPr>
            <p:cNvPr id="22" name="TextBox 22">
              <a:hlinkClick r:id="rId17"/>
            </p:cNvPr>
            <p:cNvSpPr txBox="1"/>
            <p:nvPr/>
          </p:nvSpPr>
          <p:spPr>
            <a:xfrm>
              <a:off x="6203442" y="1739900"/>
              <a:ext cx="3172858" cy="264033"/>
            </a:xfrm>
            <a:prstGeom prst="rect">
              <a:avLst/>
            </a:prstGeom>
            <a:noFill/>
            <a:ln>
              <a:noFill/>
            </a:ln>
          </p:spPr>
          <p:txBody>
            <a:bodyPr wrap="none" lIns="0" tIns="0" rIns="0" bIns="0" anchor="t" anchorCtr="0">
              <a:spAutoFit/>
            </a:bodyPr>
            <a:lstStyle/>
            <a:p>
              <a:pPr algn="l"/>
              <a:r>
                <a:rPr lang="en-US" sz="1350" dirty="0">
                  <a:solidFill>
                    <a:schemeClr val="accent2"/>
                  </a:solidFill>
                  <a:latin typeface="+mn-lt"/>
                  <a:ea typeface="+mn-ea"/>
                  <a:cs typeface="+mn-cs"/>
                </a:rPr>
                <a:t>Ramp · Ryan Stevens written follow-up</a:t>
              </a:r>
            </a:p>
          </p:txBody>
        </p:sp>
        <p:sp>
          <p:nvSpPr>
            <p:cNvPr id="23" name="TextBox 23">
              <a:hlinkClick r:id="rId18"/>
            </p:cNvPr>
            <p:cNvSpPr txBox="1"/>
            <p:nvPr/>
          </p:nvSpPr>
          <p:spPr>
            <a:xfrm>
              <a:off x="6203442" y="1997075"/>
              <a:ext cx="3234377" cy="264033"/>
            </a:xfrm>
            <a:prstGeom prst="rect">
              <a:avLst/>
            </a:prstGeom>
            <a:noFill/>
            <a:ln>
              <a:noFill/>
            </a:ln>
          </p:spPr>
          <p:txBody>
            <a:bodyPr wrap="none" lIns="0" tIns="0" rIns="0" bIns="0" anchor="t" anchorCtr="0">
              <a:spAutoFit/>
            </a:bodyPr>
            <a:lstStyle/>
            <a:p>
              <a:pPr algn="l"/>
              <a:r>
                <a:rPr lang="en-US" sz="1350" dirty="0">
                  <a:solidFill>
                    <a:schemeClr val="accent2"/>
                  </a:solidFill>
                  <a:latin typeface="+mn-lt"/>
                  <a:ea typeface="+mn-ea"/>
                  <a:cs typeface="+mn-cs"/>
                </a:rPr>
                <a:t>Ramp · Alexander Shevchenko keynote</a:t>
              </a:r>
            </a:p>
          </p:txBody>
        </p:sp>
        <p:sp>
          <p:nvSpPr>
            <p:cNvPr id="24" name="TextBox 24">
              <a:hlinkClick r:id="rId19"/>
            </p:cNvPr>
            <p:cNvSpPr txBox="1"/>
            <p:nvPr/>
          </p:nvSpPr>
          <p:spPr>
            <a:xfrm>
              <a:off x="6203442" y="2254250"/>
              <a:ext cx="605753" cy="264033"/>
            </a:xfrm>
            <a:prstGeom prst="rect">
              <a:avLst/>
            </a:prstGeom>
            <a:noFill/>
            <a:ln>
              <a:noFill/>
            </a:ln>
          </p:spPr>
          <p:txBody>
            <a:bodyPr wrap="none" lIns="0" tIns="0" rIns="0" bIns="0" anchor="t" anchorCtr="0">
              <a:spAutoFit/>
            </a:bodyPr>
            <a:lstStyle/>
            <a:p>
              <a:pPr algn="l"/>
              <a:r>
                <a:rPr lang="en-US" sz="1350" dirty="0">
                  <a:solidFill>
                    <a:schemeClr val="accent2"/>
                  </a:solidFill>
                  <a:latin typeface="+mn-lt"/>
                  <a:ea typeface="+mn-ea"/>
                  <a:cs typeface="+mn-cs"/>
                </a:rPr>
                <a:t>Vals AI</a:t>
              </a:r>
            </a:p>
          </p:txBody>
        </p:sp>
        <p:sp>
          <p:nvSpPr>
            <p:cNvPr id="25" name="TextBox 25">
              <a:hlinkClick r:id="rId20"/>
            </p:cNvPr>
            <p:cNvSpPr txBox="1"/>
            <p:nvPr/>
          </p:nvSpPr>
          <p:spPr>
            <a:xfrm>
              <a:off x="6203442" y="2511425"/>
              <a:ext cx="1959234" cy="264033"/>
            </a:xfrm>
            <a:prstGeom prst="rect">
              <a:avLst/>
            </a:prstGeom>
            <a:noFill/>
            <a:ln>
              <a:noFill/>
            </a:ln>
          </p:spPr>
          <p:txBody>
            <a:bodyPr wrap="none" lIns="0" tIns="0" rIns="0" bIns="0" anchor="t" anchorCtr="0">
              <a:spAutoFit/>
            </a:bodyPr>
            <a:lstStyle/>
            <a:p>
              <a:pPr algn="l"/>
              <a:r>
                <a:rPr lang="en-US" sz="1350" dirty="0">
                  <a:solidFill>
                    <a:schemeClr val="accent2"/>
                  </a:solidFill>
                  <a:latin typeface="+mn-lt"/>
                  <a:ea typeface="+mn-ea"/>
                  <a:cs typeface="+mn-cs"/>
                </a:rPr>
                <a:t>Arize · Sofia Jakovcevic</a:t>
              </a:r>
            </a:p>
          </p:txBody>
        </p:sp>
        <p:sp>
          <p:nvSpPr>
            <p:cNvPr id="26" name="TextBox 26">
              <a:hlinkClick r:id="rId21"/>
            </p:cNvPr>
            <p:cNvSpPr txBox="1"/>
            <p:nvPr/>
          </p:nvSpPr>
          <p:spPr>
            <a:xfrm>
              <a:off x="6203442" y="2768600"/>
              <a:ext cx="2380394" cy="264033"/>
            </a:xfrm>
            <a:prstGeom prst="rect">
              <a:avLst/>
            </a:prstGeom>
            <a:noFill/>
            <a:ln>
              <a:noFill/>
            </a:ln>
          </p:spPr>
          <p:txBody>
            <a:bodyPr wrap="none" lIns="0" tIns="0" rIns="0" bIns="0" anchor="t" anchorCtr="0">
              <a:spAutoFit/>
            </a:bodyPr>
            <a:lstStyle/>
            <a:p>
              <a:pPr algn="l"/>
              <a:r>
                <a:rPr lang="en-US" sz="1350" dirty="0">
                  <a:solidFill>
                    <a:schemeClr val="accent2"/>
                  </a:solidFill>
                  <a:latin typeface="+mn-lt"/>
                  <a:ea typeface="+mn-ea"/>
                  <a:cs typeface="+mn-cs"/>
                </a:rPr>
                <a:t>Air Canada · Nathanael Weill</a:t>
              </a:r>
            </a:p>
          </p:txBody>
        </p:sp>
        <p:sp>
          <p:nvSpPr>
            <p:cNvPr id="27" name="TextBox 27">
              <a:hlinkClick r:id="rId22"/>
            </p:cNvPr>
            <p:cNvSpPr txBox="1"/>
            <p:nvPr/>
          </p:nvSpPr>
          <p:spPr>
            <a:xfrm>
              <a:off x="6203442" y="3025775"/>
              <a:ext cx="787061" cy="264033"/>
            </a:xfrm>
            <a:prstGeom prst="rect">
              <a:avLst/>
            </a:prstGeom>
            <a:noFill/>
            <a:ln>
              <a:noFill/>
            </a:ln>
          </p:spPr>
          <p:txBody>
            <a:bodyPr wrap="none" lIns="0" tIns="0" rIns="0" bIns="0" anchor="t" anchorCtr="0">
              <a:spAutoFit/>
            </a:bodyPr>
            <a:lstStyle/>
            <a:p>
              <a:pPr algn="l"/>
              <a:r>
                <a:rPr lang="en-US" sz="1350" dirty="0">
                  <a:solidFill>
                    <a:schemeClr val="accent2"/>
                  </a:solidFill>
                  <a:latin typeface="+mn-lt"/>
                  <a:ea typeface="+mn-ea"/>
                  <a:cs typeface="+mn-cs"/>
                </a:rPr>
                <a:t>Coinbase</a:t>
              </a:r>
            </a:p>
          </p:txBody>
        </p:sp>
        <p:sp>
          <p:nvSpPr>
            <p:cNvPr id="28" name="TextBox 28">
              <a:hlinkClick r:id="rId23"/>
            </p:cNvPr>
            <p:cNvSpPr txBox="1"/>
            <p:nvPr/>
          </p:nvSpPr>
          <p:spPr>
            <a:xfrm>
              <a:off x="6203442" y="3282950"/>
              <a:ext cx="935555" cy="264033"/>
            </a:xfrm>
            <a:prstGeom prst="rect">
              <a:avLst/>
            </a:prstGeom>
            <a:noFill/>
            <a:ln>
              <a:noFill/>
            </a:ln>
          </p:spPr>
          <p:txBody>
            <a:bodyPr wrap="none" lIns="0" tIns="0" rIns="0" bIns="0" anchor="t" anchorCtr="0">
              <a:spAutoFit/>
            </a:bodyPr>
            <a:lstStyle/>
            <a:p>
              <a:pPr algn="l"/>
              <a:r>
                <a:rPr lang="en-US" sz="1350" dirty="0">
                  <a:solidFill>
                    <a:schemeClr val="accent2"/>
                  </a:solidFill>
                  <a:latin typeface="+mn-lt"/>
                  <a:ea typeface="+mn-ea"/>
                  <a:cs typeface="+mn-cs"/>
                </a:rPr>
                <a:t>Two Sigma</a:t>
              </a:r>
            </a:p>
          </p:txBody>
        </p:sp>
        <p:sp>
          <p:nvSpPr>
            <p:cNvPr id="29" name="TextBox 29">
              <a:hlinkClick r:id="rId24"/>
            </p:cNvPr>
            <p:cNvSpPr txBox="1"/>
            <p:nvPr/>
          </p:nvSpPr>
          <p:spPr>
            <a:xfrm>
              <a:off x="6203442" y="3540125"/>
              <a:ext cx="1543919" cy="264033"/>
            </a:xfrm>
            <a:prstGeom prst="rect">
              <a:avLst/>
            </a:prstGeom>
            <a:noFill/>
            <a:ln>
              <a:noFill/>
            </a:ln>
          </p:spPr>
          <p:txBody>
            <a:bodyPr wrap="none" lIns="0" tIns="0" rIns="0" bIns="0" anchor="t" anchorCtr="0">
              <a:spAutoFit/>
            </a:bodyPr>
            <a:lstStyle/>
            <a:p>
              <a:pPr algn="l"/>
              <a:r>
                <a:rPr lang="en-US" sz="1350" dirty="0">
                  <a:solidFill>
                    <a:schemeClr val="accent2"/>
                  </a:solidFill>
                  <a:latin typeface="+mn-lt"/>
                  <a:ea typeface="+mn-ea"/>
                  <a:cs typeface="+mn-cs"/>
                </a:rPr>
                <a:t>Intuit Credit Karma</a:t>
              </a:r>
            </a:p>
          </p:txBody>
        </p:sp>
        <p:sp>
          <p:nvSpPr>
            <p:cNvPr id="30" name="TextBox 30">
              <a:hlinkClick r:id="rId25"/>
            </p:cNvPr>
            <p:cNvSpPr txBox="1"/>
            <p:nvPr/>
          </p:nvSpPr>
          <p:spPr>
            <a:xfrm>
              <a:off x="6203442" y="3797300"/>
              <a:ext cx="898160" cy="264033"/>
            </a:xfrm>
            <a:prstGeom prst="rect">
              <a:avLst/>
            </a:prstGeom>
            <a:noFill/>
            <a:ln>
              <a:noFill/>
            </a:ln>
          </p:spPr>
          <p:txBody>
            <a:bodyPr wrap="none" lIns="0" tIns="0" rIns="0" bIns="0" anchor="t" anchorCtr="0">
              <a:spAutoFit/>
            </a:bodyPr>
            <a:lstStyle/>
            <a:p>
              <a:pPr algn="l"/>
              <a:r>
                <a:rPr lang="en-US" sz="1350" dirty="0">
                  <a:solidFill>
                    <a:schemeClr val="accent2"/>
                  </a:solidFill>
                  <a:latin typeface="+mn-lt"/>
                  <a:ea typeface="+mn-ea"/>
                  <a:cs typeface="+mn-cs"/>
                </a:rPr>
                <a:t>Bloomberg</a:t>
              </a:r>
            </a:p>
          </p:txBody>
        </p:sp>
        <p:sp>
          <p:nvSpPr>
            <p:cNvPr id="31" name="TextBox 31">
              <a:hlinkClick r:id="rId26"/>
            </p:cNvPr>
            <p:cNvSpPr txBox="1"/>
            <p:nvPr/>
          </p:nvSpPr>
          <p:spPr>
            <a:xfrm>
              <a:off x="6203442" y="4054475"/>
              <a:ext cx="2172659" cy="264033"/>
            </a:xfrm>
            <a:prstGeom prst="rect">
              <a:avLst/>
            </a:prstGeom>
            <a:noFill/>
            <a:ln>
              <a:noFill/>
            </a:ln>
          </p:spPr>
          <p:txBody>
            <a:bodyPr wrap="none" lIns="0" tIns="0" rIns="0" bIns="0" anchor="t" anchorCtr="0">
              <a:spAutoFit/>
            </a:bodyPr>
            <a:lstStyle/>
            <a:p>
              <a:pPr algn="l"/>
              <a:r>
                <a:rPr lang="en-US" sz="1350" dirty="0">
                  <a:solidFill>
                    <a:schemeClr val="accent2"/>
                  </a:solidFill>
                  <a:latin typeface="+mn-lt"/>
                  <a:ea typeface="+mn-ea"/>
                  <a:cs typeface="+mn-cs"/>
                </a:rPr>
                <a:t>Arize · Aparna Dhinakaran</a:t>
              </a:r>
            </a:p>
          </p:txBody>
        </p:sp>
        <p:sp>
          <p:nvSpPr>
            <p:cNvPr id="32" name="TextBox 32">
              <a:hlinkClick r:id="rId27"/>
            </p:cNvPr>
            <p:cNvSpPr txBox="1"/>
            <p:nvPr/>
          </p:nvSpPr>
          <p:spPr>
            <a:xfrm>
              <a:off x="6203442" y="4311650"/>
              <a:ext cx="504190" cy="264033"/>
            </a:xfrm>
            <a:prstGeom prst="rect">
              <a:avLst/>
            </a:prstGeom>
            <a:noFill/>
            <a:ln>
              <a:noFill/>
            </a:ln>
          </p:spPr>
          <p:txBody>
            <a:bodyPr wrap="none" lIns="0" tIns="0" rIns="0" bIns="0" anchor="t" anchorCtr="0">
              <a:spAutoFit/>
            </a:bodyPr>
            <a:lstStyle/>
            <a:p>
              <a:pPr algn="l"/>
              <a:r>
                <a:rPr lang="en-US" sz="1350" dirty="0">
                  <a:solidFill>
                    <a:schemeClr val="accent2"/>
                  </a:solidFill>
                  <a:latin typeface="+mn-lt"/>
                  <a:ea typeface="+mn-ea"/>
                  <a:cs typeface="+mn-cs"/>
                </a:rPr>
                <a:t>Sonar</a:t>
              </a:r>
            </a:p>
          </p:txBody>
        </p:sp>
        <p:sp>
          <p:nvSpPr>
            <p:cNvPr id="33" name="TextBox 33">
              <a:hlinkClick r:id="rId28"/>
            </p:cNvPr>
            <p:cNvSpPr txBox="1"/>
            <p:nvPr/>
          </p:nvSpPr>
          <p:spPr>
            <a:xfrm>
              <a:off x="6203442" y="4568825"/>
              <a:ext cx="984334" cy="264033"/>
            </a:xfrm>
            <a:prstGeom prst="rect">
              <a:avLst/>
            </a:prstGeom>
            <a:noFill/>
            <a:ln>
              <a:noFill/>
            </a:ln>
          </p:spPr>
          <p:txBody>
            <a:bodyPr wrap="none" lIns="0" tIns="0" rIns="0" bIns="0" anchor="t" anchorCtr="0">
              <a:spAutoFit/>
            </a:bodyPr>
            <a:lstStyle/>
            <a:p>
              <a:pPr algn="l"/>
              <a:r>
                <a:rPr lang="en-US" sz="1350" dirty="0">
                  <a:solidFill>
                    <a:schemeClr val="accent2"/>
                  </a:solidFill>
                  <a:latin typeface="+mn-lt"/>
                  <a:ea typeface="+mn-ea"/>
                  <a:cs typeface="+mn-cs"/>
                </a:rPr>
                <a:t>Capital One</a:t>
              </a:r>
            </a:p>
          </p:txBody>
        </p:sp>
        <p:sp>
          <p:nvSpPr>
            <p:cNvPr id="34" name="TextBox 34">
              <a:hlinkClick r:id="rId29"/>
            </p:cNvPr>
            <p:cNvSpPr txBox="1"/>
            <p:nvPr/>
          </p:nvSpPr>
          <p:spPr>
            <a:xfrm>
              <a:off x="6203442" y="4826000"/>
              <a:ext cx="1566411" cy="264033"/>
            </a:xfrm>
            <a:prstGeom prst="rect">
              <a:avLst/>
            </a:prstGeom>
            <a:noFill/>
            <a:ln>
              <a:noFill/>
            </a:ln>
          </p:spPr>
          <p:txBody>
            <a:bodyPr wrap="none" lIns="0" tIns="0" rIns="0" bIns="0" anchor="t" anchorCtr="0">
              <a:spAutoFit/>
            </a:bodyPr>
            <a:lstStyle/>
            <a:p>
              <a:pPr algn="l"/>
              <a:r>
                <a:rPr lang="en-US" sz="1350" dirty="0">
                  <a:solidFill>
                    <a:schemeClr val="accent2"/>
                  </a:solidFill>
                  <a:latin typeface="+mn-lt"/>
                  <a:ea typeface="+mn-ea"/>
                  <a:cs typeface="+mn-cs"/>
                </a:rPr>
                <a:t>Arize · Laurie Voss</a:t>
              </a:r>
            </a:p>
          </p:txBody>
        </p:sp>
        <p:sp>
          <p:nvSpPr>
            <p:cNvPr id="35" name="TextBox 35">
              <a:hlinkClick r:id="rId30"/>
            </p:cNvPr>
            <p:cNvSpPr txBox="1"/>
            <p:nvPr/>
          </p:nvSpPr>
          <p:spPr>
            <a:xfrm>
              <a:off x="6203442" y="5083175"/>
              <a:ext cx="664184" cy="264033"/>
            </a:xfrm>
            <a:prstGeom prst="rect">
              <a:avLst/>
            </a:prstGeom>
            <a:noFill/>
            <a:ln>
              <a:noFill/>
            </a:ln>
          </p:spPr>
          <p:txBody>
            <a:bodyPr wrap="none" lIns="0" tIns="0" rIns="0" bIns="0" anchor="t" anchorCtr="0">
              <a:spAutoFit/>
            </a:bodyPr>
            <a:lstStyle/>
            <a:p>
              <a:pPr algn="l"/>
              <a:r>
                <a:rPr lang="en-US" sz="1350" dirty="0">
                  <a:solidFill>
                    <a:schemeClr val="accent2"/>
                  </a:solidFill>
                  <a:latin typeface="+mn-lt"/>
                  <a:ea typeface="+mn-ea"/>
                  <a:cs typeface="+mn-cs"/>
                </a:rPr>
                <a:t>Jellyfish</a:t>
              </a:r>
            </a:p>
          </p:txBody>
        </p:sp>
        <p:sp>
          <p:nvSpPr>
            <p:cNvPr id="36" name="TextBox 36">
              <a:hlinkClick r:id="rId31"/>
            </p:cNvPr>
            <p:cNvSpPr txBox="1"/>
            <p:nvPr/>
          </p:nvSpPr>
          <p:spPr>
            <a:xfrm>
              <a:off x="6203442" y="5340350"/>
              <a:ext cx="2550303" cy="264033"/>
            </a:xfrm>
            <a:prstGeom prst="rect">
              <a:avLst/>
            </a:prstGeom>
            <a:noFill/>
            <a:ln>
              <a:noFill/>
            </a:ln>
          </p:spPr>
          <p:txBody>
            <a:bodyPr wrap="none" lIns="0" tIns="0" rIns="0" bIns="0" anchor="t" anchorCtr="0">
              <a:spAutoFit/>
            </a:bodyPr>
            <a:lstStyle/>
            <a:p>
              <a:pPr algn="l"/>
              <a:r>
                <a:rPr lang="en-US" sz="1350" dirty="0">
                  <a:solidFill>
                    <a:schemeClr val="accent2"/>
                  </a:solidFill>
                  <a:latin typeface="+mn-lt"/>
                  <a:ea typeface="+mn-ea"/>
                  <a:cs typeface="+mn-cs"/>
                </a:rPr>
                <a:t>DeepMind / Kaggle / LinqAlpha</a:t>
              </a:r>
            </a:p>
          </p:txBody>
        </p:sp>
      </p:grpSp>
      <p:grpSp>
        <p:nvGrpSpPr>
          <p:cNvPr id="39" name="evidence-scope"/>
          <p:cNvGrpSpPr/>
          <p:nvPr/>
        </p:nvGrpSpPr>
        <p:grpSpPr>
          <a:xfrm>
            <a:off x="451104" y="5905500"/>
            <a:ext cx="9016807" cy="434721"/>
            <a:chOff x="451104" y="5905500"/>
            <a:chExt cx="9016807" cy="434721"/>
          </a:xfrm>
        </p:grpSpPr>
        <p:sp>
          <p:nvSpPr>
            <p:cNvPr id="38" name="TextBox 38"/>
            <p:cNvSpPr txBox="1"/>
            <p:nvPr/>
          </p:nvSpPr>
          <p:spPr>
            <a:xfrm>
              <a:off x="451104" y="5905500"/>
              <a:ext cx="9016807" cy="434721"/>
            </a:xfrm>
            <a:prstGeom prst="rect">
              <a:avLst/>
            </a:prstGeom>
            <a:noFill/>
            <a:ln>
              <a:noFill/>
            </a:ln>
          </p:spPr>
          <p:txBody>
            <a:bodyPr wrap="none" lIns="0" tIns="0" rIns="0" bIns="0" anchor="t" anchorCtr="0">
              <a:spAutoFit/>
            </a:bodyPr>
            <a:lstStyle/>
            <a:p>
              <a:pPr algn="l">
                <a:lnSpc>
                  <a:spcPts val="1575"/>
                </a:lnSpc>
              </a:pPr>
              <a:r>
                <a:rPr lang="en-US" sz="1200" dirty="0">
                  <a:solidFill>
                    <a:schemeClr val="accent5"/>
                  </a:solidFill>
                  <a:latin typeface="+mn-lt"/>
                  <a:ea typeface="+mn-ea"/>
                  <a:cs typeface="+mn-cs"/>
                </a:rPr>
                <a:t>Links lead to original sources. Descriptions are not transcripts; company results are attributed accounts. Historical disclosures and the</a:t>
              </a:r>
              <a:br>
                <a:rPr lang="en-US" sz="1200" dirty="0">
                  <a:solidFill>
                    <a:schemeClr val="accent5"/>
                  </a:solidFill>
                  <a:latin typeface="+mn-lt"/>
                  <a:ea typeface="+mn-ea"/>
                  <a:cs typeface="+mn-cs"/>
                </a:rPr>
              </a:br>
              <a:r>
                <a:rPr lang="en-US" sz="1200" dirty="0">
                  <a:solidFill>
                    <a:schemeClr val="accent5"/>
                  </a:solidFill>
                  <a:latin typeface="+mn-lt"/>
                  <a:ea typeface="+mn-ea"/>
                  <a:cs typeface="+mn-cs"/>
                </a:rPr>
                <a:t>metric paper remain linked in the reading edition and notes.</a:t>
              </a:r>
            </a:p>
          </p:txBody>
        </p:sp>
      </p:grpSp>
      <p:grpSp>
        <p:nvGrpSpPr>
          <p:cNvPr id="42" name="footer"/>
          <p:cNvGrpSpPr/>
          <p:nvPr/>
        </p:nvGrpSpPr>
        <p:grpSpPr>
          <a:xfrm>
            <a:off x="452438" y="6477000"/>
            <a:ext cx="11287124" cy="176212"/>
            <a:chOff x="452438" y="6477000"/>
            <a:chExt cx="11287124" cy="176212"/>
          </a:xfrm>
        </p:grpSpPr>
        <p:sp>
          <p:nvSpPr>
            <p:cNvPr id="40" name="TextBox 40"/>
            <p:cNvSpPr txBox="1"/>
            <p:nvPr/>
          </p:nvSpPr>
          <p:spPr>
            <a:xfrm>
              <a:off x="452438" y="6477000"/>
              <a:ext cx="6623372" cy="176212"/>
            </a:xfrm>
            <a:prstGeom prst="rect">
              <a:avLst/>
            </a:prstGeom>
            <a:noFill/>
            <a:ln>
              <a:noFill/>
            </a:ln>
          </p:spPr>
          <p:txBody>
            <a:bodyPr wrap="none" lIns="0" tIns="0" rIns="0" bIns="0" anchor="t" anchorCtr="0">
              <a:spAutoFit/>
            </a:bodyPr>
            <a:lstStyle/>
            <a:p>
              <a:pPr algn="l"/>
              <a:r>
                <a:rPr lang="en-US" sz="900" dirty="0">
                  <a:solidFill>
                    <a:schemeClr val="accent5"/>
                  </a:solidFill>
                  <a:latin typeface="+mn-lt"/>
                  <a:ea typeface="+mn-ea"/>
                  <a:cs typeface="+mn-cs"/>
                </a:rPr>
                <a:t>Sources: AIE NYC recordings, original notes, primary written follow-up and dated disclosures | Reviewed October 25, 2026</a:t>
              </a:r>
            </a:p>
          </p:txBody>
        </p:sp>
        <p:sp>
          <p:nvSpPr>
            <p:cNvPr id="41" name="TextBox 41"/>
            <p:cNvSpPr txBox="1"/>
            <p:nvPr/>
          </p:nvSpPr>
          <p:spPr>
            <a:xfrm>
              <a:off x="11359512" y="6477000"/>
              <a:ext cx="380050" cy="176212"/>
            </a:xfrm>
            <a:prstGeom prst="rect">
              <a:avLst/>
            </a:prstGeom>
            <a:noFill/>
            <a:ln>
              <a:noFill/>
            </a:ln>
          </p:spPr>
          <p:txBody>
            <a:bodyPr wrap="none" lIns="0" tIns="0" rIns="0" bIns="0" anchor="t" anchorCtr="0">
              <a:spAutoFit/>
            </a:bodyPr>
            <a:lstStyle/>
            <a:p>
              <a:pPr algn="r"/>
              <a:r>
                <a:rPr lang="en-US" sz="900" dirty="0">
                  <a:solidFill>
                    <a:schemeClr val="accent5"/>
                  </a:solidFill>
                  <a:latin typeface="+mn-lt"/>
                  <a:ea typeface="+mn-ea"/>
                  <a:cs typeface="+mn-cs"/>
                </a:rPr>
                <a:t>37 / 37</a:t>
              </a:r>
            </a:p>
          </p:txBody>
        </p:sp>
      </p:grpSp>
    </p:spTree>
  </p:cSld>
  <p:clrMapOvr>
    <a:masterClrMapping/>
  </p:clrMapOvr>
  <p:transition xmlns:p14="http://schemas.microsoft.com/office/powerpoint/2010/main" p14:dur="400">
    <p:fade/>
  </p:transition>
</p:sld>
</file>

<file path=ppt/theme/theme1.xml><?xml version="1.0" encoding="utf-8"?>
<a:theme xmlns:a="http://schemas.openxmlformats.org/drawingml/2006/main" name="ai-engineer-conference-takeaways">
  <a:themeElements>
    <a:clrScheme name="ai-engineer-conference-takeaways">
      <a:dk1>
        <a:srgbClr val="132F3B"/>
      </a:dk1>
      <a:lt1>
        <a:srgbClr val="FFFDF7"/>
      </a:lt1>
      <a:dk2>
        <a:srgbClr val="1F497D"/>
      </a:dk2>
      <a:lt2>
        <a:srgbClr val="E7F0EA"/>
      </a:lt2>
      <a:accent1>
        <a:srgbClr val="102E3A"/>
      </a:accent1>
      <a:accent2>
        <a:srgbClr val="075E52"/>
      </a:accent2>
      <a:accent3>
        <a:srgbClr val="D5EF8C"/>
      </a:accent3>
      <a:accent4>
        <a:srgbClr val="102E3A"/>
      </a:accent4>
      <a:accent5>
        <a:srgbClr val="50616A"/>
      </a:accent5>
      <a:accent6>
        <a:srgbClr val="CBD4D1"/>
      </a:accent6>
      <a:hlink>
        <a:srgbClr val="075E52"/>
      </a:hlink>
      <a:folHlink>
        <a:srgbClr val="D5EF8C"/>
      </a:folHlink>
    </a:clrScheme>
    <a:fontScheme name="ai-engineer-conference-takeaways">
      <a:majorFont>
        <a:latin typeface="Cambria"/>
        <a:ea typeface="SimSun"/>
        <a:cs typeface="Cambria"/>
        <a:font script="Jpan" typeface="SimSun"/>
        <a:font script="Hang" typeface="SimSun"/>
        <a:font script="Hans" typeface="SimSun"/>
        <a:font script="Hant" typeface="SimSun"/>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Microsoft YaHei"/>
        <a:cs typeface="Arial"/>
        <a:font script="Jpan" typeface="Microsoft YaHei"/>
        <a:font script="Hang" typeface="Microsoft YaHei"/>
        <a:font script="Hans" typeface="Microsoft YaHei"/>
        <a:font script="Hant" typeface="Microsoft YaHei"/>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ai-engineer-conference-takeaways">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ai-engineer-conference-takeaways">
  <a:themeElements>
    <a:clrScheme name="ai-engineer-conference-takeaways">
      <a:dk1>
        <a:srgbClr val="132F3B"/>
      </a:dk1>
      <a:lt1>
        <a:srgbClr val="FFFDF7"/>
      </a:lt1>
      <a:dk2>
        <a:srgbClr val="1F497D"/>
      </a:dk2>
      <a:lt2>
        <a:srgbClr val="E7F0EA"/>
      </a:lt2>
      <a:accent1>
        <a:srgbClr val="102E3A"/>
      </a:accent1>
      <a:accent2>
        <a:srgbClr val="075E52"/>
      </a:accent2>
      <a:accent3>
        <a:srgbClr val="D5EF8C"/>
      </a:accent3>
      <a:accent4>
        <a:srgbClr val="102E3A"/>
      </a:accent4>
      <a:accent5>
        <a:srgbClr val="50616A"/>
      </a:accent5>
      <a:accent6>
        <a:srgbClr val="CBD4D1"/>
      </a:accent6>
      <a:hlink>
        <a:srgbClr val="075E52"/>
      </a:hlink>
      <a:folHlink>
        <a:srgbClr val="D5EF8C"/>
      </a:folHlink>
    </a:clrScheme>
    <a:fontScheme name="ai-engineer-conference-takeaways">
      <a:majorFont>
        <a:latin typeface="Cambria"/>
        <a:ea typeface="SimSun"/>
        <a:cs typeface="Cambria"/>
        <a:font script="Jpan" typeface="SimSun"/>
        <a:font script="Hang" typeface="SimSun"/>
        <a:font script="Hans" typeface="SimSun"/>
        <a:font script="Hant" typeface="SimSun"/>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Microsoft YaHei"/>
        <a:cs typeface="Arial"/>
        <a:font script="Jpan" typeface="Microsoft YaHei"/>
        <a:font script="Hang" typeface="Microsoft YaHei"/>
        <a:font script="Hans" typeface="Microsoft YaHei"/>
        <a:font script="Hant" typeface="Microsoft YaHei"/>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ai-engineer-conference-takeaways">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Office PowerPoint</Application>
  <PresentationFormat>On-screen Show (16:9)</PresentationFormat>
  <Paragraphs>0</Paragraphs>
  <Slides>37</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
  <dc:language>en-US</dc:language>
  <cp:lastModifiedBy/>
  <cp:revision>1</cp:revision>
  <dcterms:created xsi:type="dcterms:W3CDTF">2026-10-25T10:58:06Z</dcterms:created>
  <dcterms:modified xsi:type="dcterms:W3CDTF">2026-10-25T10:58:06Z</dcterms:modified>
  <cp:category/>
  <cp:contentStatus/>
</cp:coreProperties>
</file>