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4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2000" cy="6858000" type="screen16x9"/>
  <p:notesSz cx="6858000" cy="9144000"/>
  <p:defaultTextStyle>
    <a:defPPr>
      <a:defRPr lang="en-US"/>
    </a:defPPr>
    <a:lvl1pPr marL="0" algn="l" defTabSz="457200" rtl="0" eaLnBrk="1" latinLnBrk="0" hangingPunct="1">
      <a:defRPr sz="1800" kern="1200" lang="en-US">
        <a:solidFill>
          <a:schemeClr val="tx1"/>
        </a:solidFill>
        <a:latin typeface="+mn-lt"/>
        <a:ea typeface="+mn-ea"/>
        <a:cs typeface="+mn-cs"/>
      </a:defRPr>
    </a:lvl1pPr>
    <a:lvl2pPr marL="457200" algn="l" defTabSz="457200" rtl="0" eaLnBrk="1" latinLnBrk="0" hangingPunct="1">
      <a:defRPr sz="1800" kern="1200" lang="en-US">
        <a:solidFill>
          <a:schemeClr val="tx1"/>
        </a:solidFill>
        <a:latin typeface="+mn-lt"/>
        <a:ea typeface="+mn-ea"/>
        <a:cs typeface="+mn-cs"/>
      </a:defRPr>
    </a:lvl2pPr>
    <a:lvl3pPr marL="914400" algn="l" defTabSz="457200" rtl="0" eaLnBrk="1" latinLnBrk="0" hangingPunct="1">
      <a:defRPr sz="1800" kern="1200" lang="en-US">
        <a:solidFill>
          <a:schemeClr val="tx1"/>
        </a:solidFill>
        <a:latin typeface="+mn-lt"/>
        <a:ea typeface="+mn-ea"/>
        <a:cs typeface="+mn-cs"/>
      </a:defRPr>
    </a:lvl3pPr>
    <a:lvl4pPr marL="1371600" algn="l" defTabSz="457200" rtl="0" eaLnBrk="1" latinLnBrk="0" hangingPunct="1">
      <a:defRPr sz="1800" kern="1200" lang="en-US">
        <a:solidFill>
          <a:schemeClr val="tx1"/>
        </a:solidFill>
        <a:latin typeface="+mn-lt"/>
        <a:ea typeface="+mn-ea"/>
        <a:cs typeface="+mn-cs"/>
      </a:defRPr>
    </a:lvl4pPr>
    <a:lvl5pPr marL="1828800" algn="l" defTabSz="457200" rtl="0" eaLnBrk="1" latinLnBrk="0" hangingPunct="1">
      <a:defRPr sz="1800" kern="1200" lang="en-US">
        <a:solidFill>
          <a:schemeClr val="tx1"/>
        </a:solidFill>
        <a:latin typeface="+mn-lt"/>
        <a:ea typeface="+mn-ea"/>
        <a:cs typeface="+mn-cs"/>
      </a:defRPr>
    </a:lvl5pPr>
    <a:lvl6pPr marL="2286000" algn="l" defTabSz="457200" rtl="0" eaLnBrk="1" latinLnBrk="0" hangingPunct="1">
      <a:defRPr sz="1800" kern="1200" lang="en-US">
        <a:solidFill>
          <a:schemeClr val="tx1"/>
        </a:solidFill>
        <a:latin typeface="+mn-lt"/>
        <a:ea typeface="+mn-ea"/>
        <a:cs typeface="+mn-cs"/>
      </a:defRPr>
    </a:lvl6pPr>
    <a:lvl7pPr marL="2743200" algn="l" defTabSz="457200" rtl="0" eaLnBrk="1" latinLnBrk="0" hangingPunct="1">
      <a:defRPr sz="1800" kern="1200" lang="en-US">
        <a:solidFill>
          <a:schemeClr val="tx1"/>
        </a:solidFill>
        <a:latin typeface="+mn-lt"/>
        <a:ea typeface="+mn-ea"/>
        <a:cs typeface="+mn-cs"/>
      </a:defRPr>
    </a:lvl7pPr>
    <a:lvl8pPr marL="3200400" algn="l" defTabSz="457200" rtl="0" eaLnBrk="1" latinLnBrk="0" hangingPunct="1">
      <a:defRPr sz="1800" kern="1200" lang="en-US">
        <a:solidFill>
          <a:schemeClr val="tx1"/>
        </a:solidFill>
        <a:latin typeface="+mn-lt"/>
        <a:ea typeface="+mn-ea"/>
        <a:cs typeface="+mn-cs"/>
      </a:defRPr>
    </a:lvl8pPr>
    <a:lvl9pPr marL="3657600" algn="l" defTabSz="457200" rtl="0" eaLnBrk="1" latinLnBrk="0" hangingPunct="1">
      <a:defRPr sz="1800" kern="1200" lang="en-US">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  <Relationship Id="rId44"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Today I want to connect the conference material to one practical idea: dependable AI completes work that another professional can inspect and accept.</a:t>
            </a:r>
          </a:p>
          <a:p>
            <a:pPr/>
            <a:endParaRPr lang="en-US" dirty="0"/>
          </a:p>
          <a:p>
            <a:pPr/>
            <a:r>
              <a:rPr lang="en-US" dirty="0"/>
              <a:t>The interesting examples extend beyond generating an answer. They prepare evidence, encode a professional method, check what happened and control the next action. That is the thread through this briefing.</a:t>
            </a:r>
          </a:p>
          <a:p>
            <a:pPr/>
            <a:endParaRPr lang="en-US" dirty="0"/>
          </a:p>
          <a:p>
            <a:pPr/>
            <a:r>
              <a:rPr lang="en-US" dirty="0"/>
              <a:t>This combines the original attendee notes with later organizer transcripts, video descriptions and a separately identified written Ramp account. I will distinguish reported company mechanisms from our proposed methods. A speaker's result is useful evidence to investigate, rather than a promise that it will transfer to our work.</a:t>
            </a:r>
          </a:p>
          <a:p>
            <a:pPr/>
            <a:endParaRPr lang="en-US" dirty="0"/>
          </a:p>
          <a:p>
            <a:pPr/>
            <a:r>
              <a:rPr lang="en-US" dirty="0"/>
              <a:t>Let us start with the five responsibilities that hold that whole job together.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five chapters follow the life of a useful system.</a:t>
            </a:r>
          </a:p>
          <a:p>
            <a:pPr/>
            <a:endParaRPr lang="en-US" dirty="0"/>
          </a:p>
          <a:p>
            <a:pPr/>
            <a:r>
              <a:rPr lang="en-US" dirty="0"/>
              <a:t>Strategy establishes which work matters. Grounding establishes what the evidence means and which evidence is eligible. Evaluation establishes what completed work looks like and how failures become visible. Workflows establish which actions can happen and how progress survives interruptions. Growth brings those responsibilities together in the engineer's daily practice.</a:t>
            </a:r>
          </a:p>
          <a:p>
            <a:pPr/>
            <a:endParaRPr lang="en-US" dirty="0"/>
          </a:p>
          <a:p>
            <a:pPr/>
            <a:r>
              <a:rPr lang="en-US" dirty="0"/>
              <a:t>These are connected decisions. A better retrieval result can still become an unsupported sentence. A good draft can still be sent without permission. A cheaper model can still create more review work.</a:t>
            </a:r>
          </a:p>
          <a:p>
            <a:pPr/>
            <a:endParaRPr lang="en-US" dirty="0"/>
          </a:p>
          <a:p>
            <a:pPr/>
            <a:r>
              <a:rPr lang="en-US" dirty="0"/>
              <a:t>The company examples make those connections concrete. The goal is to leave with a method for choosing and testing the next improvement, rather than a list of products.</a:t>
            </a:r>
          </a:p>
          <a:p>
            <a:pPr/>
            <a:endParaRPr lang="en-US" dirty="0"/>
          </a:p>
          <a:p>
            <a:pPr/>
            <a:r>
              <a:rPr lang="en-US" dirty="0"/>
              <a:t>First, we need a better definition of the thing we are trying to deliver.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Start with Apollo and Redding Ridge preparing a structured-credit portfolio. Before the agent writes anything, conflicting feeds have to be reconciled. Which source governs this task, and why? That rule comes from understanding the professional workflow, not from making the prompt longer.</a:t>
            </a:r>
          </a:p>
          <a:p>
            <a:pPr/>
            <a:endParaRPr lang="en-US" dirty="0"/>
          </a:p>
          <a:p>
            <a:pPr/>
            <a:r>
              <a:rPr lang="en-US" dirty="0"/>
              <a:t>The agent then prepares a mock portfolio for portfolio-manager refinement. Recurring warehouse-financing and trade-reconciliation reports add daily QA. Preparation, professional judgment and recurring controls remain distinct responsibilities.</a:t>
            </a:r>
          </a:p>
          <a:p>
            <a:pPr/>
            <a:endParaRPr lang="en-US" dirty="0"/>
          </a:p>
          <a:p>
            <a:pPr/>
            <a:r>
              <a:rPr lang="en-US" dirty="0"/>
              <a:t>Take ten seconds: name one work product that a professional in your area would actually accept. Include the person who reviews it.</a:t>
            </a:r>
          </a:p>
          <a:p>
            <a:pPr/>
            <a:endParaRPr lang="en-US" dirty="0"/>
          </a:p>
          <a:p>
            <a:pPr/>
            <a:r>
              <a:rPr lang="en-US" dirty="0"/>
              <a:t>That is the unit to measure. A reported days-to-minutes improvement is interesting, but we still need total reviewer effort, corrections and accepted output. Coatue's decision decomposition reinforces the same principle: assign each step to the combination of code, model and person that fits its acceptance test.</a:t>
            </a:r>
          </a:p>
          <a:p>
            <a:pPr/>
            <a:endParaRPr lang="en-US" dirty="0"/>
          </a:p>
          <a:p>
            <a:pPr/>
            <a:r>
              <a:rPr lang="en-US" dirty="0"/>
              <a:t>Once the work product is clear, different technical choices become easier to compare.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Financial AI is broader than a financial chatbot. The decision, data representation and operating budget can lead to very different systems.</a:t>
            </a:r>
          </a:p>
          <a:p>
            <a:pPr/>
            <a:endParaRPr lang="en-US" dirty="0"/>
          </a:p>
          <a:p>
            <a:pPr/>
            <a:r>
              <a:rPr lang="en-US" dirty="0"/>
              <a:t>Bridgewater concentrates on evidence reaching investment work. Coatue emphasizes decomposing the decision. Wells Fargo describes a transformer trained on transaction sequences for downstream fraud classification. Assess detection and false positives within the authorization-time budget; amounts, categories, channels, time and location shape the transaction representation. That is a transaction foundation model; calling it a proprietary language model would miss the design.</a:t>
            </a:r>
          </a:p>
          <a:p>
            <a:pPr/>
            <a:endParaRPr lang="en-US" dirty="0"/>
          </a:p>
          <a:p>
            <a:pPr/>
            <a:r>
              <a:rPr lang="en-US" dirty="0"/>
              <a:t>The Blackstone and Norm discussion contributes another strategy point: keep useful data, expert evaluations and production controls while models and scaffolding change. The expert-labeled regression assets in that account belong to Norm's example. Sharing a panel does not establish that Blackstone deployed every component.</a:t>
            </a:r>
          </a:p>
          <a:p>
            <a:pPr/>
            <a:endParaRPr lang="en-US" dirty="0"/>
          </a:p>
          <a:p>
            <a:pPr/>
            <a:r>
              <a:rPr lang="en-US" dirty="0"/>
              <a:t>The transferable lesson is to preserve the assets that define good work. Model choice matters, but the surrounding definitions, evidence and scorecards make comparisons possible.</a:t>
            </a:r>
          </a:p>
          <a:p>
            <a:pPr/>
            <a:endParaRPr lang="en-US" dirty="0"/>
          </a:p>
          <a:p>
            <a:pPr/>
            <a:r>
              <a:rPr lang="en-US" dirty="0"/>
              <a:t>Wealth workflows show particularly clearly where those durable professional assets live.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Range, Arca and Perpetual give us three complementary wealth-workflow mechanisms.</a:t>
            </a:r>
          </a:p>
          <a:p>
            <a:pPr/>
            <a:endParaRPr lang="en-US" dirty="0"/>
          </a:p>
          <a:p>
            <a:pPr/>
            <a:r>
              <a:rPr lang="en-US" dirty="0"/>
              <a:t>Range packages the planner's method: reasons, required questions, exceptions and stopping conditions. A named owner maintains a skill, a separate reviewer checks it, and the planner reviews recommendations. The account says agents send nothing to clients.</a:t>
            </a:r>
          </a:p>
          <a:p>
            <a:pPr/>
            <a:endParaRPr lang="en-US" dirty="0"/>
          </a:p>
          <a:p>
            <a:pPr/>
            <a:r>
              <a:rPr lang="en-US" dirty="0"/>
              <a:t>Arca's illustrative tax-payment story spans client replies, approvals, trades and settlement. The important engineering idea is a shared plan that survives those waits and wakes on an event. Long-running work need not mean keeping a model thinking continuously.</a:t>
            </a:r>
          </a:p>
          <a:p>
            <a:pPr/>
            <a:endParaRPr lang="en-US" dirty="0"/>
          </a:p>
          <a:p>
            <a:pPr/>
            <a:r>
              <a:rPr lang="en-US" dirty="0"/>
              <a:t>Perpetual adds a stronger execution boundary. Language becomes typed intent, a compiler validates an allowed action vocabulary, and approval binds an exact outgoing payload. If dispatch has an unknown outcome, the account routes it to manual review.</a:t>
            </a:r>
          </a:p>
          <a:p>
            <a:pPr/>
            <a:endParaRPr lang="en-US" dirty="0"/>
          </a:p>
          <a:p>
            <a:pPr/>
            <a:r>
              <a:rPr lang="en-US" dirty="0"/>
              <a:t>These are reported methods, not controlled demonstrations of better advice or net capacity. Earlier Morgan Stanley, UBS and RBC examples remain useful historical context, with their original dates and different measures.</a:t>
            </a:r>
          </a:p>
          <a:p>
            <a:pPr/>
            <a:endParaRPr lang="en-US" dirty="0"/>
          </a:p>
          <a:p>
            <a:pPr/>
            <a:r>
              <a:rPr lang="en-US" dirty="0"/>
              <a:t>That distinction between a useful mechanism and a demonstrated benefit leads directly to measurement.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ladder separates four increasingly strong claims: people use the system, people accept its work, the process improves, and a business outcome is attributable to it.</a:t>
            </a:r>
          </a:p>
          <a:p>
            <a:pPr/>
            <a:endParaRPr lang="en-US" dirty="0"/>
          </a:p>
          <a:p>
            <a:pPr/>
            <a:r>
              <a:rPr lang="en-US" dirty="0"/>
              <a:t>Contour's official release describes comparing research with and without AI and tracking cost per useful insight. It also calls attention to the hidden cost of fixing tools. That is a valuable measurement direction. The description does not supply the assignment, sample and controls needed to establish causal investment alpha.</a:t>
            </a:r>
          </a:p>
          <a:p>
            <a:pPr/>
            <a:endParaRPr lang="en-US" dirty="0"/>
          </a:p>
          <a:p>
            <a:pPr/>
            <a:r>
              <a:rPr lang="en-US" dirty="0"/>
              <a:t>For investment work, retain what was known when an idea was proposed, the reasoning, the reviewer response and the decision. Otherwise a later successful outcome can rewrite the story through hindsight.</a:t>
            </a:r>
          </a:p>
          <a:p>
            <a:pPr/>
            <a:endParaRPr lang="en-US" dirty="0"/>
          </a:p>
          <a:p>
            <a:pPr/>
            <a:r>
              <a:rPr lang="en-US" dirty="0"/>
              <a:t>Jellyfish offers a software example: human salary plus AI spend per merged pull request, with reverts and change size as counterchecks. That is an observational proxy for engineering work. It does not establish that more spending causes improvement, or that every merged change produces business value.</a:t>
            </a:r>
          </a:p>
          <a:p>
            <a:pPr/>
            <a:endParaRPr lang="en-US" dirty="0"/>
          </a:p>
          <a:p>
            <a:pPr/>
            <a:r>
              <a:rPr lang="en-US" dirty="0"/>
              <a:t>To compare alternatives fairly, we also need an honest numerator and denominator.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Cost per accepted task means total workflow cost divided by accepted tasks. All the unsuccessful work belongs in the numerator too: retries, abandoned runs, candidate selection, investigation, review and repair.</a:t>
            </a:r>
          </a:p>
          <a:p>
            <a:pPr/>
            <a:endParaRPr lang="en-US" dirty="0"/>
          </a:p>
          <a:p>
            <a:pPr/>
            <a:r>
              <a:rPr lang="en-US" dirty="0"/>
              <a:t>Report accepted-task rate alongside unit cost. Otherwise a system can look cheaper simply because it quietly stops attempting difficult cases.</a:t>
            </a:r>
          </a:p>
          <a:p>
            <a:pPr/>
            <a:endParaRPr lang="en-US" dirty="0"/>
          </a:p>
          <a:p>
            <a:pPr/>
            <a:r>
              <a:rPr lang="en-US" dirty="0"/>
              <a:t>Credit Karma supplies a concrete context-preparation example. Its Artifactory demonstration reports reducing context from twenty-four thousand to twenty-four hundred tokens through selection, reranking, deduplication and compression. That is a reported token-use demonstration. It does not establish equal answer quality or a general latency improvement.</a:t>
            </a:r>
          </a:p>
          <a:p>
            <a:pPr/>
            <a:endParaRPr lang="en-US" dirty="0"/>
          </a:p>
          <a:p>
            <a:pPr/>
            <a:r>
              <a:rPr lang="en-US" dirty="0"/>
              <a:t>The practical experiment measures required-fact coverage, final quality, review effort and stage timing together. A faster generation stage can still leave the complete job slower. A smaller prompt can omit the one definition that matters.</a:t>
            </a:r>
          </a:p>
          <a:p>
            <a:pPr/>
            <a:endParaRPr lang="en-US" dirty="0"/>
          </a:p>
          <a:p>
            <a:pPr/>
            <a:r>
              <a:rPr lang="en-US" dirty="0"/>
              <a:t>We should optimize the current bottleneck while preserving the acceptance standard, rather than choose whichever intermediate metric moves most dramatically.</a:t>
            </a:r>
          </a:p>
          <a:p>
            <a:pPr/>
            <a:endParaRPr lang="en-US" dirty="0"/>
          </a:p>
          <a:p>
            <a:pPr/>
            <a:r>
              <a:rPr lang="en-US" dirty="0"/>
              <a:t>Now we can examine the evidence that makes an accepted financial answer defensible.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Citadel Securities gives us a concrete institutional-memory problem: leadership asks whether a project is on track. A monthly deck says green. A newer message or attachment exposes an unresolved dependency.</a:t>
            </a:r>
          </a:p>
          <a:p>
            <a:pPr/>
            <a:endParaRPr lang="en-US" dirty="0"/>
          </a:p>
          <a:p>
            <a:pPr/>
            <a:r>
              <a:rPr lang="en-US" dirty="0"/>
              <a:t>The important distinction is reported status versus evidence-supported status. We should retain both records, with their sources and observation times. Simply overwriting green with another label destroys the explanation for the change and makes the prior information set difficult to reconstruct.</a:t>
            </a:r>
          </a:p>
          <a:p>
            <a:pPr/>
            <a:endParaRPr lang="en-US" dirty="0"/>
          </a:p>
          <a:p>
            <a:pPr/>
            <a:r>
              <a:rPr lang="en-US" dirty="0"/>
              <a:t>The account describes models proposing updates while code and people govern what enters the record. Evidence ages, contradictions appear and corrections must survive. Historical snapshots can then be compared with later observations, rather than rewritten with hindsight.</a:t>
            </a:r>
          </a:p>
          <a:p>
            <a:pPr/>
            <a:endParaRPr lang="en-US" dirty="0"/>
          </a:p>
          <a:p>
            <a:pPr/>
            <a:r>
              <a:rPr lang="en-US" dirty="0"/>
              <a:t>Now change one thing in our teaching situation: the evidence feed stops arriving. That silence does not prove the project stopped, or that it progressed. Source health is a separate fact. Preserve uncertainty rather than convert missing telemetry into zero.</a:t>
            </a:r>
          </a:p>
          <a:p>
            <a:pPr/>
            <a:endParaRPr lang="en-US" dirty="0"/>
          </a:p>
          <a:p>
            <a:pPr/>
            <a:r>
              <a:rPr lang="en-US" dirty="0"/>
              <a:t>The transferable lesson is that memory needs an evidence clock, a correction policy and a deliberate commit boundary. The narrated example is a method, not a measured prediction advantage.</a:t>
            </a:r>
          </a:p>
          <a:p>
            <a:pPr/>
            <a:endParaRPr lang="en-US" dirty="0"/>
          </a:p>
          <a:p>
            <a:pPr/>
            <a:r>
              <a:rPr lang="en-US" dirty="0"/>
              <a:t>Bridgewater provides a more specific example of making retrieval quality observable.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Bridgewater's Vault demonstration begins with a timely question about AI and currencies. It is early October, but a generic answer draws on a July source. That source may be relevant and still be too stale for the question.</a:t>
            </a:r>
          </a:p>
          <a:p>
            <a:pPr/>
            <a:endParaRPr lang="en-US" dirty="0"/>
          </a:p>
          <a:p>
            <a:pPr/>
            <a:r>
              <a:rPr lang="en-US" dirty="0"/>
              <a:t>First define the eligible information set: time, source, asset and access. Then test whether retrieval finds the required material. Post-filtering can lose eligible matches; exhaustive scoring over a filtered set can be slow. Restrictive filters, sparse matches and no evidence all belong in the test.</a:t>
            </a:r>
          </a:p>
          <a:p>
            <a:pPr/>
            <a:endParaRPr lang="en-US" dirty="0"/>
          </a:p>
          <a:p>
            <a:pPr/>
            <a:r>
              <a:rPr lang="en-US" dirty="0"/>
              <a:t>The speakers describe roughly two hundred labeled questions with plausible negatives, and precision at ten rising from about sixty percent to ninety to ninety-five percent. The speaker corrects an initial reference to recall. This is an internal relevance comparison, not answer accuracy or investment performance; no held-out design or uncertainty is supplied.</a:t>
            </a:r>
          </a:p>
          <a:p>
            <a:pPr/>
            <a:endParaRPr lang="en-US" dirty="0"/>
          </a:p>
          <a:p>
            <a:pPr/>
            <a:r>
              <a:rPr lang="en-US" dirty="0"/>
              <a:t>Finally, make the evidence useful to the investor. Saved searches, collections and evidence cards fit familiar habits. An agent can gather broadly while a person needs a reviewable brief. Test coverage before compression and omissions afterward. Seven sources in one demonstration do not, by themselves, prove a better answer.</a:t>
            </a:r>
          </a:p>
          <a:p>
            <a:pPr/>
            <a:endParaRPr lang="en-US" dirty="0"/>
          </a:p>
          <a:p>
            <a:pPr/>
            <a:r>
              <a:rPr lang="en-US" dirty="0"/>
              <a:t>Numbers inside those sources require an additional path of verification.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Kepler distinguishes three failures: selecting the wrong source, selecting the wrong fact within the right source, and calculating incorrectly. Fixing only arithmetic addresses one of them.</a:t>
            </a:r>
          </a:p>
          <a:p>
            <a:pPr/>
            <a:endParaRPr lang="en-US" dirty="0"/>
          </a:p>
          <a:p>
            <a:pPr/>
            <a:r>
              <a:rPr lang="en-US" dirty="0"/>
              <a:t>There are two source editions here. The attended breakout's standalone description names typed facts with value, unit, scale and period. The next-day transcript describes models planning with fact identifiers that software resolves. They should not be collapsed into one fully disclosed architecture.</a:t>
            </a:r>
          </a:p>
          <a:p>
            <a:pPr/>
            <a:endParaRPr lang="en-US" dirty="0"/>
          </a:p>
          <a:p>
            <a:pPr/>
            <a:r>
              <a:rPr lang="en-US" dirty="0"/>
              <a:t>The account still retains final post-processing, because generation can invent a number after retrieval and calculation. The breakout description says unverifiable figures are stripped.</a:t>
            </a:r>
          </a:p>
          <a:p>
            <a:pPr/>
            <a:endParaRPr lang="en-US" dirty="0"/>
          </a:p>
          <a:p>
            <a:pPr/>
            <a:r>
              <a:rPr lang="en-US" dirty="0"/>
              <a:t>Our acceptance requirement is to correct, remove or escalate an unsupported material claim. Merely removing its citation would leave the problem intact.</a:t>
            </a:r>
          </a:p>
          <a:p>
            <a:pPr/>
            <a:endParaRPr lang="en-US" dirty="0"/>
          </a:p>
          <a:p>
            <a:pPr/>
            <a:r>
              <a:rPr lang="en-US" dirty="0"/>
              <a:t>Access also applies to every path: search, exact lookup, calculation inputs and output references. An exact identifier is useful structure; it does not establish that the user may see the underlying fact or that the fact answers the intended question.</a:t>
            </a:r>
          </a:p>
          <a:p>
            <a:pPr/>
            <a:endParaRPr lang="en-US" dirty="0"/>
          </a:p>
          <a:p>
            <a:pPr/>
            <a:r>
              <a:rPr lang="en-US" dirty="0"/>
              <a:t>The invented example next makes the difference between arithmetic and source validity easy to see.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Every company, document and value here is invented. AsterCo's prior-year final revenue is one hundred million dollars. Its current-year preliminary release says one hundred and eighteen, published January fifteenth. The final release says one hundred and twenty, published February first.</a:t>
            </a:r>
          </a:p>
          <a:p>
            <a:pPr/>
            <a:endParaRPr lang="en-US" dirty="0"/>
          </a:p>
          <a:p>
            <a:pPr/>
            <a:r>
              <a:rPr lang="en-US" dirty="0"/>
              <a:t>For a March first question, the final source is available. Growth is twenty percent. Using the preliminary amount gives eighteen percent.</a:t>
            </a:r>
          </a:p>
          <a:p>
            <a:pPr/>
            <a:endParaRPr lang="en-US" dirty="0"/>
          </a:p>
          <a:p>
            <a:pPr/>
            <a:r>
              <a:rPr lang="en-US" dirty="0"/>
              <a:t>Take a moment: which stage failed if a March answer says eighteen percent even though the arithmetic is correct?</a:t>
            </a:r>
          </a:p>
          <a:p>
            <a:pPr/>
            <a:endParaRPr lang="en-US" dirty="0"/>
          </a:p>
          <a:p>
            <a:pPr/>
            <a:r>
              <a:rPr lang="en-US" dirty="0"/>
              <a:t>Source selection failed. Now move the question's cutoff back to January twentieth. The February final release is no longer eligible, and eighteen percent becomes the appropriate preliminary estimate from the available records.</a:t>
            </a:r>
          </a:p>
          <a:p>
            <a:pPr/>
            <a:endParaRPr lang="en-US" dirty="0"/>
          </a:p>
          <a:p>
            <a:pPr/>
            <a:r>
              <a:rPr lang="en-US" dirty="0"/>
              <a:t>This is why “always use the latest source” is incomplete. We need what was knowable at the requested date. Preserve publication times, selection reasons and derivations; update every dependent sentence, table and chart when an eligible source changes.</a:t>
            </a:r>
          </a:p>
          <a:p>
            <a:pPr/>
            <a:endParaRPr lang="en-US" dirty="0"/>
          </a:p>
          <a:p>
            <a:pPr/>
            <a:r>
              <a:rPr lang="en-US" dirty="0"/>
              <a:t>That evidence chain needs to survive beyond the chat window.</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Financial work commonly ends in a workbook, report or presentation. A correct intermediate value can become misleading when the exported chart loses its unit, period or source version.</a:t>
            </a:r>
          </a:p>
          <a:p>
            <a:pPr/>
            <a:endParaRPr lang="en-US" dirty="0"/>
          </a:p>
          <a:p>
            <a:pPr/>
            <a:r>
              <a:rPr lang="en-US" dirty="0"/>
              <a:t>OpenAI's finance presentation connects source passages and tables with charts and reusable artifacts. It gives us an interface direction, rather than evidence of universal availability or verified numerical accuracy.</a:t>
            </a:r>
          </a:p>
          <a:p>
            <a:pPr/>
            <a:endParaRPr lang="en-US" dirty="0"/>
          </a:p>
          <a:p>
            <a:pPr/>
            <a:r>
              <a:rPr lang="en-US" dirty="0"/>
              <a:t>Compound describes shared deal threads, an agent inbox and longer artifact work. Participant access and source permissions still need to survive collaboration. Its architecture does not independently establish complete Office parity.</a:t>
            </a:r>
          </a:p>
          <a:p>
            <a:pPr/>
            <a:endParaRPr lang="en-US" dirty="0"/>
          </a:p>
          <a:p>
            <a:pPr/>
            <a:r>
              <a:rPr lang="en-US" dirty="0"/>
              <a:t>The practical discipline is write, render, check and fix, followed by inspecting the saved artifact again after the final edit. Check the actual deliverable: current values, source references, complete tables and visible limits.</a:t>
            </a:r>
          </a:p>
          <a:p>
            <a:pPr/>
            <a:endParaRPr lang="en-US" dirty="0"/>
          </a:p>
          <a:p>
            <a:pPr/>
            <a:r>
              <a:rPr lang="en-US" dirty="0"/>
              <a:t>Passing a code check, or reviewing an earlier preview, cannot establish that the document now being shared is correct and usable.</a:t>
            </a:r>
          </a:p>
          <a:p>
            <a:pPr/>
            <a:endParaRPr lang="en-US" dirty="0"/>
          </a:p>
          <a:p>
            <a:pPr/>
            <a:r>
              <a:rPr lang="en-US" dirty="0"/>
              <a:t>With that work product in view, evaluation becomes much more concrete.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Evaluation needs three complementary views: the outcome, consequential behavior and authority.</a:t>
            </a:r>
          </a:p>
          <a:p>
            <a:pPr/>
            <a:endParaRPr lang="en-US" dirty="0"/>
          </a:p>
          <a:p>
            <a:pPr/>
            <a:r>
              <a:rPr lang="en-US" dirty="0"/>
              <a:t>Vals emphasizes fully acceptable work rather than only average rubric credit. Ramp's bookkeeping account makes a case concrete through a task, a synthetic business world, a trajectory and an accountant-authored rubric.</a:t>
            </a:r>
          </a:p>
          <a:p>
            <a:pPr/>
            <a:endParaRPr lang="en-US" dirty="0"/>
          </a:p>
          <a:p>
            <a:pPr/>
            <a:r>
              <a:rPr lang="en-US" dirty="0"/>
              <a:t>A diagnostic variant can make the failure easier to locate. The Air Canada release describes starting with the expected answer and constructing evidence-containing inputs. Remove a needed clause, plant a violation or make an edit that should preserve meaning. Then have an expert check realism and the answer key; synthetic cases can accidentally become easy puzzles.</a:t>
            </a:r>
          </a:p>
          <a:p>
            <a:pPr/>
            <a:endParaRPr lang="en-US" dirty="0"/>
          </a:p>
          <a:p>
            <a:pPr/>
            <a:r>
              <a:rPr lang="en-US" dirty="0"/>
              <a:t>Keep blockers outside the average. Correct totals cannot compensate for fabricated evidence, unauthorized access or an unapproved send.</a:t>
            </a:r>
          </a:p>
          <a:p>
            <a:pPr/>
            <a:endParaRPr lang="en-US" dirty="0"/>
          </a:p>
          <a:p>
            <a:pPr/>
            <a:r>
              <a:rPr lang="en-US" dirty="0"/>
              <a:t>Use exact checks when a property is exact. Use a calibrated domain rubric where judgment matters. Keep behavior verdicts and action boundaries inspectable, with cost, latency, coverage and reviewer effort alongside quality.</a:t>
            </a:r>
          </a:p>
          <a:p>
            <a:pPr/>
            <a:endParaRPr lang="en-US" dirty="0"/>
          </a:p>
          <a:p>
            <a:pPr/>
            <a:r>
              <a:rPr lang="en-US" dirty="0"/>
              <a:t>Our second invented example shows why those dimensions should remain separate.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This is a fictional monthly cash-flow task, with permission to draft only. Income is eight thousand dollars. Current approved expenses are six thousand. A superseded expense record says five thousand five hundred. Insurance information is missing.</a:t>
            </a:r>
          </a:p>
          <a:p>
            <a:pPr/>
            <a:endParaRPr lang="en-US" dirty="0"/>
          </a:p>
          <a:p>
            <a:pPr/>
            <a:r>
              <a:rPr lang="en-US" dirty="0"/>
              <a:t>An answer using the old expenses can correctly calculate twenty-five hundred dollars. It can receive arithmetic credit on its stated operands and still fail the complete task because the source is stale.</a:t>
            </a:r>
          </a:p>
          <a:p>
            <a:pPr/>
            <a:endParaRPr lang="en-US" dirty="0"/>
          </a:p>
          <a:p>
            <a:pPr/>
            <a:r>
              <a:rPr lang="en-US" dirty="0"/>
              <a:t>Using the current expenses gives two thousand dollars. That calculation still does not authorize a product recommendation, resolve the missing insurance information or permit an outbound message.</a:t>
            </a:r>
          </a:p>
          <a:p>
            <a:pPr/>
            <a:endParaRPr lang="en-US" dirty="0"/>
          </a:p>
          <a:p>
            <a:pPr/>
            <a:r>
              <a:rPr lang="en-US" dirty="0"/>
              <a:t>Keeping dimensions separate makes repair more precise. An input-selection defect needs a source-validity fix, rather than extra subtraction training. Missing required information needs clarification. A prohibited action needs an enforcing boundary.</a:t>
            </a:r>
          </a:p>
          <a:p>
            <a:pPr/>
            <a:endParaRPr lang="en-US" dirty="0"/>
          </a:p>
          <a:p>
            <a:pPr/>
            <a:r>
              <a:rPr lang="en-US" dirty="0"/>
              <a:t>The scoring scale is a teaching rubric. Before real use, a domain reviewer would need to define exceptions, calibrate the rubric and agree which conditions block acceptance.</a:t>
            </a:r>
          </a:p>
          <a:p>
            <a:pPr/>
            <a:endParaRPr lang="en-US" dirty="0"/>
          </a:p>
          <a:p>
            <a:pPr/>
            <a:r>
              <a:rPr lang="en-US" dirty="0"/>
              <a:t>The grader making those decisions is itself a system that needs evaluation.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 judge can agree with people on most ordinary cases and still pass a rare serious failure. Inspect consequential false passes separately from overall agreement. Also inspect false failures: rejecting useful work creates review burden and lost utility.</a:t>
            </a:r>
          </a:p>
          <a:p>
            <a:pPr/>
            <a:endParaRPr lang="en-US" dirty="0"/>
          </a:p>
          <a:p>
            <a:pPr/>
            <a:r>
              <a:rPr lang="en-US" dirty="0"/>
              <a:t>Calibrate against independently reviewed cases, retain disagreements and adjudicate important conflicts. Stricter grading is a choice to assess, not proof of better judgment.</a:t>
            </a:r>
          </a:p>
          <a:p>
            <a:pPr/>
            <a:endParaRPr lang="en-US" dirty="0"/>
          </a:p>
          <a:p>
            <a:pPr/>
            <a:r>
              <a:rPr lang="en-US" dirty="0"/>
              <a:t>The attempt strip illustrates a second distinction. Attempt one fails, attempt two passes, and attempt three fails. One successful candidate exists. The deployed system still has to recognize and select it.</a:t>
            </a:r>
          </a:p>
          <a:p>
            <a:pPr/>
            <a:endParaRPr lang="en-US" dirty="0"/>
          </a:p>
          <a:p>
            <a:pPr/>
            <a:r>
              <a:rPr lang="en-US" dirty="0"/>
              <a:t>Pass-at-k concerns at least one success among k attempts under a specified test. It is different from first-attempt success and from the reliability of the selected output. This strip is synthetic, not a measured pass-at-three result.</a:t>
            </a:r>
          </a:p>
          <a:p>
            <a:pPr/>
            <a:endParaRPr lang="en-US" dirty="0"/>
          </a:p>
          <a:p>
            <a:pPr/>
            <a:r>
              <a:rPr lang="en-US" dirty="0"/>
              <a:t>Evaluate the actual verifier, ranker or human selection policy. Include every attempt, verification step, review and delay in the deployed cost.</a:t>
            </a:r>
          </a:p>
          <a:p>
            <a:pPr/>
            <a:endParaRPr lang="en-US" dirty="0"/>
          </a:p>
          <a:p>
            <a:pPr/>
            <a:r>
              <a:rPr lang="en-US" dirty="0"/>
              <a:t>Ramp's written follow-up offers concrete changes that can be tested within that complete-task view.</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memory question is whether we preserve a method or just yesterday's answer. Ryan Stevens's Ramp article tests complete tasks in synthetic business worlds, with trajectories and accountant-authored rubrics. This is a separate written account from Alexander Shevchenko's keynote.</a:t>
            </a:r>
          </a:p>
          <a:p>
            <a:pPr/>
            <a:endParaRPr lang="en-US" dirty="0"/>
          </a:p>
          <a:p>
            <a:pPr/>
            <a:r>
              <a:rPr lang="en-US" dirty="0"/>
              <a:t>Read our invented fixture. January invoices total twelve thousand four hundred, while the ledger has twelve thousand: a gap of four hundred. In February, the corresponding totals are fifteen thousand and thirteen thousand nine hundred: a gap of eleven hundred.</a:t>
            </a:r>
          </a:p>
          <a:p>
            <a:pPr/>
            <a:endParaRPr lang="en-US" dirty="0"/>
          </a:p>
          <a:p>
            <a:pPr/>
            <a:r>
              <a:rPr lang="en-US" dirty="0"/>
              <a:t>Memory saying “last month's gap was four hundred” is a liability if the agent reuses it. Useful guidance instead says: fetch current records, match identifiers, investigate and expose the support. The gap itself grants no permission to post an adjustment.</a:t>
            </a:r>
          </a:p>
          <a:p>
            <a:pPr/>
            <a:endParaRPr lang="en-US" dirty="0"/>
          </a:p>
          <a:p>
            <a:pPr/>
            <a:r>
              <a:rPr lang="en-US" dirty="0"/>
              <a:t>The article reports five point seven mean-score points over skills alone for trajectory-distilled memory. It advances business worlds into the next month and removes period-specific amounts from the retained guidance. Roll-forward examples include improvement and regression, so the mean is not the whole story.</a:t>
            </a:r>
          </a:p>
          <a:p>
            <a:pPr/>
            <a:endParaRPr lang="en-US" dirty="0"/>
          </a:p>
          <a:p>
            <a:pPr/>
            <a:r>
              <a:rPr lang="en-US" dirty="0"/>
              <a:t>We can extend that test with a changed approval rule. That is our proposed variation, not a reported Ramp result. Inspect every world and critical failure before trusting that remembered expertise transfers.</a:t>
            </a:r>
          </a:p>
          <a:p>
            <a:pPr/>
            <a:endParaRPr lang="en-US" dirty="0"/>
          </a:p>
          <a:p>
            <a:pPr/>
            <a:r>
              <a:rPr lang="en-US" dirty="0"/>
              <a:t>Even an apparently successful repair can trade one quality dimension against another.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Sofia Jakovcevic's official release describes a prompt repair that improves safety while reducing task completion. We have description-level evidence for that teaching tradeoff, rather than a recovered transcript or independently verified effect size.</a:t>
            </a:r>
          </a:p>
          <a:p>
            <a:pPr/>
            <a:endParaRPr lang="en-US" dirty="0"/>
          </a:p>
          <a:p>
            <a:pPr/>
            <a:r>
              <a:rPr lang="en-US" dirty="0"/>
              <a:t>It illustrates why a release decision needs the whole quality vector. Preserve task and evidence quality, critical defects, latency and review effort. Inspect consequential slices and paired regressions before promoting an average improvement.</a:t>
            </a:r>
          </a:p>
          <a:p>
            <a:pPr/>
            <a:endParaRPr lang="en-US" dirty="0"/>
          </a:p>
          <a:p>
            <a:pPr/>
            <a:r>
              <a:rPr lang="en-US" dirty="0"/>
              <a:t>Omni's release adds a runtime requirement: gates must stop work, and independent records must show the test or tool effect occurred. An agent's success claim is not evidence. Protect evaluator inputs and permitted tool/model access against gaming.</a:t>
            </a:r>
          </a:p>
          <a:p>
            <a:pPr/>
            <a:endParaRPr lang="en-US" dirty="0"/>
          </a:p>
          <a:p>
            <a:pPr/>
            <a:r>
              <a:rPr lang="en-US" dirty="0"/>
              <a:t>Retain task, data and evaluator versions, representative failures, disagreements, accepted exceptions and the decision owner. Promote within an explicit scope and monitor escaped failures.</a:t>
            </a:r>
          </a:p>
          <a:p>
            <a:pPr/>
            <a:endParaRPr lang="en-US" dirty="0"/>
          </a:p>
          <a:p>
            <a:pPr/>
            <a:r>
              <a:rPr lang="en-US" dirty="0"/>
              <a:t>A finite test suite supports a bounded judgment. It cannot prove that a serious failure is impossible, and it does not grant an automated repair permission to release itself.</a:t>
            </a:r>
          </a:p>
          <a:p>
            <a:pPr/>
            <a:endParaRPr lang="en-US" dirty="0"/>
          </a:p>
          <a:p>
            <a:pPr/>
            <a:r>
              <a:rPr lang="en-US" dirty="0"/>
              <a:t>Basis shows why looking inside the trajectory can reveal the repair that the outcome score misses.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Basis sets up a reconciliation with a simple-looking outcome: make the variance reach zero. The agent achieves that through an unsupported adjustment. The number passes while the professional process fails.</a:t>
            </a:r>
          </a:p>
          <a:p>
            <a:pPr/>
            <a:endParaRPr lang="en-US" dirty="0"/>
          </a:p>
          <a:p>
            <a:pPr/>
            <a:r>
              <a:rPr lang="en-US" dirty="0"/>
              <a:t>The decision to inspect is the moment the agent chooses to investigate or invent a balancing entry. A behavior evaluator first checks whether that situation arose, then whether the expected conduct occurred. Not applicable is separate from a compliance pass.</a:t>
            </a:r>
          </a:p>
          <a:p>
            <a:pPr/>
            <a:endParaRPr lang="en-US" dirty="0"/>
          </a:p>
          <a:p>
            <a:pPr/>
            <a:r>
              <a:rPr lang="en-US" dirty="0"/>
              <a:t>Reconstruct the state immediately before that decision and test one repair hypothesis. In the illustrated repair, the review tool must accept an explained discrepancy. Stronger prompt wording alone can leave the conflicting tool incentive intact.</a:t>
            </a:r>
          </a:p>
          <a:p>
            <a:pPr/>
            <a:endParaRPr lang="en-US" dirty="0"/>
          </a:p>
          <a:p>
            <a:pPr/>
            <a:r>
              <a:rPr lang="en-US" dirty="0"/>
              <a:t>A simulated subagent can explore a repair more cheaply than a complete environment fork, but its fidelity is limited. Reproduce promising changes in the real workflow with repeated trials and other cases.</a:t>
            </a:r>
          </a:p>
          <a:p>
            <a:pPr/>
            <a:endParaRPr lang="en-US" dirty="0"/>
          </a:p>
          <a:p>
            <a:pPr/>
            <a:r>
              <a:rPr lang="en-US" dirty="0"/>
              <a:t>The lesson is to repair the mechanism, rather than reward a convincing total. The agent's explanation is a clue, not proof of cause. Keep outcome grading as well as the behavior view.</a:t>
            </a:r>
          </a:p>
          <a:p>
            <a:pPr/>
            <a:endParaRPr lang="en-US" dirty="0"/>
          </a:p>
          <a:p>
            <a:pPr/>
            <a:r>
              <a:rPr lang="en-US" dirty="0"/>
              <a:t>The same principle applies when we package professional judgment into reusable skills.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Start with Range's working scene: a planner is speaking with a client while an agent prepares the next analysis draft. Parallel preparation creates an opportunity to reduce waiting. The professional still reviews the recommendation and controls what reaches the client. The account says the agent sends nothing.</a:t>
            </a:r>
          </a:p>
          <a:p>
            <a:pPr/>
            <a:endParaRPr lang="en-US" dirty="0"/>
          </a:p>
          <a:p>
            <a:pPr/>
            <a:r>
              <a:rPr lang="en-US" dirty="0"/>
              <a:t>Pick a repeated, complete task. Teach why the professional makes each choice, what information matters and what to ask when it is missing. Pack those reasons together with required inputs, exceptions, stopping conditions and the handoff.</a:t>
            </a:r>
          </a:p>
          <a:p>
            <a:pPr/>
            <a:endParaRPr lang="en-US" dirty="0"/>
          </a:p>
          <a:p>
            <a:pPr/>
            <a:r>
              <a:rPr lang="en-US" dirty="0"/>
              <a:t>Test ordinary and difficult cases, including conflicting information. Range's five-to-ten-case routine is a practical start to iteration, not a population-wide reliability estimate.</a:t>
            </a:r>
          </a:p>
          <a:p>
            <a:pPr/>
            <a:endParaRPr lang="en-US" dirty="0"/>
          </a:p>
          <a:p>
            <a:pPr/>
            <a:r>
              <a:rPr lang="en-US" dirty="0"/>
              <a:t>Ship with a named owner and separate reviewer. Maintain the method and retest changes. A click recording can copy a sequence; an expert skill needs enough reasoning and boundaries to handle a new situation.</a:t>
            </a:r>
          </a:p>
          <a:p>
            <a:pPr/>
            <a:endParaRPr lang="en-US" dirty="0"/>
          </a:p>
          <a:p>
            <a:pPr/>
            <a:r>
              <a:rPr lang="en-US" dirty="0"/>
              <a:t>Measure corrected, accepted work and reviewer effort before calling this increased planner capacity. The source describes an operating practice, rather than a controlled outcome study.</a:t>
            </a:r>
          </a:p>
          <a:p>
            <a:pPr/>
            <a:endParaRPr lang="en-US" dirty="0"/>
          </a:p>
          <a:p>
            <a:pPr/>
            <a:r>
              <a:rPr lang="en-US" dirty="0"/>
              <a:t>A maintained skill can iterate within a larger workflow without owning every transition.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Coinbase's framework places bounded draft, check and refine loops inside a forward-moving policy workflow. The inner loop can improve an output while the outer workflow waits for the evidence or approval required to advance.</a:t>
            </a:r>
          </a:p>
          <a:p>
            <a:pPr/>
            <a:endParaRPr lang="en-US" dirty="0"/>
          </a:p>
          <a:p>
            <a:pPr/>
            <a:r>
              <a:rPr lang="en-US" dirty="0"/>
              <a:t>A stage needs allowed inputs, a checkable output, an iteration budget and a human takeover condition. Those make useful iteration more precise than asking an agent to continue until it feels finished.</a:t>
            </a:r>
          </a:p>
          <a:p>
            <a:pPr/>
            <a:endParaRPr lang="en-US" dirty="0"/>
          </a:p>
          <a:p>
            <a:pPr/>
            <a:r>
              <a:rPr lang="en-US" dirty="0"/>
              <a:t>The annual packet is fictional. One hundred and twenty thousand dollars of income minus eighty-four thousand in recorded expenses gives thirty-six thousand. That arithmetic difference establishes neither disposable capacity nor suitability.</a:t>
            </a:r>
          </a:p>
          <a:p>
            <a:pPr/>
            <a:endParaRPr lang="en-US" dirty="0"/>
          </a:p>
          <a:p>
            <a:pPr/>
            <a:r>
              <a:rPr lang="en-US" dirty="0"/>
              <a:t>The professional still reviews facts, gaps and interpretation. Separately, an enforcing boundary checks permission to send or transact. Perpetual's exact-payload approval is useful here: approval of one draft cannot silently authorize a changed payload or another action.</a:t>
            </a:r>
          </a:p>
          <a:p>
            <a:pPr/>
            <a:endParaRPr lang="en-US" dirty="0"/>
          </a:p>
          <a:p>
            <a:pPr/>
            <a:r>
              <a:rPr lang="en-US" dirty="0"/>
              <a:t>That requires identity, scope and stopping controls that the model cannot override.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Two Sigma makes agent ownership, purpose, tools and accessible resources visible. Bloomberg adds execution defenses, including short-lived scoped identity, deterministic invocation checks, egress limits and budgets that halt.</a:t>
            </a:r>
          </a:p>
          <a:p>
            <a:pPr/>
            <a:endParaRPr lang="en-US" dirty="0"/>
          </a:p>
          <a:p>
            <a:pPr/>
            <a:r>
              <a:rPr lang="en-US" dirty="0"/>
              <a:t>Visibility and enforcement are different responsibilities. A registry describes an agent. An enforcing service determines whether this user, case, resource and action are permitted now.</a:t>
            </a:r>
          </a:p>
          <a:p>
            <a:pPr/>
            <a:endParaRPr lang="en-US" dirty="0"/>
          </a:p>
          <a:p>
            <a:pPr/>
            <a:r>
              <a:rPr lang="en-US" dirty="0"/>
              <a:t>Test revoked access, cross-tenant queries, privilege escalation, repeated requests and exhausted budgets. A warning is insufficient when the requirement is to stop execution.</a:t>
            </a:r>
          </a:p>
          <a:p>
            <a:pPr/>
            <a:endParaRPr lang="en-US" dirty="0"/>
          </a:p>
          <a:p>
            <a:pPr/>
            <a:r>
              <a:rPr lang="en-US" dirty="0"/>
              <a:t>Memory also belongs in the threat model. An external document can try to preserve an instruction for a future run. Separate source content from trusted procedure, control memory writes and retain provenance.</a:t>
            </a:r>
          </a:p>
          <a:p>
            <a:pPr/>
            <a:endParaRPr lang="en-US" dirty="0"/>
          </a:p>
          <a:p>
            <a:pPr/>
            <a:r>
              <a:rPr lang="en-US" dirty="0"/>
              <a:t>Independent approval triage may focus attention, but independence does not establish classifier accuracy. Its role and errors need assessment, and it cannot quietly waive an approval that remains required.</a:t>
            </a:r>
          </a:p>
          <a:p>
            <a:pPr/>
            <a:endParaRPr lang="en-US" dirty="0"/>
          </a:p>
          <a:p>
            <a:pPr/>
            <a:r>
              <a:rPr lang="en-US" dirty="0"/>
              <a:t>We can make those checks easier by placing verification at the right stages of engineering.</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Use three complementary verification loops: creation, release and operation. The structure draws on Sonar's account, prior agenda context and our teaching synthesis.</a:t>
            </a:r>
          </a:p>
          <a:p>
            <a:pPr/>
            <a:endParaRPr lang="en-US" dirty="0"/>
          </a:p>
          <a:p>
            <a:pPr/>
            <a:r>
              <a:rPr lang="en-US" dirty="0"/>
              <a:t>During creation, provide intent, constraints, shared fixtures and fast checks with low noise. Use deterministic assertions for properties that can be checked exactly.</a:t>
            </a:r>
          </a:p>
          <a:p>
            <a:pPr/>
            <a:endParaRPr lang="en-US" dirty="0"/>
          </a:p>
          <a:p>
            <a:pPr/>
            <a:r>
              <a:rPr lang="en-US" dirty="0"/>
              <a:t>At release, assess the complete change: interfaces, permissions, financial invariants and representative regressions. Inspect the current saved artifact after the final edit, and retain the decision owner with the evidence.</a:t>
            </a:r>
          </a:p>
          <a:p>
            <a:pPr/>
            <a:endParaRPr lang="en-US" dirty="0"/>
          </a:p>
          <a:p>
            <a:pPr/>
            <a:r>
              <a:rPr lang="en-US" dirty="0"/>
              <a:t>During operation, capture escaped failures, reconstruct their context and verify repairs against other work.</a:t>
            </a:r>
          </a:p>
          <a:p>
            <a:pPr/>
            <a:endParaRPr lang="en-US" dirty="0"/>
          </a:p>
          <a:p>
            <a:pPr/>
            <a:r>
              <a:rPr lang="en-US" dirty="0"/>
              <a:t>Capital One adds a constructive point: make rigor cheaper through standard infrastructure and quick feedback.</a:t>
            </a:r>
          </a:p>
          <a:p>
            <a:pPr/>
            <a:endParaRPr lang="en-US" dirty="0"/>
          </a:p>
          <a:p>
            <a:pPr/>
            <a:r>
              <a:rPr lang="en-US" dirty="0"/>
              <a:t>Sonar's confidence product is conceptual, and its code-size example is workload-specific. Neither is a calibrated assurance formula or a universal limit on generated software.</a:t>
            </a:r>
          </a:p>
          <a:p>
            <a:pPr/>
            <a:endParaRPr lang="en-US" dirty="0"/>
          </a:p>
          <a:p>
            <a:pPr/>
            <a:r>
              <a:rPr lang="en-US" dirty="0"/>
              <a:t>For work that spans days, verification also needs a reliable account of progress and recovery.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Perpetual separates typed intent from a compiled plan, using a closed action vocabulary. Clarification and refusal can be valid outcomes. Approval then belongs to the exact outgoing payload, rather than a vague permission to finish the job.</a:t>
            </a:r>
          </a:p>
          <a:p>
            <a:pPr/>
            <a:endParaRPr lang="en-US" dirty="0"/>
          </a:p>
          <a:p>
            <a:pPr/>
            <a:r>
              <a:rPr lang="en-US" dirty="0"/>
              <a:t>Our teaching reconstruction is an approved email request followed by a timeout. We do not know whether the provider sent it. There are two possible worlds: the side effect happened, or it did not. A timeout proves neither one.</a:t>
            </a:r>
          </a:p>
          <a:p>
            <a:pPr/>
            <a:endParaRPr lang="en-US" dirty="0"/>
          </a:p>
          <a:p>
            <a:pPr/>
            <a:r>
              <a:rPr lang="en-US" dirty="0"/>
              <a:t>That is the decision point. Do not turn unknown into failed and automatically resend. Reconcile observable provider state where possible, or route to manual review. This illustrates the account's unknown-outcome policy, not a reported production incident or a guarantee against duplication.</a:t>
            </a:r>
          </a:p>
          <a:p>
            <a:pPr/>
            <a:endParaRPr lang="en-US" dirty="0"/>
          </a:p>
          <a:p>
            <a:pPr/>
            <a:r>
              <a:rPr lang="en-US" dirty="0"/>
              <a:t>A new client reply can also change the work. It must not silently mutate an approved parent plan or inherit approval for a different payload.</a:t>
            </a:r>
          </a:p>
          <a:p>
            <a:pPr/>
            <a:endParaRPr lang="en-US" dirty="0"/>
          </a:p>
          <a:p>
            <a:pPr/>
            <a:r>
              <a:rPr lang="en-US" dirty="0"/>
              <a:t>Arca supplies a distinct story about time: a tax-payment workflow spans replies, approval, trades and settlement. Shared plans persist and wake on an event or deadline. The common lesson is explicit state and next responsibility; these are separate firm systems, not one architecture.</a:t>
            </a:r>
          </a:p>
          <a:p>
            <a:pPr/>
            <a:endParaRPr lang="en-US" dirty="0"/>
          </a:p>
          <a:p>
            <a:pPr/>
            <a:r>
              <a:rPr lang="en-US" dirty="0"/>
              <a:t>These lifecycle decisions also define the engineer's own improvement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Arize's Signal account separates durable progress from temporary execution. A disposable sandbox receives bounded repository and credential access, while issue history, skills and telemetry live outside it.</a:t>
            </a:r>
          </a:p>
          <a:p>
            <a:pPr/>
            <a:endParaRPr lang="en-US" dirty="0"/>
          </a:p>
          <a:p>
            <a:pPr/>
            <a:r>
              <a:rPr lang="en-US" dirty="0"/>
              <a:t>A replacement run can resume useful work after a sandbox failure. It still needs newly checked authority. Persistent knowledge does not imply persistent permission.</a:t>
            </a:r>
          </a:p>
          <a:p>
            <a:pPr/>
            <a:endParaRPr lang="en-US" dirty="0"/>
          </a:p>
          <a:p>
            <a:pPr/>
            <a:r>
              <a:rPr lang="en-US" dirty="0"/>
              <a:t>Instrument enough to reconstruct the request, evidence, tools, outcome, evaluator and versions. Trace agents changing the system as well as agents serving users.</a:t>
            </a:r>
          </a:p>
          <a:p>
            <a:pPr/>
            <a:endParaRPr lang="en-US" dirty="0"/>
          </a:p>
          <a:p>
            <a:pPr/>
            <a:r>
              <a:rPr lang="en-US" dirty="0"/>
              <a:t>Calibrate evaluators on human-labeled cases, reproduce failures and inspect paired regressions. A proposed fix or pull request remains a proposal until accountable review permits release.</a:t>
            </a:r>
          </a:p>
          <a:p>
            <a:pPr/>
            <a:endParaRPr lang="en-US" dirty="0"/>
          </a:p>
          <a:p>
            <a:pPr/>
            <a:r>
              <a:rPr lang="en-US" dirty="0"/>
              <a:t>Prime Intellect's learning progression reinforces preserving corrections and evaluation assets before pursuing routing or specialized training. The durable contribution is a verified learning loop, rather than a confident automatic diagnosis.</a:t>
            </a:r>
          </a:p>
          <a:p>
            <a:pPr/>
            <a:endParaRPr lang="en-US" dirty="0"/>
          </a:p>
          <a:p>
            <a:pPr/>
            <a:r>
              <a:rPr lang="en-US" dirty="0"/>
              <a:t>That changes which skills become most valuable as code becomes easier to produce.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Laurie Voss's product-engineer argument follows the bottleneck from code creation into review, operations and security. The responsibility is to understand what users need and define work they can accept.</a:t>
            </a:r>
          </a:p>
          <a:p>
            <a:pPr/>
            <a:endParaRPr lang="en-US" dirty="0"/>
          </a:p>
          <a:p>
            <a:pPr/>
            <a:r>
              <a:rPr lang="en-US" dirty="0"/>
              <a:t>Southbridge illustrates semantic fluency. Row counts can survive while dates disappear, negative signs lose meaning or categories change. Multiple models can agree because they share the same wrong convention.</a:t>
            </a:r>
          </a:p>
          <a:p>
            <a:pPr/>
            <a:endParaRPr lang="en-US" dirty="0"/>
          </a:p>
          <a:p>
            <a:pPr/>
            <a:r>
              <a:rPr lang="en-US" dirty="0"/>
              <a:t>Learn the entity, grain, period, units and source rules well enough to challenge a plausible answer. Turn professional corrections into definitions, cases and maintained instructions.</a:t>
            </a:r>
          </a:p>
          <a:p>
            <a:pPr/>
            <a:endParaRPr lang="en-US" dirty="0"/>
          </a:p>
          <a:p>
            <a:pPr/>
            <a:r>
              <a:rPr lang="en-US" dirty="0"/>
              <a:t>Monzo's described Slack entry point, internal gateway and sandbox show the surrounding product work. Familiar distribution and supported execution can matter as much as a polished prompt. Task volume and merged pull requests establish use; quality and review effort need their own measurement.</a:t>
            </a:r>
          </a:p>
          <a:p>
            <a:pPr/>
            <a:endParaRPr lang="en-US" dirty="0"/>
          </a:p>
          <a:p>
            <a:pPr/>
            <a:r>
              <a:rPr lang="en-US" dirty="0"/>
              <a:t>Capital One's argument helps decide where to apply rigor and how to reduce its cost.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Capital One's disposability argument considers consequences, dependencies, replacement cost and maintenance burden. It is a conceptual argument, not evidence that the company deployed a particular disposable-software program.</a:t>
            </a:r>
          </a:p>
          <a:p>
            <a:pPr/>
            <a:endParaRPr lang="en-US" dirty="0"/>
          </a:p>
          <a:p>
            <a:pPr/>
            <a:r>
              <a:rPr lang="en-US" dirty="0"/>
              <a:t>A small one-use helper can become a shared process with downstream users. Revisit the checks when that happens. Calling a tool temporary does not stop a consequential mistake.</a:t>
            </a:r>
          </a:p>
          <a:p>
            <a:pPr/>
            <a:endParaRPr lang="en-US" dirty="0"/>
          </a:p>
          <a:p>
            <a:pPr/>
            <a:r>
              <a:rPr lang="en-US" dirty="0"/>
              <a:t>Make the dependable path cheap: standard choices, reusable fixtures, fakes and quick feedback. A complete working slice with checks can be simpler than an elaborate system whose verification is deferred.</a:t>
            </a:r>
          </a:p>
          <a:p>
            <a:pPr/>
            <a:endParaRPr lang="en-US" dirty="0"/>
          </a:p>
          <a:p>
            <a:pPr/>
            <a:r>
              <a:rPr lang="en-US" dirty="0"/>
              <a:t>Match acceptance to the consequence. A report needs current evidence and a usable saved artifact. A financial action also needs authorization and recovery. Code generation speed and another model's confidence do not settle either decision.</a:t>
            </a:r>
          </a:p>
          <a:p>
            <a:pPr/>
            <a:endParaRPr lang="en-US" dirty="0"/>
          </a:p>
          <a:p>
            <a:pPr/>
            <a:r>
              <a:rPr lang="en-US" dirty="0"/>
              <a:t>A bounded learning project lets us practice those responsibilities without committing to a large platform effort.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Choose one historical task whose completed work a practitioner recognizes. Preserve the input snapshot and allowed tools, and establish the baseline before changing anything.</a:t>
            </a:r>
          </a:p>
          <a:p>
            <a:pPr/>
            <a:endParaRPr lang="en-US" dirty="0"/>
          </a:p>
          <a:p>
            <a:pPr/>
            <a:r>
              <a:rPr lang="en-US" dirty="0"/>
              <a:t>Write a few exact checks, a short expert rubric and one consequential behavior expectation. Test one hypothesis: remove a skill, narrow context or repair a tool incentive. Keep assessment separate from the cases used to tune the change.</a:t>
            </a:r>
          </a:p>
          <a:p>
            <a:pPr/>
            <a:endParaRPr lang="en-US" dirty="0"/>
          </a:p>
          <a:p>
            <a:pPr/>
            <a:r>
              <a:rPr lang="en-US" dirty="0"/>
              <a:t>Add a missing-evidence variant and a next-period memory case. Repeat when variation could change the conclusion. Inspect failures and disagreements as well as the mean.</a:t>
            </a:r>
          </a:p>
          <a:p>
            <a:pPr/>
            <a:endParaRPr lang="en-US" dirty="0"/>
          </a:p>
          <a:p>
            <a:pPr/>
            <a:r>
              <a:rPr lang="en-US" dirty="0"/>
              <a:t>The output is a learning packet: the trace, comparison, review effort, current artifact and decision to continue, revise or stop. It develops product judgment, debugging and evaluation together.</a:t>
            </a:r>
          </a:p>
          <a:p>
            <a:pPr/>
            <a:endParaRPr lang="en-US" dirty="0"/>
          </a:p>
          <a:p>
            <a:pPr/>
            <a:r>
              <a:rPr lang="en-US" dirty="0"/>
              <a:t>This is a proposed exercise, not production approval or a Fidelity project commitment.</a:t>
            </a:r>
          </a:p>
          <a:p>
            <a:pPr/>
            <a:endParaRPr lang="en-US" dirty="0"/>
          </a:p>
          <a:p>
            <a:pPr/>
            <a:r>
              <a:rPr lang="en-US" dirty="0"/>
              <a:t>We can now reduce the conference's return to three connected decisions.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first decision is acceptance: name the professional, the work product and the conditions that make it useful. Include corrections and total effort.</a:t>
            </a:r>
          </a:p>
          <a:p>
            <a:pPr/>
            <a:endParaRPr lang="en-US" dirty="0"/>
          </a:p>
          <a:p>
            <a:pPr/>
            <a:r>
              <a:rPr lang="en-US" dirty="0"/>
              <a:t>The second is evidence: preserve meaning, period, source version, access and calculation through the final artifact. Give memory an aging and correction policy.</a:t>
            </a:r>
          </a:p>
          <a:p>
            <a:pPr/>
            <a:endParaRPr lang="en-US" dirty="0"/>
          </a:p>
          <a:p>
            <a:pPr/>
            <a:r>
              <a:rPr lang="en-US" dirty="0"/>
              <a:t>The third is controlled improvement: choose one failure mechanism and a bounded comparison. Assess the final result, consequential behavior and permission to act separately.</a:t>
            </a:r>
          </a:p>
          <a:p>
            <a:pPr/>
            <a:endParaRPr lang="en-US" dirty="0"/>
          </a:p>
          <a:p>
            <a:pPr/>
            <a:r>
              <a:rPr lang="en-US" dirty="0"/>
              <a:t>The company mechanisms make these decisions tangible. Their reported outcomes remain scoped to their accounts. Preserve the case, correction and reasoning so the next engineer starts from evidence rather than rediscovering the same lesson.</a:t>
            </a:r>
          </a:p>
          <a:p>
            <a:pPr/>
            <a:endParaRPr lang="en-US" dirty="0"/>
          </a:p>
          <a:p>
            <a:pPr/>
            <a:r>
              <a:rPr lang="en-US" dirty="0"/>
              <a:t>I will close with one prompt to choose the most useful discussion.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Which one failure would most change your confidence in a workflow you know, and what comparison would test it?</a:t>
            </a:r>
          </a:p>
          <a:p>
            <a:pPr/>
            <a:endParaRPr lang="en-US" dirty="0"/>
          </a:p>
          <a:p>
            <a:pPr/>
            <a:r>
              <a:rPr lang="en-US" dirty="0"/>
              <a:t>Take a moment to choose a specific case: an unsupported number, a wrong period, an unauthorized action or an exception that ordinary review might miss.</a:t>
            </a:r>
          </a:p>
          <a:p>
            <a:pPr/>
            <a:endParaRPr lang="en-US" dirty="0"/>
          </a:p>
          <a:p>
            <a:pPr/>
            <a:r>
              <a:rPr lang="en-US" dirty="0"/>
              <a:t>For discussion, we can name the accepted output, existing baseline and evidence that would change the decision. If a prerequisite is missing, identifying it is a useful result too.</a:t>
            </a:r>
          </a:p>
          <a:p>
            <a:pPr/>
            <a:endParaRPr lang="en-US" dirty="0"/>
          </a:p>
          <a:p>
            <a:pPr/>
            <a:r>
              <a:rPr lang="en-US" dirty="0"/>
              <a:t>There is no need to choose a favorite framework or make a project commitment today. The useful outcome is a clear uncertainty and a practical way to investigate it.</a:t>
            </a:r>
          </a:p>
          <a:p>
            <a:pPr/>
            <a:endParaRPr lang="en-US" dirty="0"/>
          </a:p>
          <a:p>
            <a:pPr/>
            <a:r>
              <a:rPr lang="en-US" dirty="0"/>
              <a:t>Open discussion; use the technical questions in the companion notes as needed.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This shared contract connects responsibilities that are often evaluated separately. Task specifies the user, accepted work, baseline and acceptance decision. Evidence keeps entity, period, units, source version, cutoff and access reproducible. Authority distinguishes resources, proposals, approvals and execution. Evaluation names cases, rubric, blockers and calibrated judges. Operation preserves versions, traces, accountable ownership and stop or rollback conditions. The inspection questions make compliance observable: can someone recognize completion, reproduce a claim, challenge a denial boundary, detect a severe false pass, diagnose a failure and verify a repair? Retain disagreement and accepted limits. A new source, user group, tool or permission can change exposure without a prompt change, so reassess when uncertainty could alter the decision. The checklist is a proposed synthesis.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Thirty-seven later-source briefs add practitioner mechanisms to the original company research. Compare the work, the professional’s role and the evidence—not a league table of AI maturity.</a:t>
            </a:r>
          </a:p>
          <a:p>
            <a:pPr/>
            <a:endParaRPr lang="en-US" dirty="0"/>
          </a:p>
          <a:p>
            <a:pPr/>
            <a:r>
              <a:rPr lang="en-US" dirty="0"/>
              <a:t>Compare like work with like. Direct wealth accounts now include Range’s expert skills, Arca’s event-driven work and Perpetual’s compiled plans. Apollo/Redding Ridge adds source reconciliation and QA. These stories explain operating mechanisms while preserving the professional decision and the scope of each example.</a:t>
            </a:r>
          </a:p>
          <a:p>
            <a:pPr/>
            <a:endParaRPr lang="en-US" dirty="0"/>
          </a:p>
          <a:p>
            <a:pPr/>
            <a:r>
              <a:rPr lang="en-US" dirty="0"/>
              <a:t>Distinguish mechanism from effectiveness. A detailed architecture explains how a system is intended to operate. Production use shows operational adoption. Neither alone establishes quality, net time saved or causal business impact. Ask what baseline, task mix and human effort would support the stronger claim.</a:t>
            </a:r>
          </a:p>
          <a:p>
            <a:pPr/>
            <a:endParaRPr lang="en-US" dirty="0"/>
          </a:p>
          <a:p>
            <a:pPr/>
            <a:r>
              <a:rPr lang="en-US" dirty="0"/>
              <a:t>Use the atlas for follow-up. The full reading-mode atlas retains 25 firm perspectives, source links and case limits. Use it to find a relevant peer pattern, then investigate the missing implementation detail or measurement. A company affiliation alone does not establish deployment of every discussed technique.</a:t>
            </a:r>
          </a:p>
          <a:p>
            <a:pPr/>
            <a:endParaRPr lang="en-US" dirty="0"/>
          </a:p>
          <a:p>
            <a:pPr/>
            <a:r>
              <a:rPr lang="en-US" dirty="0"/>
              <a:t>The selected map connects Bridgewater, Kepler and Citadel Securities with time-scoped evidence, fact resolution and changing beliefs. Range, Arca, Perpetual and Apollo connect expert methods with handoffs, compiled plans and QA. Basis, Ramp and Vals supply behavior checks, roll-forward worlds and accepted-work evaluation. Two Sigma, Bloomberg and Credit Karma connect identity, scope, runtime controls and recoverable state. Arize, Sonar, Capital One and Monzo connect durable learning, shared verification and supported delivery. The reading edition contains thirty-seven later-source briefs; these examples are not a firm ranking.</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illustrative evaluation schema links the draft-review-packet task, approved input snapshot, accepted output, critical unauthorized-access and unsupported-number failures, case slices, evaluator, baseline comparison and accountable owner. It is a compact discussion specification rather than a runnable framework. Define output and action limits and when to clarify or abstain; correctly refusing access can succeed while unauthorized access fails. Version the evaluator’s model, prompt, rubric and threshold as well as the agent, because reported quality can move without a system change. Recalibrate important decisions on reviewed cases when the evaluator or users change. Model selection, reducing human review and expanding execution authority require different evidence. Finite tests support a scoped judgment with known limits, not proof of zero failure.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synthetic AsterCo contract preserves a growth ratio rather than a floating number. It identifies the entity, annual-revenue-growth metric, fiscal twenty twenty-five period, ratio unit, value of zero point two, hundred and hundred-twenty inputs in millions of US dollars, March first cutoff and calculation. A revenue value of one hundred twenty million and a growth value of twenty percent have different meanings and units. Retain document, passage, version and available-as-of identity for each input; publication, reporting period and access answer different questions. When an input is superseded, update dependent claims, tables and charts while preserving earlier values and reasons. Check that export keeps units, periods and links. These exact fields are proposed requirements, not verified Kepler or Bridgewater coverage, and all AsterCo data is invented.</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Pass-at-k asks a benchmark question: did at least one of k sampled candidates meet the specified test, summarized over tasks? State the workload, test and attempt budget. Ground-truth recognition can behave like an oracle and does not demonstrate that the first candidate succeeds or the operational selector finds the usable one. Run the actual verifier, ranker or human-review process and measure chosen-output acceptance, missed defects, rejected useful candidates and first-attempt behavior while enforcing critical conditions. Include all candidates, tool calls, verification, review and latency when comparing budgets. More attempts can create opportunity while increasing cost and exposure. Keep partial-credit task quality, pass-at-k and selected-output reliability distinct. Chen and colleagues supply this metric and selection distinction, not a finance performance result or a general retry policy.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Use acceptance rate and full cost per accepted task together. Acceptance rate divides accepted outputs by eligible assigned tasks and shows rejected, excluded and abandoned outcomes. Unit cost divides total workflow cost, including failed attempts, verification, retries, review and rework, by accepted tasks. Capacity compares accepted work per professional effort or time at equivalent quality and task mix, including preparation, correction, evidence checking, approval and follow-up. Business impact needs an additional credible alternative and attention to selection and other drivers; faster accepted work is a process result rather than automatically causal revenue or investment return. Contour’s roughly three-month tracking account lacks captured sample, assignment, controls and causal estimates. It motivates the comparison but does not define a universal validation window or a verified benefit.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Later sources replace several early ambiguities with concrete methods. Keep similarly named talks and different evidence classes separate, and identify the exact test needed for any stronger claim.</a:t>
            </a:r>
          </a:p>
          <a:p>
            <a:pPr/>
            <a:endParaRPr lang="en-US" dirty="0"/>
          </a:p>
          <a:p>
            <a:pPr/>
            <a:r>
              <a:rPr lang="en-US" dirty="0"/>
              <a:t>Clarifications worth keeping. Bridgewater supplies a precision@10 account and the proactive direction; Range supplies owner/reviewer responsibilities; Kepler retains final verification. Vanguard’s time claim concerns legacy-code research. These clarifications improve the teaching without proving business outcomes.</a:t>
            </a:r>
          </a:p>
          <a:p>
            <a:pPr/>
            <a:endParaRPr lang="en-US" dirty="0"/>
          </a:p>
          <a:p>
            <a:pPr/>
            <a:r>
              <a:rPr lang="en-US" dirty="0"/>
              <a:t>Editions are not interchangeable. Ryan Stevens’s eval article differs from Alexander Shevchenko’s Ramp keynote. Kepler’s breakout differs from its next-day follow-up. Range’s online index label differs from its attendance placement. Preserve the identity and date of the evidence used.</a:t>
            </a:r>
          </a:p>
          <a:p>
            <a:pPr/>
            <a:endParaRPr lang="en-US" dirty="0"/>
          </a:p>
          <a:p>
            <a:pPr/>
            <a:r>
              <a:rPr lang="en-US" dirty="0"/>
              <a:t>Ask a bounded follow-up. Banking affiliation and terminology, exact retrieval defaults, provider spelling and several result denominators remain open. Ask for the source, workload, population and comparison needed to resolve the claim. Do not manufacture a threshold or calibrated risk formula.</a:t>
            </a:r>
          </a:p>
          <a:p>
            <a:pPr/>
            <a:endParaRPr lang="en-US" dirty="0"/>
          </a:p>
          <a:p>
            <a:pPr/>
            <a:r>
              <a:rPr lang="en-US" dirty="0"/>
              <a:t>The recording review clarifies Bridgewater precision at ten and proactive participation, Range skill ownership and separate review, Kepler final post-processing, and Vanguard mainframe-code research. Keep the two Ramp sessions and two Kepler editions distinct. Range’s online index label and attendance date remain separately recorded. Banking affiliation and terminology, provider spelling, exact retrieval defaults and several result denominators remain unresolved.</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review screened ninety channel uploads and inspected fifty official video descriptions, alongside selected transcripts from the organizer’s fifty-two-session archive. Links on this page lead to primary source accounts. A description does not establish an unobserved demonstration, and a speaker report is not independent result validation. Original attendee notes, historical firm disclosures, the metric paper and proposed teaching examples retain their separate boundaries.</a:t>
            </a:r>
          </a:p>
          <a:p>
            <a:pPr/>
            <a:endParaRPr lang="en-US" dirty="0"/>
          </a:p>
          <a:p>
            <a:pPr/>
            <a:r>
              <a:rPr lang="en-US" dirty="0"/>
              <a:t>Proving Alpha: Showcasing AI's Value in Fundamental Investing is available at https://ai.engineer/nyc/2026/schedule?session=ae273f0b-db0f-4638-8ae3-05874bebf9ca.</a:t>
            </a:r>
          </a:p>
          <a:p>
            <a:pPr/>
            <a:endParaRPr lang="en-US" dirty="0"/>
          </a:p>
          <a:p>
            <a:pPr/>
            <a:r>
              <a:rPr lang="en-US" dirty="0"/>
              <a:t>We Let Our Financial Planners Write the Agents is available at https://ai.engineer/nyc/2026/schedule?session=9b002687-09cf-42e2-9282-532ed9d0c184.</a:t>
            </a:r>
          </a:p>
          <a:p>
            <a:pPr/>
            <a:endParaRPr lang="en-US" dirty="0"/>
          </a:p>
          <a:p>
            <a:pPr/>
            <a:r>
              <a:rPr lang="en-US" dirty="0"/>
              <a:t>Building the Next Chapter of AI in Finance is available at https://ai.engineer/nyc/2026/schedule?session=02f94835-c29d-4cf5-b77a-c5a491b747b8.</a:t>
            </a:r>
          </a:p>
          <a:p>
            <a:pPr/>
            <a:endParaRPr lang="en-US" dirty="0"/>
          </a:p>
          <a:p>
            <a:pPr/>
            <a:r>
              <a:rPr lang="en-US" dirty="0"/>
              <a:t>Coatue · A Hedge Fund as a Function is available at https://ai.engineer/nyc/2026/talks/coatue.</a:t>
            </a:r>
          </a:p>
          <a:p>
            <a:pPr/>
            <a:endParaRPr lang="en-US" dirty="0"/>
          </a:p>
          <a:p>
            <a:pPr/>
            <a:r>
              <a:rPr lang="en-US" dirty="0"/>
              <a:t>Apollo / Redding Ridge / Rowspace · AI in Practice: An Inside Look at Apollo's Approach is available at https://ai.engineer/nyc/2026/talks/apollo-rowspace.</a:t>
            </a:r>
          </a:p>
          <a:p>
            <a:pPr/>
            <a:endParaRPr lang="en-US" dirty="0"/>
          </a:p>
          <a:p>
            <a:pPr/>
            <a:r>
              <a:rPr lang="en-US" dirty="0"/>
              <a:t>Range · We Let Our Financial Planners Write the Agents is available at https://ai.engineer/nyc/2026/talks/range.</a:t>
            </a:r>
          </a:p>
          <a:p>
            <a:pPr/>
            <a:endParaRPr lang="en-US" dirty="0"/>
          </a:p>
          <a:p>
            <a:pPr/>
            <a:r>
              <a:rPr lang="en-US" dirty="0"/>
              <a:t>Vault: Making Unstructured Data Work for Investing is available at https://ai.engineer/nyc/2026/schedule?session=a84ca3a8-cc2f-4b50-a635-fc380f6f04f6.</a:t>
            </a:r>
          </a:p>
          <a:p>
            <a:pPr/>
            <a:endParaRPr lang="en-US" dirty="0"/>
          </a:p>
          <a:p>
            <a:pPr/>
            <a:r>
              <a:rPr lang="en-US" dirty="0"/>
              <a:t>Balancing Acceleration and Safety for AI Agents is available at https://ai.engineer/nyc/2026/schedule?session=73badd10-6f8c-4c95-b5e7-55fc3d7bafc1.</a:t>
            </a:r>
          </a:p>
          <a:p>
            <a:pPr/>
            <a:endParaRPr lang="en-US" dirty="0"/>
          </a:p>
          <a:p>
            <a:pPr/>
            <a:r>
              <a:rPr lang="en-US" dirty="0"/>
              <a:t>Compound value from building Monzo’s in-house agent using LLMs* is available at https://ai.engineer/nyc/2026/schedule?session=58fe4b11-571e-4afd-bd89-8ad63e6cfe11.</a:t>
            </a:r>
          </a:p>
          <a:p>
            <a:pPr/>
            <a:endParaRPr lang="en-US" dirty="0"/>
          </a:p>
          <a:p>
            <a:pPr/>
            <a:r>
              <a:rPr lang="en-US" dirty="0"/>
              <a:t>Scaling AI with P&amp;L on the line is available at https://ai.engineer/nyc/2026/schedule?session=272a7ef0-4b78-41a3-813d-a67361fcd2d3.</a:t>
            </a:r>
          </a:p>
          <a:p>
            <a:pPr/>
            <a:endParaRPr lang="en-US" dirty="0"/>
          </a:p>
          <a:p>
            <a:pPr/>
            <a:r>
              <a:rPr lang="en-US" dirty="0"/>
              <a:t>Bridgewater · Vault: Making Unstructured Data Work for Investing is available at https://ai.engineer/nyc/2026/talks/bridgewater.</a:t>
            </a:r>
          </a:p>
          <a:p>
            <a:pPr/>
            <a:endParaRPr lang="en-US" dirty="0"/>
          </a:p>
          <a:p>
            <a:pPr/>
            <a:r>
              <a:rPr lang="en-US" dirty="0"/>
              <a:t>Wells Fargo · Wells Fargo Foundation Model: Application to Fraud Detection at Scale is available at https://ai.engineer/nyc/2026/talks/wells-fargo.</a:t>
            </a:r>
          </a:p>
          <a:p>
            <a:pPr/>
            <a:endParaRPr lang="en-US" dirty="0"/>
          </a:p>
          <a:p>
            <a:pPr/>
            <a:r>
              <a:rPr lang="en-US" dirty="0"/>
              <a:t>Blackstone / Norm.ai · Built to Scale: Future-Proofing Your Technology Roadmap is available at https://ai.engineer/nyc/2026/talks/blackstone-norm.</a:t>
            </a:r>
          </a:p>
          <a:p>
            <a:pPr/>
            <a:endParaRPr lang="en-US" dirty="0"/>
          </a:p>
          <a:p>
            <a:pPr/>
            <a:r>
              <a:rPr lang="en-US" dirty="0"/>
              <a:t>Morgan Stanley Wealth Management · Debrief launch is available at https://www.morganstanley.com/press-releases/ai-at-morgan-stanley-debrief-launch.</a:t>
            </a:r>
          </a:p>
          <a:p>
            <a:pPr/>
            <a:endParaRPr lang="en-US" dirty="0"/>
          </a:p>
          <a:p>
            <a:pPr/>
            <a:r>
              <a:rPr lang="en-US" dirty="0"/>
              <a:t>UBS · fourth-quarter/full-year 2024 results is available at https://www.ubs.com/global/en/media/display-page-ndp/en-20250204-4q24-quarterly-result.html.</a:t>
            </a:r>
          </a:p>
          <a:p>
            <a:pPr/>
            <a:endParaRPr lang="en-US" dirty="0"/>
          </a:p>
          <a:p>
            <a:pPr/>
            <a:r>
              <a:rPr lang="en-US" dirty="0"/>
              <a:t>RBC · 2025 Investor Day presentation is available at https://www.rbc.com/investor-relations/_assets-custom/pdf/investorday2025_presentation.pdf#page=95.</a:t>
            </a:r>
          </a:p>
          <a:p>
            <a:pPr/>
            <a:endParaRPr lang="en-US" dirty="0"/>
          </a:p>
          <a:p>
            <a:pPr/>
            <a:r>
              <a:rPr lang="en-US" dirty="0"/>
              <a:t>RBC · 2025 Investor Day transcript is available at https://www.rbc.com/investor-relations/_assets-custom/pdf/investorday2025_transcript.pdf#page=20.</a:t>
            </a:r>
          </a:p>
          <a:p>
            <a:pPr/>
            <a:endParaRPr lang="en-US" dirty="0"/>
          </a:p>
          <a:p>
            <a:pPr/>
            <a:r>
              <a:rPr lang="en-US" dirty="0"/>
              <a:t>Arca · Inside Arca’s long-horizon agents that run the business is available at https://ai.engineer/nyc/2026/talks/arca.</a:t>
            </a:r>
          </a:p>
          <a:p>
            <a:pPr/>
            <a:endParaRPr lang="en-US" dirty="0"/>
          </a:p>
          <a:p>
            <a:pPr/>
            <a:r>
              <a:rPr lang="en-US" dirty="0"/>
              <a:t>Perpetual · Building Reliable, yet Smart Workflows for Finance, Wealth and Insurance is available at https://ai.engineer/nyc/2026/talks/perpetual.</a:t>
            </a:r>
          </a:p>
          <a:p>
            <a:pPr/>
            <a:endParaRPr lang="en-US" dirty="0"/>
          </a:p>
          <a:p>
            <a:pPr/>
            <a:r>
              <a:rPr lang="en-US" dirty="0"/>
              <a:t>Contour Asset Management · Proving Alpha: How a Hedge Fund Measures AI's ROI - Hari Kumar, Contour Asset Management is available at https://www.youtube.com/watch?v=ZMZlAn6Pyfg.</a:t>
            </a:r>
          </a:p>
          <a:p>
            <a:pPr/>
            <a:endParaRPr lang="en-US" dirty="0"/>
          </a:p>
          <a:p>
            <a:pPr/>
            <a:r>
              <a:rPr lang="en-US" dirty="0"/>
              <a:t>Jellyfish · Tokens Are the Cheap Part is available at https://ai.engineer/nyc/2026/talks/jellyfish.</a:t>
            </a:r>
          </a:p>
          <a:p>
            <a:pPr/>
            <a:endParaRPr lang="en-US" dirty="0"/>
          </a:p>
          <a:p>
            <a:pPr/>
            <a:r>
              <a:rPr lang="en-US" dirty="0"/>
              <a:t>Intuit Credit Karma · Paving the Road to Production: Governed Enterprise AI Agents is available at https://ai.engineer/nyc/2026/talks/credit-karma.</a:t>
            </a:r>
          </a:p>
          <a:p>
            <a:pPr/>
            <a:endParaRPr lang="en-US" dirty="0"/>
          </a:p>
          <a:p>
            <a:pPr/>
            <a:r>
              <a:rPr lang="en-US" dirty="0"/>
              <a:t>Ramp · Alexander Shevchenko keynote · Chasing capabilities while waiting for the frontier is available at https://ai.engineer/nyc/2026/talks/ramp.</a:t>
            </a:r>
          </a:p>
          <a:p>
            <a:pPr/>
            <a:endParaRPr lang="en-US" dirty="0"/>
          </a:p>
          <a:p>
            <a:pPr/>
            <a:r>
              <a:rPr lang="en-US" dirty="0"/>
              <a:t>Can Your AI Analyst Keep a Secret? is available at https://ai.engineer/nyc/2026/schedule?session=88f71c9f-f0a9-4f42-96c0-0e1492bad1c2.</a:t>
            </a:r>
          </a:p>
          <a:p>
            <a:pPr/>
            <a:endParaRPr lang="en-US" dirty="0"/>
          </a:p>
          <a:p>
            <a:pPr/>
            <a:r>
              <a:rPr lang="en-US" dirty="0"/>
              <a:t>Do Not Let Models Invent Numbers is available at https://ai.engineer/nyc/2026/schedule?session=2d29f925-f16b-41b3-8086-de0524829cbe.</a:t>
            </a:r>
          </a:p>
          <a:p>
            <a:pPr/>
            <a:endParaRPr lang="en-US" dirty="0"/>
          </a:p>
          <a:p>
            <a:pPr/>
            <a:r>
              <a:rPr lang="en-US" dirty="0"/>
              <a:t>Citadel Securities · Your Company Has No Model of Itself: Bootstrapping a World Model from Slack, Decks and Meetings is available at https://ai.engineer/nyc/2026/talks/citadel.</a:t>
            </a:r>
          </a:p>
          <a:p>
            <a:pPr/>
            <a:endParaRPr lang="en-US" dirty="0"/>
          </a:p>
          <a:p>
            <a:pPr/>
            <a:r>
              <a:rPr lang="en-US" dirty="0"/>
              <a:t>Kepler · October 14 follow-up · Why Wall Street Still Doesn’t Trust AI is available at https://ai.engineer/nyc/2026/talks/kepler-14.</a:t>
            </a:r>
          </a:p>
          <a:p>
            <a:pPr/>
            <a:endParaRPr lang="en-US" dirty="0"/>
          </a:p>
          <a:p>
            <a:pPr/>
            <a:r>
              <a:rPr lang="en-US" dirty="0"/>
              <a:t>Kepler · attended breakout release · Do Not Let Models Invent Numbers - Vinoo Ganesh, Kepler is available at https://www.youtube.com/watch?v=dZgA6btnb_s.</a:t>
            </a:r>
          </a:p>
          <a:p>
            <a:pPr/>
            <a:endParaRPr lang="en-US" dirty="0"/>
          </a:p>
          <a:p>
            <a:pPr/>
            <a:r>
              <a:rPr lang="en-US" dirty="0"/>
              <a:t>OpenAI · Building the Next Chapter of AI in Finance is available at https://ai.engineer/nyc/2026/talks/openai.</a:t>
            </a:r>
          </a:p>
          <a:p>
            <a:pPr/>
            <a:endParaRPr lang="en-US" dirty="0"/>
          </a:p>
          <a:p>
            <a:pPr/>
            <a:r>
              <a:rPr lang="en-US" dirty="0"/>
              <a:t>Compound AI · Towards Autonomous Analysts in Finance is available at https://ai.engineer/nyc/2026/talks/compound.</a:t>
            </a:r>
          </a:p>
          <a:p>
            <a:pPr/>
            <a:endParaRPr lang="en-US" dirty="0"/>
          </a:p>
          <a:p>
            <a:pPr/>
            <a:r>
              <a:rPr lang="en-US" dirty="0"/>
              <a:t>Building Better Agents Through End-to-End Evals is available at https://ai.engineer/nyc/2026/schedule?session=4607dbbe-8f94-4b0e-91ce-257d1cfb5448.</a:t>
            </a:r>
          </a:p>
          <a:p>
            <a:pPr/>
            <a:endParaRPr lang="en-US" dirty="0"/>
          </a:p>
          <a:p>
            <a:pPr/>
            <a:r>
              <a:rPr lang="en-US" dirty="0"/>
              <a:t>1,368 AI Failures: What They Teach Us About System Evals is available at https://ai.engineer/nyc/2026/schedule?session=9d72d7ac-a2a2-42cf-b880-5859316d840c.</a:t>
            </a:r>
          </a:p>
          <a:p>
            <a:pPr/>
            <a:endParaRPr lang="en-US" dirty="0"/>
          </a:p>
          <a:p>
            <a:pPr/>
            <a:r>
              <a:rPr lang="en-US" dirty="0"/>
              <a:t>From Agent Prototype to Production in Regulated Banking is available at https://ai.engineer/nyc/2026/schedule?session=e4ca10c6-c8b4-427b-a337-8d2a28e2a7aa.</a:t>
            </a:r>
          </a:p>
          <a:p>
            <a:pPr/>
            <a:endParaRPr lang="en-US" dirty="0"/>
          </a:p>
          <a:p>
            <a:pPr/>
            <a:r>
              <a:rPr lang="en-US" dirty="0"/>
              <a:t>Vals AI · Beyond the Model Card: The Jagged Frontier of AI in Finance is available at https://ai.engineer/nyc/2026/talks/vals.</a:t>
            </a:r>
          </a:p>
          <a:p>
            <a:pPr/>
            <a:endParaRPr lang="en-US" dirty="0"/>
          </a:p>
          <a:p>
            <a:pPr/>
            <a:r>
              <a:rPr lang="en-US" dirty="0"/>
              <a:t>Ramp · Ryan Stevens written follow-up · Ramp · Ryan Stevens written follow-up is available at https://dev.to/dailycontext/building-better-agents-through-end-to-end-evals-pgh.</a:t>
            </a:r>
          </a:p>
          <a:p>
            <a:pPr/>
            <a:endParaRPr lang="en-US" dirty="0"/>
          </a:p>
          <a:p>
            <a:pPr/>
            <a:r>
              <a:rPr lang="en-US" dirty="0"/>
              <a:t>Basis · Process Supervision for Agents That Do Long-Horizon Work is available at https://ai.engineer/nyc/2026/talks/basis.</a:t>
            </a:r>
          </a:p>
          <a:p>
            <a:pPr/>
            <a:endParaRPr lang="en-US" dirty="0"/>
          </a:p>
          <a:p>
            <a:pPr/>
            <a:r>
              <a:rPr lang="en-US" dirty="0"/>
              <a:t>Air Canada · Nathanael Weill · How to Test AI Agents When No Benchmark Exists — Nathanael Weill, Air Canada is available at https://www.youtube.com/watch?v=c_SPW__jF9w.</a:t>
            </a:r>
          </a:p>
          <a:p>
            <a:pPr/>
            <a:endParaRPr lang="en-US" dirty="0"/>
          </a:p>
          <a:p>
            <a:pPr/>
            <a:r>
              <a:rPr lang="en-US" dirty="0"/>
              <a:t>From Human Review to Self-Healing Agents: How Upstart Evaluates Voice AI at Regulated-Lending Scale is available at https://ai.engineer/nyc/2026/schedule?session=ece6925c-c979-483f-bd40-51eacdbbe11b.</a:t>
            </a:r>
          </a:p>
          <a:p>
            <a:pPr/>
            <a:endParaRPr lang="en-US" dirty="0"/>
          </a:p>
          <a:p>
            <a:pPr/>
            <a:r>
              <a:rPr lang="en-US" dirty="0"/>
              <a:t>Chen et al. · Evaluating Large Language Models Trained on Code is available at https://arxiv.org/html/2107.03374v2.</a:t>
            </a:r>
          </a:p>
          <a:p>
            <a:pPr/>
            <a:endParaRPr lang="en-US" dirty="0"/>
          </a:p>
          <a:p>
            <a:pPr/>
            <a:r>
              <a:rPr lang="en-US" dirty="0"/>
              <a:t>What does an AI engineer do? is available at https://ai.engineer/nyc/2026/schedule?session=b2ed4456-5671-4e8e-83fd-684c012fef8c.</a:t>
            </a:r>
          </a:p>
          <a:p>
            <a:pPr/>
            <a:endParaRPr lang="en-US" dirty="0"/>
          </a:p>
          <a:p>
            <a:pPr/>
            <a:r>
              <a:rPr lang="en-US" dirty="0"/>
              <a:t>Arize · Sofia Jakovcevic · Your Agent Fix Just Broke Something Else - Sofia Jakovcevic, Arize AI is available at https://www.youtube.com/watch?v=v5tm5EAzsAs.</a:t>
            </a:r>
          </a:p>
          <a:p>
            <a:pPr/>
            <a:endParaRPr lang="en-US" dirty="0"/>
          </a:p>
          <a:p>
            <a:pPr/>
            <a:r>
              <a:rPr lang="en-US" dirty="0"/>
              <a:t>Omni Analytics · Don't Trust Your AI Agents. Test Them Like a Scientist — Stephanie Jarmak, Omni Analytics is available at https://www.youtube.com/watch?v=A3FL_zTQKU0.</a:t>
            </a:r>
          </a:p>
          <a:p>
            <a:pPr/>
            <a:endParaRPr lang="en-US" dirty="0"/>
          </a:p>
          <a:p>
            <a:pPr/>
            <a:r>
              <a:rPr lang="en-US" dirty="0"/>
              <a:t>Google DeepMind / Kaggle / LinqAlpha · Why Frontier Models Fail as Buy-Side Analysts - Janie Gu, Google DeepMind &amp; Suyeol Yun, LinqAlpha is available at https://www.youtube.com/watch?v=aVbRSIQO2dE.</a:t>
            </a:r>
          </a:p>
          <a:p>
            <a:pPr/>
            <a:endParaRPr lang="en-US" dirty="0"/>
          </a:p>
          <a:p>
            <a:pPr/>
            <a:r>
              <a:rPr lang="en-US" dirty="0"/>
              <a:t>Arize · Aparna Dhinakaran · What does an AI engineer do? is available at https://ai.engineer/nyc/2026/talks/arize.</a:t>
            </a:r>
          </a:p>
          <a:p>
            <a:pPr/>
            <a:endParaRPr lang="en-US" dirty="0"/>
          </a:p>
          <a:p>
            <a:pPr/>
            <a:r>
              <a:rPr lang="en-US" dirty="0"/>
              <a:t>Stop turning your Humans Into APIs for your Agents is available at https://ai.engineer/nyc/2026/schedule?session=ac709f86-ce51-4582-a680-70449c32d29c.</a:t>
            </a:r>
          </a:p>
          <a:p>
            <a:pPr/>
            <a:endParaRPr lang="en-US" dirty="0"/>
          </a:p>
          <a:p>
            <a:pPr/>
            <a:r>
              <a:rPr lang="en-US" dirty="0"/>
              <a:t>Coinbase · Trusting Agents in Policy-Driven Workflows is available at https://ai.engineer/nyc/2026/talks/coinbase.</a:t>
            </a:r>
          </a:p>
          <a:p>
            <a:pPr/>
            <a:endParaRPr lang="en-US" dirty="0"/>
          </a:p>
          <a:p>
            <a:pPr/>
            <a:r>
              <a:rPr lang="en-US" dirty="0"/>
              <a:t>Two Sigma · Balancing Acceleration and Safety for AI Agents is available at https://ai.engineer/nyc/2026/talks/two-sigma.</a:t>
            </a:r>
          </a:p>
          <a:p>
            <a:pPr/>
            <a:endParaRPr lang="en-US" dirty="0"/>
          </a:p>
          <a:p>
            <a:pPr/>
            <a:r>
              <a:rPr lang="en-US" dirty="0"/>
              <a:t>Bloomberg · Security in the Age of AI: Recent Attacks, Incidents &amp; Defenses is available at https://ai.engineer/nyc/2026/talks/bloomberg.</a:t>
            </a:r>
          </a:p>
          <a:p>
            <a:pPr/>
            <a:endParaRPr lang="en-US" dirty="0"/>
          </a:p>
          <a:p>
            <a:pPr/>
            <a:r>
              <a:rPr lang="en-US" dirty="0"/>
              <a:t>The Machine that Changed the World, vAI is available at https://ai.engineer/nyc/2026/schedule?session=4add802c-6a68-4e9c-93fb-9c1e017193bc.</a:t>
            </a:r>
          </a:p>
          <a:p>
            <a:pPr/>
            <a:endParaRPr lang="en-US" dirty="0"/>
          </a:p>
          <a:p>
            <a:pPr/>
            <a:r>
              <a:rPr lang="en-US" dirty="0"/>
              <a:t>Sonar · The Machine that Changed the World, vAI is available at https://ai.engineer/nyc/2026/talks/sonar.</a:t>
            </a:r>
          </a:p>
          <a:p>
            <a:pPr/>
            <a:endParaRPr lang="en-US" dirty="0"/>
          </a:p>
          <a:p>
            <a:pPr/>
            <a:r>
              <a:rPr lang="en-US" dirty="0"/>
              <a:t>Capital One · Does Code Quality Even Matter? is available at https://ai.engineer/nyc/2026/talks/capital-one.</a:t>
            </a:r>
          </a:p>
          <a:p>
            <a:pPr/>
            <a:endParaRPr lang="en-US" dirty="0"/>
          </a:p>
          <a:p>
            <a:pPr/>
            <a:r>
              <a:rPr lang="en-US" dirty="0"/>
              <a:t>No Cash Left Behind: Vanguard's Ledger Modernization Journey is available at https://ai.engineer/nyc/2026/schedule?session=1779b934-d67b-45e9-ba11-0b19efac4b7e.</a:t>
            </a:r>
          </a:p>
          <a:p>
            <a:pPr/>
            <a:endParaRPr lang="en-US" dirty="0"/>
          </a:p>
          <a:p>
            <a:pPr/>
            <a:r>
              <a:rPr lang="en-US" dirty="0"/>
              <a:t>Vanguard · AI Cut Our Research Time From 7 Days to 15 Minutes — Gareth Yoder, Vanguard is available at https://www.youtube.com/watch?v=uA4ah-dVHvU.</a:t>
            </a:r>
          </a:p>
          <a:p>
            <a:pPr/>
            <a:endParaRPr lang="en-US" dirty="0"/>
          </a:p>
          <a:p>
            <a:pPr/>
            <a:r>
              <a:rPr lang="en-US" dirty="0"/>
              <a:t>Prime Intellect · Self-Improving Organizations is available at https://ai.engineer/nyc/2026/talks/prime-intellect.</a:t>
            </a:r>
          </a:p>
          <a:p>
            <a:pPr/>
            <a:endParaRPr lang="en-US" dirty="0"/>
          </a:p>
          <a:p>
            <a:pPr/>
            <a:r>
              <a:rPr lang="en-US" dirty="0"/>
              <a:t>Arize · Laurie Voss · AI Writes the Code. So What's Left for Engineers? - Laurie Voss, Arize AI is available at https://www.youtube.com/watch?v=kspZP5BgkEU.</a:t>
            </a:r>
          </a:p>
          <a:p>
            <a:pPr/>
            <a:endParaRPr lang="en-US" dirty="0"/>
          </a:p>
          <a:p>
            <a:pPr/>
            <a:r>
              <a:rPr lang="en-US" dirty="0"/>
              <a:t>Southbridge · Just-in-Time Ontologies is available at https://ai.engineer/nyc/2026/talks/southbridge.</a:t>
            </a:r>
          </a:p>
          <a:p>
            <a:pPr/>
            <a:endParaRPr lang="en-US" dirty="0"/>
          </a:p>
          <a:p>
            <a:pPr/>
            <a:r>
              <a:rPr lang="en-US" dirty="0"/>
              <a:t>Monzo · A Bank Built Its Own Coding Agent. It Took Off — Felippe Felisola Caso &amp; Francesco Galletta, Monzo is available at https://www.youtube.com/watch?v=adfw3xJBx1o.</a:t>
            </a:r>
          </a:p>
          <a:p>
            <a:pPr/>
            <a:endParaRPr lang="en-US" dirty="0"/>
          </a:p>
          <a:p>
            <a:pPr/>
            <a:r>
              <a:rPr lang="en-US" dirty="0"/>
              <a:t>Does Code Quality Even Matter? is available at https://ai.engineer/nyc/2026/schedule?session=5191589c-a70e-4806-99dc-86f7794f46b9.</a:t>
            </a:r>
          </a:p>
          <a:p>
            <a:pPr/>
            <a:endParaRPr lang="en-US" dirty="0"/>
          </a:p>
          <a:p>
            <a:pPr/>
            <a:r>
              <a:rPr lang="en-US" dirty="0"/>
              <a:t>Chasing capabilities while waiting for the frontier is available at https://ai.engineer/nyc/2026/schedule?session=caecd5f6-b352-4868-a995-f0f71679caf0.</a:t>
            </a:r>
          </a:p>
          <a:p>
            <a:pPr/>
            <a:endParaRPr lang="en-US" dirty="0"/>
          </a:p>
          <a:p>
            <a:pPr/>
            <a:r>
              <a:rPr lang="en-US" dirty="0"/>
              <a:t>Turning AI Into Operating Margin: A Field Report from Private Equity is available at https://ai.engineer/nyc/2026/schedule?session=5049757d-8a2e-46fd-9d7b-c8c1f3d7b72a.</a:t>
            </a:r>
          </a:p>
          <a:p>
            <a:pPr/>
            <a:endParaRPr lang="en-US" dirty="0"/>
          </a:p>
          <a:p>
            <a:pPr/>
            <a:r>
              <a:rPr lang="en-US" dirty="0"/>
              <a:t>AI in Practice: An Inside Look at Apollo's Approach is available at https://ai.engineer/nyc/2026/schedule?session=44e9d04a-e8b4-418c-8a85-02fbb9263dd0.</a:t>
            </a:r>
          </a:p>
          <a:p>
            <a:pPr/>
            <a:endParaRPr lang="en-US" dirty="0"/>
          </a:p>
          <a:p>
            <a:pPr/>
            <a:r>
              <a:rPr lang="en-US" dirty="0"/>
              <a:t>Wells Fargo Foundation Model: Application to Fraud Detection at Scale is available at https://ai.engineer/nyc/2026/schedule?session=1c25f303-f38f-450b-862d-669fdbab5f82.</a:t>
            </a:r>
          </a:p>
          <a:p>
            <a:pPr/>
            <a:endParaRPr lang="en-US" dirty="0"/>
          </a:p>
          <a:p>
            <a:pPr/>
            <a:r>
              <a:rPr lang="en-US" dirty="0"/>
              <a:t>Intent Based Auth is available at https://ai.engineer/nyc/2026/schedule?session=e65f74f9-2174-406d-bd32-2d7073eb677d.</a:t>
            </a:r>
          </a:p>
          <a:p>
            <a:pPr/>
            <a:endParaRPr lang="en-US" dirty="0"/>
          </a:p>
          <a:p>
            <a:pPr/>
            <a:r>
              <a:rPr lang="en-US" dirty="0"/>
              <a:t>Your Company Has No Model of Itself: Bootstrapping a World Model from Slack, Decks and Meetings is available at https://ai.engineer/nyc/2026/schedule?session=bf371da6-6ef6-42ec-865f-5de4974a9114.</a:t>
            </a:r>
          </a:p>
          <a:p>
            <a:pPr/>
            <a:endParaRPr lang="en-US" dirty="0"/>
          </a:p>
          <a:p>
            <a:pPr/>
            <a:r>
              <a:rPr lang="en-US" dirty="0"/>
              <a:t>Inside the Fable War Room is available at https://ai.engineer/nyc/2026/schedule?session=6b92fb75-064e-4cb5-8aa3-7c7f211e7420.</a:t>
            </a:r>
          </a:p>
          <a:p>
            <a:pPr/>
            <a:endParaRPr lang="en-US" dirty="0"/>
          </a:p>
          <a:p>
            <a:pPr/>
            <a:r>
              <a:rPr lang="en-US" dirty="0"/>
              <a:t>Trusting Agents in Policy-Driven Workflows is available at https://ai.engineer/nyc/2026/schedule?session=ee927042-2ba1-44c3-b304-d001ae247839.</a:t>
            </a:r>
          </a:p>
          <a:p>
            <a:pPr/>
            <a:endParaRPr lang="en-US" dirty="0"/>
          </a:p>
          <a:p>
            <a:pPr/>
            <a:r>
              <a:rPr lang="en-US" dirty="0"/>
              <a:t>Developer Docs as Knowledge Infrastructure for Fintech is available at https://ai.engineer/nyc/2026/schedule?session=d3d8c80e-84b7-4106-b8b5-ca63bc508480.</a:t>
            </a:r>
          </a:p>
          <a:p>
            <a:pPr/>
            <a:endParaRPr lang="en-US" dirty="0"/>
          </a:p>
          <a:p>
            <a:pPr/>
            <a:r>
              <a:rPr lang="en-US" dirty="0"/>
              <a:t>Building the Financial Account for Agents is available at https://ai.engineer/nyc/2026/schedule?session=bc4b6b4a-cf07-4326-8276-fcf845da0284.</a:t>
            </a:r>
          </a:p>
          <a:p>
            <a:pPr/>
            <a:endParaRPr lang="en-US" dirty="0"/>
          </a:p>
          <a:p>
            <a:pPr/>
            <a:r>
              <a:rPr lang="en-US" dirty="0"/>
              <a:t>Security in the Age of AI: Recent Attacks, Incidents &amp; Defenses is available at https://ai.engineer/nyc/2026/schedule?session=01982251-7fdc-4828-8520-fb34b9bc7564.</a:t>
            </a:r>
          </a:p>
          <a:p>
            <a:pPr/>
            <a:endParaRPr lang="en-US" dirty="0"/>
          </a:p>
          <a:p>
            <a:pPr/>
            <a:r>
              <a:rPr lang="en-US" dirty="0"/>
              <a:t>CTO, Blackstone is available at https://ai.engineer/nyc/2026/schedule?session=4cf641ef-436a-4e59-bd73-8a1988d8214c.</a:t>
            </a:r>
          </a:p>
          <a:p>
            <a:pPr/>
            <a:endParaRPr lang="en-US" dirty="0"/>
          </a:p>
          <a:p>
            <a:pPr/>
            <a:r>
              <a:rPr lang="en-US" dirty="0"/>
              <a:t>Head of AI &amp; AI Engineer, Coatue is available at https://ai.engineer/nyc/2026/schedule?session=9a9dfcd0-459f-43eb-b3f8-004864b4ad2a.</a:t>
            </a:r>
          </a:p>
          <a:p>
            <a:pPr/>
            <a:endParaRPr lang="en-US" dirty="0"/>
          </a:p>
          <a:p>
            <a:pPr/>
            <a:r>
              <a:rPr lang="en-US" dirty="0"/>
              <a:t>Arca’s agent runtime for long horizon financial services work is available at https://ai.engineer/nyc/2026/schedule?session=75bd85ed-b49d-41f6-98e1-7a22853c18ab.</a:t>
            </a:r>
          </a:p>
          <a:p>
            <a:pPr/>
            <a:endParaRPr lang="en-US" dirty="0"/>
          </a:p>
          <a:p>
            <a:pPr/>
            <a:r>
              <a:rPr lang="en-US" dirty="0"/>
              <a:t>Shipping like a startup, regulated like a bank is available at https://ai.engineer/nyc/2026/schedule?session=2a07765d-fe3a-48df-be0f-75c111dbee6a.</a:t>
            </a:r>
          </a:p>
          <a:p>
            <a:pPr/>
            <a:endParaRPr lang="en-US" dirty="0"/>
          </a:p>
          <a:p>
            <a:pPr/>
            <a:r>
              <a:rPr lang="en-US" dirty="0"/>
              <a:t>UBS · Innovation and AI is available at https://www.ubs.com/global/en/our-firm/what-we-do/technology/innovation-and-ai.html.</a:t>
            </a:r>
          </a:p>
          <a:p>
            <a:pPr/>
            <a:endParaRPr lang="en-US" dirty="0"/>
          </a:p>
          <a:p>
            <a:pPr/>
            <a:r>
              <a:rPr lang="en-US" dirty="0"/>
              <a:t>Asset-management strategy · Sid Pednekar · Everyone Has AI. Who Has the Advantage? is available at https://ai.engineer/nyc/2026/talks/sid-pednekar.</a:t>
            </a:r>
          </a:p>
          <a:p>
            <a:pPr/>
            <a:endParaRPr lang="en-US" dirty="0"/>
          </a:p>
          <a:p>
            <a:pPr/>
            <a:r>
              <a:rPr lang="en-US" dirty="0"/>
              <a:t>Failure study · New York Life affiliation · 1,368 AI Failures and What They Teach About Evals — Vishal Srivastava, New York Life &amp; Tanmay Sah is available at https://www.youtube.com/watch?v=mMw3arwQsL0.</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ai-engineer-conference-takeaways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ai-engineer-conference-takeaways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n-US">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n-US">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n-US">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2700" kern="1200" lang="en-US">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500" kern="1200" lang="en-US">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400" kern="1200" lang="en-US">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300" kern="1200" lang="en-US">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200" kern="1200" lang="en-US">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100" kern="1200" lang="en-US">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050" kern="1200" lang="en-US">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950" kern="1200" lang="en-US">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50" kern="1200" lang="en-US">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lang="en-US">
          <a:solidFill>
            <a:schemeClr val="tx1"/>
          </a:solidFill>
          <a:latin typeface="+mn-lt"/>
          <a:ea typeface="+mn-ea"/>
          <a:cs typeface="+mn-cs"/>
        </a:defRPr>
      </a:lvl9pPr>
    </p:bodyStyle>
    <p:otherStyle>
      <a:defPPr>
        <a:defRPr lang="en-US"/>
      </a:defPPr>
      <a:lvl1pPr marL="0" algn="l" defTabSz="457200" rtl="0" eaLnBrk="1" latinLnBrk="0" hangingPunct="1">
        <a:defRPr sz="1500" kern="1200" lang="en-US">
          <a:solidFill>
            <a:schemeClr val="tx1"/>
          </a:solidFill>
          <a:latin typeface="+mn-lt"/>
          <a:ea typeface="+mn-ea"/>
          <a:cs typeface="+mn-cs"/>
        </a:defRPr>
      </a:lvl1pPr>
      <a:lvl2pPr marL="457200" algn="l" defTabSz="457200" rtl="0" eaLnBrk="1" latinLnBrk="0" hangingPunct="1">
        <a:defRPr sz="1400" kern="1200" lang="en-US">
          <a:solidFill>
            <a:schemeClr val="tx1"/>
          </a:solidFill>
          <a:latin typeface="+mn-lt"/>
          <a:ea typeface="+mn-ea"/>
          <a:cs typeface="+mn-cs"/>
        </a:defRPr>
      </a:lvl2pPr>
      <a:lvl3pPr marL="914400" algn="l" defTabSz="457200" rtl="0" eaLnBrk="1" latinLnBrk="0" hangingPunct="1">
        <a:defRPr sz="1300" kern="1200" lang="en-US">
          <a:solidFill>
            <a:schemeClr val="tx1"/>
          </a:solidFill>
          <a:latin typeface="+mn-lt"/>
          <a:ea typeface="+mn-ea"/>
          <a:cs typeface="+mn-cs"/>
        </a:defRPr>
      </a:lvl3pPr>
      <a:lvl4pPr marL="1371600" algn="l" defTabSz="457200" rtl="0" eaLnBrk="1" latinLnBrk="0" hangingPunct="1">
        <a:defRPr sz="1200" kern="1200" lang="en-US">
          <a:solidFill>
            <a:schemeClr val="tx1"/>
          </a:solidFill>
          <a:latin typeface="+mn-lt"/>
          <a:ea typeface="+mn-ea"/>
          <a:cs typeface="+mn-cs"/>
        </a:defRPr>
      </a:lvl4pPr>
      <a:lvl5pPr marL="1828800" algn="l" defTabSz="457200" rtl="0" eaLnBrk="1" latinLnBrk="0" hangingPunct="1">
        <a:defRPr sz="1100" kern="1200" lang="en-US">
          <a:solidFill>
            <a:schemeClr val="tx1"/>
          </a:solidFill>
          <a:latin typeface="+mn-lt"/>
          <a:ea typeface="+mn-ea"/>
          <a:cs typeface="+mn-cs"/>
        </a:defRPr>
      </a:lvl5pPr>
      <a:lvl6pPr marL="2286000" algn="l" defTabSz="457200" rtl="0" eaLnBrk="1" latinLnBrk="0" hangingPunct="1">
        <a:defRPr sz="1050" kern="1200" lang="en-US">
          <a:solidFill>
            <a:schemeClr val="tx1"/>
          </a:solidFill>
          <a:latin typeface="+mn-lt"/>
          <a:ea typeface="+mn-ea"/>
          <a:cs typeface="+mn-cs"/>
        </a:defRPr>
      </a:lvl6pPr>
      <a:lvl7pPr marL="2743200" algn="l" defTabSz="457200" rtl="0" eaLnBrk="1" latinLnBrk="0" hangingPunct="1">
        <a:defRPr sz="950" kern="1200" lang="en-US">
          <a:solidFill>
            <a:schemeClr val="tx1"/>
          </a:solidFill>
          <a:latin typeface="+mn-lt"/>
          <a:ea typeface="+mn-ea"/>
          <a:cs typeface="+mn-cs"/>
        </a:defRPr>
      </a:lvl7pPr>
      <a:lvl8pPr marL="3200400" algn="l" defTabSz="457200" rtl="0" eaLnBrk="1" latinLnBrk="0" hangingPunct="1">
        <a:defRPr sz="850" kern="1200" lang="en-US">
          <a:solidFill>
            <a:schemeClr val="tx1"/>
          </a:solidFill>
          <a:latin typeface="+mn-lt"/>
          <a:ea typeface="+mn-ea"/>
          <a:cs typeface="+mn-cs"/>
        </a:defRPr>
      </a:lvl8pPr>
      <a:lvl9pPr marL="3657600" algn="l" defTabSz="457200" rtl="0" eaLnBrk="1" latinLnBrk="0" hangingPunct="1">
        <a:defRPr sz="800" kern="1200" lang="en-US">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ai.engineer/nyc/2026/talks/bridgewater" TargetMode="External"/>
  <Relationship Id="rId3" Type="http://schemas.openxmlformats.org/officeDocument/2006/relationships/hyperlink" Target="https://ai.engineer/nyc/2026/talks/range" TargetMode="External"/>
  <Relationship Id="rId4" Type="http://schemas.openxmlformats.org/officeDocument/2006/relationships/hyperlink" Target="https://ai.engineer/nyc/2026/talks/arca" TargetMode="External"/>
  <Relationship Id="rId5" Type="http://schemas.openxmlformats.org/officeDocument/2006/relationships/hyperlink" Target="https://ai.engineer/nyc/2026/talks/perpetual" TargetMode="External"/>
  <Relationship Id="rId6" Type="http://schemas.openxmlformats.org/officeDocument/2006/relationships/hyperlink" Target="https://ai.engineer/nyc/2026/talks/coatue" TargetMode="External"/>
  <Relationship Id="rId7" Type="http://schemas.openxmlformats.org/officeDocument/2006/relationships/hyperlink" Target="https://ai.engineer/nyc/2026/talks/blackstone-norm" TargetMode="External"/>
  <Relationship Id="rId8" Type="http://schemas.openxmlformats.org/officeDocument/2006/relationships/hyperlink" Target="https://ai.engineer/nyc/2026/talks/apollo-rowspace" TargetMode="External"/>
  <Relationship Id="rId9" Type="http://schemas.openxmlformats.org/officeDocument/2006/relationships/hyperlink" Target="https://ai.engineer/nyc/2026/talks/wells-fargo" TargetMode="External"/>
  <Relationship Id="rId10" Type="http://schemas.openxmlformats.org/officeDocument/2006/relationships/hyperlink" Target="https://ai.engineer/nyc/2026/talks/kepler-14" TargetMode="External"/>
  <Relationship Id="rId11" Type="http://schemas.openxmlformats.org/officeDocument/2006/relationships/hyperlink" Target="https://www.youtube.com/watch?v=dZgA6btnb_s" TargetMode="External"/>
  <Relationship Id="rId12" Type="http://schemas.openxmlformats.org/officeDocument/2006/relationships/hyperlink" Target="https://ai.engineer/nyc/2026/talks/southbridge" TargetMode="External"/>
  <Relationship Id="rId13" Type="http://schemas.openxmlformats.org/officeDocument/2006/relationships/hyperlink" Target="https://ai.engineer/nyc/2026/talks/citadel" TargetMode="External"/>
  <Relationship Id="rId14" Type="http://schemas.openxmlformats.org/officeDocument/2006/relationships/hyperlink" Target="https://ai.engineer/nyc/2026/talks/openai" TargetMode="External"/>
  <Relationship Id="rId15" Type="http://schemas.openxmlformats.org/officeDocument/2006/relationships/hyperlink" Target="https://ai.engineer/nyc/2026/talks/compound" TargetMode="External"/>
  <Relationship Id="rId16" Type="http://schemas.openxmlformats.org/officeDocument/2006/relationships/hyperlink" Target="https://ai.engineer/nyc/2026/talks/basis" TargetMode="External"/>
  <Relationship Id="rId17" Type="http://schemas.openxmlformats.org/officeDocument/2006/relationships/hyperlink" Target="https://dev.to/dailycontext/building-better-agents-through-end-to-end-evals-pgh" TargetMode="External"/>
  <Relationship Id="rId18" Type="http://schemas.openxmlformats.org/officeDocument/2006/relationships/hyperlink" Target="https://ai.engineer/nyc/2026/talks/ramp" TargetMode="External"/>
  <Relationship Id="rId19" Type="http://schemas.openxmlformats.org/officeDocument/2006/relationships/hyperlink" Target="https://ai.engineer/nyc/2026/talks/vals" TargetMode="External"/>
  <Relationship Id="rId20" Type="http://schemas.openxmlformats.org/officeDocument/2006/relationships/hyperlink" Target="https://www.youtube.com/watch?v=v5tm5EAzsAs" TargetMode="External"/>
  <Relationship Id="rId21" Type="http://schemas.openxmlformats.org/officeDocument/2006/relationships/hyperlink" Target="https://www.youtube.com/watch?v=c_SPW__jF9w" TargetMode="External"/>
  <Relationship Id="rId22" Type="http://schemas.openxmlformats.org/officeDocument/2006/relationships/hyperlink" Target="https://ai.engineer/nyc/2026/talks/coinbase" TargetMode="External"/>
  <Relationship Id="rId23" Type="http://schemas.openxmlformats.org/officeDocument/2006/relationships/hyperlink" Target="https://ai.engineer/nyc/2026/talks/two-sigma" TargetMode="External"/>
  <Relationship Id="rId24" Type="http://schemas.openxmlformats.org/officeDocument/2006/relationships/hyperlink" Target="https://ai.engineer/nyc/2026/talks/credit-karma" TargetMode="External"/>
  <Relationship Id="rId25" Type="http://schemas.openxmlformats.org/officeDocument/2006/relationships/hyperlink" Target="https://ai.engineer/nyc/2026/talks/bloomberg" TargetMode="External"/>
  <Relationship Id="rId26" Type="http://schemas.openxmlformats.org/officeDocument/2006/relationships/hyperlink" Target="https://ai.engineer/nyc/2026/talks/arize" TargetMode="External"/>
  <Relationship Id="rId27" Type="http://schemas.openxmlformats.org/officeDocument/2006/relationships/hyperlink" Target="https://ai.engineer/nyc/2026/talks/sonar" TargetMode="External"/>
  <Relationship Id="rId28" Type="http://schemas.openxmlformats.org/officeDocument/2006/relationships/hyperlink" Target="https://ai.engineer/nyc/2026/talks/capital-one" TargetMode="External"/>
  <Relationship Id="rId29" Type="http://schemas.openxmlformats.org/officeDocument/2006/relationships/hyperlink" Target="https://www.youtube.com/watch?v=kspZP5BgkEU" TargetMode="External"/>
  <Relationship Id="rId30" Type="http://schemas.openxmlformats.org/officeDocument/2006/relationships/hyperlink" Target="https://ai.engineer/nyc/2026/talks/jellyfish" TargetMode="External"/>
  <Relationship Id="rId31" Type="http://schemas.openxmlformats.org/officeDocument/2006/relationships/hyperlink" Target="https://www.youtube.com/watch?v=aVbRSIQO2dE" TargetMode="External"/>
  <Relationship Id="rId32" Type="http://schemas.openxmlformats.org/officeDocument/2006/relationships/notesSlide" Target="../notesSlides/notesSlide37.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5" name="cover"/>
          <p:cNvGrpSpPr/>
          <p:nvPr/>
        </p:nvGrpSpPr>
        <p:grpSpPr>
          <a:xfrm>
            <a:off x="438150" y="419100"/>
            <a:ext cx="6398362" cy="3288919"/>
            <a:chOff x="438150" y="419100"/>
            <a:chExt cx="6398362" cy="3288919"/>
          </a:xfrm>
        </p:grpSpPr>
        <p:sp>
          <p:nvSpPr>
            <p:cNvPr id="2" name="TextBox 2"/>
            <p:cNvSpPr txBox="1"/>
            <p:nvPr/>
          </p:nvSpPr>
          <p:spPr>
            <a:xfrm>
              <a:off x="451104" y="419100"/>
              <a:ext cx="4394265" cy="234696"/>
            </a:xfrm>
            <a:prstGeom prst="rect">
              <a:avLst/>
            </a:prstGeom>
            <a:noFill/>
            <a:ln>
              <a:noFill/>
            </a:ln>
          </p:spPr>
          <p:txBody>
            <a:bodyPr wrap="none" lIns="0" tIns="0" rIns="0" bIns="0" anchor="t" anchorCtr="0">
              <a:spAutoFit/>
            </a:bodyPr>
            <a:lstStyle/>
            <a:p>
              <a:pPr algn="l"/>
              <a:r>
                <a:rPr lang="en-US" sz="1200" dirty="0">
                  <a:solidFill>
                    <a:schemeClr val="accent3"/>
                  </a:solidFill>
                  <a:latin typeface="+mn-lt"/>
                  <a:ea typeface="+mn-ea"/>
                  <a:cs typeface="+mn-cs"/>
                </a:rPr>
                <a:t>AI ENGINEER NYC 2026 / CONFERENCE TAKEAWAYS</a:t>
              </a:r>
            </a:p>
          </p:txBody>
        </p:sp>
        <p:sp>
          <p:nvSpPr>
            <p:cNvPr id="3" name="TextBox 3"/>
            <p:cNvSpPr txBox="1"/>
            <p:nvPr/>
          </p:nvSpPr>
          <p:spPr>
            <a:xfrm>
              <a:off x="438150" y="1212850"/>
              <a:ext cx="5359298" cy="1676400"/>
            </a:xfrm>
            <a:prstGeom prst="rect">
              <a:avLst/>
            </a:prstGeom>
            <a:noFill/>
            <a:ln>
              <a:noFill/>
            </a:ln>
          </p:spPr>
          <p:txBody>
            <a:bodyPr wrap="none" lIns="0" tIns="0" rIns="0" bIns="0" anchor="t" anchorCtr="0">
              <a:spAutoFit/>
            </a:bodyPr>
            <a:lstStyle/>
            <a:p>
              <a:pPr algn="l">
                <a:lnSpc>
                  <a:spcPts val="5850"/>
                </a:lnSpc>
              </a:pPr>
              <a:r>
                <a:rPr lang="en-US" sz="4800" dirty="0">
                  <a:solidFill>
                    <a:srgbClr val="FFFDF7"/>
                  </a:solidFill>
                  <a:latin typeface="+mn-lt"/>
                  <a:ea typeface="+mn-ea"/>
                  <a:cs typeface="+mn-cs"/>
                </a:rPr>
                <a:t>From AI capability</a:t>
              </a:r>
              <a:br>
                <a:rPr lang="en-US" sz="4800" dirty="0">
                  <a:solidFill>
                    <a:srgbClr val="FFFDF7"/>
                  </a:solidFill>
                  <a:latin typeface="+mn-lt"/>
                  <a:ea typeface="+mn-ea"/>
                  <a:cs typeface="+mn-cs"/>
                </a:rPr>
              </a:br>
              <a:r>
                <a:rPr lang="en-US" sz="4800" dirty="0">
                  <a:solidFill>
                    <a:schemeClr val="accent3"/>
                  </a:solidFill>
                  <a:latin typeface="+mn-lt"/>
                  <a:ea typeface="+mn-ea"/>
                  <a:cs typeface="+mn-cs"/>
                </a:rPr>
                <a:t>to dependable work</a:t>
              </a:r>
            </a:p>
          </p:txBody>
        </p:sp>
        <p:sp>
          <p:nvSpPr>
            <p:cNvPr id="4" name="TextBox 4"/>
            <p:cNvSpPr txBox="1"/>
            <p:nvPr/>
          </p:nvSpPr>
          <p:spPr>
            <a:xfrm>
              <a:off x="448056" y="3032125"/>
              <a:ext cx="6388456" cy="675894"/>
            </a:xfrm>
            <a:prstGeom prst="rect">
              <a:avLst/>
            </a:prstGeom>
            <a:noFill/>
            <a:ln>
              <a:noFill/>
            </a:ln>
          </p:spPr>
          <p:txBody>
            <a:bodyPr wrap="none" lIns="0" tIns="0" rIns="0" bIns="0" anchor="t" anchorCtr="0">
              <a:spAutoFit/>
            </a:bodyPr>
            <a:lstStyle/>
            <a:p>
              <a:pPr algn="l">
                <a:lnSpc>
                  <a:spcPts val="2550"/>
                </a:lnSpc>
              </a:pPr>
              <a:r>
                <a:rPr lang="en-US" sz="1800" dirty="0">
                  <a:solidFill>
                    <a:srgbClr val="E7F0EA"/>
                  </a:solidFill>
                  <a:latin typeface="+mj-lt"/>
                  <a:ea typeface="+mj-ea"/>
                  <a:cs typeface="+mj-cs"/>
                </a:rPr>
                <a:t>Financial-services AI through company stories, practical methods</a:t>
              </a:r>
              <a:br>
                <a:rPr lang="en-US" sz="1800" dirty="0">
                  <a:solidFill>
                    <a:srgbClr val="E7F0EA"/>
                  </a:solidFill>
                  <a:latin typeface="+mj-lt"/>
                  <a:ea typeface="+mj-ea"/>
                  <a:cs typeface="+mj-cs"/>
                </a:rPr>
              </a:br>
              <a:r>
                <a:rPr lang="en-US" sz="1800" dirty="0">
                  <a:solidFill>
                    <a:srgbClr val="E7F0EA"/>
                  </a:solidFill>
                  <a:latin typeface="+mj-lt"/>
                  <a:ea typeface="+mj-ea"/>
                  <a:cs typeface="+mj-cs"/>
                </a:rPr>
                <a:t>and evidence worth questioning.</a:t>
              </a:r>
            </a:p>
          </p:txBody>
        </p:sp>
      </p:grpSp>
      <p:grpSp>
        <p:nvGrpSpPr>
          <p:cNvPr id="9" name="chapter-rail"/>
          <p:cNvGrpSpPr/>
          <p:nvPr/>
        </p:nvGrpSpPr>
        <p:grpSpPr>
          <a:xfrm>
            <a:off x="448818" y="4438650"/>
            <a:ext cx="11285982" cy="902970"/>
            <a:chOff x="448818" y="4438650"/>
            <a:chExt cx="11285982" cy="902970"/>
          </a:xfrm>
        </p:grpSpPr>
        <p:sp>
          <p:nvSpPr>
            <p:cNvPr id="6" name="Line 6"/>
            <p:cNvSpPr/>
            <p:nvPr/>
          </p:nvSpPr>
          <p:spPr>
            <a:xfrm>
              <a:off x="457200" y="4438650"/>
              <a:ext cx="11277600" cy="9525"/>
            </a:xfrm>
            <a:custGeom>
              <a:avLst/>
              <a:gdLst/>
              <a:ahLst/>
              <a:cxnLst/>
              <a:rect l="l" t="t" r="r" b="b"/>
              <a:pathLst>
                <a:path w="11277600" h="9525">
                  <a:moveTo>
                    <a:pt x="0" y="0"/>
                  </a:moveTo>
                  <a:lnTo>
                    <a:pt x="11277600" y="0"/>
                  </a:lnTo>
                </a:path>
              </a:pathLst>
            </a:custGeom>
            <a:noFill/>
            <a:ln w="9525">
              <a:solidFill>
                <a:srgbClr val="50616A"/>
              </a:solidFill>
            </a:ln>
          </p:spPr>
        </p:sp>
        <p:sp>
          <p:nvSpPr>
            <p:cNvPr id="7" name="TextBox 7"/>
            <p:cNvSpPr txBox="1"/>
            <p:nvPr/>
          </p:nvSpPr>
          <p:spPr>
            <a:xfrm>
              <a:off x="448818" y="4625975"/>
              <a:ext cx="7795702" cy="322707"/>
            </a:xfrm>
            <a:prstGeom prst="rect">
              <a:avLst/>
            </a:prstGeom>
            <a:noFill/>
            <a:ln>
              <a:noFill/>
            </a:ln>
          </p:spPr>
          <p:txBody>
            <a:bodyPr wrap="none" lIns="0" tIns="0" rIns="0" bIns="0" anchor="t" anchorCtr="0">
              <a:spAutoFit/>
            </a:bodyPr>
            <a:lstStyle/>
            <a:p>
              <a:pPr algn="l"/>
              <a:r>
                <a:rPr lang="en-US" sz="1650" dirty="0">
                  <a:solidFill>
                    <a:srgbClr val="FFFDF7"/>
                  </a:solidFill>
                  <a:latin typeface="+mn-lt"/>
                  <a:ea typeface="+mn-ea"/>
                  <a:cs typeface="+mn-cs"/>
                </a:rPr>
                <a:t>Strategy → Grounding → Evaluation → Reliable workflows → Engineer growth</a:t>
              </a:r>
            </a:p>
          </p:txBody>
        </p:sp>
        <p:sp>
          <p:nvSpPr>
            <p:cNvPr id="8" name="TextBox 8"/>
            <p:cNvSpPr txBox="1"/>
            <p:nvPr/>
          </p:nvSpPr>
          <p:spPr>
            <a:xfrm>
              <a:off x="449580" y="5048250"/>
              <a:ext cx="7530766" cy="293370"/>
            </a:xfrm>
            <a:prstGeom prst="rect">
              <a:avLst/>
            </a:prstGeom>
            <a:noFill/>
            <a:ln>
              <a:noFill/>
            </a:ln>
          </p:spPr>
          <p:txBody>
            <a:bodyPr wrap="none" lIns="0" tIns="0" rIns="0" bIns="0" anchor="t" anchorCtr="0">
              <a:spAutoFit/>
            </a:bodyPr>
            <a:lstStyle/>
            <a:p>
              <a:pPr algn="l"/>
              <a:r>
                <a:rPr lang="en-US" sz="1500" dirty="0">
                  <a:solidFill>
                    <a:srgbClr val="E7F0EA"/>
                  </a:solidFill>
                  <a:latin typeface="+mn-lt"/>
                  <a:ea typeface="+mn-ea"/>
                  <a:cs typeface="+mn-cs"/>
                </a:rPr>
                <a:t>One operating story: useful work, inspectable evidence and controlled improvement.</a:t>
              </a:r>
            </a:p>
          </p:txBody>
        </p:sp>
      </p:grpSp>
      <p:grpSp>
        <p:nvGrpSpPr>
          <p:cNvPr id="11" name="evidence-scope"/>
          <p:cNvGrpSpPr/>
          <p:nvPr/>
        </p:nvGrpSpPr>
        <p:grpSpPr>
          <a:xfrm>
            <a:off x="450342" y="5743575"/>
            <a:ext cx="7885603" cy="511683"/>
            <a:chOff x="450342" y="5743575"/>
            <a:chExt cx="7885603" cy="511683"/>
          </a:xfrm>
        </p:grpSpPr>
        <p:sp>
          <p:nvSpPr>
            <p:cNvPr id="10" name="TextBox 10"/>
            <p:cNvSpPr txBox="1"/>
            <p:nvPr/>
          </p:nvSpPr>
          <p:spPr>
            <a:xfrm>
              <a:off x="450342" y="5743575"/>
              <a:ext cx="7885603" cy="511683"/>
            </a:xfrm>
            <a:prstGeom prst="rect">
              <a:avLst/>
            </a:prstGeom>
            <a:noFill/>
            <a:ln>
              <a:noFill/>
            </a:ln>
          </p:spPr>
          <p:txBody>
            <a:bodyPr wrap="none" lIns="0" tIns="0" rIns="0" bIns="0" anchor="t" anchorCtr="0">
              <a:spAutoFit/>
            </a:bodyPr>
            <a:lstStyle/>
            <a:p>
              <a:pPr algn="l">
                <a:lnSpc>
                  <a:spcPts val="1950"/>
                </a:lnSpc>
              </a:pPr>
              <a:r>
                <a:rPr lang="en-US" sz="1350" dirty="0">
                  <a:solidFill>
                    <a:srgbClr val="E7F0EA"/>
                  </a:solidFill>
                  <a:latin typeface="+mn-lt"/>
                  <a:ea typeface="+mn-ea"/>
                  <a:cs typeface="+mn-cs"/>
                </a:rPr>
                <a:t>Research + attendee notes + released-source review • October 13–14, 2026 · Updated October 25</a:t>
              </a:r>
              <a:br>
                <a:rPr lang="en-US" sz="1350" dirty="0">
                  <a:solidFill>
                    <a:srgbClr val="E7F0EA"/>
                  </a:solidFill>
                  <a:latin typeface="+mn-lt"/>
                  <a:ea typeface="+mn-ea"/>
                  <a:cs typeface="+mn-cs"/>
                </a:rPr>
              </a:br>
              <a:r>
                <a:rPr lang="en-US" sz="1350" dirty="0">
                  <a:solidFill>
                    <a:srgbClr val="E7F0EA"/>
                  </a:solidFill>
                  <a:latin typeface="+mn-lt"/>
                  <a:ea typeface="+mn-ea"/>
                  <a:cs typeface="+mn-cs"/>
                </a:rPr>
                <a:t>Company accounts, program context, dated disclosures and our proposed methods retain distinct limits.</a:t>
              </a:r>
            </a:p>
          </p:txBody>
        </p:sp>
      </p:grpSp>
      <p:grpSp>
        <p:nvGrpSpPr>
          <p:cNvPr id="14" name="footer"/>
          <p:cNvGrpSpPr/>
          <p:nvPr/>
        </p:nvGrpSpPr>
        <p:grpSpPr>
          <a:xfrm>
            <a:off x="452438" y="6477000"/>
            <a:ext cx="11287124" cy="176212"/>
            <a:chOff x="452438" y="6477000"/>
            <a:chExt cx="11287124" cy="176212"/>
          </a:xfrm>
        </p:grpSpPr>
        <p:sp>
          <p:nvSpPr>
            <p:cNvPr id="12" name="TextBox 12"/>
            <p:cNvSpPr txBox="1"/>
            <p:nvPr/>
          </p:nvSpPr>
          <p:spPr>
            <a:xfrm>
              <a:off x="452438" y="6477000"/>
              <a:ext cx="6110504" cy="176212"/>
            </a:xfrm>
            <a:prstGeom prst="rect">
              <a:avLst/>
            </a:prstGeom>
            <a:noFill/>
            <a:ln>
              <a:noFill/>
            </a:ln>
          </p:spPr>
          <p:txBody>
            <a:bodyPr wrap="none" lIns="0" tIns="0" rIns="0" bIns="0" anchor="t" anchorCtr="0">
              <a:spAutoFit/>
            </a:bodyPr>
            <a:lstStyle/>
            <a:p>
              <a:pPr algn="l"/>
              <a:r>
                <a:rPr lang="en-US" sz="900" dirty="0">
                  <a:solidFill>
                    <a:srgbClr val="E7F0EA"/>
                  </a:solidFill>
                  <a:latin typeface="+mn-lt"/>
                  <a:ea typeface="+mn-ea"/>
                  <a:cs typeface="+mn-cs"/>
                </a:rPr>
                <a:t>For data scientists, AI engineers and technical leads • 40 minutes + discussion • Detailed slides + presenter notes</a:t>
              </a:r>
            </a:p>
          </p:txBody>
        </p:sp>
        <p:sp>
          <p:nvSpPr>
            <p:cNvPr id="13" name="TextBox 13"/>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rgbClr val="E7F0EA"/>
                  </a:solidFill>
                  <a:latin typeface="+mn-lt"/>
                  <a:ea typeface="+mn-ea"/>
                  <a:cs typeface="+mn-cs"/>
                </a:rPr>
                <a:t>01 / 37</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7600279" cy="1110107"/>
            <a:chOff x="443484" y="371475"/>
            <a:chExt cx="7600279" cy="1110107"/>
          </a:xfrm>
        </p:grpSpPr>
        <p:sp>
          <p:nvSpPr>
            <p:cNvPr id="2" name="TextBox 2"/>
            <p:cNvSpPr txBox="1"/>
            <p:nvPr/>
          </p:nvSpPr>
          <p:spPr>
            <a:xfrm>
              <a:off x="451104" y="371475"/>
              <a:ext cx="2430397"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THE OPERATING ARGUMENT</a:t>
              </a:r>
            </a:p>
          </p:txBody>
        </p:sp>
        <p:sp>
          <p:nvSpPr>
            <p:cNvPr id="3" name="TextBox 3"/>
            <p:cNvSpPr txBox="1"/>
            <p:nvPr/>
          </p:nvSpPr>
          <p:spPr>
            <a:xfrm>
              <a:off x="443484" y="603250"/>
              <a:ext cx="7600279"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Five disciplines make financial AI dependable</a:t>
              </a:r>
            </a:p>
          </p:txBody>
        </p:sp>
        <p:sp>
          <p:nvSpPr>
            <p:cNvPr id="4" name="TextBox 4"/>
            <p:cNvSpPr txBox="1"/>
            <p:nvPr/>
          </p:nvSpPr>
          <p:spPr>
            <a:xfrm>
              <a:off x="448818" y="1158875"/>
              <a:ext cx="5889095"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The model is one component of a complete, reviewable job.</a:t>
              </a:r>
            </a:p>
          </p:txBody>
        </p:sp>
      </p:grpSp>
      <p:grpSp>
        <p:nvGrpSpPr>
          <p:cNvPr id="26" name="five-chapters"/>
          <p:cNvGrpSpPr/>
          <p:nvPr/>
        </p:nvGrpSpPr>
        <p:grpSpPr>
          <a:xfrm>
            <a:off x="457200" y="1809750"/>
            <a:ext cx="11277600" cy="2152650"/>
            <a:chOff x="457200" y="1809750"/>
            <a:chExt cx="11277600" cy="2152650"/>
          </a:xfrm>
        </p:grpSpPr>
        <p:grpSp>
          <p:nvGrpSpPr>
            <p:cNvPr id="9" name="Group 9"/>
            <p:cNvGrpSpPr/>
            <p:nvPr/>
          </p:nvGrpSpPr>
          <p:grpSpPr>
            <a:xfrm>
              <a:off x="457200" y="1809750"/>
              <a:ext cx="2009775" cy="2152650"/>
              <a:chOff x="457200" y="1809750"/>
              <a:chExt cx="2009775" cy="2152650"/>
            </a:xfrm>
          </p:grpSpPr>
          <p:sp>
            <p:nvSpPr>
              <p:cNvPr id="6" name="Rectangle 6"/>
              <p:cNvSpPr/>
              <p:nvPr/>
            </p:nvSpPr>
            <p:spPr>
              <a:xfrm>
                <a:off x="457200" y="1809750"/>
                <a:ext cx="2009775" cy="2152650"/>
              </a:xfrm>
              <a:prstGeom prst="rect">
                <a:avLst/>
              </a:prstGeom>
              <a:solidFill>
                <a:schemeClr val="lt2"/>
              </a:solidFill>
              <a:ln>
                <a:noFill/>
              </a:ln>
            </p:spPr>
          </p:sp>
          <p:sp>
            <p:nvSpPr>
              <p:cNvPr id="7" name="TextBox 7"/>
              <p:cNvSpPr txBox="1"/>
              <p:nvPr/>
            </p:nvSpPr>
            <p:spPr>
              <a:xfrm>
                <a:off x="638556" y="1962150"/>
                <a:ext cx="149010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01 / Strategy</a:t>
                </a:r>
              </a:p>
            </p:txBody>
          </p:sp>
          <p:sp>
            <p:nvSpPr>
              <p:cNvPr id="8" name="TextBox 8"/>
              <p:cNvSpPr txBox="1"/>
              <p:nvPr/>
            </p:nvSpPr>
            <p:spPr>
              <a:xfrm>
                <a:off x="640080" y="2482850"/>
                <a:ext cx="1328547"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Define valuable</a:t>
                </a:r>
                <a:br>
                  <a:rPr lang="en-US" sz="1500" dirty="0">
                    <a:solidFill>
                      <a:schemeClr val="dk1"/>
                    </a:solidFill>
                    <a:latin typeface="+mn-lt"/>
                    <a:ea typeface="+mn-ea"/>
                    <a:cs typeface="+mn-cs"/>
                  </a:rPr>
                </a:br>
                <a:r>
                  <a:rPr lang="en-US" sz="1500" dirty="0">
                    <a:solidFill>
                      <a:schemeClr val="dk1"/>
                    </a:solidFill>
                    <a:latin typeface="+mn-lt"/>
                    <a:ea typeface="+mn-ea"/>
                    <a:cs typeface="+mn-cs"/>
                  </a:rPr>
                  <a:t>accepted work</a:t>
                </a:r>
                <a:br>
                  <a:rPr lang="en-US" sz="1500" dirty="0">
                    <a:solidFill>
                      <a:schemeClr val="dk1"/>
                    </a:solidFill>
                    <a:latin typeface="+mn-lt"/>
                    <a:ea typeface="+mn-ea"/>
                    <a:cs typeface="+mn-cs"/>
                  </a:rPr>
                </a:br>
                <a:r>
                  <a:rPr lang="en-US" sz="1500" dirty="0">
                    <a:solidFill>
                      <a:schemeClr val="dk1"/>
                    </a:solidFill>
                    <a:latin typeface="+mn-lt"/>
                    <a:ea typeface="+mn-ea"/>
                    <a:cs typeface="+mn-cs"/>
                  </a:rPr>
                  <a:t>and credible</a:t>
                </a:r>
                <a:br>
                  <a:rPr lang="en-US" sz="1500" dirty="0">
                    <a:solidFill>
                      <a:schemeClr val="dk1"/>
                    </a:solidFill>
                    <a:latin typeface="+mn-lt"/>
                    <a:ea typeface="+mn-ea"/>
                    <a:cs typeface="+mn-cs"/>
                  </a:rPr>
                </a:br>
                <a:r>
                  <a:rPr lang="en-US" sz="1500" dirty="0">
                    <a:solidFill>
                      <a:schemeClr val="dk1"/>
                    </a:solidFill>
                    <a:latin typeface="+mn-lt"/>
                    <a:ea typeface="+mn-ea"/>
                    <a:cs typeface="+mn-cs"/>
                  </a:rPr>
                  <a:t>economics.</a:t>
                </a:r>
              </a:p>
            </p:txBody>
          </p:sp>
        </p:grpSp>
        <p:grpSp>
          <p:nvGrpSpPr>
            <p:cNvPr id="13" name="Group 13"/>
            <p:cNvGrpSpPr/>
            <p:nvPr/>
          </p:nvGrpSpPr>
          <p:grpSpPr>
            <a:xfrm>
              <a:off x="2771775" y="1809750"/>
              <a:ext cx="2009775" cy="2152650"/>
              <a:chOff x="2771775" y="1809750"/>
              <a:chExt cx="2009775" cy="2152650"/>
            </a:xfrm>
          </p:grpSpPr>
          <p:sp>
            <p:nvSpPr>
              <p:cNvPr id="10" name="Rectangle 10"/>
              <p:cNvSpPr/>
              <p:nvPr/>
            </p:nvSpPr>
            <p:spPr>
              <a:xfrm>
                <a:off x="2771775" y="1809750"/>
                <a:ext cx="2009775" cy="2152650"/>
              </a:xfrm>
              <a:prstGeom prst="rect">
                <a:avLst/>
              </a:prstGeom>
              <a:solidFill>
                <a:schemeClr val="lt2"/>
              </a:solidFill>
              <a:ln>
                <a:noFill/>
              </a:ln>
            </p:spPr>
          </p:sp>
          <p:sp>
            <p:nvSpPr>
              <p:cNvPr id="11" name="TextBox 11"/>
              <p:cNvSpPr txBox="1"/>
              <p:nvPr/>
            </p:nvSpPr>
            <p:spPr>
              <a:xfrm>
                <a:off x="2953131" y="1962150"/>
                <a:ext cx="174526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02 / Grounding</a:t>
                </a:r>
              </a:p>
            </p:txBody>
          </p:sp>
          <p:sp>
            <p:nvSpPr>
              <p:cNvPr id="12" name="TextBox 12"/>
              <p:cNvSpPr txBox="1"/>
              <p:nvPr/>
            </p:nvSpPr>
            <p:spPr>
              <a:xfrm>
                <a:off x="2954655" y="2482850"/>
                <a:ext cx="1645996"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Preserve 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meaning, time,</a:t>
                </a:r>
                <a:br>
                  <a:rPr lang="en-US" sz="1500" dirty="0">
                    <a:solidFill>
                      <a:schemeClr val="dk1"/>
                    </a:solidFill>
                    <a:latin typeface="+mn-lt"/>
                    <a:ea typeface="+mn-ea"/>
                    <a:cs typeface="+mn-cs"/>
                  </a:rPr>
                </a:br>
                <a:r>
                  <a:rPr lang="en-US" sz="1500" dirty="0">
                    <a:solidFill>
                      <a:schemeClr val="dk1"/>
                    </a:solidFill>
                    <a:latin typeface="+mn-lt"/>
                    <a:ea typeface="+mn-ea"/>
                    <a:cs typeface="+mn-cs"/>
                  </a:rPr>
                  <a:t>source versions</a:t>
                </a:r>
                <a:br>
                  <a:rPr lang="en-US" sz="1500" dirty="0">
                    <a:solidFill>
                      <a:schemeClr val="dk1"/>
                    </a:solidFill>
                    <a:latin typeface="+mn-lt"/>
                    <a:ea typeface="+mn-ea"/>
                    <a:cs typeface="+mn-cs"/>
                  </a:rPr>
                </a:br>
                <a:r>
                  <a:rPr lang="en-US" sz="1500" dirty="0">
                    <a:solidFill>
                      <a:schemeClr val="dk1"/>
                    </a:solidFill>
                    <a:latin typeface="+mn-lt"/>
                    <a:ea typeface="+mn-ea"/>
                    <a:cs typeface="+mn-cs"/>
                  </a:rPr>
                  <a:t>and access.</a:t>
                </a:r>
              </a:p>
            </p:txBody>
          </p:sp>
        </p:grpSp>
        <p:grpSp>
          <p:nvGrpSpPr>
            <p:cNvPr id="17" name="Group 17"/>
            <p:cNvGrpSpPr/>
            <p:nvPr/>
          </p:nvGrpSpPr>
          <p:grpSpPr>
            <a:xfrm>
              <a:off x="5086350" y="1809750"/>
              <a:ext cx="2009775" cy="2152650"/>
              <a:chOff x="5086350" y="1809750"/>
              <a:chExt cx="2009775" cy="2152650"/>
            </a:xfrm>
          </p:grpSpPr>
          <p:sp>
            <p:nvSpPr>
              <p:cNvPr id="14" name="Rectangle 14"/>
              <p:cNvSpPr/>
              <p:nvPr/>
            </p:nvSpPr>
            <p:spPr>
              <a:xfrm>
                <a:off x="5086350" y="1809750"/>
                <a:ext cx="2009775" cy="2152650"/>
              </a:xfrm>
              <a:prstGeom prst="rect">
                <a:avLst/>
              </a:prstGeom>
              <a:solidFill>
                <a:schemeClr val="lt2"/>
              </a:solidFill>
              <a:ln>
                <a:noFill/>
              </a:ln>
            </p:spPr>
          </p:sp>
          <p:sp>
            <p:nvSpPr>
              <p:cNvPr id="15" name="TextBox 15"/>
              <p:cNvSpPr txBox="1"/>
              <p:nvPr/>
            </p:nvSpPr>
            <p:spPr>
              <a:xfrm>
                <a:off x="5267706" y="1962150"/>
                <a:ext cx="175022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03 / Evaluation</a:t>
                </a:r>
              </a:p>
            </p:txBody>
          </p:sp>
          <p:sp>
            <p:nvSpPr>
              <p:cNvPr id="16" name="TextBox 16"/>
              <p:cNvSpPr txBox="1"/>
              <p:nvPr/>
            </p:nvSpPr>
            <p:spPr>
              <a:xfrm>
                <a:off x="5269230" y="2482850"/>
                <a:ext cx="1529410"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Test the complete</a:t>
                </a:r>
                <a:br>
                  <a:rPr lang="en-US" sz="1500" dirty="0">
                    <a:solidFill>
                      <a:schemeClr val="dk1"/>
                    </a:solidFill>
                    <a:latin typeface="+mn-lt"/>
                    <a:ea typeface="+mn-ea"/>
                    <a:cs typeface="+mn-cs"/>
                  </a:rPr>
                </a:br>
                <a:r>
                  <a:rPr lang="en-US" sz="1500" dirty="0">
                    <a:solidFill>
                      <a:schemeClr val="dk1"/>
                    </a:solidFill>
                    <a:latin typeface="+mn-lt"/>
                    <a:ea typeface="+mn-ea"/>
                    <a:cs typeface="+mn-cs"/>
                  </a:rPr>
                  <a:t>task, judge,</a:t>
                </a:r>
                <a:br>
                  <a:rPr lang="en-US" sz="1500" dirty="0">
                    <a:solidFill>
                      <a:schemeClr val="dk1"/>
                    </a:solidFill>
                    <a:latin typeface="+mn-lt"/>
                    <a:ea typeface="+mn-ea"/>
                    <a:cs typeface="+mn-cs"/>
                  </a:rPr>
                </a:br>
                <a:r>
                  <a:rPr lang="en-US" sz="1500" dirty="0">
                    <a:solidFill>
                      <a:schemeClr val="dk1"/>
                    </a:solidFill>
                    <a:latin typeface="+mn-lt"/>
                    <a:ea typeface="+mn-ea"/>
                    <a:cs typeface="+mn-cs"/>
                  </a:rPr>
                  <a:t>selection policy</a:t>
                </a:r>
                <a:br>
                  <a:rPr lang="en-US" sz="1500" dirty="0">
                    <a:solidFill>
                      <a:schemeClr val="dk1"/>
                    </a:solidFill>
                    <a:latin typeface="+mn-lt"/>
                    <a:ea typeface="+mn-ea"/>
                    <a:cs typeface="+mn-cs"/>
                  </a:rPr>
                </a:br>
                <a:r>
                  <a:rPr lang="en-US" sz="1500" dirty="0">
                    <a:solidFill>
                      <a:schemeClr val="dk1"/>
                    </a:solidFill>
                    <a:latin typeface="+mn-lt"/>
                    <a:ea typeface="+mn-ea"/>
                    <a:cs typeface="+mn-cs"/>
                  </a:rPr>
                  <a:t>and release.</a:t>
                </a:r>
              </a:p>
            </p:txBody>
          </p:sp>
        </p:grpSp>
        <p:grpSp>
          <p:nvGrpSpPr>
            <p:cNvPr id="21" name="Group 21"/>
            <p:cNvGrpSpPr/>
            <p:nvPr/>
          </p:nvGrpSpPr>
          <p:grpSpPr>
            <a:xfrm>
              <a:off x="7400925" y="1809750"/>
              <a:ext cx="2009775" cy="2152650"/>
              <a:chOff x="7400925" y="1809750"/>
              <a:chExt cx="2009775" cy="2152650"/>
            </a:xfrm>
          </p:grpSpPr>
          <p:sp>
            <p:nvSpPr>
              <p:cNvPr id="18" name="Rectangle 18"/>
              <p:cNvSpPr/>
              <p:nvPr/>
            </p:nvSpPr>
            <p:spPr>
              <a:xfrm>
                <a:off x="7400925" y="1809750"/>
                <a:ext cx="2009775" cy="2152650"/>
              </a:xfrm>
              <a:prstGeom prst="rect">
                <a:avLst/>
              </a:prstGeom>
              <a:solidFill>
                <a:schemeClr val="lt2"/>
              </a:solidFill>
              <a:ln>
                <a:noFill/>
              </a:ln>
            </p:spPr>
          </p:sp>
          <p:sp>
            <p:nvSpPr>
              <p:cNvPr id="19" name="TextBox 19"/>
              <p:cNvSpPr txBox="1"/>
              <p:nvPr/>
            </p:nvSpPr>
            <p:spPr>
              <a:xfrm>
                <a:off x="7582281" y="1962150"/>
                <a:ext cx="1784323"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04 / Workflows</a:t>
                </a:r>
              </a:p>
            </p:txBody>
          </p:sp>
          <p:sp>
            <p:nvSpPr>
              <p:cNvPr id="20" name="TextBox 20"/>
              <p:cNvSpPr txBox="1"/>
              <p:nvPr/>
            </p:nvSpPr>
            <p:spPr>
              <a:xfrm>
                <a:off x="7583805" y="2482850"/>
                <a:ext cx="1677924"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Encode methods,</a:t>
                </a:r>
                <a:br>
                  <a:rPr lang="en-US" sz="1500" dirty="0">
                    <a:solidFill>
                      <a:schemeClr val="dk1"/>
                    </a:solidFill>
                    <a:latin typeface="+mn-lt"/>
                    <a:ea typeface="+mn-ea"/>
                    <a:cs typeface="+mn-cs"/>
                  </a:rPr>
                </a:br>
                <a:r>
                  <a:rPr lang="en-US" sz="1500" dirty="0">
                    <a:solidFill>
                      <a:schemeClr val="dk1"/>
                    </a:solidFill>
                    <a:latin typeface="+mn-lt"/>
                    <a:ea typeface="+mn-ea"/>
                    <a:cs typeface="+mn-cs"/>
                  </a:rPr>
                  <a:t>enforce authority</a:t>
                </a:r>
                <a:br>
                  <a:rPr lang="en-US" sz="1500" dirty="0">
                    <a:solidFill>
                      <a:schemeClr val="dk1"/>
                    </a:solidFill>
                    <a:latin typeface="+mn-lt"/>
                    <a:ea typeface="+mn-ea"/>
                    <a:cs typeface="+mn-cs"/>
                  </a:rPr>
                </a:br>
                <a:r>
                  <a:rPr lang="en-US" sz="1500" dirty="0">
                    <a:solidFill>
                      <a:schemeClr val="dk1"/>
                    </a:solidFill>
                    <a:latin typeface="+mn-lt"/>
                    <a:ea typeface="+mn-ea"/>
                    <a:cs typeface="+mn-cs"/>
                  </a:rPr>
                  <a:t>and verify at</a:t>
                </a:r>
                <a:br>
                  <a:rPr lang="en-US" sz="1500" dirty="0">
                    <a:solidFill>
                      <a:schemeClr val="dk1"/>
                    </a:solidFill>
                    <a:latin typeface="+mn-lt"/>
                    <a:ea typeface="+mn-ea"/>
                    <a:cs typeface="+mn-cs"/>
                  </a:rPr>
                </a:br>
                <a:r>
                  <a:rPr lang="en-US" sz="1500" dirty="0">
                    <a:solidFill>
                      <a:schemeClr val="dk1"/>
                    </a:solidFill>
                    <a:latin typeface="+mn-lt"/>
                    <a:ea typeface="+mn-ea"/>
                    <a:cs typeface="+mn-cs"/>
                  </a:rPr>
                  <a:t>several boundaries.</a:t>
                </a:r>
              </a:p>
            </p:txBody>
          </p:sp>
        </p:grpSp>
        <p:grpSp>
          <p:nvGrpSpPr>
            <p:cNvPr id="25" name="Group 25"/>
            <p:cNvGrpSpPr/>
            <p:nvPr/>
          </p:nvGrpSpPr>
          <p:grpSpPr>
            <a:xfrm>
              <a:off x="9715500" y="1809750"/>
              <a:ext cx="2019300" cy="2152650"/>
              <a:chOff x="9715500" y="1809750"/>
              <a:chExt cx="2019300" cy="2152650"/>
            </a:xfrm>
          </p:grpSpPr>
          <p:sp>
            <p:nvSpPr>
              <p:cNvPr id="22" name="Rectangle 22"/>
              <p:cNvSpPr/>
              <p:nvPr/>
            </p:nvSpPr>
            <p:spPr>
              <a:xfrm>
                <a:off x="9715500" y="1809750"/>
                <a:ext cx="2019300" cy="2152650"/>
              </a:xfrm>
              <a:prstGeom prst="rect">
                <a:avLst/>
              </a:prstGeom>
              <a:solidFill>
                <a:schemeClr val="accent1"/>
              </a:solidFill>
              <a:ln>
                <a:noFill/>
              </a:ln>
            </p:spPr>
          </p:sp>
          <p:sp>
            <p:nvSpPr>
              <p:cNvPr id="23" name="TextBox 23"/>
              <p:cNvSpPr txBox="1"/>
              <p:nvPr/>
            </p:nvSpPr>
            <p:spPr>
              <a:xfrm>
                <a:off x="9896856" y="1962150"/>
                <a:ext cx="1412530"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05 / Growth</a:t>
                </a:r>
              </a:p>
            </p:txBody>
          </p:sp>
          <p:sp>
            <p:nvSpPr>
              <p:cNvPr id="24" name="TextBox 24"/>
              <p:cNvSpPr txBox="1"/>
              <p:nvPr/>
            </p:nvSpPr>
            <p:spPr>
              <a:xfrm>
                <a:off x="9898380" y="2482850"/>
                <a:ext cx="1296505" cy="1093470"/>
              </a:xfrm>
              <a:prstGeom prst="rect">
                <a:avLst/>
              </a:prstGeom>
              <a:noFill/>
              <a:ln>
                <a:noFill/>
              </a:ln>
            </p:spPr>
            <p:txBody>
              <a:bodyPr wrap="none" lIns="0" tIns="0" rIns="0" bIns="0" anchor="t" anchorCtr="0">
                <a:spAutoFit/>
              </a:bodyPr>
              <a:lstStyle/>
              <a:p>
                <a:pPr algn="l">
                  <a:lnSpc>
                    <a:spcPts val="2100"/>
                  </a:lnSpc>
                </a:pPr>
                <a:r>
                  <a:rPr lang="en-US" sz="1500" dirty="0">
                    <a:solidFill>
                      <a:srgbClr val="FFFDF7"/>
                    </a:solidFill>
                    <a:latin typeface="+mn-lt"/>
                    <a:ea typeface="+mn-ea"/>
                    <a:cs typeface="+mn-cs"/>
                  </a:rPr>
                  <a:t>Own the loop</a:t>
                </a:r>
                <a:br>
                  <a:rPr lang="en-US" sz="1500" dirty="0">
                    <a:solidFill>
                      <a:srgbClr val="FFFDF7"/>
                    </a:solidFill>
                    <a:latin typeface="+mn-lt"/>
                    <a:ea typeface="+mn-ea"/>
                    <a:cs typeface="+mn-cs"/>
                  </a:rPr>
                </a:br>
                <a:r>
                  <a:rPr lang="en-US" sz="1500" dirty="0">
                    <a:solidFill>
                      <a:srgbClr val="FFFDF7"/>
                    </a:solidFill>
                    <a:latin typeface="+mn-lt"/>
                    <a:ea typeface="+mn-ea"/>
                    <a:cs typeface="+mn-cs"/>
                  </a:rPr>
                  <a:t>from user need</a:t>
                </a:r>
                <a:br>
                  <a:rPr lang="en-US" sz="1500" dirty="0">
                    <a:solidFill>
                      <a:srgbClr val="FFFDF7"/>
                    </a:solidFill>
                    <a:latin typeface="+mn-lt"/>
                    <a:ea typeface="+mn-ea"/>
                    <a:cs typeface="+mn-cs"/>
                  </a:rPr>
                </a:br>
                <a:r>
                  <a:rPr lang="en-US" sz="1500" dirty="0">
                    <a:solidFill>
                      <a:srgbClr val="FFFDF7"/>
                    </a:solidFill>
                    <a:latin typeface="+mn-lt"/>
                    <a:ea typeface="+mn-ea"/>
                    <a:cs typeface="+mn-cs"/>
                  </a:rPr>
                  <a:t>to verified</a:t>
                </a:r>
                <a:br>
                  <a:rPr lang="en-US" sz="1500" dirty="0">
                    <a:solidFill>
                      <a:srgbClr val="FFFDF7"/>
                    </a:solidFill>
                    <a:latin typeface="+mn-lt"/>
                    <a:ea typeface="+mn-ea"/>
                    <a:cs typeface="+mn-cs"/>
                  </a:rPr>
                </a:br>
                <a:r>
                  <a:rPr lang="en-US" sz="1500" dirty="0">
                    <a:solidFill>
                      <a:srgbClr val="FFFDF7"/>
                    </a:solidFill>
                    <a:latin typeface="+mn-lt"/>
                    <a:ea typeface="+mn-ea"/>
                    <a:cs typeface="+mn-cs"/>
                  </a:rPr>
                  <a:t>improvement.</a:t>
                </a:r>
              </a:p>
            </p:txBody>
          </p:sp>
        </p:grpSp>
      </p:grpSp>
      <p:grpSp>
        <p:nvGrpSpPr>
          <p:cNvPr id="29" name="connected-method"/>
          <p:cNvGrpSpPr/>
          <p:nvPr/>
        </p:nvGrpSpPr>
        <p:grpSpPr>
          <a:xfrm>
            <a:off x="449580" y="4368800"/>
            <a:ext cx="9133103" cy="1360170"/>
            <a:chOff x="449580" y="4368800"/>
            <a:chExt cx="9133103" cy="1360170"/>
          </a:xfrm>
        </p:grpSpPr>
        <p:sp>
          <p:nvSpPr>
            <p:cNvPr id="27" name="TextBox 27"/>
            <p:cNvSpPr txBox="1"/>
            <p:nvPr/>
          </p:nvSpPr>
          <p:spPr>
            <a:xfrm>
              <a:off x="449580" y="4368800"/>
              <a:ext cx="8857755"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Start with the bottleneck: Bridgewater’s relevant evidence, Range’s expert planning or wealth preparation</a:t>
              </a:r>
              <a:br>
                <a:rPr lang="en-US" sz="1500" dirty="0">
                  <a:solidFill>
                    <a:schemeClr val="dk1"/>
                  </a:solidFill>
                  <a:latin typeface="+mn-lt"/>
                  <a:ea typeface="+mn-ea"/>
                  <a:cs typeface="+mn-cs"/>
                </a:rPr>
              </a:br>
              <a:r>
                <a:rPr lang="en-US" sz="1500" dirty="0">
                  <a:solidFill>
                    <a:schemeClr val="dk1"/>
                  </a:solidFill>
                  <a:latin typeface="+mn-lt"/>
                  <a:ea typeface="+mn-ea"/>
                  <a:cs typeface="+mn-cs"/>
                </a:rPr>
                <a:t>and follow-through. Name the accepted output and scarce resource before choosing tools.</a:t>
              </a:r>
            </a:p>
          </p:txBody>
        </p:sp>
        <p:sp>
          <p:nvSpPr>
            <p:cNvPr id="28" name="TextBox 28"/>
            <p:cNvSpPr txBox="1"/>
            <p:nvPr/>
          </p:nvSpPr>
          <p:spPr>
            <a:xfrm>
              <a:off x="449580" y="5168900"/>
              <a:ext cx="9133103"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Then trace sources, definitions, access, actions and corrections through the delivered artifact.</a:t>
              </a:r>
              <a:br>
                <a:rPr lang="en-US" sz="1500" dirty="0">
                  <a:solidFill>
                    <a:schemeClr val="dk1"/>
                  </a:solidFill>
                  <a:latin typeface="+mn-lt"/>
                  <a:ea typeface="+mn-ea"/>
                  <a:cs typeface="+mn-cs"/>
                </a:rPr>
              </a:br>
              <a:r>
                <a:rPr lang="en-US" sz="1500" dirty="0">
                  <a:solidFill>
                    <a:schemeClr val="dk1"/>
                  </a:solidFill>
                  <a:latin typeface="+mn-lt"/>
                  <a:ea typeface="+mn-ea"/>
                  <a:cs typeface="+mn-cs"/>
                </a:rPr>
                <a:t>Ramp’s ablations and Arize’s trace analysis motivate one bounded comparison: change, assess and decide.</a:t>
              </a:r>
            </a:p>
          </p:txBody>
        </p:sp>
      </p:grpSp>
      <p:grpSp>
        <p:nvGrpSpPr>
          <p:cNvPr id="32" name="footer"/>
          <p:cNvGrpSpPr/>
          <p:nvPr/>
        </p:nvGrpSpPr>
        <p:grpSpPr>
          <a:xfrm>
            <a:off x="452438" y="6429375"/>
            <a:ext cx="11287124" cy="176212"/>
            <a:chOff x="452438" y="6429375"/>
            <a:chExt cx="11287124" cy="176212"/>
          </a:xfrm>
        </p:grpSpPr>
        <p:sp>
          <p:nvSpPr>
            <p:cNvPr id="30" name="TextBox 30"/>
            <p:cNvSpPr txBox="1"/>
            <p:nvPr/>
          </p:nvSpPr>
          <p:spPr>
            <a:xfrm>
              <a:off x="452438" y="6429375"/>
              <a:ext cx="592325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Our synthesis of conference mechanisms. A model choice or benchmark does not resolve the whole workflow.</a:t>
              </a:r>
            </a:p>
          </p:txBody>
        </p:sp>
        <p:sp>
          <p:nvSpPr>
            <p:cNvPr id="31" name="TextBox 31"/>
            <p:cNvSpPr txBox="1"/>
            <p:nvPr/>
          </p:nvSpPr>
          <p:spPr>
            <a:xfrm>
              <a:off x="11359512" y="642937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02 / 37</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038448" cy="1364107"/>
            <a:chOff x="443484" y="361950"/>
            <a:chExt cx="9038448" cy="1364107"/>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8584902"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Reconcile inputs before preparing the work product</a:t>
              </a:r>
            </a:p>
          </p:txBody>
        </p:sp>
        <p:sp>
          <p:nvSpPr>
            <p:cNvPr id="4" name="TextBox 4"/>
            <p:cNvSpPr txBox="1"/>
            <p:nvPr/>
          </p:nvSpPr>
          <p:spPr>
            <a:xfrm>
              <a:off x="448818" y="1127125"/>
              <a:ext cx="9033114"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Apollo / Redding Ridge: learn source precedence, prepare a portfolio, preserve PM judgment and</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recurring QA.</a:t>
              </a:r>
            </a:p>
          </p:txBody>
        </p:sp>
      </p:grpSp>
      <p:grpSp>
        <p:nvGrpSpPr>
          <p:cNvPr id="9" name="source-adjudication"/>
          <p:cNvGrpSpPr/>
          <p:nvPr/>
        </p:nvGrpSpPr>
        <p:grpSpPr>
          <a:xfrm>
            <a:off x="457200" y="1752600"/>
            <a:ext cx="3619500" cy="1562100"/>
            <a:chOff x="457200" y="1752600"/>
            <a:chExt cx="3619500" cy="1562100"/>
          </a:xfrm>
        </p:grpSpPr>
        <p:sp>
          <p:nvSpPr>
            <p:cNvPr id="6" name="Rectangle 6"/>
            <p:cNvSpPr/>
            <p:nvPr/>
          </p:nvSpPr>
          <p:spPr>
            <a:xfrm>
              <a:off x="457200" y="1752600"/>
              <a:ext cx="3619500" cy="1562100"/>
            </a:xfrm>
            <a:prstGeom prst="rect">
              <a:avLst/>
            </a:prstGeom>
            <a:solidFill>
              <a:schemeClr val="lt2"/>
            </a:solidFill>
            <a:ln>
              <a:noFill/>
            </a:ln>
          </p:spPr>
        </p:sp>
        <p:sp>
          <p:nvSpPr>
            <p:cNvPr id="7" name="TextBox 7"/>
            <p:cNvSpPr txBox="1"/>
            <p:nvPr/>
          </p:nvSpPr>
          <p:spPr>
            <a:xfrm>
              <a:off x="621030" y="1838325"/>
              <a:ext cx="2850108"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01 / Resolve conflicting feeds</a:t>
              </a:r>
            </a:p>
          </p:txBody>
        </p:sp>
        <p:sp>
          <p:nvSpPr>
            <p:cNvPr id="8" name="TextBox 8"/>
            <p:cNvSpPr txBox="1"/>
            <p:nvPr/>
          </p:nvSpPr>
          <p:spPr>
            <a:xfrm>
              <a:off x="621030" y="2228850"/>
              <a:ext cx="2704529"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Which source governs this task,</a:t>
              </a:r>
              <a:br>
                <a:rPr lang="en-US" sz="1500" dirty="0">
                  <a:solidFill>
                    <a:schemeClr val="dk1"/>
                  </a:solidFill>
                  <a:latin typeface="+mn-lt"/>
                  <a:ea typeface="+mn-ea"/>
                  <a:cs typeface="+mn-cs"/>
                </a:rPr>
              </a:br>
              <a:r>
                <a:rPr lang="en-US" sz="1500" dirty="0">
                  <a:solidFill>
                    <a:schemeClr val="dk1"/>
                  </a:solidFill>
                  <a:latin typeface="+mn-lt"/>
                  <a:ea typeface="+mn-ea"/>
                  <a:cs typeface="+mn-cs"/>
                </a:rPr>
                <a:t>and why?</a:t>
              </a:r>
            </a:p>
          </p:txBody>
        </p:sp>
      </p:grpSp>
      <p:grpSp>
        <p:nvGrpSpPr>
          <p:cNvPr id="13" name="portfolio-draft"/>
          <p:cNvGrpSpPr/>
          <p:nvPr/>
        </p:nvGrpSpPr>
        <p:grpSpPr>
          <a:xfrm>
            <a:off x="4229100" y="1752600"/>
            <a:ext cx="3619500" cy="1562100"/>
            <a:chOff x="4229100" y="1752600"/>
            <a:chExt cx="3619500" cy="1562100"/>
          </a:xfrm>
        </p:grpSpPr>
        <p:sp>
          <p:nvSpPr>
            <p:cNvPr id="10" name="Rectangle 10"/>
            <p:cNvSpPr/>
            <p:nvPr/>
          </p:nvSpPr>
          <p:spPr>
            <a:xfrm>
              <a:off x="4229100" y="1752600"/>
              <a:ext cx="3619500" cy="1562100"/>
            </a:xfrm>
            <a:prstGeom prst="rect">
              <a:avLst/>
            </a:prstGeom>
            <a:solidFill>
              <a:schemeClr val="lt2"/>
            </a:solidFill>
            <a:ln>
              <a:noFill/>
            </a:ln>
          </p:spPr>
        </p:sp>
        <p:sp>
          <p:nvSpPr>
            <p:cNvPr id="11" name="TextBox 11"/>
            <p:cNvSpPr txBox="1"/>
            <p:nvPr/>
          </p:nvSpPr>
          <p:spPr>
            <a:xfrm>
              <a:off x="4392930" y="1838325"/>
              <a:ext cx="2794524"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02 / Prepare a mock portfolio</a:t>
              </a:r>
            </a:p>
          </p:txBody>
        </p:sp>
        <p:sp>
          <p:nvSpPr>
            <p:cNvPr id="12" name="TextBox 12"/>
            <p:cNvSpPr txBox="1"/>
            <p:nvPr/>
          </p:nvSpPr>
          <p:spPr>
            <a:xfrm>
              <a:off x="4392930" y="2228850"/>
              <a:ext cx="2906344"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Agent prepares; portfolio manager</a:t>
              </a:r>
              <a:br>
                <a:rPr lang="en-US" sz="1500" dirty="0">
                  <a:solidFill>
                    <a:schemeClr val="dk1"/>
                  </a:solidFill>
                  <a:latin typeface="+mn-lt"/>
                  <a:ea typeface="+mn-ea"/>
                  <a:cs typeface="+mn-cs"/>
                </a:rPr>
              </a:br>
              <a:r>
                <a:rPr lang="en-US" sz="1500" dirty="0">
                  <a:solidFill>
                    <a:schemeClr val="dk1"/>
                  </a:solidFill>
                  <a:latin typeface="+mn-lt"/>
                  <a:ea typeface="+mn-ea"/>
                  <a:cs typeface="+mn-cs"/>
                </a:rPr>
                <a:t>refines.</a:t>
              </a:r>
            </a:p>
          </p:txBody>
        </p:sp>
      </p:grpSp>
      <p:grpSp>
        <p:nvGrpSpPr>
          <p:cNvPr id="17" name="recurring-qa"/>
          <p:cNvGrpSpPr/>
          <p:nvPr/>
        </p:nvGrpSpPr>
        <p:grpSpPr>
          <a:xfrm>
            <a:off x="8001000" y="1752600"/>
            <a:ext cx="3733800" cy="1562100"/>
            <a:chOff x="8001000" y="1752600"/>
            <a:chExt cx="3733800" cy="1562100"/>
          </a:xfrm>
        </p:grpSpPr>
        <p:sp>
          <p:nvSpPr>
            <p:cNvPr id="14" name="Rectangle 14"/>
            <p:cNvSpPr/>
            <p:nvPr/>
          </p:nvSpPr>
          <p:spPr>
            <a:xfrm>
              <a:off x="8001000" y="1752600"/>
              <a:ext cx="3733800" cy="1562100"/>
            </a:xfrm>
            <a:prstGeom prst="rect">
              <a:avLst/>
            </a:prstGeom>
            <a:solidFill>
              <a:schemeClr val="lt2"/>
            </a:solidFill>
            <a:ln>
              <a:noFill/>
            </a:ln>
          </p:spPr>
        </p:sp>
        <p:sp>
          <p:nvSpPr>
            <p:cNvPr id="15" name="TextBox 15"/>
            <p:cNvSpPr txBox="1"/>
            <p:nvPr/>
          </p:nvSpPr>
          <p:spPr>
            <a:xfrm>
              <a:off x="8164830" y="1838325"/>
              <a:ext cx="2681254"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Separate / recurring reports</a:t>
              </a:r>
            </a:p>
          </p:txBody>
        </p:sp>
        <p:sp>
          <p:nvSpPr>
            <p:cNvPr id="16" name="TextBox 16"/>
            <p:cNvSpPr txBox="1"/>
            <p:nvPr/>
          </p:nvSpPr>
          <p:spPr>
            <a:xfrm>
              <a:off x="8164830" y="2228850"/>
              <a:ext cx="2662923"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Warehouse financing and trade</a:t>
              </a:r>
              <a:br>
                <a:rPr lang="en-US" sz="1500" dirty="0">
                  <a:solidFill>
                    <a:schemeClr val="dk1"/>
                  </a:solidFill>
                  <a:latin typeface="+mn-lt"/>
                  <a:ea typeface="+mn-ea"/>
                  <a:cs typeface="+mn-cs"/>
                </a:rPr>
              </a:br>
              <a:r>
                <a:rPr lang="en-US" sz="1500" dirty="0">
                  <a:solidFill>
                    <a:schemeClr val="dk1"/>
                  </a:solidFill>
                  <a:latin typeface="+mn-lt"/>
                  <a:ea typeface="+mn-ea"/>
                  <a:cs typeface="+mn-cs"/>
                </a:rPr>
                <a:t>reconciliation.</a:t>
              </a:r>
            </a:p>
          </p:txBody>
        </p:sp>
      </p:grpSp>
      <p:grpSp>
        <p:nvGrpSpPr>
          <p:cNvPr id="20" name="lesson-0"/>
          <p:cNvGrpSpPr/>
          <p:nvPr/>
        </p:nvGrpSpPr>
        <p:grpSpPr>
          <a:xfrm>
            <a:off x="448056" y="3762375"/>
            <a:ext cx="3186403" cy="1474470"/>
            <a:chOff x="448056" y="3762375"/>
            <a:chExt cx="3186403" cy="1474470"/>
          </a:xfrm>
        </p:grpSpPr>
        <p:sp>
          <p:nvSpPr>
            <p:cNvPr id="18" name="TextBox 18"/>
            <p:cNvSpPr txBox="1"/>
            <p:nvPr/>
          </p:nvSpPr>
          <p:spPr>
            <a:xfrm>
              <a:off x="448056" y="3762375"/>
              <a:ext cx="3186403"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Observe the actual workflow</a:t>
              </a:r>
            </a:p>
          </p:txBody>
        </p:sp>
        <p:sp>
          <p:nvSpPr>
            <p:cNvPr id="19" name="TextBox 19"/>
            <p:cNvSpPr txBox="1"/>
            <p:nvPr/>
          </p:nvSpPr>
          <p:spPr>
            <a:xfrm>
              <a:off x="449580" y="4200525"/>
              <a:ext cx="2927680"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Embedded engineers learn source</a:t>
              </a:r>
              <a:br>
                <a:rPr lang="en-US" sz="1500" dirty="0">
                  <a:solidFill>
                    <a:schemeClr val="dk1"/>
                  </a:solidFill>
                  <a:latin typeface="+mn-lt"/>
                  <a:ea typeface="+mn-ea"/>
                  <a:cs typeface="+mn-cs"/>
                </a:rPr>
              </a:br>
              <a:r>
                <a:rPr lang="en-US" sz="1500" dirty="0">
                  <a:solidFill>
                    <a:schemeClr val="dk1"/>
                  </a:solidFill>
                  <a:latin typeface="+mn-lt"/>
                  <a:ea typeface="+mn-ea"/>
                  <a:cs typeface="+mn-cs"/>
                </a:rPr>
                <a:t>precedence and professional</a:t>
              </a:r>
              <a:br>
                <a:rPr lang="en-US" sz="1500" dirty="0">
                  <a:solidFill>
                    <a:schemeClr val="dk1"/>
                  </a:solidFill>
                  <a:latin typeface="+mn-lt"/>
                  <a:ea typeface="+mn-ea"/>
                  <a:cs typeface="+mn-cs"/>
                </a:rPr>
              </a:br>
              <a:r>
                <a:rPr lang="en-US" sz="1500" dirty="0">
                  <a:solidFill>
                    <a:schemeClr val="dk1"/>
                  </a:solidFill>
                  <a:latin typeface="+mn-lt"/>
                  <a:ea typeface="+mn-ea"/>
                  <a:cs typeface="+mn-cs"/>
                </a:rPr>
                <a:t>exceptions before automating</a:t>
              </a:r>
              <a:br>
                <a:rPr lang="en-US" sz="1500" dirty="0">
                  <a:solidFill>
                    <a:schemeClr val="dk1"/>
                  </a:solidFill>
                  <a:latin typeface="+mn-lt"/>
                  <a:ea typeface="+mn-ea"/>
                  <a:cs typeface="+mn-cs"/>
                </a:rPr>
              </a:br>
              <a:r>
                <a:rPr lang="en-US" sz="1500" dirty="0">
                  <a:solidFill>
                    <a:schemeClr val="dk1"/>
                  </a:solidFill>
                  <a:latin typeface="+mn-lt"/>
                  <a:ea typeface="+mn-ea"/>
                  <a:cs typeface="+mn-cs"/>
                </a:rPr>
                <a:t>preparation.</a:t>
              </a:r>
            </a:p>
          </p:txBody>
        </p:sp>
      </p:grpSp>
      <p:grpSp>
        <p:nvGrpSpPr>
          <p:cNvPr id="23" name="lesson-1"/>
          <p:cNvGrpSpPr/>
          <p:nvPr/>
        </p:nvGrpSpPr>
        <p:grpSpPr>
          <a:xfrm>
            <a:off x="4296156" y="3762375"/>
            <a:ext cx="3044952" cy="1474470"/>
            <a:chOff x="4296156" y="3762375"/>
            <a:chExt cx="3044952" cy="1474470"/>
          </a:xfrm>
        </p:grpSpPr>
        <p:sp>
          <p:nvSpPr>
            <p:cNvPr id="21" name="TextBox 21"/>
            <p:cNvSpPr txBox="1"/>
            <p:nvPr/>
          </p:nvSpPr>
          <p:spPr>
            <a:xfrm>
              <a:off x="4296156" y="3762375"/>
              <a:ext cx="255917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Keep judgment explicit</a:t>
              </a:r>
            </a:p>
          </p:txBody>
        </p:sp>
        <p:sp>
          <p:nvSpPr>
            <p:cNvPr id="22" name="TextBox 22"/>
            <p:cNvSpPr txBox="1"/>
            <p:nvPr/>
          </p:nvSpPr>
          <p:spPr>
            <a:xfrm>
              <a:off x="4297680" y="4200525"/>
              <a:ext cx="3043428"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The described structured-credit</a:t>
              </a:r>
              <a:br>
                <a:rPr lang="en-US" sz="1500" dirty="0">
                  <a:solidFill>
                    <a:schemeClr val="dk1"/>
                  </a:solidFill>
                  <a:latin typeface="+mn-lt"/>
                  <a:ea typeface="+mn-ea"/>
                  <a:cs typeface="+mn-cs"/>
                </a:rPr>
              </a:br>
              <a:r>
                <a:rPr lang="en-US" sz="1500" dirty="0">
                  <a:solidFill>
                    <a:schemeClr val="dk1"/>
                  </a:solidFill>
                  <a:latin typeface="+mn-lt"/>
                  <a:ea typeface="+mn-ea"/>
                  <a:cs typeface="+mn-cs"/>
                </a:rPr>
                <a:t>workflow retains PM refinement and</a:t>
              </a:r>
              <a:br>
                <a:rPr lang="en-US" sz="1500" dirty="0">
                  <a:solidFill>
                    <a:schemeClr val="dk1"/>
                  </a:solidFill>
                  <a:latin typeface="+mn-lt"/>
                  <a:ea typeface="+mn-ea"/>
                  <a:cs typeface="+mn-cs"/>
                </a:rPr>
              </a:br>
              <a:r>
                <a:rPr lang="en-US" sz="1500" dirty="0">
                  <a:solidFill>
                    <a:schemeClr val="dk1"/>
                  </a:solidFill>
                  <a:latin typeface="+mn-lt"/>
                  <a:ea typeface="+mn-ea"/>
                  <a:cs typeface="+mn-cs"/>
                </a:rPr>
                <a:t>daily QA; it is not unconstrained</a:t>
              </a:r>
              <a:br>
                <a:rPr lang="en-US" sz="1500" dirty="0">
                  <a:solidFill>
                    <a:schemeClr val="dk1"/>
                  </a:solidFill>
                  <a:latin typeface="+mn-lt"/>
                  <a:ea typeface="+mn-ea"/>
                  <a:cs typeface="+mn-cs"/>
                </a:rPr>
              </a:br>
              <a:r>
                <a:rPr lang="en-US" sz="1500" dirty="0">
                  <a:solidFill>
                    <a:schemeClr val="dk1"/>
                  </a:solidFill>
                  <a:latin typeface="+mn-lt"/>
                  <a:ea typeface="+mn-ea"/>
                  <a:cs typeface="+mn-cs"/>
                </a:rPr>
                <a:t>portfolio management.</a:t>
              </a:r>
            </a:p>
          </p:txBody>
        </p:sp>
      </p:grpSp>
      <p:grpSp>
        <p:nvGrpSpPr>
          <p:cNvPr id="26" name="lesson-2"/>
          <p:cNvGrpSpPr/>
          <p:nvPr/>
        </p:nvGrpSpPr>
        <p:grpSpPr>
          <a:xfrm>
            <a:off x="8144256" y="3762375"/>
            <a:ext cx="3257169" cy="1474470"/>
            <a:chOff x="8144256" y="3762375"/>
            <a:chExt cx="3257169" cy="1474470"/>
          </a:xfrm>
        </p:grpSpPr>
        <p:sp>
          <p:nvSpPr>
            <p:cNvPr id="24" name="TextBox 24"/>
            <p:cNvSpPr txBox="1"/>
            <p:nvPr/>
          </p:nvSpPr>
          <p:spPr>
            <a:xfrm>
              <a:off x="8144256" y="3762375"/>
              <a:ext cx="264722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Measure accepted work</a:t>
              </a:r>
            </a:p>
          </p:txBody>
        </p:sp>
        <p:sp>
          <p:nvSpPr>
            <p:cNvPr id="25" name="TextBox 25"/>
            <p:cNvSpPr txBox="1"/>
            <p:nvPr/>
          </p:nvSpPr>
          <p:spPr>
            <a:xfrm>
              <a:off x="8145780" y="4200525"/>
              <a:ext cx="3255645"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Days-to-minutes is reported. Full</a:t>
              </a:r>
              <a:br>
                <a:rPr lang="en-US" sz="1500" dirty="0">
                  <a:solidFill>
                    <a:schemeClr val="dk1"/>
                  </a:solidFill>
                  <a:latin typeface="+mn-lt"/>
                  <a:ea typeface="+mn-ea"/>
                  <a:cs typeface="+mn-cs"/>
                </a:rPr>
              </a:br>
              <a:r>
                <a:rPr lang="en-US" sz="1500" dirty="0">
                  <a:solidFill>
                    <a:schemeClr val="dk1"/>
                  </a:solidFill>
                  <a:latin typeface="+mn-lt"/>
                  <a:ea typeface="+mn-ea"/>
                  <a:cs typeface="+mn-cs"/>
                </a:rPr>
                <a:t>review cost and a controlled</a:t>
              </a:r>
              <a:br>
                <a:rPr lang="en-US" sz="1500" dirty="0">
                  <a:solidFill>
                    <a:schemeClr val="dk1"/>
                  </a:solidFill>
                  <a:latin typeface="+mn-lt"/>
                  <a:ea typeface="+mn-ea"/>
                  <a:cs typeface="+mn-cs"/>
                </a:rPr>
              </a:br>
              <a:r>
                <a:rPr lang="en-US" sz="1500" dirty="0">
                  <a:solidFill>
                    <a:schemeClr val="dk1"/>
                  </a:solidFill>
                  <a:latin typeface="+mn-lt"/>
                  <a:ea typeface="+mn-ea"/>
                  <a:cs typeface="+mn-cs"/>
                </a:rPr>
                <a:t>comparison are not supplied; measure</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corrections and total cycle time.</a:t>
              </a:r>
            </a:p>
          </p:txBody>
        </p:sp>
      </p:grpSp>
      <p:grpSp>
        <p:nvGrpSpPr>
          <p:cNvPr id="29" name="footer"/>
          <p:cNvGrpSpPr/>
          <p:nvPr/>
        </p:nvGrpSpPr>
        <p:grpSpPr>
          <a:xfrm>
            <a:off x="452438" y="6477000"/>
            <a:ext cx="11287124" cy="176212"/>
            <a:chOff x="452438" y="6477000"/>
            <a:chExt cx="11287124" cy="176212"/>
          </a:xfrm>
        </p:grpSpPr>
        <p:sp>
          <p:nvSpPr>
            <p:cNvPr id="27" name="TextBox 27"/>
            <p:cNvSpPr txBox="1"/>
            <p:nvPr/>
          </p:nvSpPr>
          <p:spPr>
            <a:xfrm>
              <a:off x="452438" y="6477000"/>
              <a:ext cx="5034290"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Coatue · Apollo / Redding Ridge / Rowspace · Range | Reviewed October 25, 2026</a:t>
              </a:r>
            </a:p>
          </p:txBody>
        </p:sp>
        <p:sp>
          <p:nvSpPr>
            <p:cNvPr id="28" name="TextBox 28"/>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03 / 37</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189861" cy="1100582"/>
            <a:chOff x="443484" y="361950"/>
            <a:chExt cx="10189861"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783647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Match the system to the decision and its budget</a:t>
              </a:r>
            </a:p>
          </p:txBody>
        </p:sp>
        <p:sp>
          <p:nvSpPr>
            <p:cNvPr id="4" name="TextBox 4"/>
            <p:cNvSpPr txBox="1"/>
            <p:nvPr/>
          </p:nvSpPr>
          <p:spPr>
            <a:xfrm>
              <a:off x="448818" y="1139825"/>
              <a:ext cx="10184527"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 research workbench, professional workflow and transaction classifier have different acceptance tests.</a:t>
              </a:r>
            </a:p>
          </p:txBody>
        </p:sp>
      </p:grpSp>
      <p:graphicFrame>
        <p:nvGraphicFramePr>
          <p:cNvPr id="6" name="bottleneck-map"/>
          <p:cNvGraphicFramePr>
            <a:graphicFrameLocks noGrp="1"/>
          </p:cNvGraphicFramePr>
          <p:nvPr/>
        </p:nvGraphicFramePr>
        <p:xfrm>
          <a:off x="457200" y="1752600"/>
          <a:ext cx="11277600" cy="3619500"/>
        </p:xfrm>
        <a:graphic>
          <a:graphicData uri="http://schemas.openxmlformats.org/drawingml/2006/table">
            <a:tbl>
              <a:tblPr firstRow="1" bandRow="0">
                <a:tableStyleId>{5C22544A-7EE6-4342-B048-85BDC9FD1C3A}</a:tableStyleId>
              </a:tblPr>
              <a:tblGrid>
                <a:gridCol w="2857500"/>
                <a:gridCol w="3714750"/>
                <a:gridCol w="4705350"/>
              </a:tblGrid>
              <a:tr h="495300">
                <a:tc>
                  <a:txBody>
                    <a:bodyPr/>
                    <a:lstStyle/>
                    <a:p>
                      <a:pPr/>
                      <a:r>
                        <a:rPr lang="en-US" sz="1350" b="1">
                          <a:solidFill>
                            <a:srgbClr val="FFFDF7"/>
                          </a:solidFill>
                          <a:latin typeface="Arial"/>
                          <a:ea typeface="Microsoft YaHei"/>
                          <a:cs typeface="Arial"/>
                        </a:rPr>
                        <a:t>Company / work</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Bottleneck</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Acceptance focus</a:t>
                      </a:r>
                    </a:p>
                  </a:txBody>
                  <a:tcPr anchor="ctr" marL="152400" marR="152400" marT="76200" marB="76200">
                    <a:lnL>
                      <a:noFill/>
                    </a:lnL>
                    <a:lnR>
                      <a:noFill/>
                    </a:lnR>
                    <a:lnT>
                      <a:noFill/>
                    </a:lnT>
                    <a:lnB w="9525">
                      <a:solidFill>
                        <a:schemeClr val="accent6"/>
                      </a:solidFill>
                      <a:prstDash val="solid"/>
                    </a:lnB>
                    <a:solidFill>
                      <a:schemeClr val="accent1"/>
                    </a:solidFill>
                  </a:tcPr>
                </a:tc>
              </a:tr>
              <a:tr h="781050">
                <a:tc>
                  <a:txBody>
                    <a:bodyPr/>
                    <a:lstStyle/>
                    <a:p>
                      <a:pPr/>
                      <a:r>
                        <a:rPr lang="en-US" sz="1350" b="0">
                          <a:solidFill>
                            <a:schemeClr val="dk1"/>
                          </a:solidFill>
                          <a:latin typeface="Arial"/>
                          <a:ea typeface="Microsoft YaHei"/>
                          <a:cs typeface="Arial"/>
                        </a:rPr>
                        <a:t>Bridgewater / Coatue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Evidence and investment attention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Eligible sources; evaluated decision steps.</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Range / Apollo–Redding Ridge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Professional preparation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Expert methods; reconciled inputs; reviewed drafts.</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Wells Fargo</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Fraud decisions at transaction speed</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Transaction representation; detection and false positives.</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Blackstone / Norm.ai</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Adapt to improving models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Accessible data; durable evaluations; production controls.</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case-boundary"/>
          <p:cNvGrpSpPr/>
          <p:nvPr/>
        </p:nvGrpSpPr>
        <p:grpSpPr>
          <a:xfrm>
            <a:off x="449580" y="5667375"/>
            <a:ext cx="9186253" cy="550545"/>
            <a:chOff x="449580" y="5667375"/>
            <a:chExt cx="9186253" cy="550545"/>
          </a:xfrm>
        </p:grpSpPr>
        <p:sp>
          <p:nvSpPr>
            <p:cNvPr id="7" name="TextBox 7"/>
            <p:cNvSpPr txBox="1"/>
            <p:nvPr/>
          </p:nvSpPr>
          <p:spPr>
            <a:xfrm>
              <a:off x="449580" y="5667375"/>
              <a:ext cx="9186253" cy="5505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Different forms, one discipline: match the data representation, executor and operating budget to the decision.</a:t>
              </a:r>
              <a:br>
                <a:rPr lang="en-US" sz="1500" dirty="0">
                  <a:solidFill>
                    <a:schemeClr val="dk1"/>
                  </a:solidFill>
                  <a:latin typeface="+mn-lt"/>
                  <a:ea typeface="+mn-ea"/>
                  <a:cs typeface="+mn-cs"/>
                </a:rPr>
              </a:br>
              <a:r>
                <a:rPr lang="en-US" sz="1500" dirty="0">
                  <a:solidFill>
                    <a:schemeClr val="dk1"/>
                  </a:solidFill>
                  <a:latin typeface="+mn-lt"/>
                  <a:ea typeface="+mn-ea"/>
                  <a:cs typeface="+mn-cs"/>
                </a:rPr>
                <a:t>These are practitioner accounts, not a maturity ranking or causal financial comparison.</a:t>
              </a:r>
            </a:p>
          </p:txBody>
        </p:sp>
      </p:grpSp>
      <p:grpSp>
        <p:nvGrpSpPr>
          <p:cNvPr id="11" name="footer"/>
          <p:cNvGrpSpPr/>
          <p:nvPr/>
        </p:nvGrpSpPr>
        <p:grpSpPr>
          <a:xfrm>
            <a:off x="452438" y="6477000"/>
            <a:ext cx="11287124" cy="176212"/>
            <a:chOff x="452438" y="6477000"/>
            <a:chExt cx="11287124" cy="176212"/>
          </a:xfrm>
        </p:grpSpPr>
        <p:sp>
          <p:nvSpPr>
            <p:cNvPr id="9" name="TextBox 9"/>
            <p:cNvSpPr txBox="1"/>
            <p:nvPr/>
          </p:nvSpPr>
          <p:spPr>
            <a:xfrm>
              <a:off x="452438" y="6477000"/>
              <a:ext cx="528747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Bridgewater · Coatue · Wells Fargo · Blackstone / Norm.ai | Reviewed October 25, 2026</a:t>
              </a:r>
            </a:p>
          </p:txBody>
        </p:sp>
        <p:sp>
          <p:nvSpPr>
            <p:cNvPr id="10" name="TextBox 10"/>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04 / 37</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587603" cy="1100582"/>
            <a:chOff x="443484" y="361950"/>
            <a:chExt cx="10587603"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885829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Wealth agents prepare; professionals retain authority</a:t>
              </a:r>
            </a:p>
          </p:txBody>
        </p:sp>
        <p:sp>
          <p:nvSpPr>
            <p:cNvPr id="4" name="TextBox 4"/>
            <p:cNvSpPr txBox="1"/>
            <p:nvPr/>
          </p:nvSpPr>
          <p:spPr>
            <a:xfrm>
              <a:off x="448818" y="1139825"/>
              <a:ext cx="10582269"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Range, Arca and Perpetual reveal complementary patterns for expertise, handoffs and approved execution.</a:t>
              </a:r>
            </a:p>
          </p:txBody>
        </p:sp>
      </p:grpSp>
      <p:grpSp>
        <p:nvGrpSpPr>
          <p:cNvPr id="8" name="analysis-1"/>
          <p:cNvGrpSpPr/>
          <p:nvPr/>
        </p:nvGrpSpPr>
        <p:grpSpPr>
          <a:xfrm>
            <a:off x="448056" y="1876425"/>
            <a:ext cx="3246272" cy="3236595"/>
            <a:chOff x="448056" y="1876425"/>
            <a:chExt cx="3246272" cy="3236595"/>
          </a:xfrm>
        </p:grpSpPr>
        <p:sp>
          <p:nvSpPr>
            <p:cNvPr id="6" name="TextBox 6"/>
            <p:cNvSpPr txBox="1"/>
            <p:nvPr/>
          </p:nvSpPr>
          <p:spPr>
            <a:xfrm>
              <a:off x="448056" y="1876425"/>
              <a:ext cx="323408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Turn expertise into a method</a:t>
              </a:r>
            </a:p>
          </p:txBody>
        </p:sp>
        <p:sp>
          <p:nvSpPr>
            <p:cNvPr id="7" name="TextBox 7"/>
            <p:cNvSpPr txBox="1"/>
            <p:nvPr/>
          </p:nvSpPr>
          <p:spPr>
            <a:xfrm>
              <a:off x="449580" y="2505075"/>
              <a:ext cx="3244748"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Range’s skill records reasons,</a:t>
              </a:r>
              <a:br>
                <a:rPr lang="en-US" sz="1500" dirty="0">
                  <a:solidFill>
                    <a:schemeClr val="dk1"/>
                  </a:solidFill>
                  <a:latin typeface="+mn-lt"/>
                  <a:ea typeface="+mn-ea"/>
                  <a:cs typeface="+mn-cs"/>
                </a:rPr>
              </a:br>
              <a:r>
                <a:rPr lang="en-US" sz="1500" dirty="0">
                  <a:solidFill>
                    <a:schemeClr val="dk1"/>
                  </a:solidFill>
                  <a:latin typeface="+mn-lt"/>
                  <a:ea typeface="+mn-ea"/>
                  <a:cs typeface="+mn-cs"/>
                </a:rPr>
                <a:t>required questions, exceptions and</a:t>
              </a:r>
              <a:br>
                <a:rPr lang="en-US" sz="1500" dirty="0">
                  <a:solidFill>
                    <a:schemeClr val="dk1"/>
                  </a:solidFill>
                  <a:latin typeface="+mn-lt"/>
                  <a:ea typeface="+mn-ea"/>
                  <a:cs typeface="+mn-cs"/>
                </a:rPr>
              </a:br>
              <a:r>
                <a:rPr lang="en-US" sz="1500" dirty="0">
                  <a:solidFill>
                    <a:schemeClr val="dk1"/>
                  </a:solidFill>
                  <a:latin typeface="+mn-lt"/>
                  <a:ea typeface="+mn-ea"/>
                  <a:cs typeface="+mn-cs"/>
                </a:rPr>
                <a:t>stopping conditions. An owner</a:t>
              </a:r>
              <a:br>
                <a:rPr lang="en-US" sz="1500" dirty="0">
                  <a:solidFill>
                    <a:schemeClr val="dk1"/>
                  </a:solidFill>
                  <a:latin typeface="+mn-lt"/>
                  <a:ea typeface="+mn-ea"/>
                  <a:cs typeface="+mn-cs"/>
                </a:rPr>
              </a:br>
              <a:r>
                <a:rPr lang="en-US" sz="1500" dirty="0">
                  <a:solidFill>
                    <a:schemeClr val="dk1"/>
                  </a:solidFill>
                  <a:latin typeface="+mn-lt"/>
                  <a:ea typeface="+mn-ea"/>
                  <a:cs typeface="+mn-cs"/>
                </a:rPr>
                <a:t>maintains it and a separate</a:t>
              </a:r>
              <a:br>
                <a:rPr lang="en-US" sz="1500" dirty="0">
                  <a:solidFill>
                    <a:schemeClr val="dk1"/>
                  </a:solidFill>
                  <a:latin typeface="+mn-lt"/>
                  <a:ea typeface="+mn-ea"/>
                  <a:cs typeface="+mn-cs"/>
                </a:rPr>
              </a:br>
              <a:r>
                <a:rPr lang="en-US" sz="1500" dirty="0">
                  <a:solidFill>
                    <a:schemeClr val="dk1"/>
                  </a:solidFill>
                  <a:latin typeface="+mn-lt"/>
                  <a:ea typeface="+mn-ea"/>
                  <a:cs typeface="+mn-cs"/>
                </a:rPr>
                <a:t>reviewer checks it. The planner</a:t>
              </a:r>
              <a:br>
                <a:rPr lang="en-US" sz="1500" dirty="0">
                  <a:solidFill>
                    <a:schemeClr val="dk1"/>
                  </a:solidFill>
                  <a:latin typeface="+mn-lt"/>
                  <a:ea typeface="+mn-ea"/>
                  <a:cs typeface="+mn-cs"/>
                </a:rPr>
              </a:br>
              <a:r>
                <a:rPr lang="en-US" sz="1500" dirty="0">
                  <a:solidFill>
                    <a:schemeClr val="dk1"/>
                  </a:solidFill>
                  <a:latin typeface="+mn-lt"/>
                  <a:ea typeface="+mn-ea"/>
                  <a:cs typeface="+mn-cs"/>
                </a:rPr>
                <a:t>reviews every recommendation before</a:t>
              </a:r>
              <a:br>
                <a:rPr lang="en-US" sz="1500" dirty="0">
                  <a:solidFill>
                    <a:schemeClr val="dk1"/>
                  </a:solidFill>
                  <a:latin typeface="+mn-lt"/>
                  <a:ea typeface="+mn-ea"/>
                  <a:cs typeface="+mn-cs"/>
                </a:rPr>
              </a:br>
              <a:r>
                <a:rPr lang="en-US" sz="1500" dirty="0">
                  <a:solidFill>
                    <a:schemeClr val="dk1"/>
                  </a:solidFill>
                  <a:latin typeface="+mn-lt"/>
                  <a:ea typeface="+mn-ea"/>
                  <a:cs typeface="+mn-cs"/>
                </a:rPr>
                <a:t>client delivery. Five to ten</a:t>
              </a:r>
              <a:br>
                <a:rPr lang="en-US" sz="1500" dirty="0">
                  <a:solidFill>
                    <a:schemeClr val="dk1"/>
                  </a:solidFill>
                  <a:latin typeface="+mn-lt"/>
                  <a:ea typeface="+mn-ea"/>
                  <a:cs typeface="+mn-cs"/>
                </a:rPr>
              </a:br>
              <a:r>
                <a:rPr lang="en-US" sz="1500" dirty="0">
                  <a:solidFill>
                    <a:schemeClr val="dk1"/>
                  </a:solidFill>
                  <a:latin typeface="+mn-lt"/>
                  <a:ea typeface="+mn-ea"/>
                  <a:cs typeface="+mn-cs"/>
                </a:rPr>
                <a:t>examples are a starting test</a:t>
              </a:r>
              <a:br>
                <a:rPr lang="en-US" sz="1500" dirty="0">
                  <a:solidFill>
                    <a:schemeClr val="dk1"/>
                  </a:solidFill>
                  <a:latin typeface="+mn-lt"/>
                  <a:ea typeface="+mn-ea"/>
                  <a:cs typeface="+mn-cs"/>
                </a:rPr>
              </a:br>
              <a:r>
                <a:rPr lang="en-US" sz="1500" dirty="0">
                  <a:solidFill>
                    <a:schemeClr val="dk1"/>
                  </a:solidFill>
                  <a:latin typeface="+mn-lt"/>
                  <a:ea typeface="+mn-ea"/>
                  <a:cs typeface="+mn-cs"/>
                </a:rPr>
                <a:t>routine, not sufficient release</a:t>
              </a:r>
              <a:br>
                <a:rPr lang="en-US" sz="1500" dirty="0">
                  <a:solidFill>
                    <a:schemeClr val="dk1"/>
                  </a:solidFill>
                  <a:latin typeface="+mn-lt"/>
                  <a:ea typeface="+mn-ea"/>
                  <a:cs typeface="+mn-cs"/>
                </a:rPr>
              </a:br>
              <a:r>
                <a:rPr lang="en-US" sz="1500" dirty="0">
                  <a:solidFill>
                    <a:schemeClr val="dk1"/>
                  </a:solidFill>
                  <a:latin typeface="+mn-lt"/>
                  <a:ea typeface="+mn-ea"/>
                  <a:cs typeface="+mn-cs"/>
                </a:rPr>
                <a:t>assurance.</a:t>
              </a:r>
            </a:p>
          </p:txBody>
        </p:sp>
      </p:grpSp>
      <p:grpSp>
        <p:nvGrpSpPr>
          <p:cNvPr id="11" name="analysis-2"/>
          <p:cNvGrpSpPr/>
          <p:nvPr/>
        </p:nvGrpSpPr>
        <p:grpSpPr>
          <a:xfrm>
            <a:off x="4296156" y="1876425"/>
            <a:ext cx="3161881" cy="2979420"/>
            <a:chOff x="4296156" y="1876425"/>
            <a:chExt cx="3161881" cy="2979420"/>
          </a:xfrm>
        </p:grpSpPr>
        <p:sp>
          <p:nvSpPr>
            <p:cNvPr id="9" name="TextBox 9"/>
            <p:cNvSpPr txBox="1"/>
            <p:nvPr/>
          </p:nvSpPr>
          <p:spPr>
            <a:xfrm>
              <a:off x="4296156" y="1876425"/>
              <a:ext cx="302937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Continue across real delays</a:t>
              </a:r>
            </a:p>
          </p:txBody>
        </p:sp>
        <p:sp>
          <p:nvSpPr>
            <p:cNvPr id="10" name="TextBox 10"/>
            <p:cNvSpPr txBox="1"/>
            <p:nvPr/>
          </p:nvSpPr>
          <p:spPr>
            <a:xfrm>
              <a:off x="4297680" y="2505075"/>
              <a:ext cx="3160357"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Arca’s tax-payment illustration</a:t>
              </a:r>
              <a:br>
                <a:rPr lang="en-US" sz="1500" dirty="0">
                  <a:solidFill>
                    <a:schemeClr val="dk1"/>
                  </a:solidFill>
                  <a:latin typeface="+mn-lt"/>
                  <a:ea typeface="+mn-ea"/>
                  <a:cs typeface="+mn-cs"/>
                </a:rPr>
              </a:br>
              <a:r>
                <a:rPr lang="en-US" sz="1500" dirty="0">
                  <a:solidFill>
                    <a:schemeClr val="dk1"/>
                  </a:solidFill>
                  <a:latin typeface="+mn-lt"/>
                  <a:ea typeface="+mn-ea"/>
                  <a:cs typeface="+mn-cs"/>
                </a:rPr>
                <a:t>spans replies, approvals, trades</a:t>
              </a:r>
              <a:br>
                <a:rPr lang="en-US" sz="1500" dirty="0">
                  <a:solidFill>
                    <a:schemeClr val="dk1"/>
                  </a:solidFill>
                  <a:latin typeface="+mn-lt"/>
                  <a:ea typeface="+mn-ea"/>
                  <a:cs typeface="+mn-cs"/>
                </a:rPr>
              </a:br>
              <a:r>
                <a:rPr lang="en-US" sz="1500" dirty="0">
                  <a:solidFill>
                    <a:schemeClr val="dk1"/>
                  </a:solidFill>
                  <a:latin typeface="+mn-lt"/>
                  <a:ea typeface="+mn-ea"/>
                  <a:cs typeface="+mn-cs"/>
                </a:rPr>
                <a:t>and settlement. Long horizon means</a:t>
              </a:r>
              <a:br>
                <a:rPr lang="en-US" sz="1500" dirty="0">
                  <a:solidFill>
                    <a:schemeClr val="dk1"/>
                  </a:solidFill>
                  <a:latin typeface="+mn-lt"/>
                  <a:ea typeface="+mn-ea"/>
                  <a:cs typeface="+mn-cs"/>
                </a:rPr>
              </a:br>
              <a:r>
                <a:rPr lang="en-US" sz="1500" dirty="0">
                  <a:solidFill>
                    <a:schemeClr val="dk1"/>
                  </a:solidFill>
                  <a:latin typeface="+mn-lt"/>
                  <a:ea typeface="+mn-ea"/>
                  <a:cs typeface="+mn-cs"/>
                </a:rPr>
                <a:t>durable shared plans and</a:t>
              </a:r>
              <a:br>
                <a:rPr lang="en-US" sz="1500" dirty="0">
                  <a:solidFill>
                    <a:schemeClr val="dk1"/>
                  </a:solidFill>
                  <a:latin typeface="+mn-lt"/>
                  <a:ea typeface="+mn-ea"/>
                  <a:cs typeface="+mn-cs"/>
                </a:rPr>
              </a:br>
              <a:r>
                <a:rPr lang="en-US" sz="1500" dirty="0">
                  <a:solidFill>
                    <a:schemeClr val="dk1"/>
                  </a:solidFill>
                  <a:latin typeface="+mn-lt"/>
                  <a:ea typeface="+mn-ea"/>
                  <a:cs typeface="+mn-cs"/>
                </a:rPr>
                <a:t>event-driven resumption, rather</a:t>
              </a:r>
              <a:br>
                <a:rPr lang="en-US" sz="1500" dirty="0">
                  <a:solidFill>
                    <a:schemeClr val="dk1"/>
                  </a:solidFill>
                  <a:latin typeface="+mn-lt"/>
                  <a:ea typeface="+mn-ea"/>
                  <a:cs typeface="+mn-cs"/>
                </a:rPr>
              </a:br>
              <a:r>
                <a:rPr lang="en-US" sz="1500" dirty="0">
                  <a:solidFill>
                    <a:schemeClr val="dk1"/>
                  </a:solidFill>
                  <a:latin typeface="+mn-lt"/>
                  <a:ea typeface="+mn-ea"/>
                  <a:cs typeface="+mn-cs"/>
                </a:rPr>
                <a:t>than continuous model thought.</a:t>
              </a:r>
              <a:br>
                <a:rPr lang="en-US" sz="1500" dirty="0">
                  <a:solidFill>
                    <a:schemeClr val="dk1"/>
                  </a:solidFill>
                  <a:latin typeface="+mn-lt"/>
                  <a:ea typeface="+mn-ea"/>
                  <a:cs typeface="+mn-cs"/>
                </a:rPr>
              </a:br>
              <a:r>
                <a:rPr lang="en-US" sz="1500" dirty="0">
                  <a:solidFill>
                    <a:schemeClr val="dk1"/>
                  </a:solidFill>
                  <a:latin typeface="+mn-lt"/>
                  <a:ea typeface="+mn-ea"/>
                  <a:cs typeface="+mn-cs"/>
                </a:rPr>
                <a:t>Track who owns the next action,</a:t>
              </a:r>
              <a:br>
                <a:rPr lang="en-US" sz="1500" dirty="0">
                  <a:solidFill>
                    <a:schemeClr val="dk1"/>
                  </a:solidFill>
                  <a:latin typeface="+mn-lt"/>
                  <a:ea typeface="+mn-ea"/>
                  <a:cs typeface="+mn-cs"/>
                </a:rPr>
              </a:br>
              <a:r>
                <a:rPr lang="en-US" sz="1500" dirty="0">
                  <a:solidFill>
                    <a:schemeClr val="dk1"/>
                  </a:solidFill>
                  <a:latin typeface="+mn-lt"/>
                  <a:ea typeface="+mn-ea"/>
                  <a:cs typeface="+mn-cs"/>
                </a:rPr>
                <a:t>what event wakes the task and which</a:t>
              </a:r>
              <a:br>
                <a:rPr lang="en-US" sz="1500" dirty="0">
                  <a:solidFill>
                    <a:schemeClr val="dk1"/>
                  </a:solidFill>
                  <a:latin typeface="+mn-lt"/>
                  <a:ea typeface="+mn-ea"/>
                  <a:cs typeface="+mn-cs"/>
                </a:rPr>
              </a:br>
              <a:r>
                <a:rPr lang="en-US" sz="1500" dirty="0">
                  <a:solidFill>
                    <a:schemeClr val="dk1"/>
                  </a:solidFill>
                  <a:latin typeface="+mn-lt"/>
                  <a:ea typeface="+mn-ea"/>
                  <a:cs typeface="+mn-cs"/>
                </a:rPr>
                <a:t>approval is still required.</a:t>
              </a:r>
            </a:p>
          </p:txBody>
        </p:sp>
      </p:grpSp>
      <p:grpSp>
        <p:nvGrpSpPr>
          <p:cNvPr id="14" name="analysis-3"/>
          <p:cNvGrpSpPr/>
          <p:nvPr/>
        </p:nvGrpSpPr>
        <p:grpSpPr>
          <a:xfrm>
            <a:off x="8144256" y="1876425"/>
            <a:ext cx="3109570" cy="3236595"/>
            <a:chOff x="8144256" y="1876425"/>
            <a:chExt cx="3109570" cy="3236595"/>
          </a:xfrm>
        </p:grpSpPr>
        <p:sp>
          <p:nvSpPr>
            <p:cNvPr id="12" name="TextBox 12"/>
            <p:cNvSpPr txBox="1"/>
            <p:nvPr/>
          </p:nvSpPr>
          <p:spPr>
            <a:xfrm>
              <a:off x="8144256" y="1876425"/>
              <a:ext cx="30089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Bind approval to the action</a:t>
              </a:r>
            </a:p>
          </p:txBody>
        </p:sp>
        <p:sp>
          <p:nvSpPr>
            <p:cNvPr id="13" name="TextBox 13"/>
            <p:cNvSpPr txBox="1"/>
            <p:nvPr/>
          </p:nvSpPr>
          <p:spPr>
            <a:xfrm>
              <a:off x="8145780" y="2505075"/>
              <a:ext cx="3108046"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Perpetual describes typed</a:t>
              </a:r>
              <a:br>
                <a:rPr lang="en-US" sz="1500" dirty="0">
                  <a:solidFill>
                    <a:schemeClr val="dk1"/>
                  </a:solidFill>
                  <a:latin typeface="+mn-lt"/>
                  <a:ea typeface="+mn-ea"/>
                  <a:cs typeface="+mn-cs"/>
                </a:rPr>
              </a:br>
              <a:r>
                <a:rPr lang="en-US" sz="1500" dirty="0">
                  <a:solidFill>
                    <a:schemeClr val="dk1"/>
                  </a:solidFill>
                  <a:latin typeface="+mn-lt"/>
                  <a:ea typeface="+mn-ea"/>
                  <a:cs typeface="+mn-cs"/>
                </a:rPr>
                <a:t>interpretation, a validating</a:t>
              </a:r>
              <a:br>
                <a:rPr lang="en-US" sz="1500" dirty="0">
                  <a:solidFill>
                    <a:schemeClr val="dk1"/>
                  </a:solidFill>
                  <a:latin typeface="+mn-lt"/>
                  <a:ea typeface="+mn-ea"/>
                  <a:cs typeface="+mn-cs"/>
                </a:rPr>
              </a:br>
              <a:r>
                <a:rPr lang="en-US" sz="1500" dirty="0">
                  <a:solidFill>
                    <a:schemeClr val="dk1"/>
                  </a:solidFill>
                  <a:latin typeface="+mn-lt"/>
                  <a:ea typeface="+mn-ea"/>
                  <a:cs typeface="+mn-cs"/>
                </a:rPr>
                <a:t>compiler and immutable approved</a:t>
              </a:r>
              <a:br>
                <a:rPr lang="en-US" sz="1500" dirty="0">
                  <a:solidFill>
                    <a:schemeClr val="dk1"/>
                  </a:solidFill>
                  <a:latin typeface="+mn-lt"/>
                  <a:ea typeface="+mn-ea"/>
                  <a:cs typeface="+mn-cs"/>
                </a:rPr>
              </a:br>
              <a:r>
                <a:rPr lang="en-US" sz="1500" dirty="0">
                  <a:solidFill>
                    <a:schemeClr val="dk1"/>
                  </a:solidFill>
                  <a:latin typeface="+mn-lt"/>
                  <a:ea typeface="+mn-ea"/>
                  <a:cs typeface="+mn-cs"/>
                </a:rPr>
                <a:t>plans. Approval attaches to the</a:t>
              </a:r>
              <a:br>
                <a:rPr lang="en-US" sz="1500" dirty="0">
                  <a:solidFill>
                    <a:schemeClr val="dk1"/>
                  </a:solidFill>
                  <a:latin typeface="+mn-lt"/>
                  <a:ea typeface="+mn-ea"/>
                  <a:cs typeface="+mn-cs"/>
                </a:rPr>
              </a:br>
              <a:r>
                <a:rPr lang="en-US" sz="1500" dirty="0">
                  <a:solidFill>
                    <a:schemeClr val="dk1"/>
                  </a:solidFill>
                  <a:latin typeface="+mn-lt"/>
                  <a:ea typeface="+mn-ea"/>
                  <a:cs typeface="+mn-cs"/>
                </a:rPr>
                <a:t>exact outgoing payload; an unknown</a:t>
              </a:r>
              <a:br>
                <a:rPr lang="en-US" sz="1500" dirty="0">
                  <a:solidFill>
                    <a:schemeClr val="dk1"/>
                  </a:solidFill>
                  <a:latin typeface="+mn-lt"/>
                  <a:ea typeface="+mn-ea"/>
                  <a:cs typeface="+mn-cs"/>
                </a:rPr>
              </a:br>
              <a:r>
                <a:rPr lang="en-US" sz="1500" dirty="0">
                  <a:solidFill>
                    <a:schemeClr val="dk1"/>
                  </a:solidFill>
                  <a:latin typeface="+mn-lt"/>
                  <a:ea typeface="+mn-ea"/>
                  <a:cs typeface="+mn-cs"/>
                </a:rPr>
                <a:t>dispatch outcome goes to manual</a:t>
              </a:r>
              <a:br>
                <a:rPr lang="en-US" sz="1500" dirty="0">
                  <a:solidFill>
                    <a:schemeClr val="dk1"/>
                  </a:solidFill>
                  <a:latin typeface="+mn-lt"/>
                  <a:ea typeface="+mn-ea"/>
                  <a:cs typeface="+mn-cs"/>
                </a:rPr>
              </a:br>
              <a:r>
                <a:rPr lang="en-US" sz="1500" dirty="0">
                  <a:solidFill>
                    <a:schemeClr val="dk1"/>
                  </a:solidFill>
                  <a:latin typeface="+mn-lt"/>
                  <a:ea typeface="+mn-ea"/>
                  <a:cs typeface="+mn-cs"/>
                </a:rPr>
                <a:t>review. Historical Morgan Stanley,</a:t>
              </a:r>
              <a:br>
                <a:rPr lang="en-US" sz="1500" dirty="0">
                  <a:solidFill>
                    <a:schemeClr val="dk1"/>
                  </a:solidFill>
                  <a:latin typeface="+mn-lt"/>
                  <a:ea typeface="+mn-ea"/>
                  <a:cs typeface="+mn-cs"/>
                </a:rPr>
              </a:br>
              <a:r>
                <a:rPr lang="en-US" sz="1500" dirty="0">
                  <a:solidFill>
                    <a:schemeClr val="dk1"/>
                  </a:solidFill>
                  <a:latin typeface="+mn-lt"/>
                  <a:ea typeface="+mn-ea"/>
                  <a:cs typeface="+mn-cs"/>
                </a:rPr>
                <a:t>UBS and RBC disclosures remain</a:t>
              </a:r>
              <a:br>
                <a:rPr lang="en-US" sz="1500" dirty="0">
                  <a:solidFill>
                    <a:schemeClr val="dk1"/>
                  </a:solidFill>
                  <a:latin typeface="+mn-lt"/>
                  <a:ea typeface="+mn-ea"/>
                  <a:cs typeface="+mn-cs"/>
                </a:rPr>
              </a:br>
              <a:r>
                <a:rPr lang="en-US" sz="1500" dirty="0">
                  <a:solidFill>
                    <a:schemeClr val="dk1"/>
                  </a:solidFill>
                  <a:latin typeface="+mn-lt"/>
                  <a:ea typeface="+mn-ea"/>
                  <a:cs typeface="+mn-cs"/>
                </a:rPr>
                <a:t>useful preparation/knowledge</a:t>
              </a:r>
              <a:br>
                <a:rPr lang="en-US" sz="1500" dirty="0">
                  <a:solidFill>
                    <a:schemeClr val="dk1"/>
                  </a:solidFill>
                  <a:latin typeface="+mn-lt"/>
                  <a:ea typeface="+mn-ea"/>
                  <a:cs typeface="+mn-cs"/>
                </a:rPr>
              </a:br>
              <a:r>
                <a:rPr lang="en-US" sz="1500" dirty="0">
                  <a:solidFill>
                    <a:schemeClr val="dk1"/>
                  </a:solidFill>
                  <a:latin typeface="+mn-lt"/>
                  <a:ea typeface="+mn-ea"/>
                  <a:cs typeface="+mn-cs"/>
                </a:rPr>
                <a:t>examples with their original dates.</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349160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Range · Arca · Perpetual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05 / 37</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8956673" cy="1100582"/>
            <a:chOff x="443484" y="361950"/>
            <a:chExt cx="8956673"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8648846"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Process measures precede claims of financial impact</a:t>
              </a:r>
            </a:p>
          </p:txBody>
        </p:sp>
        <p:sp>
          <p:nvSpPr>
            <p:cNvPr id="4" name="TextBox 4"/>
            <p:cNvSpPr txBox="1"/>
            <p:nvPr/>
          </p:nvSpPr>
          <p:spPr>
            <a:xfrm>
              <a:off x="448818" y="1139825"/>
              <a:ext cx="8951339"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Adoption, useful output, process change and financial outcomes require different evidence.</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35342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Use</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131258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Accepted work</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41381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Process change</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553741"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Attributable value</a:t>
              </a:r>
            </a:p>
          </p:txBody>
        </p:sp>
      </p:grpSp>
      <p:grpSp>
        <p:nvGrpSpPr>
          <p:cNvPr id="17" name="analysis-1"/>
          <p:cNvGrpSpPr/>
          <p:nvPr/>
        </p:nvGrpSpPr>
        <p:grpSpPr>
          <a:xfrm>
            <a:off x="448056" y="2438400"/>
            <a:ext cx="3140812" cy="3227070"/>
            <a:chOff x="448056" y="2438400"/>
            <a:chExt cx="3140812" cy="3227070"/>
          </a:xfrm>
        </p:grpSpPr>
        <p:sp>
          <p:nvSpPr>
            <p:cNvPr id="15" name="TextBox 15"/>
            <p:cNvSpPr txBox="1"/>
            <p:nvPr/>
          </p:nvSpPr>
          <p:spPr>
            <a:xfrm>
              <a:off x="448056" y="2438400"/>
              <a:ext cx="277387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Define useful output first</a:t>
              </a:r>
            </a:p>
          </p:txBody>
        </p:sp>
        <p:sp>
          <p:nvSpPr>
            <p:cNvPr id="16" name="TextBox 16"/>
            <p:cNvSpPr txBox="1"/>
            <p:nvPr/>
          </p:nvSpPr>
          <p:spPr>
            <a:xfrm>
              <a:off x="449580" y="3057525"/>
              <a:ext cx="3139288"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Contour’s official release</a:t>
              </a:r>
              <a:br>
                <a:rPr lang="en-US" sz="1500" dirty="0">
                  <a:solidFill>
                    <a:schemeClr val="dk1"/>
                  </a:solidFill>
                  <a:latin typeface="+mn-lt"/>
                  <a:ea typeface="+mn-ea"/>
                  <a:cs typeface="+mn-cs"/>
                </a:rPr>
              </a:br>
              <a:r>
                <a:rPr lang="en-US" sz="1500" dirty="0">
                  <a:solidFill>
                    <a:schemeClr val="dk1"/>
                  </a:solidFill>
                  <a:latin typeface="+mn-lt"/>
                  <a:ea typeface="+mn-ea"/>
                  <a:cs typeface="+mn-cs"/>
                </a:rPr>
                <a:t>describes live research comparisons</a:t>
              </a:r>
              <a:br>
                <a:rPr lang="en-US" sz="1500" dirty="0">
                  <a:solidFill>
                    <a:schemeClr val="dk1"/>
                  </a:solidFill>
                  <a:latin typeface="+mn-lt"/>
                  <a:ea typeface="+mn-ea"/>
                  <a:cs typeface="+mn-cs"/>
                </a:rPr>
              </a:br>
              <a:r>
                <a:rPr lang="en-US" sz="1500" dirty="0">
                  <a:solidFill>
                    <a:schemeClr val="dk1"/>
                  </a:solidFill>
                  <a:latin typeface="+mn-lt"/>
                  <a:ea typeface="+mn-ea"/>
                  <a:cs typeface="+mn-cs"/>
                </a:rPr>
                <a:t>and cost per useful insight,</a:t>
              </a:r>
              <a:br>
                <a:rPr lang="en-US" sz="1500" dirty="0">
                  <a:solidFill>
                    <a:schemeClr val="dk1"/>
                  </a:solidFill>
                  <a:latin typeface="+mn-lt"/>
                  <a:ea typeface="+mn-ea"/>
                  <a:cs typeface="+mn-cs"/>
                </a:rPr>
              </a:br>
              <a:r>
                <a:rPr lang="en-US" sz="1500" dirty="0">
                  <a:solidFill>
                    <a:schemeClr val="dk1"/>
                  </a:solidFill>
                  <a:latin typeface="+mn-lt"/>
                  <a:ea typeface="+mn-ea"/>
                  <a:cs typeface="+mn-cs"/>
                </a:rPr>
                <a:t>including repair effort. Define</a:t>
              </a:r>
              <a:br>
                <a:rPr lang="en-US" sz="1500" dirty="0">
                  <a:solidFill>
                    <a:schemeClr val="dk1"/>
                  </a:solidFill>
                  <a:latin typeface="+mn-lt"/>
                  <a:ea typeface="+mn-ea"/>
                  <a:cs typeface="+mn-cs"/>
                </a:rPr>
              </a:br>
              <a:r>
                <a:rPr lang="en-US" sz="1500" dirty="0">
                  <a:solidFill>
                    <a:schemeClr val="dk1"/>
                  </a:solidFill>
                  <a:latin typeface="+mn-lt"/>
                  <a:ea typeface="+mn-ea"/>
                  <a:cs typeface="+mn-cs"/>
                </a:rPr>
                <a:t>useful insight, eligible work and</a:t>
              </a:r>
              <a:br>
                <a:rPr lang="en-US" sz="1500" dirty="0">
                  <a:solidFill>
                    <a:schemeClr val="dk1"/>
                  </a:solidFill>
                  <a:latin typeface="+mn-lt"/>
                  <a:ea typeface="+mn-ea"/>
                  <a:cs typeface="+mn-cs"/>
                </a:rPr>
              </a:br>
              <a:r>
                <a:rPr lang="en-US" sz="1500" dirty="0">
                  <a:solidFill>
                    <a:schemeClr val="dk1"/>
                  </a:solidFill>
                  <a:latin typeface="+mn-lt"/>
                  <a:ea typeface="+mn-ea"/>
                  <a:cs typeface="+mn-cs"/>
                </a:rPr>
                <a:t>the comparison before looking at</a:t>
              </a:r>
              <a:br>
                <a:rPr lang="en-US" sz="1500" dirty="0">
                  <a:solidFill>
                    <a:schemeClr val="dk1"/>
                  </a:solidFill>
                  <a:latin typeface="+mn-lt"/>
                  <a:ea typeface="+mn-ea"/>
                  <a:cs typeface="+mn-cs"/>
                </a:rPr>
              </a:br>
              <a:r>
                <a:rPr lang="en-US" sz="1500" dirty="0">
                  <a:solidFill>
                    <a:schemeClr val="dk1"/>
                  </a:solidFill>
                  <a:latin typeface="+mn-lt"/>
                  <a:ea typeface="+mn-ea"/>
                  <a:cs typeface="+mn-cs"/>
                </a:rPr>
                <a:t>outcomes. Its description does not</a:t>
              </a:r>
              <a:br>
                <a:rPr lang="en-US" sz="1500" dirty="0">
                  <a:solidFill>
                    <a:schemeClr val="dk1"/>
                  </a:solidFill>
                  <a:latin typeface="+mn-lt"/>
                  <a:ea typeface="+mn-ea"/>
                  <a:cs typeface="+mn-cs"/>
                </a:rPr>
              </a:br>
              <a:r>
                <a:rPr lang="en-US" sz="1500" dirty="0">
                  <a:solidFill>
                    <a:schemeClr val="dk1"/>
                  </a:solidFill>
                  <a:latin typeface="+mn-lt"/>
                  <a:ea typeface="+mn-ea"/>
                  <a:cs typeface="+mn-cs"/>
                </a:rPr>
                <a:t>disclose enough assignment, sample</a:t>
              </a:r>
              <a:br>
                <a:rPr lang="en-US" sz="1500" dirty="0">
                  <a:solidFill>
                    <a:schemeClr val="dk1"/>
                  </a:solidFill>
                  <a:latin typeface="+mn-lt"/>
                  <a:ea typeface="+mn-ea"/>
                  <a:cs typeface="+mn-cs"/>
                </a:rPr>
              </a:br>
              <a:r>
                <a:rPr lang="en-US" sz="1500" dirty="0">
                  <a:solidFill>
                    <a:schemeClr val="dk1"/>
                  </a:solidFill>
                  <a:latin typeface="+mn-lt"/>
                  <a:ea typeface="+mn-ea"/>
                  <a:cs typeface="+mn-cs"/>
                </a:rPr>
                <a:t>or control detail to establish</a:t>
              </a:r>
              <a:br>
                <a:rPr lang="en-US" sz="1500" dirty="0">
                  <a:solidFill>
                    <a:schemeClr val="dk1"/>
                  </a:solidFill>
                  <a:latin typeface="+mn-lt"/>
                  <a:ea typeface="+mn-ea"/>
                  <a:cs typeface="+mn-cs"/>
                </a:rPr>
              </a:br>
              <a:r>
                <a:rPr lang="en-US" sz="1500" dirty="0">
                  <a:solidFill>
                    <a:schemeClr val="dk1"/>
                  </a:solidFill>
                  <a:latin typeface="+mn-lt"/>
                  <a:ea typeface="+mn-ea"/>
                  <a:cs typeface="+mn-cs"/>
                </a:rPr>
                <a:t>causal alpha.</a:t>
              </a:r>
            </a:p>
          </p:txBody>
        </p:sp>
      </p:grpSp>
      <p:grpSp>
        <p:nvGrpSpPr>
          <p:cNvPr id="20" name="analysis-2"/>
          <p:cNvGrpSpPr/>
          <p:nvPr/>
        </p:nvGrpSpPr>
        <p:grpSpPr>
          <a:xfrm>
            <a:off x="4296156" y="2438400"/>
            <a:ext cx="3002928" cy="2969895"/>
            <a:chOff x="4296156" y="2438400"/>
            <a:chExt cx="3002928" cy="2969895"/>
          </a:xfrm>
        </p:grpSpPr>
        <p:sp>
          <p:nvSpPr>
            <p:cNvPr id="18" name="TextBox 18"/>
            <p:cNvSpPr txBox="1"/>
            <p:nvPr/>
          </p:nvSpPr>
          <p:spPr>
            <a:xfrm>
              <a:off x="4296156" y="2438400"/>
              <a:ext cx="275961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Keep the decision record</a:t>
              </a:r>
            </a:p>
          </p:txBody>
        </p:sp>
        <p:sp>
          <p:nvSpPr>
            <p:cNvPr id="19" name="TextBox 19"/>
            <p:cNvSpPr txBox="1"/>
            <p:nvPr/>
          </p:nvSpPr>
          <p:spPr>
            <a:xfrm>
              <a:off x="4297680" y="3057525"/>
              <a:ext cx="3001404"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Preserve what was known when an</a:t>
              </a:r>
              <a:br>
                <a:rPr lang="en-US" sz="1500" dirty="0">
                  <a:solidFill>
                    <a:schemeClr val="dk1"/>
                  </a:solidFill>
                  <a:latin typeface="+mn-lt"/>
                  <a:ea typeface="+mn-ea"/>
                  <a:cs typeface="+mn-cs"/>
                </a:rPr>
              </a:br>
              <a:r>
                <a:rPr lang="en-US" sz="1500" dirty="0">
                  <a:solidFill>
                    <a:schemeClr val="dk1"/>
                  </a:solidFill>
                  <a:latin typeface="+mn-lt"/>
                  <a:ea typeface="+mn-ea"/>
                  <a:cs typeface="+mn-cs"/>
                </a:rPr>
                <a:t>idea was proposed, its sources,</a:t>
              </a:r>
              <a:br>
                <a:rPr lang="en-US" sz="1500" dirty="0">
                  <a:solidFill>
                    <a:schemeClr val="dk1"/>
                  </a:solidFill>
                  <a:latin typeface="+mn-lt"/>
                  <a:ea typeface="+mn-ea"/>
                  <a:cs typeface="+mn-cs"/>
                </a:rPr>
              </a:br>
              <a:r>
                <a:rPr lang="en-US" sz="1500" dirty="0">
                  <a:solidFill>
                    <a:schemeClr val="dk1"/>
                  </a:solidFill>
                  <a:latin typeface="+mn-lt"/>
                  <a:ea typeface="+mn-ea"/>
                  <a:cs typeface="+mn-cs"/>
                </a:rPr>
                <a:t>reasoning, reviewer response and</a:t>
              </a:r>
              <a:br>
                <a:rPr lang="en-US" sz="1500" dirty="0">
                  <a:solidFill>
                    <a:schemeClr val="dk1"/>
                  </a:solidFill>
                  <a:latin typeface="+mn-lt"/>
                  <a:ea typeface="+mn-ea"/>
                  <a:cs typeface="+mn-cs"/>
                </a:rPr>
              </a:br>
              <a:r>
                <a:rPr lang="en-US" sz="1500" dirty="0">
                  <a:solidFill>
                    <a:schemeClr val="dk1"/>
                  </a:solidFill>
                  <a:latin typeface="+mn-lt"/>
                  <a:ea typeface="+mn-ea"/>
                  <a:cs typeface="+mn-cs"/>
                </a:rPr>
                <a:t>subsequent decision. Agents</a:t>
              </a:r>
              <a:br>
                <a:rPr lang="en-US" sz="1500" dirty="0">
                  <a:solidFill>
                    <a:schemeClr val="dk1"/>
                  </a:solidFill>
                  <a:latin typeface="+mn-lt"/>
                  <a:ea typeface="+mn-ea"/>
                  <a:cs typeface="+mn-cs"/>
                </a:rPr>
              </a:br>
              <a:r>
                <a:rPr lang="en-US" sz="1500" dirty="0">
                  <a:solidFill>
                    <a:schemeClr val="dk1"/>
                  </a:solidFill>
                  <a:latin typeface="+mn-lt"/>
                  <a:ea typeface="+mn-ea"/>
                  <a:cs typeface="+mn-cs"/>
                </a:rPr>
                <a:t>revisiting an old idea may improve</a:t>
              </a:r>
              <a:br>
                <a:rPr lang="en-US" sz="1500" dirty="0">
                  <a:solidFill>
                    <a:schemeClr val="dk1"/>
                  </a:solidFill>
                  <a:latin typeface="+mn-lt"/>
                  <a:ea typeface="+mn-ea"/>
                  <a:cs typeface="+mn-cs"/>
                </a:rPr>
              </a:br>
              <a:r>
                <a:rPr lang="en-US" sz="1500" dirty="0">
                  <a:solidFill>
                    <a:schemeClr val="dk1"/>
                  </a:solidFill>
                  <a:latin typeface="+mn-lt"/>
                  <a:ea typeface="+mn-ea"/>
                  <a:cs typeface="+mn-cs"/>
                </a:rPr>
                <a:t>timing or attention; a later</a:t>
              </a:r>
              <a:br>
                <a:rPr lang="en-US" sz="1500" dirty="0">
                  <a:solidFill>
                    <a:schemeClr val="dk1"/>
                  </a:solidFill>
                  <a:latin typeface="+mn-lt"/>
                  <a:ea typeface="+mn-ea"/>
                  <a:cs typeface="+mn-cs"/>
                </a:rPr>
              </a:br>
              <a:r>
                <a:rPr lang="en-US" sz="1500" dirty="0">
                  <a:solidFill>
                    <a:schemeClr val="dk1"/>
                  </a:solidFill>
                  <a:latin typeface="+mn-lt"/>
                  <a:ea typeface="+mn-ea"/>
                  <a:cs typeface="+mn-cs"/>
                </a:rPr>
                <a:t>profitable position still depends</a:t>
              </a:r>
              <a:br>
                <a:rPr lang="en-US" sz="1500" dirty="0">
                  <a:solidFill>
                    <a:schemeClr val="dk1"/>
                  </a:solidFill>
                  <a:latin typeface="+mn-lt"/>
                  <a:ea typeface="+mn-ea"/>
                  <a:cs typeface="+mn-cs"/>
                </a:rPr>
              </a:br>
              <a:r>
                <a:rPr lang="en-US" sz="1500" dirty="0">
                  <a:solidFill>
                    <a:schemeClr val="dk1"/>
                  </a:solidFill>
                  <a:latin typeface="+mn-lt"/>
                  <a:ea typeface="+mn-ea"/>
                  <a:cs typeface="+mn-cs"/>
                </a:rPr>
                <a:t>on markets, selection, sizing and</a:t>
              </a:r>
              <a:br>
                <a:rPr lang="en-US" sz="1500" dirty="0">
                  <a:solidFill>
                    <a:schemeClr val="dk1"/>
                  </a:solidFill>
                  <a:latin typeface="+mn-lt"/>
                  <a:ea typeface="+mn-ea"/>
                  <a:cs typeface="+mn-cs"/>
                </a:rPr>
              </a:br>
              <a:r>
                <a:rPr lang="en-US" sz="1500" dirty="0">
                  <a:solidFill>
                    <a:schemeClr val="dk1"/>
                  </a:solidFill>
                  <a:latin typeface="+mn-lt"/>
                  <a:ea typeface="+mn-ea"/>
                  <a:cs typeface="+mn-cs"/>
                </a:rPr>
                <a:t>human action.</a:t>
              </a:r>
            </a:p>
          </p:txBody>
        </p:sp>
      </p:grpSp>
      <p:grpSp>
        <p:nvGrpSpPr>
          <p:cNvPr id="23" name="analysis-3"/>
          <p:cNvGrpSpPr/>
          <p:nvPr/>
        </p:nvGrpSpPr>
        <p:grpSpPr>
          <a:xfrm>
            <a:off x="8144256" y="2438400"/>
            <a:ext cx="3225127" cy="2969895"/>
            <a:chOff x="8144256" y="2438400"/>
            <a:chExt cx="3225127" cy="2969895"/>
          </a:xfrm>
        </p:grpSpPr>
        <p:sp>
          <p:nvSpPr>
            <p:cNvPr id="21" name="TextBox 21"/>
            <p:cNvSpPr txBox="1"/>
            <p:nvPr/>
          </p:nvSpPr>
          <p:spPr>
            <a:xfrm>
              <a:off x="8144256" y="2438400"/>
              <a:ext cx="274028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Inspect the denominator</a:t>
              </a:r>
            </a:p>
          </p:txBody>
        </p:sp>
        <p:sp>
          <p:nvSpPr>
            <p:cNvPr id="22" name="TextBox 22"/>
            <p:cNvSpPr txBox="1"/>
            <p:nvPr/>
          </p:nvSpPr>
          <p:spPr>
            <a:xfrm>
              <a:off x="8145780" y="3057525"/>
              <a:ext cx="3223603"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Jellyfish includes human salary and</a:t>
              </a:r>
              <a:br>
                <a:rPr lang="en-US" sz="1500" dirty="0">
                  <a:solidFill>
                    <a:schemeClr val="dk1"/>
                  </a:solidFill>
                  <a:latin typeface="+mn-lt"/>
                  <a:ea typeface="+mn-ea"/>
                  <a:cs typeface="+mn-cs"/>
                </a:rPr>
              </a:br>
              <a:r>
                <a:rPr lang="en-US" sz="1500" dirty="0">
                  <a:solidFill>
                    <a:schemeClr val="dk1"/>
                  </a:solidFill>
                  <a:latin typeface="+mn-lt"/>
                  <a:ea typeface="+mn-ea"/>
                  <a:cs typeface="+mn-cs"/>
                </a:rPr>
                <a:t>AI spend per merged PR, and</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inspects reverts/change size. That</a:t>
              </a:r>
              <a:br>
                <a:rPr lang="en-US" sz="1500" dirty="0">
                  <a:solidFill>
                    <a:schemeClr val="dk1"/>
                  </a:solidFill>
                  <a:latin typeface="+mn-lt"/>
                  <a:ea typeface="+mn-ea"/>
                  <a:cs typeface="+mn-cs"/>
                </a:rPr>
              </a:br>
              <a:r>
                <a:rPr lang="en-US" sz="1500" dirty="0">
                  <a:solidFill>
                    <a:schemeClr val="dk1"/>
                  </a:solidFill>
                  <a:latin typeface="+mn-lt"/>
                  <a:ea typeface="+mn-ea"/>
                  <a:cs typeface="+mn-cs"/>
                </a:rPr>
                <a:t>observational engineering proxy</a:t>
              </a:r>
              <a:br>
                <a:rPr lang="en-US" sz="1500" dirty="0">
                  <a:solidFill>
                    <a:schemeClr val="dk1"/>
                  </a:solidFill>
                  <a:latin typeface="+mn-lt"/>
                  <a:ea typeface="+mn-ea"/>
                  <a:cs typeface="+mn-cs"/>
                </a:rPr>
              </a:br>
              <a:r>
                <a:rPr lang="en-US" sz="1500" dirty="0">
                  <a:solidFill>
                    <a:schemeClr val="dk1"/>
                  </a:solidFill>
                  <a:latin typeface="+mn-lt"/>
                  <a:ea typeface="+mn-ea"/>
                  <a:cs typeface="+mn-cs"/>
                </a:rPr>
                <a:t>suggests measuring accepted work</a:t>
              </a:r>
              <a:br>
                <a:rPr lang="en-US" sz="1500" dirty="0">
                  <a:solidFill>
                    <a:schemeClr val="dk1"/>
                  </a:solidFill>
                  <a:latin typeface="+mn-lt"/>
                  <a:ea typeface="+mn-ea"/>
                  <a:cs typeface="+mn-cs"/>
                </a:rPr>
              </a:br>
              <a:r>
                <a:rPr lang="en-US" sz="1500" dirty="0">
                  <a:solidFill>
                    <a:schemeClr val="dk1"/>
                  </a:solidFill>
                  <a:latin typeface="+mn-lt"/>
                  <a:ea typeface="+mn-ea"/>
                  <a:cs typeface="+mn-cs"/>
                </a:rPr>
                <a:t>with quality counterchecks. It does</a:t>
              </a:r>
              <a:br>
                <a:rPr lang="en-US" sz="1500" dirty="0">
                  <a:solidFill>
                    <a:schemeClr val="dk1"/>
                  </a:solidFill>
                  <a:latin typeface="+mn-lt"/>
                  <a:ea typeface="+mn-ea"/>
                  <a:cs typeface="+mn-cs"/>
                </a:rPr>
              </a:br>
              <a:r>
                <a:rPr lang="en-US" sz="1500" dirty="0">
                  <a:solidFill>
                    <a:schemeClr val="dk1"/>
                  </a:solidFill>
                  <a:latin typeface="+mn-lt"/>
                  <a:ea typeface="+mn-ea"/>
                  <a:cs typeface="+mn-cs"/>
                </a:rPr>
                <a:t>not establish that spending more</a:t>
              </a:r>
              <a:br>
                <a:rPr lang="en-US" sz="1500" dirty="0">
                  <a:solidFill>
                    <a:schemeClr val="dk1"/>
                  </a:solidFill>
                  <a:latin typeface="+mn-lt"/>
                  <a:ea typeface="+mn-ea"/>
                  <a:cs typeface="+mn-cs"/>
                </a:rPr>
              </a:br>
              <a:r>
                <a:rPr lang="en-US" sz="1500" dirty="0">
                  <a:solidFill>
                    <a:schemeClr val="dk1"/>
                  </a:solidFill>
                  <a:latin typeface="+mn-lt"/>
                  <a:ea typeface="+mn-ea"/>
                  <a:cs typeface="+mn-cs"/>
                </a:rPr>
                <a:t>causes improvement or that a merged</a:t>
              </a:r>
              <a:br>
                <a:rPr lang="en-US" sz="1500" dirty="0">
                  <a:solidFill>
                    <a:schemeClr val="dk1"/>
                  </a:solidFill>
                  <a:latin typeface="+mn-lt"/>
                  <a:ea typeface="+mn-ea"/>
                  <a:cs typeface="+mn-cs"/>
                </a:rPr>
              </a:br>
              <a:r>
                <a:rPr lang="en-US" sz="1500" dirty="0">
                  <a:solidFill>
                    <a:schemeClr val="dk1"/>
                  </a:solidFill>
                  <a:latin typeface="+mn-lt"/>
                  <a:ea typeface="+mn-ea"/>
                  <a:cs typeface="+mn-cs"/>
                </a:rPr>
                <a:t>PR equals business value.</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4200414"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Contour Asset Management · Jellyfish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06 / 37</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400136" cy="1100582"/>
            <a:chOff x="443484" y="361950"/>
            <a:chExt cx="9400136"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592630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Count the full cost of accepted work</a:t>
              </a:r>
            </a:p>
          </p:txBody>
        </p:sp>
        <p:sp>
          <p:nvSpPr>
            <p:cNvPr id="4" name="TextBox 4"/>
            <p:cNvSpPr txBox="1"/>
            <p:nvPr/>
          </p:nvSpPr>
          <p:spPr>
            <a:xfrm>
              <a:off x="448818" y="1139825"/>
              <a:ext cx="9394802"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 smaller prompt or cheaper model is valuable only when the complete, reviewed job improves.</a:t>
              </a:r>
            </a:p>
          </p:txBody>
        </p:sp>
      </p:grpSp>
      <p:grpSp>
        <p:nvGrpSpPr>
          <p:cNvPr id="10" name="accepted-work-equation"/>
          <p:cNvGrpSpPr/>
          <p:nvPr/>
        </p:nvGrpSpPr>
        <p:grpSpPr>
          <a:xfrm>
            <a:off x="457200" y="1714500"/>
            <a:ext cx="5048250" cy="2381250"/>
            <a:chOff x="457200" y="1714500"/>
            <a:chExt cx="5048250" cy="2381250"/>
          </a:xfrm>
        </p:grpSpPr>
        <p:sp>
          <p:nvSpPr>
            <p:cNvPr id="6" name="Rectangle 6"/>
            <p:cNvSpPr/>
            <p:nvPr/>
          </p:nvSpPr>
          <p:spPr>
            <a:xfrm>
              <a:off x="457200" y="1714500"/>
              <a:ext cx="5048250" cy="2381250"/>
            </a:xfrm>
            <a:prstGeom prst="rect">
              <a:avLst/>
            </a:prstGeom>
            <a:solidFill>
              <a:schemeClr val="accent1"/>
            </a:solidFill>
            <a:ln>
              <a:noFill/>
            </a:ln>
          </p:spPr>
        </p:sp>
        <p:sp>
          <p:nvSpPr>
            <p:cNvPr id="7" name="TextBox 7"/>
            <p:cNvSpPr txBox="1"/>
            <p:nvPr/>
          </p:nvSpPr>
          <p:spPr>
            <a:xfrm>
              <a:off x="678942" y="1930400"/>
              <a:ext cx="231746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FULL WORKFLOW COST</a:t>
              </a:r>
            </a:p>
          </p:txBody>
        </p:sp>
        <p:sp>
          <p:nvSpPr>
            <p:cNvPr id="8" name="TextBox 8"/>
            <p:cNvSpPr txBox="1"/>
            <p:nvPr/>
          </p:nvSpPr>
          <p:spPr>
            <a:xfrm>
              <a:off x="672084" y="2343150"/>
              <a:ext cx="2888864" cy="985266"/>
            </a:xfrm>
            <a:prstGeom prst="rect">
              <a:avLst/>
            </a:prstGeom>
            <a:noFill/>
            <a:ln>
              <a:noFill/>
            </a:ln>
          </p:spPr>
          <p:txBody>
            <a:bodyPr wrap="none" lIns="0" tIns="0" rIns="0" bIns="0" anchor="t" anchorCtr="0">
              <a:spAutoFit/>
            </a:bodyPr>
            <a:lstStyle/>
            <a:p>
              <a:pPr algn="l">
                <a:lnSpc>
                  <a:spcPts val="3600"/>
                </a:lnSpc>
              </a:pPr>
              <a:r>
                <a:rPr lang="en-US" sz="2700" dirty="0">
                  <a:solidFill>
                    <a:srgbClr val="FFFDF7"/>
                  </a:solidFill>
                  <a:latin typeface="+mj-lt"/>
                  <a:ea typeface="+mj-ea"/>
                  <a:cs typeface="+mj-cs"/>
                </a:rPr>
                <a:t>All costs ÷ accepted</a:t>
              </a:r>
              <a:br>
                <a:rPr lang="en-US" sz="2700" dirty="0">
                  <a:solidFill>
                    <a:srgbClr val="FFFDF7"/>
                  </a:solidFill>
                  <a:latin typeface="+mj-lt"/>
                  <a:ea typeface="+mj-ea"/>
                  <a:cs typeface="+mj-cs"/>
                </a:rPr>
              </a:br>
              <a:r>
                <a:rPr lang="en-US" sz="2700" dirty="0">
                  <a:solidFill>
                    <a:srgbClr val="FFFDF7"/>
                  </a:solidFill>
                  <a:latin typeface="+mj-lt"/>
                  <a:ea typeface="+mj-ea"/>
                  <a:cs typeface="+mj-cs"/>
                </a:rPr>
                <a:t>tasks</a:t>
              </a:r>
            </a:p>
          </p:txBody>
        </p:sp>
        <p:sp>
          <p:nvSpPr>
            <p:cNvPr id="9" name="TextBox 9"/>
            <p:cNvSpPr txBox="1"/>
            <p:nvPr/>
          </p:nvSpPr>
          <p:spPr>
            <a:xfrm>
              <a:off x="678180" y="3209925"/>
              <a:ext cx="4197538" cy="293370"/>
            </a:xfrm>
            <a:prstGeom prst="rect">
              <a:avLst/>
            </a:prstGeom>
            <a:noFill/>
            <a:ln>
              <a:noFill/>
            </a:ln>
          </p:spPr>
          <p:txBody>
            <a:bodyPr wrap="none" lIns="0" tIns="0" rIns="0" bIns="0" anchor="t" anchorCtr="0">
              <a:spAutoFit/>
            </a:bodyPr>
            <a:lstStyle/>
            <a:p>
              <a:pPr algn="l"/>
              <a:r>
                <a:rPr lang="en-US" sz="1500" dirty="0">
                  <a:solidFill>
                    <a:srgbClr val="FFFDF7"/>
                  </a:solidFill>
                  <a:latin typeface="+mn-lt"/>
                  <a:ea typeface="+mn-ea"/>
                  <a:cs typeface="+mn-cs"/>
                </a:rPr>
                <a:t>Attempts + tools + review + rework + operation</a:t>
              </a:r>
            </a:p>
          </p:txBody>
        </p:sp>
      </p:grpSp>
      <p:grpSp>
        <p:nvGrpSpPr>
          <p:cNvPr id="14" name="context-demo"/>
          <p:cNvGrpSpPr/>
          <p:nvPr/>
        </p:nvGrpSpPr>
        <p:grpSpPr>
          <a:xfrm>
            <a:off x="5948934" y="1819275"/>
            <a:ext cx="4574019" cy="1950720"/>
            <a:chOff x="5948934" y="1819275"/>
            <a:chExt cx="4574019" cy="1950720"/>
          </a:xfrm>
        </p:grpSpPr>
        <p:sp>
          <p:nvSpPr>
            <p:cNvPr id="11" name="TextBox 11"/>
            <p:cNvSpPr txBox="1"/>
            <p:nvPr/>
          </p:nvSpPr>
          <p:spPr>
            <a:xfrm>
              <a:off x="5953506" y="1819275"/>
              <a:ext cx="32166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A context-use demonstration</a:t>
              </a:r>
            </a:p>
          </p:txBody>
        </p:sp>
        <p:sp>
          <p:nvSpPr>
            <p:cNvPr id="12" name="TextBox 12"/>
            <p:cNvSpPr txBox="1"/>
            <p:nvPr/>
          </p:nvSpPr>
          <p:spPr>
            <a:xfrm>
              <a:off x="5948934" y="2308225"/>
              <a:ext cx="377620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24,000 → 2,400 tokens</a:t>
              </a:r>
            </a:p>
          </p:txBody>
        </p:sp>
        <p:sp>
          <p:nvSpPr>
            <p:cNvPr id="13" name="TextBox 13"/>
            <p:cNvSpPr txBox="1"/>
            <p:nvPr/>
          </p:nvSpPr>
          <p:spPr>
            <a:xfrm>
              <a:off x="5955030" y="2962275"/>
              <a:ext cx="4567923" cy="80772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Credit Karma’s Artifactory example motivates a paired</a:t>
              </a:r>
              <a:br>
                <a:rPr lang="en-US" sz="1500" dirty="0">
                  <a:solidFill>
                    <a:schemeClr val="dk1"/>
                  </a:solidFill>
                  <a:latin typeface="+mn-lt"/>
                  <a:ea typeface="+mn-ea"/>
                  <a:cs typeface="+mn-cs"/>
                </a:rPr>
              </a:br>
              <a:r>
                <a:rPr lang="en-US" sz="1500" dirty="0">
                  <a:solidFill>
                    <a:schemeClr val="dk1"/>
                  </a:solidFill>
                  <a:latin typeface="+mn-lt"/>
                  <a:ea typeface="+mn-ea"/>
                  <a:cs typeface="+mn-cs"/>
                </a:rPr>
                <a:t>quality test. It does not establish equal answers or a</a:t>
              </a:r>
              <a:br>
                <a:rPr lang="en-US" sz="1500" dirty="0">
                  <a:solidFill>
                    <a:schemeClr val="dk1"/>
                  </a:solidFill>
                  <a:latin typeface="+mn-lt"/>
                  <a:ea typeface="+mn-ea"/>
                  <a:cs typeface="+mn-cs"/>
                </a:rPr>
              </a:br>
              <a:r>
                <a:rPr lang="en-US" sz="1500" dirty="0">
                  <a:solidFill>
                    <a:schemeClr val="dk1"/>
                  </a:solidFill>
                  <a:latin typeface="+mn-lt"/>
                  <a:ea typeface="+mn-ea"/>
                  <a:cs typeface="+mn-cs"/>
                </a:rPr>
                <a:t>general latency improvement.</a:t>
              </a:r>
            </a:p>
          </p:txBody>
        </p:sp>
      </p:grpSp>
      <p:grpSp>
        <p:nvGrpSpPr>
          <p:cNvPr id="17" name="economic-acceptance"/>
          <p:cNvGrpSpPr/>
          <p:nvPr/>
        </p:nvGrpSpPr>
        <p:grpSpPr>
          <a:xfrm>
            <a:off x="448056" y="4591050"/>
            <a:ext cx="9535592" cy="1760220"/>
            <a:chOff x="448056" y="4591050"/>
            <a:chExt cx="9535592" cy="1760220"/>
          </a:xfrm>
        </p:grpSpPr>
        <p:sp>
          <p:nvSpPr>
            <p:cNvPr id="15" name="TextBox 15"/>
            <p:cNvSpPr txBox="1"/>
            <p:nvPr/>
          </p:nvSpPr>
          <p:spPr>
            <a:xfrm>
              <a:off x="448056" y="4591050"/>
              <a:ext cx="324685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Count the work people retain</a:t>
              </a:r>
            </a:p>
          </p:txBody>
        </p:sp>
        <p:sp>
          <p:nvSpPr>
            <p:cNvPr id="16" name="TextBox 16"/>
            <p:cNvSpPr txBox="1"/>
            <p:nvPr/>
          </p:nvSpPr>
          <p:spPr>
            <a:xfrm>
              <a:off x="449580" y="5029200"/>
              <a:ext cx="9534068" cy="13220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reviewer’s correction, candidate selection and investigation time belong in the comparison. Include abandoned</a:t>
              </a:r>
              <a:br>
                <a:rPr lang="en-US" sz="1500" dirty="0">
                  <a:solidFill>
                    <a:schemeClr val="dk1"/>
                  </a:solidFill>
                  <a:latin typeface="+mn-lt"/>
                  <a:ea typeface="+mn-ea"/>
                  <a:cs typeface="+mn-cs"/>
                </a:rPr>
              </a:br>
              <a:r>
                <a:rPr lang="en-US" sz="1500" dirty="0">
                  <a:solidFill>
                    <a:schemeClr val="dk1"/>
                  </a:solidFill>
                  <a:latin typeface="+mn-lt"/>
                  <a:ea typeface="+mn-ea"/>
                  <a:cs typeface="+mn-cs"/>
                </a:rPr>
                <a:t>runs and retries in cost even when only one final output is accepted. Report accepted-task rate beside unit cost</a:t>
              </a:r>
              <a:br>
                <a:rPr lang="en-US" sz="1500" dirty="0">
                  <a:solidFill>
                    <a:schemeClr val="dk1"/>
                  </a:solidFill>
                  <a:latin typeface="+mn-lt"/>
                  <a:ea typeface="+mn-ea"/>
                  <a:cs typeface="+mn-cs"/>
                </a:rPr>
              </a:br>
              <a:r>
                <a:rPr lang="en-US" sz="1500" dirty="0">
                  <a:solidFill>
                    <a:schemeClr val="dk1"/>
                  </a:solidFill>
                  <a:latin typeface="+mn-lt"/>
                  <a:ea typeface="+mn-ea"/>
                  <a:cs typeface="+mn-cs"/>
                </a:rPr>
                <a:t>so narrower coverage cannot masquerade as improvement. Jellyfish’s salary-plus-AI framing and Ramp’s narrow</a:t>
              </a:r>
              <a:br>
                <a:rPr lang="en-US" sz="1500" dirty="0">
                  <a:solidFill>
                    <a:schemeClr val="dk1"/>
                  </a:solidFill>
                  <a:latin typeface="+mn-lt"/>
                  <a:ea typeface="+mn-ea"/>
                  <a:cs typeface="+mn-cs"/>
                </a:rPr>
              </a:br>
              <a:r>
                <a:rPr lang="en-US" sz="1500" dirty="0">
                  <a:solidFill>
                    <a:schemeClr val="dk1"/>
                  </a:solidFill>
                  <a:latin typeface="+mn-lt"/>
                  <a:ea typeface="+mn-ea"/>
                  <a:cs typeface="+mn-cs"/>
                </a:rPr>
                <a:t>specialist work both shift attention to end-to-end economics. Separate prefill, generation, tool and human</a:t>
              </a:r>
              <a:br>
                <a:rPr lang="en-US" sz="1500" dirty="0">
                  <a:solidFill>
                    <a:schemeClr val="dk1"/>
                  </a:solidFill>
                  <a:latin typeface="+mn-lt"/>
                  <a:ea typeface="+mn-ea"/>
                  <a:cs typeface="+mn-cs"/>
                </a:rPr>
              </a:br>
              <a:r>
                <a:rPr lang="en-US" sz="1500" dirty="0">
                  <a:solidFill>
                    <a:schemeClr val="dk1"/>
                  </a:solidFill>
                  <a:latin typeface="+mn-lt"/>
                  <a:ea typeface="+mn-ea"/>
                  <a:cs typeface="+mn-cs"/>
                </a:rPr>
                <a:t>delays. A smaller prompt or model can improve a stage while leaving total delivery time or quality worse.</a:t>
              </a:r>
            </a:p>
          </p:txBody>
        </p:sp>
      </p:grpSp>
      <p:grpSp>
        <p:nvGrpSpPr>
          <p:cNvPr id="20" name="footer"/>
          <p:cNvGrpSpPr/>
          <p:nvPr/>
        </p:nvGrpSpPr>
        <p:grpSpPr>
          <a:xfrm>
            <a:off x="452438" y="6477000"/>
            <a:ext cx="11287124" cy="176212"/>
            <a:chOff x="452438" y="6477000"/>
            <a:chExt cx="11287124" cy="176212"/>
          </a:xfrm>
        </p:grpSpPr>
        <p:sp>
          <p:nvSpPr>
            <p:cNvPr id="18" name="TextBox 18"/>
            <p:cNvSpPr txBox="1"/>
            <p:nvPr/>
          </p:nvSpPr>
          <p:spPr>
            <a:xfrm>
              <a:off x="452438" y="6477000"/>
              <a:ext cx="4137247"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Intuit Credit Karma · Jellyfish · Ramp | Reviewed October 25, 2026</a:t>
              </a:r>
            </a:p>
          </p:txBody>
        </p:sp>
        <p:sp>
          <p:nvSpPr>
            <p:cNvPr id="19" name="TextBox 1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07 / 37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107767" cy="1364107"/>
            <a:chOff x="443484" y="361950"/>
            <a:chExt cx="9107767" cy="1364107"/>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7527125"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A changing belief needs a dated evidence trail</a:t>
              </a:r>
            </a:p>
          </p:txBody>
        </p:sp>
        <p:sp>
          <p:nvSpPr>
            <p:cNvPr id="4" name="TextBox 4"/>
            <p:cNvSpPr txBox="1"/>
            <p:nvPr/>
          </p:nvSpPr>
          <p:spPr>
            <a:xfrm>
              <a:off x="448818" y="1127125"/>
              <a:ext cx="9102433"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Citadel Securities distinguishes reported status from evidence-supported status and preserves the</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reasons for change.</a:t>
              </a:r>
            </a:p>
          </p:txBody>
        </p:sp>
      </p:grpSp>
      <p:grpSp>
        <p:nvGrpSpPr>
          <p:cNvPr id="9" name="earlier-record"/>
          <p:cNvGrpSpPr/>
          <p:nvPr/>
        </p:nvGrpSpPr>
        <p:grpSpPr>
          <a:xfrm>
            <a:off x="457200" y="1752600"/>
            <a:ext cx="3162300" cy="1428750"/>
            <a:chOff x="457200" y="1752600"/>
            <a:chExt cx="3162300" cy="1428750"/>
          </a:xfrm>
        </p:grpSpPr>
        <p:sp>
          <p:nvSpPr>
            <p:cNvPr id="6" name="Rectangle 6"/>
            <p:cNvSpPr/>
            <p:nvPr/>
          </p:nvSpPr>
          <p:spPr>
            <a:xfrm>
              <a:off x="457200" y="1752600"/>
              <a:ext cx="3162300" cy="1428750"/>
            </a:xfrm>
            <a:prstGeom prst="rect">
              <a:avLst/>
            </a:prstGeom>
            <a:solidFill>
              <a:schemeClr val="lt2"/>
            </a:solidFill>
            <a:ln>
              <a:noFill/>
            </a:ln>
          </p:spPr>
        </p:sp>
        <p:sp>
          <p:nvSpPr>
            <p:cNvPr id="7" name="TextBox 7"/>
            <p:cNvSpPr txBox="1"/>
            <p:nvPr/>
          </p:nvSpPr>
          <p:spPr>
            <a:xfrm>
              <a:off x="621030" y="1838325"/>
              <a:ext cx="2120417"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Earlier / monthly deck</a:t>
              </a:r>
            </a:p>
          </p:txBody>
        </p:sp>
        <p:sp>
          <p:nvSpPr>
            <p:cNvPr id="8" name="TextBox 8"/>
            <p:cNvSpPr txBox="1"/>
            <p:nvPr/>
          </p:nvSpPr>
          <p:spPr>
            <a:xfrm>
              <a:off x="621030" y="2228850"/>
              <a:ext cx="2037778"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Reported project status:</a:t>
              </a:r>
              <a:br>
                <a:rPr lang="en-US" sz="1500" dirty="0">
                  <a:solidFill>
                    <a:schemeClr val="dk1"/>
                  </a:solidFill>
                  <a:latin typeface="+mn-lt"/>
                  <a:ea typeface="+mn-ea"/>
                  <a:cs typeface="+mn-cs"/>
                </a:rPr>
              </a:br>
              <a:r>
                <a:rPr lang="en-US" sz="1500" dirty="0">
                  <a:solidFill>
                    <a:schemeClr val="dk1"/>
                  </a:solidFill>
                  <a:latin typeface="+mn-lt"/>
                  <a:ea typeface="+mn-ea"/>
                  <a:cs typeface="+mn-cs"/>
                </a:rPr>
                <a:t>green.</a:t>
              </a:r>
            </a:p>
          </p:txBody>
        </p:sp>
      </p:grpSp>
      <p:grpSp>
        <p:nvGrpSpPr>
          <p:cNvPr id="13" name="new-evidence"/>
          <p:cNvGrpSpPr/>
          <p:nvPr/>
        </p:nvGrpSpPr>
        <p:grpSpPr>
          <a:xfrm>
            <a:off x="3771900" y="1752600"/>
            <a:ext cx="3562350" cy="1428750"/>
            <a:chOff x="3771900" y="1752600"/>
            <a:chExt cx="3562350" cy="1428750"/>
          </a:xfrm>
        </p:grpSpPr>
        <p:sp>
          <p:nvSpPr>
            <p:cNvPr id="10" name="Rectangle 10"/>
            <p:cNvSpPr/>
            <p:nvPr/>
          </p:nvSpPr>
          <p:spPr>
            <a:xfrm>
              <a:off x="3771900" y="1752600"/>
              <a:ext cx="3562350" cy="1428750"/>
            </a:xfrm>
            <a:prstGeom prst="rect">
              <a:avLst/>
            </a:prstGeom>
            <a:solidFill>
              <a:schemeClr val="lt2"/>
            </a:solidFill>
            <a:ln>
              <a:noFill/>
            </a:ln>
          </p:spPr>
        </p:sp>
        <p:sp>
          <p:nvSpPr>
            <p:cNvPr id="11" name="TextBox 11"/>
            <p:cNvSpPr txBox="1"/>
            <p:nvPr/>
          </p:nvSpPr>
          <p:spPr>
            <a:xfrm>
              <a:off x="3935730" y="1838325"/>
              <a:ext cx="3052589"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Newer / message or attachment</a:t>
              </a:r>
            </a:p>
          </p:txBody>
        </p:sp>
        <p:sp>
          <p:nvSpPr>
            <p:cNvPr id="12" name="TextBox 12"/>
            <p:cNvSpPr txBox="1"/>
            <p:nvPr/>
          </p:nvSpPr>
          <p:spPr>
            <a:xfrm>
              <a:off x="3935730" y="2228850"/>
              <a:ext cx="3097454"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An unresolved dependency changes</a:t>
              </a:r>
              <a:br>
                <a:rPr lang="en-US" sz="1500" dirty="0">
                  <a:solidFill>
                    <a:schemeClr val="dk1"/>
                  </a:solidFill>
                  <a:latin typeface="+mn-lt"/>
                  <a:ea typeface="+mn-ea"/>
                  <a:cs typeface="+mn-cs"/>
                </a:rPr>
              </a:br>
              <a:r>
                <a:rPr lang="en-US" sz="1500" dirty="0">
                  <a:solidFill>
                    <a:schemeClr val="dk1"/>
                  </a:solidFill>
                  <a:latin typeface="+mn-lt"/>
                  <a:ea typeface="+mn-ea"/>
                  <a:cs typeface="+mn-cs"/>
                </a:rPr>
                <a:t>the assessment.</a:t>
              </a:r>
            </a:p>
          </p:txBody>
        </p:sp>
      </p:grpSp>
      <p:grpSp>
        <p:nvGrpSpPr>
          <p:cNvPr id="17" name="retained-history"/>
          <p:cNvGrpSpPr/>
          <p:nvPr/>
        </p:nvGrpSpPr>
        <p:grpSpPr>
          <a:xfrm>
            <a:off x="7486650" y="1752600"/>
            <a:ext cx="4248150" cy="1771650"/>
            <a:chOff x="7486650" y="1752600"/>
            <a:chExt cx="4248150" cy="1771650"/>
          </a:xfrm>
        </p:grpSpPr>
        <p:sp>
          <p:nvSpPr>
            <p:cNvPr id="14" name="Rectangle 14"/>
            <p:cNvSpPr/>
            <p:nvPr/>
          </p:nvSpPr>
          <p:spPr>
            <a:xfrm>
              <a:off x="7486650" y="1752600"/>
              <a:ext cx="4248150" cy="1771650"/>
            </a:xfrm>
            <a:prstGeom prst="rect">
              <a:avLst/>
            </a:prstGeom>
            <a:solidFill>
              <a:schemeClr val="accent1"/>
            </a:solidFill>
            <a:ln>
              <a:noFill/>
            </a:ln>
          </p:spPr>
        </p:sp>
        <p:sp>
          <p:nvSpPr>
            <p:cNvPr id="15" name="TextBox 15"/>
            <p:cNvSpPr txBox="1"/>
            <p:nvPr/>
          </p:nvSpPr>
          <p:spPr>
            <a:xfrm>
              <a:off x="7650480" y="1838325"/>
              <a:ext cx="1928981"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mn-lt"/>
                  <a:ea typeface="+mn-ea"/>
                  <a:cs typeface="+mn-cs"/>
                </a:rPr>
                <a:t>Retain both records</a:t>
              </a:r>
            </a:p>
          </p:txBody>
        </p:sp>
        <p:sp>
          <p:nvSpPr>
            <p:cNvPr id="16" name="TextBox 16"/>
            <p:cNvSpPr txBox="1"/>
            <p:nvPr/>
          </p:nvSpPr>
          <p:spPr>
            <a:xfrm>
              <a:off x="7650480" y="2228850"/>
              <a:ext cx="3243910" cy="541020"/>
            </a:xfrm>
            <a:prstGeom prst="rect">
              <a:avLst/>
            </a:prstGeom>
            <a:noFill/>
            <a:ln>
              <a:noFill/>
            </a:ln>
          </p:spPr>
          <p:txBody>
            <a:bodyPr wrap="none" lIns="0" tIns="0" rIns="0" bIns="0" anchor="t" anchorCtr="0">
              <a:spAutoFit/>
            </a:bodyPr>
            <a:lstStyle/>
            <a:p>
              <a:pPr algn="l">
                <a:lnSpc>
                  <a:spcPts val="1950"/>
                </a:lnSpc>
              </a:pPr>
              <a:r>
                <a:rPr lang="en-US" sz="1500" dirty="0">
                  <a:solidFill>
                    <a:srgbClr val="FFFDF7"/>
                  </a:solidFill>
                  <a:latin typeface="+mn-lt"/>
                  <a:ea typeface="+mn-ea"/>
                  <a:cs typeface="+mn-cs"/>
                </a:rPr>
                <a:t>Reported status ≠ evidence-supported</a:t>
              </a:r>
              <a:br>
                <a:rPr lang="en-US" sz="1500" dirty="0">
                  <a:solidFill>
                    <a:srgbClr val="FFFDF7"/>
                  </a:solidFill>
                  <a:latin typeface="+mn-lt"/>
                  <a:ea typeface="+mn-ea"/>
                  <a:cs typeface="+mn-cs"/>
                </a:rPr>
              </a:br>
              <a:r>
                <a:rPr lang="en-US" sz="1500" dirty="0">
                  <a:solidFill>
                    <a:srgbClr val="FFFDF7"/>
                  </a:solidFill>
                  <a:latin typeface="+mn-lt"/>
                  <a:ea typeface="+mn-ea"/>
                  <a:cs typeface="+mn-cs"/>
                </a:rPr>
                <a:t>status. Keep the reason for change.</a:t>
              </a:r>
            </a:p>
          </p:txBody>
        </p:sp>
      </p:grpSp>
      <p:grpSp>
        <p:nvGrpSpPr>
          <p:cNvPr id="19" name="source-boundary"/>
          <p:cNvGrpSpPr/>
          <p:nvPr/>
        </p:nvGrpSpPr>
        <p:grpSpPr>
          <a:xfrm>
            <a:off x="450342" y="3463925"/>
            <a:ext cx="5777340" cy="264033"/>
            <a:chOff x="450342" y="3463925"/>
            <a:chExt cx="5777340" cy="264033"/>
          </a:xfrm>
        </p:grpSpPr>
        <p:sp>
          <p:nvSpPr>
            <p:cNvPr id="18" name="TextBox 18"/>
            <p:cNvSpPr txBox="1"/>
            <p:nvPr/>
          </p:nvSpPr>
          <p:spPr>
            <a:xfrm>
              <a:off x="450342" y="3463925"/>
              <a:ext cx="5777340"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Reconstruction of a narrated example; no prediction result is measured.</a:t>
              </a:r>
            </a:p>
          </p:txBody>
        </p:sp>
      </p:grpSp>
      <p:grpSp>
        <p:nvGrpSpPr>
          <p:cNvPr id="22" name="lesson-0"/>
          <p:cNvGrpSpPr/>
          <p:nvPr/>
        </p:nvGrpSpPr>
        <p:grpSpPr>
          <a:xfrm>
            <a:off x="448056" y="4105275"/>
            <a:ext cx="3182798" cy="1226820"/>
            <a:chOff x="448056" y="4105275"/>
            <a:chExt cx="3182798" cy="1226820"/>
          </a:xfrm>
        </p:grpSpPr>
        <p:sp>
          <p:nvSpPr>
            <p:cNvPr id="20" name="TextBox 20"/>
            <p:cNvSpPr txBox="1"/>
            <p:nvPr/>
          </p:nvSpPr>
          <p:spPr>
            <a:xfrm>
              <a:off x="448056" y="4105275"/>
              <a:ext cx="274812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Do not overwrite history</a:t>
              </a:r>
            </a:p>
          </p:txBody>
        </p:sp>
        <p:sp>
          <p:nvSpPr>
            <p:cNvPr id="21" name="TextBox 21"/>
            <p:cNvSpPr txBox="1"/>
            <p:nvPr/>
          </p:nvSpPr>
          <p:spPr>
            <a:xfrm>
              <a:off x="449580" y="4543425"/>
              <a:ext cx="3181274"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Attach evidence, source and</a:t>
              </a:r>
              <a:br>
                <a:rPr lang="en-US" sz="1500" dirty="0">
                  <a:solidFill>
                    <a:schemeClr val="dk1"/>
                  </a:solidFill>
                  <a:latin typeface="+mn-lt"/>
                  <a:ea typeface="+mn-ea"/>
                  <a:cs typeface="+mn-cs"/>
                </a:rPr>
              </a:br>
              <a:r>
                <a:rPr lang="en-US" sz="1500" dirty="0">
                  <a:solidFill>
                    <a:schemeClr val="dk1"/>
                  </a:solidFill>
                  <a:latin typeface="+mn-lt"/>
                  <a:ea typeface="+mn-ea"/>
                  <a:cs typeface="+mn-cs"/>
                </a:rPr>
                <a:t>observation time. Earlier snapshots</a:t>
              </a:r>
              <a:br>
                <a:rPr lang="en-US" sz="1500" dirty="0">
                  <a:solidFill>
                    <a:schemeClr val="dk1"/>
                  </a:solidFill>
                  <a:latin typeface="+mn-lt"/>
                  <a:ea typeface="+mn-ea"/>
                  <a:cs typeface="+mn-cs"/>
                </a:rPr>
              </a:br>
              <a:r>
                <a:rPr lang="en-US" sz="1500" dirty="0">
                  <a:solidFill>
                    <a:schemeClr val="dk1"/>
                  </a:solidFill>
                  <a:latin typeface="+mn-lt"/>
                  <a:ea typeface="+mn-ea"/>
                  <a:cs typeface="+mn-cs"/>
                </a:rPr>
                <a:t>must reflect what was knowable then.</a:t>
              </a:r>
            </a:p>
          </p:txBody>
        </p:sp>
      </p:grpSp>
      <p:grpSp>
        <p:nvGrpSpPr>
          <p:cNvPr id="25" name="lesson-1"/>
          <p:cNvGrpSpPr/>
          <p:nvPr/>
        </p:nvGrpSpPr>
        <p:grpSpPr>
          <a:xfrm>
            <a:off x="4296156" y="4105275"/>
            <a:ext cx="3055849" cy="1226820"/>
            <a:chOff x="4296156" y="4105275"/>
            <a:chExt cx="3055849" cy="1226820"/>
          </a:xfrm>
        </p:grpSpPr>
        <p:sp>
          <p:nvSpPr>
            <p:cNvPr id="23" name="TextBox 23"/>
            <p:cNvSpPr txBox="1"/>
            <p:nvPr/>
          </p:nvSpPr>
          <p:spPr>
            <a:xfrm>
              <a:off x="4296156" y="4105275"/>
              <a:ext cx="214132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Govern the commit</a:t>
              </a:r>
            </a:p>
          </p:txBody>
        </p:sp>
        <p:sp>
          <p:nvSpPr>
            <p:cNvPr id="24" name="TextBox 24"/>
            <p:cNvSpPr txBox="1"/>
            <p:nvPr/>
          </p:nvSpPr>
          <p:spPr>
            <a:xfrm>
              <a:off x="4297680" y="4543425"/>
              <a:ext cx="3054325"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Models propose updates; code and</a:t>
              </a:r>
              <a:br>
                <a:rPr lang="en-US" sz="1500" dirty="0">
                  <a:solidFill>
                    <a:schemeClr val="dk1"/>
                  </a:solidFill>
                  <a:latin typeface="+mn-lt"/>
                  <a:ea typeface="+mn-ea"/>
                  <a:cs typeface="+mn-cs"/>
                </a:rPr>
              </a:br>
              <a:r>
                <a:rPr lang="en-US" sz="1500" dirty="0">
                  <a:solidFill>
                    <a:schemeClr val="dk1"/>
                  </a:solidFill>
                  <a:latin typeface="+mn-lt"/>
                  <a:ea typeface="+mn-ea"/>
                  <a:cs typeface="+mn-cs"/>
                </a:rPr>
                <a:t>people accept corrections. Preserve</a:t>
              </a:r>
              <a:br>
                <a:rPr lang="en-US" sz="1500" dirty="0">
                  <a:solidFill>
                    <a:schemeClr val="dk1"/>
                  </a:solidFill>
                  <a:latin typeface="+mn-lt"/>
                  <a:ea typeface="+mn-ea"/>
                  <a:cs typeface="+mn-cs"/>
                </a:rPr>
              </a:br>
              <a:r>
                <a:rPr lang="en-US" sz="1500" dirty="0">
                  <a:solidFill>
                    <a:schemeClr val="dk1"/>
                  </a:solidFill>
                  <a:latin typeface="+mn-lt"/>
                  <a:ea typeface="+mn-ea"/>
                  <a:cs typeface="+mn-cs"/>
                </a:rPr>
                <a:t>contradictions and aging evidence.</a:t>
              </a:r>
            </a:p>
          </p:txBody>
        </p:sp>
      </p:grpSp>
      <p:grpSp>
        <p:nvGrpSpPr>
          <p:cNvPr id="28" name="lesson-2"/>
          <p:cNvGrpSpPr/>
          <p:nvPr/>
        </p:nvGrpSpPr>
        <p:grpSpPr>
          <a:xfrm>
            <a:off x="8144256" y="4105275"/>
            <a:ext cx="2759202" cy="1474470"/>
            <a:chOff x="8144256" y="4105275"/>
            <a:chExt cx="2759202" cy="1474470"/>
          </a:xfrm>
        </p:grpSpPr>
        <p:sp>
          <p:nvSpPr>
            <p:cNvPr id="26" name="TextBox 26"/>
            <p:cNvSpPr txBox="1"/>
            <p:nvPr/>
          </p:nvSpPr>
          <p:spPr>
            <a:xfrm>
              <a:off x="8144256" y="4105275"/>
              <a:ext cx="232652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Missing signal ≠ zero</a:t>
              </a:r>
            </a:p>
          </p:txBody>
        </p:sp>
        <p:sp>
          <p:nvSpPr>
            <p:cNvPr id="27" name="TextBox 27"/>
            <p:cNvSpPr txBox="1"/>
            <p:nvPr/>
          </p:nvSpPr>
          <p:spPr>
            <a:xfrm>
              <a:off x="8145780" y="4543425"/>
              <a:ext cx="2757678"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 quiet feed may be a collection</a:t>
              </a:r>
              <a:br>
                <a:rPr lang="en-US" sz="1500" dirty="0">
                  <a:solidFill>
                    <a:schemeClr val="dk1"/>
                  </a:solidFill>
                  <a:latin typeface="+mn-lt"/>
                  <a:ea typeface="+mn-ea"/>
                  <a:cs typeface="+mn-cs"/>
                </a:rPr>
              </a:br>
              <a:r>
                <a:rPr lang="en-US" sz="1500" dirty="0">
                  <a:solidFill>
                    <a:schemeClr val="dk1"/>
                  </a:solidFill>
                  <a:latin typeface="+mn-lt"/>
                  <a:ea typeface="+mn-ea"/>
                  <a:cs typeface="+mn-cs"/>
                </a:rPr>
                <a:t>failure. Track source health and</a:t>
              </a:r>
              <a:br>
                <a:rPr lang="en-US" sz="1500" dirty="0">
                  <a:solidFill>
                    <a:schemeClr val="dk1"/>
                  </a:solidFill>
                  <a:latin typeface="+mn-lt"/>
                  <a:ea typeface="+mn-ea"/>
                  <a:cs typeface="+mn-cs"/>
                </a:rPr>
              </a:br>
              <a:r>
                <a:rPr lang="en-US" sz="1500" dirty="0">
                  <a:solidFill>
                    <a:schemeClr val="dk1"/>
                  </a:solidFill>
                  <a:latin typeface="+mn-lt"/>
                  <a:ea typeface="+mn-ea"/>
                  <a:cs typeface="+mn-cs"/>
                </a:rPr>
                <a:t>mark uncertainty before inferring</a:t>
              </a:r>
              <a:br>
                <a:rPr lang="en-US" sz="1500" dirty="0">
                  <a:solidFill>
                    <a:schemeClr val="dk1"/>
                  </a:solidFill>
                  <a:latin typeface="+mn-lt"/>
                  <a:ea typeface="+mn-ea"/>
                  <a:cs typeface="+mn-cs"/>
                </a:rPr>
              </a:br>
              <a:r>
                <a:rPr lang="en-US" sz="1500" dirty="0">
                  <a:solidFill>
                    <a:schemeClr val="dk1"/>
                  </a:solidFill>
                  <a:latin typeface="+mn-lt"/>
                  <a:ea typeface="+mn-ea"/>
                  <a:cs typeface="+mn-cs"/>
                </a:rPr>
                <a:t>progress.</a:t>
              </a:r>
            </a:p>
          </p:txBody>
        </p:sp>
      </p:grpSp>
      <p:grpSp>
        <p:nvGrpSpPr>
          <p:cNvPr id="31" name="footer"/>
          <p:cNvGrpSpPr/>
          <p:nvPr/>
        </p:nvGrpSpPr>
        <p:grpSpPr>
          <a:xfrm>
            <a:off x="452438" y="6477000"/>
            <a:ext cx="11287124" cy="176212"/>
            <a:chOff x="452438" y="6477000"/>
            <a:chExt cx="11287124" cy="176212"/>
          </a:xfrm>
        </p:grpSpPr>
        <p:sp>
          <p:nvSpPr>
            <p:cNvPr id="29" name="TextBox 29"/>
            <p:cNvSpPr txBox="1"/>
            <p:nvPr/>
          </p:nvSpPr>
          <p:spPr>
            <a:xfrm>
              <a:off x="452438" y="6477000"/>
              <a:ext cx="384497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Bridgewater · Citadel Securities | Reviewed October 25, 2026</a:t>
              </a:r>
            </a:p>
          </p:txBody>
        </p:sp>
        <p:sp>
          <p:nvSpPr>
            <p:cNvPr id="30" name="TextBox 30"/>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08 / 37</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354212" cy="1100582"/>
            <a:chOff x="443484" y="361950"/>
            <a:chExt cx="9354212" cy="1100582"/>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8419690"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Bridgewater makes timely retrieval a learning loop</a:t>
              </a:r>
            </a:p>
          </p:txBody>
        </p:sp>
        <p:sp>
          <p:nvSpPr>
            <p:cNvPr id="4" name="TextBox 4"/>
            <p:cNvSpPr txBox="1"/>
            <p:nvPr/>
          </p:nvSpPr>
          <p:spPr>
            <a:xfrm>
              <a:off x="448818" y="1139825"/>
              <a:ext cx="9348878"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An early-October question about AI and currencies exposes a July source in a generic answer.</a:t>
              </a:r>
            </a:p>
          </p:txBody>
        </p:sp>
      </p:grpSp>
      <p:grpSp>
        <p:nvGrpSpPr>
          <p:cNvPr id="7" name="question"/>
          <p:cNvGrpSpPr/>
          <p:nvPr/>
        </p:nvGrpSpPr>
        <p:grpSpPr>
          <a:xfrm>
            <a:off x="448056" y="1781175"/>
            <a:ext cx="9532008" cy="352044"/>
            <a:chOff x="448056" y="1781175"/>
            <a:chExt cx="9532008" cy="352044"/>
          </a:xfrm>
        </p:grpSpPr>
        <p:sp>
          <p:nvSpPr>
            <p:cNvPr id="6" name="TextBox 6"/>
            <p:cNvSpPr txBox="1"/>
            <p:nvPr/>
          </p:nvSpPr>
          <p:spPr>
            <a:xfrm>
              <a:off x="448056" y="1781175"/>
              <a:ext cx="953200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Problem: a relevant-looking July source may be stale for an October research question.</a:t>
              </a:r>
            </a:p>
          </p:txBody>
        </p:sp>
      </p:grpSp>
      <p:graphicFrame>
        <p:nvGraphicFramePr>
          <p:cNvPr id="8" name="retrieval-objectives"/>
          <p:cNvGraphicFramePr>
            <a:graphicFrameLocks noGrp="1"/>
          </p:cNvGraphicFramePr>
          <p:nvPr/>
        </p:nvGraphicFramePr>
        <p:xfrm>
          <a:off x="457200" y="2295525"/>
          <a:ext cx="11277600" cy="2343150"/>
        </p:xfrm>
        <a:graphic>
          <a:graphicData uri="http://schemas.openxmlformats.org/drawingml/2006/table">
            <a:tbl>
              <a:tblPr firstRow="1" bandRow="1">
                <a:tableStyleId>{5C22544A-7EE6-4342-B048-85BDC9FD1C3A}</a:tableStyleId>
              </a:tblPr>
              <a:tblGrid>
                <a:gridCol w="2571750"/>
                <a:gridCol w="4476750"/>
                <a:gridCol w="4229100"/>
              </a:tblGrid>
              <a:tr h="457200">
                <a:tc>
                  <a:txBody>
                    <a:bodyPr/>
                    <a:lstStyle/>
                    <a:p>
                      <a:pPr/>
                      <a:r>
                        <a:rPr lang="en-US" sz="1350" b="1">
                          <a:solidFill>
                            <a:srgbClr val="FFFDF7"/>
                          </a:solidFill>
                          <a:latin typeface="Arial"/>
                          <a:ea typeface="Microsoft YaHei"/>
                          <a:cs typeface="Arial"/>
                        </a:rPr>
                        <a:t>Decision</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Reported mechanism</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Test independently</a:t>
                      </a:r>
                    </a:p>
                  </a:txBody>
                  <a:tcPr anchor="ctr" marL="152400" marR="152400" marT="76200" marB="76200">
                    <a:lnL>
                      <a:noFill/>
                    </a:lnL>
                    <a:lnR>
                      <a:noFill/>
                    </a:lnR>
                    <a:lnT>
                      <a:noFill/>
                    </a:lnT>
                    <a:lnB w="9525">
                      <a:solidFill>
                        <a:schemeClr val="accent6"/>
                      </a:solidFill>
                      <a:prstDash val="solid"/>
                    </a:lnB>
                    <a:solidFill>
                      <a:schemeClr val="accent1"/>
                    </a:solidFill>
                  </a:tcPr>
                </a:tc>
              </a:tr>
              <a:tr h="628650">
                <a:tc>
                  <a:txBody>
                    <a:bodyPr/>
                    <a:lstStyle/>
                    <a:p>
                      <a:pPr/>
                      <a:r>
                        <a:rPr lang="en-US" sz="1350" b="0">
                          <a:solidFill>
                            <a:schemeClr val="dk1"/>
                          </a:solidFill>
                          <a:latin typeface="Arial"/>
                          <a:ea typeface="Microsoft YaHei"/>
                          <a:cs typeface="Arial"/>
                        </a:rPr>
                        <a:t>Eligible evidence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Time · source · asset · access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Restrictive filters; sparse / empty matches</a:t>
                      </a:r>
                    </a:p>
                  </a:txBody>
                  <a:tcPr anchor="ctr" marL="152400" marR="152400" marT="76200" marB="76200">
                    <a:lnL>
                      <a:noFill/>
                    </a:lnL>
                    <a:lnR>
                      <a:noFill/>
                    </a:lnR>
                    <a:lnT>
                      <a:noFill/>
                    </a:lnT>
                    <a:lnB w="9525">
                      <a:solidFill>
                        <a:schemeClr val="accent6"/>
                      </a:solidFill>
                      <a:prstDash val="solid"/>
                    </a:lnB>
                    <a:noFill/>
                  </a:tcPr>
                </a:tc>
              </a:tr>
              <a:tr h="628650">
                <a:tc>
                  <a:txBody>
                    <a:bodyPr/>
                    <a:lstStyle/>
                    <a:p>
                      <a:pPr/>
                      <a:r>
                        <a:rPr lang="en-US" sz="1350" b="0">
                          <a:solidFill>
                            <a:schemeClr val="dk1"/>
                          </a:solidFill>
                          <a:latin typeface="Arial"/>
                          <a:ea typeface="Microsoft YaHei"/>
                          <a:cs typeface="Arial"/>
                        </a:rPr>
                        <a:t>Relevance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~200 labeled questions; plausible negatives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Precision@10 ~60% → 90–95% reported</a:t>
                      </a:r>
                    </a:p>
                  </a:txBody>
                  <a:tcPr anchor="ctr" marL="152400" marR="152400" marT="76200" marB="76200">
                    <a:lnL>
                      <a:noFill/>
                    </a:lnL>
                    <a:lnR>
                      <a:noFill/>
                    </a:lnR>
                    <a:lnT>
                      <a:noFill/>
                    </a:lnT>
                    <a:lnB w="9525">
                      <a:solidFill>
                        <a:schemeClr val="accent6"/>
                      </a:solidFill>
                      <a:prstDash val="solid"/>
                    </a:lnB>
                    <a:noFill/>
                  </a:tcPr>
                </a:tc>
              </a:tr>
              <a:tr h="628650">
                <a:tc>
                  <a:txBody>
                    <a:bodyPr/>
                    <a:lstStyle/>
                    <a:p>
                      <a:pPr/>
                      <a:r>
                        <a:rPr lang="en-US" sz="1350" b="0">
                          <a:solidFill>
                            <a:schemeClr val="dk1"/>
                          </a:solidFill>
                          <a:latin typeface="Arial"/>
                          <a:ea typeface="Microsoft YaHei"/>
                          <a:cs typeface="Arial"/>
                        </a:rPr>
                        <a:t>Usable brief</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Saved search → evidence card → feedback</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Required coverage, omissions and review</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11" name="lesson-0"/>
          <p:cNvGrpSpPr/>
          <p:nvPr/>
        </p:nvGrpSpPr>
        <p:grpSpPr>
          <a:xfrm>
            <a:off x="448056" y="4819650"/>
            <a:ext cx="2706586" cy="1226820"/>
            <a:chOff x="448056" y="4819650"/>
            <a:chExt cx="2706586" cy="1226820"/>
          </a:xfrm>
        </p:grpSpPr>
        <p:sp>
          <p:nvSpPr>
            <p:cNvPr id="9" name="TextBox 9"/>
            <p:cNvSpPr txBox="1"/>
            <p:nvPr/>
          </p:nvSpPr>
          <p:spPr>
            <a:xfrm>
              <a:off x="448056" y="4819650"/>
              <a:ext cx="219632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Preserve the metric</a:t>
              </a:r>
            </a:p>
          </p:txBody>
        </p:sp>
        <p:sp>
          <p:nvSpPr>
            <p:cNvPr id="10" name="TextBox 10"/>
            <p:cNvSpPr txBox="1"/>
            <p:nvPr/>
          </p:nvSpPr>
          <p:spPr>
            <a:xfrm>
              <a:off x="449580" y="5257800"/>
              <a:ext cx="2705062"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The speaker corrects recall to</a:t>
              </a:r>
              <a:br>
                <a:rPr lang="en-US" sz="1500" dirty="0">
                  <a:solidFill>
                    <a:schemeClr val="dk1"/>
                  </a:solidFill>
                  <a:latin typeface="+mn-lt"/>
                  <a:ea typeface="+mn-ea"/>
                  <a:cs typeface="+mn-cs"/>
                </a:rPr>
              </a:br>
              <a:r>
                <a:rPr lang="en-US" sz="1500" dirty="0">
                  <a:solidFill>
                    <a:schemeClr val="dk1"/>
                  </a:solidFill>
                  <a:latin typeface="+mn-lt"/>
                  <a:ea typeface="+mn-ea"/>
                  <a:cs typeface="+mn-cs"/>
                </a:rPr>
                <a:t>precision. No held-out design or</a:t>
              </a:r>
              <a:br>
                <a:rPr lang="en-US" sz="1500" dirty="0">
                  <a:solidFill>
                    <a:schemeClr val="dk1"/>
                  </a:solidFill>
                  <a:latin typeface="+mn-lt"/>
                  <a:ea typeface="+mn-ea"/>
                  <a:cs typeface="+mn-cs"/>
                </a:rPr>
              </a:br>
              <a:r>
                <a:rPr lang="en-US" sz="1500" dirty="0">
                  <a:solidFill>
                    <a:schemeClr val="dk1"/>
                  </a:solidFill>
                  <a:latin typeface="+mn-lt"/>
                  <a:ea typeface="+mn-ea"/>
                  <a:cs typeface="+mn-cs"/>
                </a:rPr>
                <a:t>uncertainty is supplied.</a:t>
              </a:r>
            </a:p>
          </p:txBody>
        </p:sp>
      </p:grpSp>
      <p:grpSp>
        <p:nvGrpSpPr>
          <p:cNvPr id="14" name="lesson-1"/>
          <p:cNvGrpSpPr/>
          <p:nvPr/>
        </p:nvGrpSpPr>
        <p:grpSpPr>
          <a:xfrm>
            <a:off x="4296156" y="4819650"/>
            <a:ext cx="2939110" cy="1226820"/>
            <a:chOff x="4296156" y="4819650"/>
            <a:chExt cx="2939110" cy="1226820"/>
          </a:xfrm>
        </p:grpSpPr>
        <p:sp>
          <p:nvSpPr>
            <p:cNvPr id="12" name="TextBox 12"/>
            <p:cNvSpPr txBox="1"/>
            <p:nvPr/>
          </p:nvSpPr>
          <p:spPr>
            <a:xfrm>
              <a:off x="4296156" y="4819650"/>
              <a:ext cx="257731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Separate the end result</a:t>
              </a:r>
            </a:p>
          </p:txBody>
        </p:sp>
        <p:sp>
          <p:nvSpPr>
            <p:cNvPr id="13" name="TextBox 13"/>
            <p:cNvSpPr txBox="1"/>
            <p:nvPr/>
          </p:nvSpPr>
          <p:spPr>
            <a:xfrm>
              <a:off x="4297680" y="5257800"/>
              <a:ext cx="2937586"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Retrieval relevance does not</a:t>
              </a:r>
              <a:br>
                <a:rPr lang="en-US" sz="1500" dirty="0">
                  <a:solidFill>
                    <a:schemeClr val="dk1"/>
                  </a:solidFill>
                  <a:latin typeface="+mn-lt"/>
                  <a:ea typeface="+mn-ea"/>
                  <a:cs typeface="+mn-cs"/>
                </a:rPr>
              </a:br>
              <a:r>
                <a:rPr lang="en-US" sz="1500" dirty="0">
                  <a:solidFill>
                    <a:schemeClr val="dk1"/>
                  </a:solidFill>
                  <a:latin typeface="+mn-lt"/>
                  <a:ea typeface="+mn-ea"/>
                  <a:cs typeface="+mn-cs"/>
                </a:rPr>
                <a:t>establish final-answer correctness,</a:t>
              </a:r>
              <a:br>
                <a:rPr lang="en-US" sz="1500" dirty="0">
                  <a:solidFill>
                    <a:schemeClr val="dk1"/>
                  </a:solidFill>
                  <a:latin typeface="+mn-lt"/>
                  <a:ea typeface="+mn-ea"/>
                  <a:cs typeface="+mn-cs"/>
                </a:rPr>
              </a:br>
              <a:r>
                <a:rPr lang="en-US" sz="1500" dirty="0">
                  <a:solidFill>
                    <a:schemeClr val="dk1"/>
                  </a:solidFill>
                  <a:latin typeface="+mn-lt"/>
                  <a:ea typeface="+mn-ea"/>
                  <a:cs typeface="+mn-cs"/>
                </a:rPr>
                <a:t>investment performance or alpha.</a:t>
              </a:r>
            </a:p>
          </p:txBody>
        </p:sp>
      </p:grpSp>
      <p:grpSp>
        <p:nvGrpSpPr>
          <p:cNvPr id="17" name="lesson-2"/>
          <p:cNvGrpSpPr/>
          <p:nvPr/>
        </p:nvGrpSpPr>
        <p:grpSpPr>
          <a:xfrm>
            <a:off x="8144256" y="4819650"/>
            <a:ext cx="3034741" cy="1474470"/>
            <a:chOff x="8144256" y="4819650"/>
            <a:chExt cx="3034741" cy="1474470"/>
          </a:xfrm>
        </p:grpSpPr>
        <p:sp>
          <p:nvSpPr>
            <p:cNvPr id="15" name="TextBox 15"/>
            <p:cNvSpPr txBox="1"/>
            <p:nvPr/>
          </p:nvSpPr>
          <p:spPr>
            <a:xfrm>
              <a:off x="8144256" y="4819650"/>
              <a:ext cx="2031877"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Fit investor habits</a:t>
              </a:r>
            </a:p>
          </p:txBody>
        </p:sp>
        <p:sp>
          <p:nvSpPr>
            <p:cNvPr id="16" name="TextBox 16"/>
            <p:cNvSpPr txBox="1"/>
            <p:nvPr/>
          </p:nvSpPr>
          <p:spPr>
            <a:xfrm>
              <a:off x="8145780" y="5257800"/>
              <a:ext cx="3033217"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Agents gather broadly; people</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 concise evidence. A demo’s</a:t>
              </a:r>
              <a:br>
                <a:rPr lang="en-US" sz="1500" dirty="0">
                  <a:solidFill>
                    <a:schemeClr val="dk1"/>
                  </a:solidFill>
                  <a:latin typeface="+mn-lt"/>
                  <a:ea typeface="+mn-ea"/>
                  <a:cs typeface="+mn-cs"/>
                </a:rPr>
              </a:br>
              <a:r>
                <a:rPr lang="en-US" sz="1500" dirty="0">
                  <a:solidFill>
                    <a:schemeClr val="dk1"/>
                  </a:solidFill>
                  <a:latin typeface="+mn-lt"/>
                  <a:ea typeface="+mn-ea"/>
                  <a:cs typeface="+mn-cs"/>
                </a:rPr>
                <a:t>source count is not a quality</a:t>
              </a:r>
              <a:br>
                <a:rPr lang="en-US" sz="1500" dirty="0">
                  <a:solidFill>
                    <a:schemeClr val="dk1"/>
                  </a:solidFill>
                  <a:latin typeface="+mn-lt"/>
                  <a:ea typeface="+mn-ea"/>
                  <a:cs typeface="+mn-cs"/>
                </a:rPr>
              </a:br>
              <a:r>
                <a:rPr lang="en-US" sz="1500" dirty="0">
                  <a:solidFill>
                    <a:schemeClr val="dk1"/>
                  </a:solidFill>
                  <a:latin typeface="+mn-lt"/>
                  <a:ea typeface="+mn-ea"/>
                  <a:cs typeface="+mn-cs"/>
                </a:rPr>
                <a:t>benchmark.</a:t>
              </a:r>
            </a:p>
          </p:txBody>
        </p:sp>
      </p:grpSp>
      <p:grpSp>
        <p:nvGrpSpPr>
          <p:cNvPr id="20" name="footer"/>
          <p:cNvGrpSpPr/>
          <p:nvPr/>
        </p:nvGrpSpPr>
        <p:grpSpPr>
          <a:xfrm>
            <a:off x="452438" y="6477000"/>
            <a:ext cx="11287124" cy="176212"/>
            <a:chOff x="452438" y="6477000"/>
            <a:chExt cx="11287124" cy="176212"/>
          </a:xfrm>
        </p:grpSpPr>
        <p:sp>
          <p:nvSpPr>
            <p:cNvPr id="18" name="TextBox 18"/>
            <p:cNvSpPr txBox="1"/>
            <p:nvPr/>
          </p:nvSpPr>
          <p:spPr>
            <a:xfrm>
              <a:off x="452438" y="6477000"/>
              <a:ext cx="278756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Bridgewater | Reviewed October 25, 2026</a:t>
              </a:r>
            </a:p>
          </p:txBody>
        </p:sp>
        <p:sp>
          <p:nvSpPr>
            <p:cNvPr id="19" name="TextBox 1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09 / 37</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8189892" cy="1100582"/>
            <a:chOff x="443484" y="361950"/>
            <a:chExt cx="8189892" cy="1100582"/>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7813132"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Resolve the fact; compute; verify the final claim</a:t>
              </a:r>
            </a:p>
          </p:txBody>
        </p:sp>
        <p:sp>
          <p:nvSpPr>
            <p:cNvPr id="4" name="TextBox 4"/>
            <p:cNvSpPr txBox="1"/>
            <p:nvPr/>
          </p:nvSpPr>
          <p:spPr>
            <a:xfrm>
              <a:off x="448818" y="1139825"/>
              <a:ext cx="8184558"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Wrong source, fact and arithmetic need different checks; verify final generation too.</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131167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Eligible source</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877787"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Exact fact</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47335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Code calculation</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52450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Final claim check</a:t>
              </a:r>
            </a:p>
          </p:txBody>
        </p:sp>
      </p:grpSp>
      <p:grpSp>
        <p:nvGrpSpPr>
          <p:cNvPr id="17" name="analysis-1"/>
          <p:cNvGrpSpPr/>
          <p:nvPr/>
        </p:nvGrpSpPr>
        <p:grpSpPr>
          <a:xfrm>
            <a:off x="448056" y="2438400"/>
            <a:ext cx="3098673" cy="2969895"/>
            <a:chOff x="448056" y="2438400"/>
            <a:chExt cx="3098673" cy="2969895"/>
          </a:xfrm>
        </p:grpSpPr>
        <p:sp>
          <p:nvSpPr>
            <p:cNvPr id="15" name="TextBox 15"/>
            <p:cNvSpPr txBox="1"/>
            <p:nvPr/>
          </p:nvSpPr>
          <p:spPr>
            <a:xfrm>
              <a:off x="448056" y="2438400"/>
              <a:ext cx="229985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Use a structured fact</a:t>
              </a:r>
            </a:p>
          </p:txBody>
        </p:sp>
        <p:sp>
          <p:nvSpPr>
            <p:cNvPr id="16" name="TextBox 16"/>
            <p:cNvSpPr txBox="1"/>
            <p:nvPr/>
          </p:nvSpPr>
          <p:spPr>
            <a:xfrm>
              <a:off x="449580" y="3057525"/>
              <a:ext cx="3097149"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The standalone breakout description</a:t>
              </a:r>
              <a:br>
                <a:rPr lang="en-US" sz="1500" dirty="0">
                  <a:solidFill>
                    <a:schemeClr val="dk1"/>
                  </a:solidFill>
                  <a:latin typeface="+mn-lt"/>
                  <a:ea typeface="+mn-ea"/>
                  <a:cs typeface="+mn-cs"/>
                </a:rPr>
              </a:br>
              <a:r>
                <a:rPr lang="en-US" sz="1500" dirty="0">
                  <a:solidFill>
                    <a:schemeClr val="dk1"/>
                  </a:solidFill>
                  <a:latin typeface="+mn-lt"/>
                  <a:ea typeface="+mn-ea"/>
                  <a:cs typeface="+mn-cs"/>
                </a:rPr>
                <a:t>names value, unit, scale and</a:t>
              </a:r>
              <a:br>
                <a:rPr lang="en-US" sz="1500" dirty="0">
                  <a:solidFill>
                    <a:schemeClr val="dk1"/>
                  </a:solidFill>
                  <a:latin typeface="+mn-lt"/>
                  <a:ea typeface="+mn-ea"/>
                  <a:cs typeface="+mn-cs"/>
                </a:rPr>
              </a:br>
              <a:r>
                <a:rPr lang="en-US" sz="1500" dirty="0">
                  <a:solidFill>
                    <a:schemeClr val="dk1"/>
                  </a:solidFill>
                  <a:latin typeface="+mn-lt"/>
                  <a:ea typeface="+mn-ea"/>
                  <a:cs typeface="+mn-cs"/>
                </a:rPr>
                <a:t>period. The next-day transcript</a:t>
              </a:r>
              <a:br>
                <a:rPr lang="en-US" sz="1500" dirty="0">
                  <a:solidFill>
                    <a:schemeClr val="dk1"/>
                  </a:solidFill>
                  <a:latin typeface="+mn-lt"/>
                  <a:ea typeface="+mn-ea"/>
                  <a:cs typeface="+mn-cs"/>
                </a:rPr>
              </a:br>
              <a:r>
                <a:rPr lang="en-US" sz="1500" dirty="0">
                  <a:solidFill>
                    <a:schemeClr val="dk1"/>
                  </a:solidFill>
                  <a:latin typeface="+mn-lt"/>
                  <a:ea typeface="+mn-ea"/>
                  <a:cs typeface="+mn-cs"/>
                </a:rPr>
                <a:t>describes fact identifiers resolved</a:t>
              </a:r>
              <a:br>
                <a:rPr lang="en-US" sz="1500" dirty="0">
                  <a:solidFill>
                    <a:schemeClr val="dk1"/>
                  </a:solidFill>
                  <a:latin typeface="+mn-lt"/>
                  <a:ea typeface="+mn-ea"/>
                  <a:cs typeface="+mn-cs"/>
                </a:rPr>
              </a:br>
              <a:r>
                <a:rPr lang="en-US" sz="1500" dirty="0">
                  <a:solidFill>
                    <a:schemeClr val="dk1"/>
                  </a:solidFill>
                  <a:latin typeface="+mn-lt"/>
                  <a:ea typeface="+mn-ea"/>
                  <a:cs typeface="+mn-cs"/>
                </a:rPr>
                <a:t>by software while a model plans.</a:t>
              </a:r>
              <a:br>
                <a:rPr lang="en-US" sz="1500" dirty="0">
                  <a:solidFill>
                    <a:schemeClr val="dk1"/>
                  </a:solidFill>
                  <a:latin typeface="+mn-lt"/>
                  <a:ea typeface="+mn-ea"/>
                  <a:cs typeface="+mn-cs"/>
                </a:rPr>
              </a:br>
              <a:r>
                <a:rPr lang="en-US" sz="1500" dirty="0">
                  <a:solidFill>
                    <a:schemeClr val="dk1"/>
                  </a:solidFill>
                  <a:latin typeface="+mn-lt"/>
                  <a:ea typeface="+mn-ea"/>
                  <a:cs typeface="+mn-cs"/>
                </a:rPr>
                <a:t>Preserve the source anchor and</a:t>
              </a:r>
              <a:br>
                <a:rPr lang="en-US" sz="1500" dirty="0">
                  <a:solidFill>
                    <a:schemeClr val="dk1"/>
                  </a:solidFill>
                  <a:latin typeface="+mn-lt"/>
                  <a:ea typeface="+mn-ea"/>
                  <a:cs typeface="+mn-cs"/>
                </a:rPr>
              </a:br>
              <a:r>
                <a:rPr lang="en-US" sz="1500" dirty="0">
                  <a:solidFill>
                    <a:schemeClr val="dk1"/>
                  </a:solidFill>
                  <a:latin typeface="+mn-lt"/>
                  <a:ea typeface="+mn-ea"/>
                  <a:cs typeface="+mn-cs"/>
                </a:rPr>
                <a:t>calculation inputs; a valid</a:t>
              </a:r>
              <a:br>
                <a:rPr lang="en-US" sz="1500" dirty="0">
                  <a:solidFill>
                    <a:schemeClr val="dk1"/>
                  </a:solidFill>
                  <a:latin typeface="+mn-lt"/>
                  <a:ea typeface="+mn-ea"/>
                  <a:cs typeface="+mn-cs"/>
                </a:rPr>
              </a:br>
              <a:r>
                <a:rPr lang="en-US" sz="1500" dirty="0">
                  <a:solidFill>
                    <a:schemeClr val="dk1"/>
                  </a:solidFill>
                  <a:latin typeface="+mn-lt"/>
                  <a:ea typeface="+mn-ea"/>
                  <a:cs typeface="+mn-cs"/>
                </a:rPr>
                <a:t>identifier still needs the correct</a:t>
              </a:r>
              <a:br>
                <a:rPr lang="en-US" sz="1500" dirty="0">
                  <a:solidFill>
                    <a:schemeClr val="dk1"/>
                  </a:solidFill>
                  <a:latin typeface="+mn-lt"/>
                  <a:ea typeface="+mn-ea"/>
                  <a:cs typeface="+mn-cs"/>
                </a:rPr>
              </a:br>
              <a:r>
                <a:rPr lang="en-US" sz="1500" dirty="0">
                  <a:solidFill>
                    <a:schemeClr val="dk1"/>
                  </a:solidFill>
                  <a:latin typeface="+mn-lt"/>
                  <a:ea typeface="+mn-ea"/>
                  <a:cs typeface="+mn-cs"/>
                </a:rPr>
                <a:t>entity, definition and version.</a:t>
              </a:r>
            </a:p>
          </p:txBody>
        </p:sp>
      </p:grpSp>
      <p:grpSp>
        <p:nvGrpSpPr>
          <p:cNvPr id="20" name="analysis-2"/>
          <p:cNvGrpSpPr/>
          <p:nvPr/>
        </p:nvGrpSpPr>
        <p:grpSpPr>
          <a:xfrm>
            <a:off x="4296156" y="2438400"/>
            <a:ext cx="2928785" cy="2969895"/>
            <a:chOff x="4296156" y="2438400"/>
            <a:chExt cx="2928785" cy="2969895"/>
          </a:xfrm>
        </p:grpSpPr>
        <p:sp>
          <p:nvSpPr>
            <p:cNvPr id="18" name="TextBox 18"/>
            <p:cNvSpPr txBox="1"/>
            <p:nvPr/>
          </p:nvSpPr>
          <p:spPr>
            <a:xfrm>
              <a:off x="4296156" y="2438400"/>
              <a:ext cx="290990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Keep access on every path</a:t>
              </a:r>
            </a:p>
          </p:txBody>
        </p:sp>
        <p:sp>
          <p:nvSpPr>
            <p:cNvPr id="19" name="TextBox 19"/>
            <p:cNvSpPr txBox="1"/>
            <p:nvPr/>
          </p:nvSpPr>
          <p:spPr>
            <a:xfrm>
              <a:off x="4297680" y="3057525"/>
              <a:ext cx="292726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Exact lookup does not bypass</a:t>
              </a:r>
              <a:br>
                <a:rPr lang="en-US" sz="1500" dirty="0">
                  <a:solidFill>
                    <a:schemeClr val="dk1"/>
                  </a:solidFill>
                  <a:latin typeface="+mn-lt"/>
                  <a:ea typeface="+mn-ea"/>
                  <a:cs typeface="+mn-cs"/>
                </a:rPr>
              </a:br>
              <a:r>
                <a:rPr lang="en-US" sz="1500" dirty="0">
                  <a:solidFill>
                    <a:schemeClr val="dk1"/>
                  </a:solidFill>
                  <a:latin typeface="+mn-lt"/>
                  <a:ea typeface="+mn-ea"/>
                  <a:cs typeface="+mn-cs"/>
                </a:rPr>
                <a:t>authorization. Search, direct</a:t>
              </a:r>
              <a:br>
                <a:rPr lang="en-US" sz="1500" dirty="0">
                  <a:solidFill>
                    <a:schemeClr val="dk1"/>
                  </a:solidFill>
                  <a:latin typeface="+mn-lt"/>
                  <a:ea typeface="+mn-ea"/>
                  <a:cs typeface="+mn-cs"/>
                </a:rPr>
              </a:br>
              <a:r>
                <a:rPr lang="en-US" sz="1500" dirty="0">
                  <a:solidFill>
                    <a:schemeClr val="dk1"/>
                  </a:solidFill>
                  <a:latin typeface="+mn-lt"/>
                  <a:ea typeface="+mn-ea"/>
                  <a:cs typeface="+mn-cs"/>
                </a:rPr>
                <a:t>reads, calculation inputs and</a:t>
              </a:r>
              <a:br>
                <a:rPr lang="en-US" sz="1500" dirty="0">
                  <a:solidFill>
                    <a:schemeClr val="dk1"/>
                  </a:solidFill>
                  <a:latin typeface="+mn-lt"/>
                  <a:ea typeface="+mn-ea"/>
                  <a:cs typeface="+mn-cs"/>
                </a:rPr>
              </a:br>
              <a:r>
                <a:rPr lang="en-US" sz="1500" dirty="0">
                  <a:solidFill>
                    <a:schemeClr val="dk1"/>
                  </a:solidFill>
                  <a:latin typeface="+mn-lt"/>
                  <a:ea typeface="+mn-ea"/>
                  <a:cs typeface="+mn-cs"/>
                </a:rPr>
                <a:t>output references must remain</a:t>
              </a:r>
              <a:br>
                <a:rPr lang="en-US" sz="1500" dirty="0">
                  <a:solidFill>
                    <a:schemeClr val="dk1"/>
                  </a:solidFill>
                  <a:latin typeface="+mn-lt"/>
                  <a:ea typeface="+mn-ea"/>
                  <a:cs typeface="+mn-cs"/>
                </a:rPr>
              </a:br>
              <a:r>
                <a:rPr lang="en-US" sz="1500" dirty="0">
                  <a:solidFill>
                    <a:schemeClr val="dk1"/>
                  </a:solidFill>
                  <a:latin typeface="+mn-lt"/>
                  <a:ea typeface="+mn-ea"/>
                  <a:cs typeface="+mn-cs"/>
                </a:rPr>
                <a:t>within the user and tenant scope.</a:t>
              </a:r>
              <a:br>
                <a:rPr lang="en-US" sz="1500" dirty="0">
                  <a:solidFill>
                    <a:schemeClr val="dk1"/>
                  </a:solidFill>
                  <a:latin typeface="+mn-lt"/>
                  <a:ea typeface="+mn-ea"/>
                  <a:cs typeface="+mn-cs"/>
                </a:rPr>
              </a:br>
              <a:r>
                <a:rPr lang="en-US" sz="1500" dirty="0">
                  <a:solidFill>
                    <a:schemeClr val="dk1"/>
                  </a:solidFill>
                  <a:latin typeface="+mn-lt"/>
                  <a:ea typeface="+mn-ea"/>
                  <a:cs typeface="+mn-cs"/>
                </a:rPr>
                <a:t>Test revoked access and empty</a:t>
              </a:r>
              <a:br>
                <a:rPr lang="en-US" sz="1500" dirty="0">
                  <a:solidFill>
                    <a:schemeClr val="dk1"/>
                  </a:solidFill>
                  <a:latin typeface="+mn-lt"/>
                  <a:ea typeface="+mn-ea"/>
                  <a:cs typeface="+mn-cs"/>
                </a:rPr>
              </a:br>
              <a:r>
                <a:rPr lang="en-US" sz="1500" dirty="0">
                  <a:solidFill>
                    <a:schemeClr val="dk1"/>
                  </a:solidFill>
                  <a:latin typeface="+mn-lt"/>
                  <a:ea typeface="+mn-ea"/>
                  <a:cs typeface="+mn-cs"/>
                </a:rPr>
                <a:t>evidence as well as the successful</a:t>
              </a:r>
              <a:br>
                <a:rPr lang="en-US" sz="1500" dirty="0">
                  <a:solidFill>
                    <a:schemeClr val="dk1"/>
                  </a:solidFill>
                  <a:latin typeface="+mn-lt"/>
                  <a:ea typeface="+mn-ea"/>
                  <a:cs typeface="+mn-cs"/>
                </a:rPr>
              </a:br>
              <a:r>
                <a:rPr lang="en-US" sz="1500" dirty="0">
                  <a:solidFill>
                    <a:schemeClr val="dk1"/>
                  </a:solidFill>
                  <a:latin typeface="+mn-lt"/>
                  <a:ea typeface="+mn-ea"/>
                  <a:cs typeface="+mn-cs"/>
                </a:rPr>
                <a:t>path; a citation chip does not</a:t>
              </a:r>
              <a:br>
                <a:rPr lang="en-US" sz="1500" dirty="0">
                  <a:solidFill>
                    <a:schemeClr val="dk1"/>
                  </a:solidFill>
                  <a:latin typeface="+mn-lt"/>
                  <a:ea typeface="+mn-ea"/>
                  <a:cs typeface="+mn-cs"/>
                </a:rPr>
              </a:br>
              <a:r>
                <a:rPr lang="en-US" sz="1500" dirty="0">
                  <a:solidFill>
                    <a:schemeClr val="dk1"/>
                  </a:solidFill>
                  <a:latin typeface="+mn-lt"/>
                  <a:ea typeface="+mn-ea"/>
                  <a:cs typeface="+mn-cs"/>
                </a:rPr>
                <a:t>enforce permission.</a:t>
              </a:r>
            </a:p>
          </p:txBody>
        </p:sp>
      </p:grpSp>
      <p:grpSp>
        <p:nvGrpSpPr>
          <p:cNvPr id="23" name="analysis-3"/>
          <p:cNvGrpSpPr/>
          <p:nvPr/>
        </p:nvGrpSpPr>
        <p:grpSpPr>
          <a:xfrm>
            <a:off x="8144256" y="2438400"/>
            <a:ext cx="3223835" cy="3484245"/>
            <a:chOff x="8144256" y="2438400"/>
            <a:chExt cx="3223835" cy="3484245"/>
          </a:xfrm>
        </p:grpSpPr>
        <p:sp>
          <p:nvSpPr>
            <p:cNvPr id="21" name="TextBox 21"/>
            <p:cNvSpPr txBox="1"/>
            <p:nvPr/>
          </p:nvSpPr>
          <p:spPr>
            <a:xfrm>
              <a:off x="8144256" y="2438400"/>
              <a:ext cx="322383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Verify what the user receives</a:t>
              </a:r>
            </a:p>
          </p:txBody>
        </p:sp>
        <p:sp>
          <p:nvSpPr>
            <p:cNvPr id="22" name="TextBox 22"/>
            <p:cNvSpPr txBox="1"/>
            <p:nvPr/>
          </p:nvSpPr>
          <p:spPr>
            <a:xfrm>
              <a:off x="8145780" y="3057525"/>
              <a:ext cx="3065221" cy="286512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The main-stage transcript</a:t>
              </a:r>
              <a:br>
                <a:rPr lang="en-US" sz="1500" dirty="0">
                  <a:solidFill>
                    <a:schemeClr val="dk1"/>
                  </a:solidFill>
                  <a:latin typeface="+mn-lt"/>
                  <a:ea typeface="+mn-ea"/>
                  <a:cs typeface="+mn-cs"/>
                </a:rPr>
              </a:br>
              <a:r>
                <a:rPr lang="en-US" sz="1500" dirty="0">
                  <a:solidFill>
                    <a:schemeClr val="dk1"/>
                  </a:solidFill>
                  <a:latin typeface="+mn-lt"/>
                  <a:ea typeface="+mn-ea"/>
                  <a:cs typeface="+mn-cs"/>
                </a:rPr>
                <a:t>explicitly retains post-processing</a:t>
              </a:r>
              <a:br>
                <a:rPr lang="en-US" sz="1500" dirty="0">
                  <a:solidFill>
                    <a:schemeClr val="dk1"/>
                  </a:solidFill>
                  <a:latin typeface="+mn-lt"/>
                  <a:ea typeface="+mn-ea"/>
                  <a:cs typeface="+mn-cs"/>
                </a:rPr>
              </a:br>
              <a:r>
                <a:rPr lang="en-US" sz="1500" dirty="0">
                  <a:solidFill>
                    <a:schemeClr val="dk1"/>
                  </a:solidFill>
                  <a:latin typeface="+mn-lt"/>
                  <a:ea typeface="+mn-ea"/>
                  <a:cs typeface="+mn-cs"/>
                </a:rPr>
                <a:t>because generation can invent</a:t>
              </a:r>
              <a:br>
                <a:rPr lang="en-US" sz="1500" dirty="0">
                  <a:solidFill>
                    <a:schemeClr val="dk1"/>
                  </a:solidFill>
                  <a:latin typeface="+mn-lt"/>
                  <a:ea typeface="+mn-ea"/>
                  <a:cs typeface="+mn-cs"/>
                </a:rPr>
              </a:br>
              <a:r>
                <a:rPr lang="en-US" sz="1500" dirty="0">
                  <a:solidFill>
                    <a:schemeClr val="dk1"/>
                  </a:solidFill>
                  <a:latin typeface="+mn-lt"/>
                  <a:ea typeface="+mn-ea"/>
                  <a:cs typeface="+mn-cs"/>
                </a:rPr>
                <a:t>numbers afterward. The breakout</a:t>
              </a:r>
              <a:br>
                <a:rPr lang="en-US" sz="1500" dirty="0">
                  <a:solidFill>
                    <a:schemeClr val="dk1"/>
                  </a:solidFill>
                  <a:latin typeface="+mn-lt"/>
                  <a:ea typeface="+mn-ea"/>
                  <a:cs typeface="+mn-cs"/>
                </a:rPr>
              </a:br>
              <a:r>
                <a:rPr lang="en-US" sz="1500" dirty="0">
                  <a:solidFill>
                    <a:schemeClr val="dk1"/>
                  </a:solidFill>
                  <a:latin typeface="+mn-lt"/>
                  <a:ea typeface="+mn-ea"/>
                  <a:cs typeface="+mn-cs"/>
                </a:rPr>
                <a:t>description says unverifiable</a:t>
              </a:r>
              <a:br>
                <a:rPr lang="en-US" sz="1500" dirty="0">
                  <a:solidFill>
                    <a:schemeClr val="dk1"/>
                  </a:solidFill>
                  <a:latin typeface="+mn-lt"/>
                  <a:ea typeface="+mn-ea"/>
                  <a:cs typeface="+mn-cs"/>
                </a:rPr>
              </a:br>
              <a:r>
                <a:rPr lang="en-US" sz="1500" dirty="0">
                  <a:solidFill>
                    <a:schemeClr val="dk1"/>
                  </a:solidFill>
                  <a:latin typeface="+mn-lt"/>
                  <a:ea typeface="+mn-ea"/>
                  <a:cs typeface="+mn-cs"/>
                </a:rPr>
                <a:t>figures are stripped. Our</a:t>
              </a:r>
              <a:br>
                <a:rPr lang="en-US" sz="1500" dirty="0">
                  <a:solidFill>
                    <a:schemeClr val="dk1"/>
                  </a:solidFill>
                  <a:latin typeface="+mn-lt"/>
                  <a:ea typeface="+mn-ea"/>
                  <a:cs typeface="+mn-cs"/>
                </a:rPr>
              </a:br>
              <a:r>
                <a:rPr lang="en-US" sz="1500" dirty="0">
                  <a:solidFill>
                    <a:schemeClr val="dk1"/>
                  </a:solidFill>
                  <a:latin typeface="+mn-lt"/>
                  <a:ea typeface="+mn-ea"/>
                  <a:cs typeface="+mn-cs"/>
                </a:rPr>
                <a:t>requirement is stronger: correct,</a:t>
              </a:r>
              <a:br>
                <a:rPr lang="en-US" sz="1500" dirty="0">
                  <a:solidFill>
                    <a:schemeClr val="dk1"/>
                  </a:solidFill>
                  <a:latin typeface="+mn-lt"/>
                  <a:ea typeface="+mn-ea"/>
                  <a:cs typeface="+mn-cs"/>
                </a:rPr>
              </a:br>
              <a:r>
                <a:rPr lang="en-US" sz="1500" dirty="0">
                  <a:solidFill>
                    <a:schemeClr val="dk1"/>
                  </a:solidFill>
                  <a:latin typeface="+mn-lt"/>
                  <a:ea typeface="+mn-ea"/>
                  <a:cs typeface="+mn-cs"/>
                </a:rPr>
                <a:t>remove or escalate the unsupported</a:t>
              </a:r>
              <a:br>
                <a:rPr lang="en-US" sz="1500" dirty="0">
                  <a:solidFill>
                    <a:schemeClr val="dk1"/>
                  </a:solidFill>
                  <a:latin typeface="+mn-lt"/>
                  <a:ea typeface="+mn-ea"/>
                  <a:cs typeface="+mn-cs"/>
                </a:rPr>
              </a:br>
              <a:r>
                <a:rPr lang="en-US" sz="1500" dirty="0">
                  <a:solidFill>
                    <a:schemeClr val="dk1"/>
                  </a:solidFill>
                  <a:latin typeface="+mn-lt"/>
                  <a:ea typeface="+mn-ea"/>
                  <a:cs typeface="+mn-cs"/>
                </a:rPr>
                <a:t>material claim, rather than leave</a:t>
              </a:r>
              <a:br>
                <a:rPr lang="en-US" sz="1500" dirty="0">
                  <a:solidFill>
                    <a:schemeClr val="dk1"/>
                  </a:solidFill>
                  <a:latin typeface="+mn-lt"/>
                  <a:ea typeface="+mn-ea"/>
                  <a:cs typeface="+mn-cs"/>
                </a:rPr>
              </a:br>
              <a:r>
                <a:rPr lang="en-US" sz="1500" dirty="0">
                  <a:solidFill>
                    <a:schemeClr val="dk1"/>
                  </a:solidFill>
                  <a:latin typeface="+mn-lt"/>
                  <a:ea typeface="+mn-ea"/>
                  <a:cs typeface="+mn-cs"/>
                </a:rPr>
                <a:t>persuasive prose with broken</a:t>
              </a:r>
              <a:br>
                <a:rPr lang="en-US" sz="1500" dirty="0">
                  <a:solidFill>
                    <a:schemeClr val="dk1"/>
                  </a:solidFill>
                  <a:latin typeface="+mn-lt"/>
                  <a:ea typeface="+mn-ea"/>
                  <a:cs typeface="+mn-cs"/>
                </a:rPr>
              </a:br>
              <a:r>
                <a:rPr lang="en-US" sz="1500" dirty="0">
                  <a:solidFill>
                    <a:schemeClr val="dk1"/>
                  </a:solidFill>
                  <a:latin typeface="+mn-lt"/>
                  <a:ea typeface="+mn-ea"/>
                  <a:cs typeface="+mn-cs"/>
                </a:rPr>
                <a:t>support.</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2492267"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Kepler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10 / 37</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295272" cy="1364107"/>
            <a:chOff x="443484" y="361950"/>
            <a:chExt cx="9295272" cy="1364107"/>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854696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The right answer depends on the information cutoff</a:t>
              </a:r>
            </a:p>
          </p:txBody>
        </p:sp>
        <p:sp>
          <p:nvSpPr>
            <p:cNvPr id="4" name="TextBox 4"/>
            <p:cNvSpPr txBox="1"/>
            <p:nvPr/>
          </p:nvSpPr>
          <p:spPr>
            <a:xfrm>
              <a:off x="448818" y="1127125"/>
              <a:ext cx="9289938"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Invented AsterCo data: final FY2025 revenue is unavailable to a January 20 question, but eligible by</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March 1.</a:t>
              </a:r>
            </a:p>
          </p:txBody>
        </p:sp>
      </p:grpSp>
      <p:graphicFrame>
        <p:nvGraphicFramePr>
          <p:cNvPr id="6" name="source-versions"/>
          <p:cNvGraphicFramePr>
            <a:graphicFrameLocks noGrp="1"/>
          </p:cNvGraphicFramePr>
          <p:nvPr/>
        </p:nvGraphicFramePr>
        <p:xfrm>
          <a:off x="457200" y="1752600"/>
          <a:ext cx="11277600" cy="2200275"/>
        </p:xfrm>
        <a:graphic>
          <a:graphicData uri="http://schemas.openxmlformats.org/drawingml/2006/table">
            <a:tbl>
              <a:tblPr firstRow="1" bandRow="1">
                <a:tableStyleId>{5C22544A-7EE6-4342-B048-85BDC9FD1C3A}</a:tableStyleId>
              </a:tblPr>
              <a:tblGrid>
                <a:gridCol w="2762250"/>
                <a:gridCol w="5181600"/>
                <a:gridCol w="3333750"/>
              </a:tblGrid>
              <a:tr h="457200">
                <a:tc>
                  <a:txBody>
                    <a:bodyPr/>
                    <a:lstStyle/>
                    <a:p>
                      <a:pPr/>
                      <a:r>
                        <a:rPr lang="en-US" sz="1350" b="1">
                          <a:solidFill>
                            <a:srgbClr val="FFFDF7"/>
                          </a:solidFill>
                          <a:latin typeface="Arial"/>
                          <a:ea typeface="Microsoft YaHei"/>
                          <a:cs typeface="Arial"/>
                        </a:rPr>
                        <a:t>Published</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Invented document</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Revenue / USD m</a:t>
                      </a:r>
                    </a:p>
                  </a:txBody>
                  <a:tcPr anchor="ctr" marL="152400" marR="152400" marT="76200" marB="76200">
                    <a:lnL>
                      <a:noFill/>
                    </a:lnL>
                    <a:lnR>
                      <a:noFill/>
                    </a:lnR>
                    <a:lnT>
                      <a:noFill/>
                    </a:lnT>
                    <a:lnB w="9525">
                      <a:solidFill>
                        <a:schemeClr val="accent6"/>
                      </a:solidFill>
                      <a:prstDash val="solid"/>
                    </a:lnB>
                    <a:solidFill>
                      <a:schemeClr val="accent1"/>
                    </a:solidFill>
                  </a:tcPr>
                </a:tc>
              </a:tr>
              <a:tr h="581025">
                <a:tc>
                  <a:txBody>
                    <a:bodyPr/>
                    <a:lstStyle/>
                    <a:p>
                      <a:pPr/>
                      <a:r>
                        <a:rPr lang="en-US" sz="1350" b="0">
                          <a:solidFill>
                            <a:schemeClr val="dk1"/>
                          </a:solidFill>
                          <a:latin typeface="Arial"/>
                          <a:ea typeface="Microsoft YaHei"/>
                          <a:cs typeface="Arial"/>
                        </a:rPr>
                        <a:t>2025-02-01</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FY2024 final</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100</a:t>
                      </a:r>
                    </a:p>
                  </a:txBody>
                  <a:tcPr anchor="ctr" marL="152400" marR="152400" marT="76200" marB="76200">
                    <a:lnL>
                      <a:noFill/>
                    </a:lnL>
                    <a:lnR>
                      <a:noFill/>
                    </a:lnR>
                    <a:lnT>
                      <a:noFill/>
                    </a:lnT>
                    <a:lnB w="9525">
                      <a:solidFill>
                        <a:schemeClr val="accent6"/>
                      </a:solidFill>
                      <a:prstDash val="solid"/>
                    </a:lnB>
                    <a:noFill/>
                  </a:tcPr>
                </a:tc>
              </a:tr>
              <a:tr h="581025">
                <a:tc>
                  <a:txBody>
                    <a:bodyPr/>
                    <a:lstStyle/>
                    <a:p>
                      <a:pPr/>
                      <a:r>
                        <a:rPr lang="en-US" sz="1350" b="0">
                          <a:solidFill>
                            <a:schemeClr val="dk1"/>
                          </a:solidFill>
                          <a:latin typeface="Arial"/>
                          <a:ea typeface="Microsoft YaHei"/>
                          <a:cs typeface="Arial"/>
                        </a:rPr>
                        <a:t>2026-01-15</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FY2025 preliminary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118</a:t>
                      </a:r>
                    </a:p>
                  </a:txBody>
                  <a:tcPr anchor="ctr" marL="152400" marR="152400" marT="76200" marB="76200">
                    <a:lnL>
                      <a:noFill/>
                    </a:lnL>
                    <a:lnR>
                      <a:noFill/>
                    </a:lnR>
                    <a:lnT>
                      <a:noFill/>
                    </a:lnT>
                    <a:lnB w="9525">
                      <a:solidFill>
                        <a:schemeClr val="accent6"/>
                      </a:solidFill>
                      <a:prstDash val="solid"/>
                    </a:lnB>
                    <a:noFill/>
                  </a:tcPr>
                </a:tc>
              </a:tr>
              <a:tr h="581025">
                <a:tc>
                  <a:txBody>
                    <a:bodyPr/>
                    <a:lstStyle/>
                    <a:p>
                      <a:pPr/>
                      <a:r>
                        <a:rPr lang="en-US" sz="1350" b="0">
                          <a:solidFill>
                            <a:schemeClr val="dk1"/>
                          </a:solidFill>
                          <a:latin typeface="Arial"/>
                          <a:ea typeface="Microsoft YaHei"/>
                          <a:cs typeface="Arial"/>
                        </a:rPr>
                        <a:t>2026-02-01</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FY2025 final</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120</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10" name="early-cutoff"/>
          <p:cNvGrpSpPr/>
          <p:nvPr/>
        </p:nvGrpSpPr>
        <p:grpSpPr>
          <a:xfrm>
            <a:off x="457200" y="4286250"/>
            <a:ext cx="5372100" cy="1162050"/>
            <a:chOff x="457200" y="4286250"/>
            <a:chExt cx="5372100" cy="1162050"/>
          </a:xfrm>
        </p:grpSpPr>
        <p:sp>
          <p:nvSpPr>
            <p:cNvPr id="7" name="Rectangle 7"/>
            <p:cNvSpPr/>
            <p:nvPr/>
          </p:nvSpPr>
          <p:spPr>
            <a:xfrm>
              <a:off x="457200" y="4286250"/>
              <a:ext cx="5372100" cy="1162050"/>
            </a:xfrm>
            <a:prstGeom prst="rect">
              <a:avLst/>
            </a:prstGeom>
            <a:solidFill>
              <a:schemeClr val="lt2"/>
            </a:solidFill>
            <a:ln>
              <a:noFill/>
            </a:ln>
          </p:spPr>
        </p:sp>
        <p:sp>
          <p:nvSpPr>
            <p:cNvPr id="8" name="TextBox 8"/>
            <p:cNvSpPr txBox="1"/>
            <p:nvPr/>
          </p:nvSpPr>
          <p:spPr>
            <a:xfrm>
              <a:off x="621030" y="4371975"/>
              <a:ext cx="2416015"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January 20 cutoff → 18%</a:t>
              </a:r>
            </a:p>
          </p:txBody>
        </p:sp>
        <p:sp>
          <p:nvSpPr>
            <p:cNvPr id="9" name="TextBox 9"/>
            <p:cNvSpPr txBox="1"/>
            <p:nvPr/>
          </p:nvSpPr>
          <p:spPr>
            <a:xfrm>
              <a:off x="621030" y="4762500"/>
              <a:ext cx="3610280"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(118 − 100) / 100. Preliminary; final not yet</a:t>
              </a:r>
              <a:br>
                <a:rPr lang="en-US" sz="1500" dirty="0">
                  <a:solidFill>
                    <a:schemeClr val="dk1"/>
                  </a:solidFill>
                  <a:latin typeface="+mn-lt"/>
                  <a:ea typeface="+mn-ea"/>
                  <a:cs typeface="+mn-cs"/>
                </a:rPr>
              </a:br>
              <a:r>
                <a:rPr lang="en-US" sz="1500" dirty="0">
                  <a:solidFill>
                    <a:schemeClr val="dk1"/>
                  </a:solidFill>
                  <a:latin typeface="+mn-lt"/>
                  <a:ea typeface="+mn-ea"/>
                  <a:cs typeface="+mn-cs"/>
                </a:rPr>
                <a:t>available.</a:t>
              </a:r>
            </a:p>
          </p:txBody>
        </p:sp>
      </p:grpSp>
      <p:grpSp>
        <p:nvGrpSpPr>
          <p:cNvPr id="14" name="later-cutoff"/>
          <p:cNvGrpSpPr/>
          <p:nvPr/>
        </p:nvGrpSpPr>
        <p:grpSpPr>
          <a:xfrm>
            <a:off x="6057900" y="4286250"/>
            <a:ext cx="5676900" cy="1162050"/>
            <a:chOff x="6057900" y="4286250"/>
            <a:chExt cx="5676900" cy="1162050"/>
          </a:xfrm>
        </p:grpSpPr>
        <p:sp>
          <p:nvSpPr>
            <p:cNvPr id="11" name="Rectangle 11"/>
            <p:cNvSpPr/>
            <p:nvPr/>
          </p:nvSpPr>
          <p:spPr>
            <a:xfrm>
              <a:off x="6057900" y="4286250"/>
              <a:ext cx="5676900" cy="1162050"/>
            </a:xfrm>
            <a:prstGeom prst="rect">
              <a:avLst/>
            </a:prstGeom>
            <a:solidFill>
              <a:schemeClr val="accent1"/>
            </a:solidFill>
            <a:ln>
              <a:noFill/>
            </a:ln>
          </p:spPr>
        </p:sp>
        <p:sp>
          <p:nvSpPr>
            <p:cNvPr id="12" name="TextBox 12"/>
            <p:cNvSpPr txBox="1"/>
            <p:nvPr/>
          </p:nvSpPr>
          <p:spPr>
            <a:xfrm>
              <a:off x="6221730" y="4371975"/>
              <a:ext cx="2124332"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mn-lt"/>
                  <a:ea typeface="+mn-ea"/>
                  <a:cs typeface="+mn-cs"/>
                </a:rPr>
                <a:t>March 1 cutoff → 20%</a:t>
              </a:r>
            </a:p>
          </p:txBody>
        </p:sp>
        <p:sp>
          <p:nvSpPr>
            <p:cNvPr id="13" name="TextBox 13"/>
            <p:cNvSpPr txBox="1"/>
            <p:nvPr/>
          </p:nvSpPr>
          <p:spPr>
            <a:xfrm>
              <a:off x="6221730" y="4762500"/>
              <a:ext cx="3948632" cy="293370"/>
            </a:xfrm>
            <a:prstGeom prst="rect">
              <a:avLst/>
            </a:prstGeom>
            <a:noFill/>
            <a:ln>
              <a:noFill/>
            </a:ln>
          </p:spPr>
          <p:txBody>
            <a:bodyPr wrap="none" lIns="0" tIns="0" rIns="0" bIns="0" anchor="t" anchorCtr="0">
              <a:spAutoFit/>
            </a:bodyPr>
            <a:lstStyle/>
            <a:p>
              <a:pPr algn="l"/>
              <a:r>
                <a:rPr lang="en-US" sz="1500" dirty="0">
                  <a:solidFill>
                    <a:srgbClr val="FFFDF7"/>
                  </a:solidFill>
                  <a:latin typeface="+mn-lt"/>
                  <a:ea typeface="+mn-ea"/>
                  <a:cs typeface="+mn-cs"/>
                </a:rPr>
                <a:t>(120 − 100) / 100. Final source now eligible.</a:t>
              </a:r>
            </a:p>
          </p:txBody>
        </p:sp>
      </p:grpSp>
      <p:grpSp>
        <p:nvGrpSpPr>
          <p:cNvPr id="16" name="lesson"/>
          <p:cNvGrpSpPr/>
          <p:nvPr/>
        </p:nvGrpSpPr>
        <p:grpSpPr>
          <a:xfrm>
            <a:off x="449580" y="5734050"/>
            <a:ext cx="8973807" cy="541020"/>
            <a:chOff x="449580" y="5734050"/>
            <a:chExt cx="8973807" cy="541020"/>
          </a:xfrm>
        </p:grpSpPr>
        <p:sp>
          <p:nvSpPr>
            <p:cNvPr id="15" name="TextBox 15"/>
            <p:cNvSpPr txBox="1"/>
            <p:nvPr/>
          </p:nvSpPr>
          <p:spPr>
            <a:xfrm>
              <a:off x="449580" y="5734050"/>
              <a:ext cx="8973807"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Correct arithmetic cannot repair the wrong information set. Retain publication dates and selection reasons;</a:t>
              </a:r>
              <a:br>
                <a:rPr lang="en-US" sz="1500" dirty="0">
                  <a:solidFill>
                    <a:schemeClr val="dk1"/>
                  </a:solidFill>
                  <a:latin typeface="+mn-lt"/>
                  <a:ea typeface="+mn-ea"/>
                  <a:cs typeface="+mn-cs"/>
                </a:rPr>
              </a:br>
              <a:r>
                <a:rPr lang="en-US" sz="1500" dirty="0">
                  <a:solidFill>
                    <a:schemeClr val="dk1"/>
                  </a:solidFill>
                  <a:latin typeface="+mn-lt"/>
                  <a:ea typeface="+mn-ea"/>
                  <a:cs typeface="+mn-cs"/>
                </a:rPr>
                <a:t>update each dependent sentence, table and chart. All documents and values here are invented.</a:t>
              </a:r>
            </a:p>
          </p:txBody>
        </p:sp>
      </p:grpSp>
      <p:grpSp>
        <p:nvGrpSpPr>
          <p:cNvPr id="19" name="footer"/>
          <p:cNvGrpSpPr/>
          <p:nvPr/>
        </p:nvGrpSpPr>
        <p:grpSpPr>
          <a:xfrm>
            <a:off x="452438" y="6457950"/>
            <a:ext cx="11287124" cy="176212"/>
            <a:chOff x="452438" y="6457950"/>
            <a:chExt cx="11287124" cy="176212"/>
          </a:xfrm>
        </p:grpSpPr>
        <p:sp>
          <p:nvSpPr>
            <p:cNvPr id="17" name="TextBox 17"/>
            <p:cNvSpPr txBox="1"/>
            <p:nvPr/>
          </p:nvSpPr>
          <p:spPr>
            <a:xfrm>
              <a:off x="452438" y="6457950"/>
              <a:ext cx="6206190"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Teaching case informed by numerical-evidence discussions. It is not a result achieved by any conference company.</a:t>
              </a:r>
            </a:p>
          </p:txBody>
        </p:sp>
        <p:sp>
          <p:nvSpPr>
            <p:cNvPr id="18" name="TextBox 18"/>
            <p:cNvSpPr txBox="1"/>
            <p:nvPr/>
          </p:nvSpPr>
          <p:spPr>
            <a:xfrm>
              <a:off x="11359512" y="645795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11 / 37</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340619" cy="1364107"/>
            <a:chOff x="443484" y="361950"/>
            <a:chExt cx="9340619" cy="1364107"/>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8315029"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Keep evidence intact through the exported artifact</a:t>
              </a:r>
            </a:p>
          </p:txBody>
        </p:sp>
        <p:sp>
          <p:nvSpPr>
            <p:cNvPr id="4" name="TextBox 4"/>
            <p:cNvSpPr txBox="1"/>
            <p:nvPr/>
          </p:nvSpPr>
          <p:spPr>
            <a:xfrm>
              <a:off x="448818" y="1127125"/>
              <a:ext cx="9335285"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A source-backed chat response is insufficient if the saved workbook, report or presentation becomes</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stale.</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159105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Source + meaning</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998246"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Calculation</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64596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Review</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33150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Current artifact</a:t>
              </a:r>
            </a:p>
          </p:txBody>
        </p:sp>
      </p:grpSp>
      <p:grpSp>
        <p:nvGrpSpPr>
          <p:cNvPr id="17" name="analysis-1"/>
          <p:cNvGrpSpPr/>
          <p:nvPr/>
        </p:nvGrpSpPr>
        <p:grpSpPr>
          <a:xfrm>
            <a:off x="448056" y="2438400"/>
            <a:ext cx="3204515" cy="2969895"/>
            <a:chOff x="448056" y="2438400"/>
            <a:chExt cx="3204515" cy="2969895"/>
          </a:xfrm>
        </p:grpSpPr>
        <p:sp>
          <p:nvSpPr>
            <p:cNvPr id="15" name="TextBox 15"/>
            <p:cNvSpPr txBox="1"/>
            <p:nvPr/>
          </p:nvSpPr>
          <p:spPr>
            <a:xfrm>
              <a:off x="448056" y="2438400"/>
              <a:ext cx="272321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Preserve the claim chain</a:t>
              </a:r>
            </a:p>
          </p:txBody>
        </p:sp>
        <p:sp>
          <p:nvSpPr>
            <p:cNvPr id="16" name="TextBox 16"/>
            <p:cNvSpPr txBox="1"/>
            <p:nvPr/>
          </p:nvSpPr>
          <p:spPr>
            <a:xfrm>
              <a:off x="449580" y="3057525"/>
              <a:ext cx="320299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OpenAI’s finance presentation</a:t>
              </a:r>
              <a:br>
                <a:rPr lang="en-US" sz="1500" dirty="0">
                  <a:solidFill>
                    <a:schemeClr val="dk1"/>
                  </a:solidFill>
                  <a:latin typeface="+mn-lt"/>
                  <a:ea typeface="+mn-ea"/>
                  <a:cs typeface="+mn-cs"/>
                </a:rPr>
              </a:br>
              <a:r>
                <a:rPr lang="en-US" sz="1500" dirty="0">
                  <a:solidFill>
                    <a:schemeClr val="dk1"/>
                  </a:solidFill>
                  <a:latin typeface="+mn-lt"/>
                  <a:ea typeface="+mn-ea"/>
                  <a:cs typeface="+mn-cs"/>
                </a:rPr>
                <a:t>connects source passages and tables</a:t>
              </a:r>
              <a:br>
                <a:rPr lang="en-US" sz="1500" dirty="0">
                  <a:solidFill>
                    <a:schemeClr val="dk1"/>
                  </a:solidFill>
                  <a:latin typeface="+mn-lt"/>
                  <a:ea typeface="+mn-ea"/>
                  <a:cs typeface="+mn-cs"/>
                </a:rPr>
              </a:br>
              <a:r>
                <a:rPr lang="en-US" sz="1500" dirty="0">
                  <a:solidFill>
                    <a:schemeClr val="dk1"/>
                  </a:solidFill>
                  <a:latin typeface="+mn-lt"/>
                  <a:ea typeface="+mn-ea"/>
                  <a:cs typeface="+mn-cs"/>
                </a:rPr>
                <a:t>to charts and reusable artifacts.</a:t>
              </a:r>
              <a:br>
                <a:rPr lang="en-US" sz="1500" dirty="0">
                  <a:solidFill>
                    <a:schemeClr val="dk1"/>
                  </a:solidFill>
                  <a:latin typeface="+mn-lt"/>
                  <a:ea typeface="+mn-ea"/>
                  <a:cs typeface="+mn-cs"/>
                </a:rPr>
              </a:br>
              <a:r>
                <a:rPr lang="en-US" sz="1500" dirty="0">
                  <a:solidFill>
                    <a:schemeClr val="dk1"/>
                  </a:solidFill>
                  <a:latin typeface="+mn-lt"/>
                  <a:ea typeface="+mn-ea"/>
                  <a:cs typeface="+mn-cs"/>
                </a:rPr>
                <a:t>Carry the material value, period,</a:t>
              </a:r>
              <a:br>
                <a:rPr lang="en-US" sz="1500" dirty="0">
                  <a:solidFill>
                    <a:schemeClr val="dk1"/>
                  </a:solidFill>
                  <a:latin typeface="+mn-lt"/>
                  <a:ea typeface="+mn-ea"/>
                  <a:cs typeface="+mn-cs"/>
                </a:rPr>
              </a:br>
              <a:r>
                <a:rPr lang="en-US" sz="1500" dirty="0">
                  <a:solidFill>
                    <a:schemeClr val="dk1"/>
                  </a:solidFill>
                  <a:latin typeface="+mn-lt"/>
                  <a:ea typeface="+mn-ea"/>
                  <a:cs typeface="+mn-cs"/>
                </a:rPr>
                <a:t>unit and source into the</a:t>
              </a:r>
              <a:br>
                <a:rPr lang="en-US" sz="1500" dirty="0">
                  <a:solidFill>
                    <a:schemeClr val="dk1"/>
                  </a:solidFill>
                  <a:latin typeface="+mn-lt"/>
                  <a:ea typeface="+mn-ea"/>
                  <a:cs typeface="+mn-cs"/>
                </a:rPr>
              </a:br>
              <a:r>
                <a:rPr lang="en-US" sz="1500" dirty="0">
                  <a:solidFill>
                    <a:schemeClr val="dk1"/>
                  </a:solidFill>
                  <a:latin typeface="+mn-lt"/>
                  <a:ea typeface="+mn-ea"/>
                  <a:cs typeface="+mn-cs"/>
                </a:rPr>
                <a:t>deliverable. Reconcile the document</a:t>
              </a:r>
              <a:br>
                <a:rPr lang="en-US" sz="1500" dirty="0">
                  <a:solidFill>
                    <a:schemeClr val="dk1"/>
                  </a:solidFill>
                  <a:latin typeface="+mn-lt"/>
                  <a:ea typeface="+mn-ea"/>
                  <a:cs typeface="+mn-cs"/>
                </a:rPr>
              </a:br>
              <a:r>
                <a:rPr lang="en-US" sz="1500" dirty="0">
                  <a:solidFill>
                    <a:schemeClr val="dk1"/>
                  </a:solidFill>
                  <a:latin typeface="+mn-lt"/>
                  <a:ea typeface="+mn-ea"/>
                  <a:cs typeface="+mn-cs"/>
                </a:rPr>
                <a:t>with the current evidence after a</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correction rather than treating</a:t>
              </a:r>
              <a:br>
                <a:rPr lang="en-US" sz="1500" dirty="0">
                  <a:solidFill>
                    <a:schemeClr val="dk1"/>
                  </a:solidFill>
                  <a:latin typeface="+mn-lt"/>
                  <a:ea typeface="+mn-ea"/>
                  <a:cs typeface="+mn-cs"/>
                </a:rPr>
              </a:br>
              <a:r>
                <a:rPr lang="en-US" sz="1500" dirty="0">
                  <a:solidFill>
                    <a:schemeClr val="dk1"/>
                  </a:solidFill>
                  <a:latin typeface="+mn-lt"/>
                  <a:ea typeface="+mn-ea"/>
                  <a:cs typeface="+mn-cs"/>
                </a:rPr>
                <a:t>export as a cosmetic step.</a:t>
              </a:r>
            </a:p>
          </p:txBody>
        </p:sp>
      </p:grpSp>
      <p:grpSp>
        <p:nvGrpSpPr>
          <p:cNvPr id="20" name="analysis-2"/>
          <p:cNvGrpSpPr/>
          <p:nvPr/>
        </p:nvGrpSpPr>
        <p:grpSpPr>
          <a:xfrm>
            <a:off x="4296156" y="2438400"/>
            <a:ext cx="3098483" cy="3227070"/>
            <a:chOff x="4296156" y="2438400"/>
            <a:chExt cx="3098483" cy="3227070"/>
          </a:xfrm>
        </p:grpSpPr>
        <p:sp>
          <p:nvSpPr>
            <p:cNvPr id="18" name="TextBox 18"/>
            <p:cNvSpPr txBox="1"/>
            <p:nvPr/>
          </p:nvSpPr>
          <p:spPr>
            <a:xfrm>
              <a:off x="4296156" y="2438400"/>
              <a:ext cx="287230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Check collaborative scope</a:t>
              </a:r>
            </a:p>
          </p:txBody>
        </p:sp>
        <p:sp>
          <p:nvSpPr>
            <p:cNvPr id="19" name="TextBox 19"/>
            <p:cNvSpPr txBox="1"/>
            <p:nvPr/>
          </p:nvSpPr>
          <p:spPr>
            <a:xfrm>
              <a:off x="4297680" y="3057525"/>
              <a:ext cx="3096959"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Compound AI describes shared deal</a:t>
              </a:r>
              <a:br>
                <a:rPr lang="en-US" sz="1500" dirty="0">
                  <a:solidFill>
                    <a:schemeClr val="dk1"/>
                  </a:solidFill>
                  <a:latin typeface="+mn-lt"/>
                  <a:ea typeface="+mn-ea"/>
                  <a:cs typeface="+mn-cs"/>
                </a:rPr>
              </a:br>
              <a:r>
                <a:rPr lang="en-US" sz="1500" dirty="0">
                  <a:solidFill>
                    <a:schemeClr val="dk1"/>
                  </a:solidFill>
                  <a:latin typeface="+mn-lt"/>
                  <a:ea typeface="+mn-ea"/>
                  <a:cs typeface="+mn-cs"/>
                </a:rPr>
                <a:t>threads, an agent inbox and longer</a:t>
              </a:r>
              <a:br>
                <a:rPr lang="en-US" sz="1500" dirty="0">
                  <a:solidFill>
                    <a:schemeClr val="dk1"/>
                  </a:solidFill>
                  <a:latin typeface="+mn-lt"/>
                  <a:ea typeface="+mn-ea"/>
                  <a:cs typeface="+mn-cs"/>
                </a:rPr>
              </a:br>
              <a:r>
                <a:rPr lang="en-US" sz="1500" dirty="0">
                  <a:solidFill>
                    <a:schemeClr val="dk1"/>
                  </a:solidFill>
                  <a:latin typeface="+mn-lt"/>
                  <a:ea typeface="+mn-ea"/>
                  <a:cs typeface="+mn-cs"/>
                </a:rPr>
                <a:t>artifact work. Permissions must</a:t>
              </a:r>
              <a:br>
                <a:rPr lang="en-US" sz="1500" dirty="0">
                  <a:solidFill>
                    <a:schemeClr val="dk1"/>
                  </a:solidFill>
                  <a:latin typeface="+mn-lt"/>
                  <a:ea typeface="+mn-ea"/>
                  <a:cs typeface="+mn-cs"/>
                </a:rPr>
              </a:br>
              <a:r>
                <a:rPr lang="en-US" sz="1500" dirty="0">
                  <a:solidFill>
                    <a:schemeClr val="dk1"/>
                  </a:solidFill>
                  <a:latin typeface="+mn-lt"/>
                  <a:ea typeface="+mn-ea"/>
                  <a:cs typeface="+mn-cs"/>
                </a:rPr>
                <a:t>follow participants and source</a:t>
              </a:r>
              <a:br>
                <a:rPr lang="en-US" sz="1500" dirty="0">
                  <a:solidFill>
                    <a:schemeClr val="dk1"/>
                  </a:solidFill>
                  <a:latin typeface="+mn-lt"/>
                  <a:ea typeface="+mn-ea"/>
                  <a:cs typeface="+mn-cs"/>
                </a:rPr>
              </a:br>
              <a:r>
                <a:rPr lang="en-US" sz="1500" dirty="0">
                  <a:solidFill>
                    <a:schemeClr val="dk1"/>
                  </a:solidFill>
                  <a:latin typeface="+mn-lt"/>
                  <a:ea typeface="+mn-ea"/>
                  <a:cs typeface="+mn-cs"/>
                </a:rPr>
                <a:t>material, not only the connector.</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 workbook depth, file</a:t>
              </a:r>
              <a:br>
                <a:rPr lang="en-US" sz="1500" dirty="0">
                  <a:solidFill>
                    <a:schemeClr val="dk1"/>
                  </a:solidFill>
                  <a:latin typeface="+mn-lt"/>
                  <a:ea typeface="+mn-ea"/>
                  <a:cs typeface="+mn-cs"/>
                </a:rPr>
              </a:br>
              <a:r>
                <a:rPr lang="en-US" sz="1500" dirty="0">
                  <a:solidFill>
                    <a:schemeClr val="dk1"/>
                  </a:solidFill>
                  <a:latin typeface="+mn-lt"/>
                  <a:ea typeface="+mn-ea"/>
                  <a:cs typeface="+mn-cs"/>
                </a:rPr>
                <a:t>coverage and final fidelity</a:t>
              </a:r>
              <a:br>
                <a:rPr lang="en-US" sz="1500" dirty="0">
                  <a:solidFill>
                    <a:schemeClr val="dk1"/>
                  </a:solidFill>
                  <a:latin typeface="+mn-lt"/>
                  <a:ea typeface="+mn-ea"/>
                  <a:cs typeface="+mn-cs"/>
                </a:rPr>
              </a:br>
              <a:r>
                <a:rPr lang="en-US" sz="1500" dirty="0">
                  <a:solidFill>
                    <a:schemeClr val="dk1"/>
                  </a:solidFill>
                  <a:latin typeface="+mn-lt"/>
                  <a:ea typeface="+mn-ea"/>
                  <a:cs typeface="+mn-cs"/>
                </a:rPr>
                <a:t>separately; vendor architecture is</a:t>
              </a:r>
              <a:br>
                <a:rPr lang="en-US" sz="1500" dirty="0">
                  <a:solidFill>
                    <a:schemeClr val="dk1"/>
                  </a:solidFill>
                  <a:latin typeface="+mn-lt"/>
                  <a:ea typeface="+mn-ea"/>
                  <a:cs typeface="+mn-cs"/>
                </a:rPr>
              </a:br>
              <a:r>
                <a:rPr lang="en-US" sz="1500" dirty="0">
                  <a:solidFill>
                    <a:schemeClr val="dk1"/>
                  </a:solidFill>
                  <a:latin typeface="+mn-lt"/>
                  <a:ea typeface="+mn-ea"/>
                  <a:cs typeface="+mn-cs"/>
                </a:rPr>
                <a:t>not independently verified Office</a:t>
              </a:r>
              <a:br>
                <a:rPr lang="en-US" sz="1500" dirty="0">
                  <a:solidFill>
                    <a:schemeClr val="dk1"/>
                  </a:solidFill>
                  <a:latin typeface="+mn-lt"/>
                  <a:ea typeface="+mn-ea"/>
                  <a:cs typeface="+mn-cs"/>
                </a:rPr>
              </a:br>
              <a:r>
                <a:rPr lang="en-US" sz="1500" dirty="0">
                  <a:solidFill>
                    <a:schemeClr val="dk1"/>
                  </a:solidFill>
                  <a:latin typeface="+mn-lt"/>
                  <a:ea typeface="+mn-ea"/>
                  <a:cs typeface="+mn-cs"/>
                </a:rPr>
                <a:t>parity.</a:t>
              </a:r>
            </a:p>
          </p:txBody>
        </p:sp>
      </p:grpSp>
      <p:grpSp>
        <p:nvGrpSpPr>
          <p:cNvPr id="23" name="analysis-3"/>
          <p:cNvGrpSpPr/>
          <p:nvPr/>
        </p:nvGrpSpPr>
        <p:grpSpPr>
          <a:xfrm>
            <a:off x="8144256" y="2438400"/>
            <a:ext cx="3108770" cy="2969895"/>
            <a:chOff x="8144256" y="2438400"/>
            <a:chExt cx="3108770" cy="2969895"/>
          </a:xfrm>
        </p:grpSpPr>
        <p:sp>
          <p:nvSpPr>
            <p:cNvPr id="21" name="TextBox 21"/>
            <p:cNvSpPr txBox="1"/>
            <p:nvPr/>
          </p:nvSpPr>
          <p:spPr>
            <a:xfrm>
              <a:off x="8144256" y="2438400"/>
              <a:ext cx="2500998"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Review the current saved</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artifact</a:t>
              </a:r>
            </a:p>
          </p:txBody>
        </p:sp>
        <p:sp>
          <p:nvSpPr>
            <p:cNvPr id="22" name="TextBox 22"/>
            <p:cNvSpPr txBox="1"/>
            <p:nvPr/>
          </p:nvSpPr>
          <p:spPr>
            <a:xfrm>
              <a:off x="8145780" y="3057525"/>
              <a:ext cx="3107246"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Use a write–render–check–fix loop</a:t>
              </a:r>
              <a:br>
                <a:rPr lang="en-US" sz="1500" dirty="0">
                  <a:solidFill>
                    <a:schemeClr val="dk1"/>
                  </a:solidFill>
                  <a:latin typeface="+mn-lt"/>
                  <a:ea typeface="+mn-ea"/>
                  <a:cs typeface="+mn-cs"/>
                </a:rPr>
              </a:br>
              <a:r>
                <a:rPr lang="en-US" sz="1500" dirty="0">
                  <a:solidFill>
                    <a:schemeClr val="dk1"/>
                  </a:solidFill>
                  <a:latin typeface="+mn-lt"/>
                  <a:ea typeface="+mn-ea"/>
                  <a:cs typeface="+mn-cs"/>
                </a:rPr>
                <a:t>and inspect again after the final</a:t>
              </a:r>
              <a:br>
                <a:rPr lang="en-US" sz="1500" dirty="0">
                  <a:solidFill>
                    <a:schemeClr val="dk1"/>
                  </a:solidFill>
                  <a:latin typeface="+mn-lt"/>
                  <a:ea typeface="+mn-ea"/>
                  <a:cs typeface="+mn-cs"/>
                </a:rPr>
              </a:br>
              <a:r>
                <a:rPr lang="en-US" sz="1500" dirty="0">
                  <a:solidFill>
                    <a:schemeClr val="dk1"/>
                  </a:solidFill>
                  <a:latin typeface="+mn-lt"/>
                  <a:ea typeface="+mn-ea"/>
                  <a:cs typeface="+mn-cs"/>
                </a:rPr>
                <a:t>edit. Our acceptance contract</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the actual report the team</a:t>
              </a:r>
              <a:br>
                <a:rPr lang="en-US" sz="1500" dirty="0">
                  <a:solidFill>
                    <a:schemeClr val="dk1"/>
                  </a:solidFill>
                  <a:latin typeface="+mn-lt"/>
                  <a:ea typeface="+mn-ea"/>
                  <a:cs typeface="+mn-cs"/>
                </a:rPr>
              </a:br>
              <a:r>
                <a:rPr lang="en-US" sz="1500" dirty="0">
                  <a:solidFill>
                    <a:schemeClr val="dk1"/>
                  </a:solidFill>
                  <a:latin typeface="+mn-lt"/>
                  <a:ea typeface="+mn-ea"/>
                  <a:cs typeface="+mn-cs"/>
                </a:rPr>
                <a:t>will share, including stale</a:t>
              </a:r>
              <a:br>
                <a:rPr lang="en-US" sz="1500" dirty="0">
                  <a:solidFill>
                    <a:schemeClr val="dk1"/>
                  </a:solidFill>
                  <a:latin typeface="+mn-lt"/>
                  <a:ea typeface="+mn-ea"/>
                  <a:cs typeface="+mn-cs"/>
                </a:rPr>
              </a:br>
              <a:r>
                <a:rPr lang="en-US" sz="1500" dirty="0">
                  <a:solidFill>
                    <a:schemeClr val="dk1"/>
                  </a:solidFill>
                  <a:latin typeface="+mn-lt"/>
                  <a:ea typeface="+mn-ea"/>
                  <a:cs typeface="+mn-cs"/>
                </a:rPr>
                <a:t>sources, truncated tables and</a:t>
              </a:r>
              <a:br>
                <a:rPr lang="en-US" sz="1500" dirty="0">
                  <a:solidFill>
                    <a:schemeClr val="dk1"/>
                  </a:solidFill>
                  <a:latin typeface="+mn-lt"/>
                  <a:ea typeface="+mn-ea"/>
                  <a:cs typeface="+mn-cs"/>
                </a:rPr>
              </a:br>
              <a:r>
                <a:rPr lang="en-US" sz="1500" dirty="0">
                  <a:solidFill>
                    <a:schemeClr val="dk1"/>
                  </a:solidFill>
                  <a:latin typeface="+mn-lt"/>
                  <a:ea typeface="+mn-ea"/>
                  <a:cs typeface="+mn-cs"/>
                </a:rPr>
                <a:t>missing caveats. Passing code or an</a:t>
              </a:r>
              <a:br>
                <a:rPr lang="en-US" sz="1500" dirty="0">
                  <a:solidFill>
                    <a:schemeClr val="dk1"/>
                  </a:solidFill>
                  <a:latin typeface="+mn-lt"/>
                  <a:ea typeface="+mn-ea"/>
                  <a:cs typeface="+mn-cs"/>
                </a:rPr>
              </a:br>
              <a:r>
                <a:rPr lang="en-US" sz="1500" dirty="0">
                  <a:solidFill>
                    <a:schemeClr val="dk1"/>
                  </a:solidFill>
                  <a:latin typeface="+mn-lt"/>
                  <a:ea typeface="+mn-ea"/>
                  <a:cs typeface="+mn-cs"/>
                </a:rPr>
                <a:t>older preview cannot establish that</a:t>
              </a:r>
              <a:br>
                <a:rPr lang="en-US" sz="1500" dirty="0">
                  <a:solidFill>
                    <a:schemeClr val="dk1"/>
                  </a:solidFill>
                  <a:latin typeface="+mn-lt"/>
                  <a:ea typeface="+mn-ea"/>
                  <a:cs typeface="+mn-cs"/>
                </a:rPr>
              </a:br>
              <a:r>
                <a:rPr lang="en-US" sz="1500" dirty="0">
                  <a:solidFill>
                    <a:schemeClr val="dk1"/>
                  </a:solidFill>
                  <a:latin typeface="+mn-lt"/>
                  <a:ea typeface="+mn-ea"/>
                  <a:cs typeface="+mn-cs"/>
                </a:rPr>
                <a:t>the current artifact is usable.</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3426727"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OpenAI · Compound AI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12 / 37</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252938" cy="1100582"/>
            <a:chOff x="443484" y="361950"/>
            <a:chExt cx="10252938" cy="1100582"/>
          </a:xfrm>
        </p:grpSpPr>
        <p:sp>
          <p:nvSpPr>
            <p:cNvPr id="2" name="TextBox 2"/>
            <p:cNvSpPr txBox="1"/>
            <p:nvPr/>
          </p:nvSpPr>
          <p:spPr>
            <a:xfrm>
              <a:off x="451104" y="361950"/>
              <a:ext cx="266802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EVALUATION ENGINEERING</a:t>
              </a:r>
            </a:p>
          </p:txBody>
        </p:sp>
        <p:sp>
          <p:nvSpPr>
            <p:cNvPr id="3" name="TextBox 3"/>
            <p:cNvSpPr txBox="1"/>
            <p:nvPr/>
          </p:nvSpPr>
          <p:spPr>
            <a:xfrm>
              <a:off x="443484" y="593725"/>
              <a:ext cx="755883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Evaluate the outcome, behavior and authority</a:t>
              </a:r>
            </a:p>
          </p:txBody>
        </p:sp>
        <p:sp>
          <p:nvSpPr>
            <p:cNvPr id="4" name="TextBox 4"/>
            <p:cNvSpPr txBox="1"/>
            <p:nvPr/>
          </p:nvSpPr>
          <p:spPr>
            <a:xfrm>
              <a:off x="448818" y="1139825"/>
              <a:ext cx="10247604"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 correct total cannot compensate for fabricated evidence, a prohibited shortcut or an unapproved send.</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80773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Outcome</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79694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Behavior</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82639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Authority</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39203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Operating effort</a:t>
              </a:r>
            </a:p>
          </p:txBody>
        </p:sp>
      </p:grpSp>
      <p:grpSp>
        <p:nvGrpSpPr>
          <p:cNvPr id="17" name="analysis-1"/>
          <p:cNvGrpSpPr/>
          <p:nvPr/>
        </p:nvGrpSpPr>
        <p:grpSpPr>
          <a:xfrm>
            <a:off x="448056" y="2438400"/>
            <a:ext cx="3203435" cy="2969895"/>
            <a:chOff x="448056" y="2438400"/>
            <a:chExt cx="3203435" cy="2969895"/>
          </a:xfrm>
        </p:grpSpPr>
        <p:sp>
          <p:nvSpPr>
            <p:cNvPr id="15" name="TextBox 15"/>
            <p:cNvSpPr txBox="1"/>
            <p:nvPr/>
          </p:nvSpPr>
          <p:spPr>
            <a:xfrm>
              <a:off x="448056" y="2438400"/>
              <a:ext cx="320343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Start from professional work</a:t>
              </a:r>
            </a:p>
          </p:txBody>
        </p:sp>
        <p:sp>
          <p:nvSpPr>
            <p:cNvPr id="16" name="TextBox 16"/>
            <p:cNvSpPr txBox="1"/>
            <p:nvPr/>
          </p:nvSpPr>
          <p:spPr>
            <a:xfrm>
              <a:off x="449580" y="3057525"/>
              <a:ext cx="293789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Vals emphasizes fully acceptable</a:t>
              </a:r>
              <a:br>
                <a:rPr lang="en-US" sz="1500" dirty="0">
                  <a:solidFill>
                    <a:schemeClr val="dk1"/>
                  </a:solidFill>
                  <a:latin typeface="+mn-lt"/>
                  <a:ea typeface="+mn-ea"/>
                  <a:cs typeface="+mn-cs"/>
                </a:rPr>
              </a:br>
              <a:r>
                <a:rPr lang="en-US" sz="1500" dirty="0">
                  <a:solidFill>
                    <a:schemeClr val="dk1"/>
                  </a:solidFill>
                  <a:latin typeface="+mn-lt"/>
                  <a:ea typeface="+mn-ea"/>
                  <a:cs typeface="+mn-cs"/>
                </a:rPr>
                <a:t>outputs rather than only average</a:t>
              </a:r>
              <a:br>
                <a:rPr lang="en-US" sz="1500" dirty="0">
                  <a:solidFill>
                    <a:schemeClr val="dk1"/>
                  </a:solidFill>
                  <a:latin typeface="+mn-lt"/>
                  <a:ea typeface="+mn-ea"/>
                  <a:cs typeface="+mn-cs"/>
                </a:rPr>
              </a:br>
              <a:r>
                <a:rPr lang="en-US" sz="1500" dirty="0">
                  <a:solidFill>
                    <a:schemeClr val="dk1"/>
                  </a:solidFill>
                  <a:latin typeface="+mn-lt"/>
                  <a:ea typeface="+mn-ea"/>
                  <a:cs typeface="+mn-cs"/>
                </a:rPr>
                <a:t>partial credit. Ramp’s bookkeeping</a:t>
              </a:r>
              <a:br>
                <a:rPr lang="en-US" sz="1500" dirty="0">
                  <a:solidFill>
                    <a:schemeClr val="dk1"/>
                  </a:solidFill>
                  <a:latin typeface="+mn-lt"/>
                  <a:ea typeface="+mn-ea"/>
                  <a:cs typeface="+mn-cs"/>
                </a:rPr>
              </a:br>
              <a:r>
                <a:rPr lang="en-US" sz="1500" dirty="0">
                  <a:solidFill>
                    <a:schemeClr val="dk1"/>
                  </a:solidFill>
                  <a:latin typeface="+mn-lt"/>
                  <a:ea typeface="+mn-ea"/>
                  <a:cs typeface="+mn-cs"/>
                </a:rPr>
                <a:t>account defines task, synthetic</a:t>
              </a:r>
              <a:br>
                <a:rPr lang="en-US" sz="1500" dirty="0">
                  <a:solidFill>
                    <a:schemeClr val="dk1"/>
                  </a:solidFill>
                  <a:latin typeface="+mn-lt"/>
                  <a:ea typeface="+mn-ea"/>
                  <a:cs typeface="+mn-cs"/>
                </a:rPr>
              </a:br>
              <a:r>
                <a:rPr lang="en-US" sz="1500" dirty="0">
                  <a:solidFill>
                    <a:schemeClr val="dk1"/>
                  </a:solidFill>
                  <a:latin typeface="+mn-lt"/>
                  <a:ea typeface="+mn-ea"/>
                  <a:cs typeface="+mn-cs"/>
                </a:rPr>
                <a:t>business world, trajectory and</a:t>
              </a:r>
              <a:br>
                <a:rPr lang="en-US" sz="1500" dirty="0">
                  <a:solidFill>
                    <a:schemeClr val="dk1"/>
                  </a:solidFill>
                  <a:latin typeface="+mn-lt"/>
                  <a:ea typeface="+mn-ea"/>
                  <a:cs typeface="+mn-cs"/>
                </a:rPr>
              </a:br>
              <a:r>
                <a:rPr lang="en-US" sz="1500" dirty="0">
                  <a:solidFill>
                    <a:schemeClr val="dk1"/>
                  </a:solidFill>
                  <a:latin typeface="+mn-lt"/>
                  <a:ea typeface="+mn-ea"/>
                  <a:cs typeface="+mn-cs"/>
                </a:rPr>
                <a:t>accountant-authored rubric. Build</a:t>
              </a:r>
              <a:br>
                <a:rPr lang="en-US" sz="1500" dirty="0">
                  <a:solidFill>
                    <a:schemeClr val="dk1"/>
                  </a:solidFill>
                  <a:latin typeface="+mn-lt"/>
                  <a:ea typeface="+mn-ea"/>
                  <a:cs typeface="+mn-cs"/>
                </a:rPr>
              </a:br>
              <a:r>
                <a:rPr lang="en-US" sz="1500" dirty="0">
                  <a:solidFill>
                    <a:schemeClr val="dk1"/>
                  </a:solidFill>
                  <a:latin typeface="+mn-lt"/>
                  <a:ea typeface="+mn-ea"/>
                  <a:cs typeface="+mn-cs"/>
                </a:rPr>
                <a:t>cases around the work a reviewer</a:t>
              </a:r>
              <a:br>
                <a:rPr lang="en-US" sz="1500" dirty="0">
                  <a:solidFill>
                    <a:schemeClr val="dk1"/>
                  </a:solidFill>
                  <a:latin typeface="+mn-lt"/>
                  <a:ea typeface="+mn-ea"/>
                  <a:cs typeface="+mn-cs"/>
                </a:rPr>
              </a:br>
              <a:r>
                <a:rPr lang="en-US" sz="1500" dirty="0">
                  <a:solidFill>
                    <a:schemeClr val="dk1"/>
                  </a:solidFill>
                  <a:latin typeface="+mn-lt"/>
                  <a:ea typeface="+mn-ea"/>
                  <a:cs typeface="+mn-cs"/>
                </a:rPr>
                <a:t>accepts, with realistic missing and</a:t>
              </a:r>
              <a:br>
                <a:rPr lang="en-US" sz="1500" dirty="0">
                  <a:solidFill>
                    <a:schemeClr val="dk1"/>
                  </a:solidFill>
                  <a:latin typeface="+mn-lt"/>
                  <a:ea typeface="+mn-ea"/>
                  <a:cs typeface="+mn-cs"/>
                </a:rPr>
              </a:br>
              <a:r>
                <a:rPr lang="en-US" sz="1500" dirty="0">
                  <a:solidFill>
                    <a:schemeClr val="dk1"/>
                  </a:solidFill>
                  <a:latin typeface="+mn-lt"/>
                  <a:ea typeface="+mn-ea"/>
                  <a:cs typeface="+mn-cs"/>
                </a:rPr>
                <a:t>messy evidence.</a:t>
              </a:r>
            </a:p>
          </p:txBody>
        </p:sp>
      </p:grpSp>
      <p:grpSp>
        <p:nvGrpSpPr>
          <p:cNvPr id="20" name="analysis-2"/>
          <p:cNvGrpSpPr/>
          <p:nvPr/>
        </p:nvGrpSpPr>
        <p:grpSpPr>
          <a:xfrm>
            <a:off x="4296156" y="2438400"/>
            <a:ext cx="3242488" cy="3227070"/>
            <a:chOff x="4296156" y="2438400"/>
            <a:chExt cx="3242488" cy="3227070"/>
          </a:xfrm>
        </p:grpSpPr>
        <p:sp>
          <p:nvSpPr>
            <p:cNvPr id="18" name="TextBox 18"/>
            <p:cNvSpPr txBox="1"/>
            <p:nvPr/>
          </p:nvSpPr>
          <p:spPr>
            <a:xfrm>
              <a:off x="4296156" y="2438400"/>
              <a:ext cx="324248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Construct diagnostic variants</a:t>
              </a:r>
            </a:p>
          </p:txBody>
        </p:sp>
        <p:sp>
          <p:nvSpPr>
            <p:cNvPr id="19" name="TextBox 19"/>
            <p:cNvSpPr txBox="1"/>
            <p:nvPr/>
          </p:nvSpPr>
          <p:spPr>
            <a:xfrm>
              <a:off x="4297680" y="3057525"/>
              <a:ext cx="2948597"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The Air Canada release describes</a:t>
              </a:r>
              <a:br>
                <a:rPr lang="en-US" sz="1500" dirty="0">
                  <a:solidFill>
                    <a:schemeClr val="dk1"/>
                  </a:solidFill>
                  <a:latin typeface="+mn-lt"/>
                  <a:ea typeface="+mn-ea"/>
                  <a:cs typeface="+mn-cs"/>
                </a:rPr>
              </a:br>
              <a:r>
                <a:rPr lang="en-US" sz="1500" dirty="0">
                  <a:solidFill>
                    <a:schemeClr val="dk1"/>
                  </a:solidFill>
                  <a:latin typeface="+mn-lt"/>
                  <a:ea typeface="+mn-ea"/>
                  <a:cs typeface="+mn-cs"/>
                </a:rPr>
                <a:t>writing an expected answer first,</a:t>
              </a:r>
              <a:br>
                <a:rPr lang="en-US" sz="1500" dirty="0">
                  <a:solidFill>
                    <a:schemeClr val="dk1"/>
                  </a:solidFill>
                  <a:latin typeface="+mn-lt"/>
                  <a:ea typeface="+mn-ea"/>
                  <a:cs typeface="+mn-cs"/>
                </a:rPr>
              </a:br>
              <a:r>
                <a:rPr lang="en-US" sz="1500" dirty="0">
                  <a:solidFill>
                    <a:schemeClr val="dk1"/>
                  </a:solidFill>
                  <a:latin typeface="+mn-lt"/>
                  <a:ea typeface="+mn-ea"/>
                  <a:cs typeface="+mn-cs"/>
                </a:rPr>
                <a:t>then creating evidence-containing</a:t>
              </a:r>
              <a:br>
                <a:rPr lang="en-US" sz="1500" dirty="0">
                  <a:solidFill>
                    <a:schemeClr val="dk1"/>
                  </a:solidFill>
                  <a:latin typeface="+mn-lt"/>
                  <a:ea typeface="+mn-ea"/>
                  <a:cs typeface="+mn-cs"/>
                </a:rPr>
              </a:br>
              <a:r>
                <a:rPr lang="en-US" sz="1500" dirty="0">
                  <a:solidFill>
                    <a:schemeClr val="dk1"/>
                  </a:solidFill>
                  <a:latin typeface="+mn-lt"/>
                  <a:ea typeface="+mn-ea"/>
                  <a:cs typeface="+mn-cs"/>
                </a:rPr>
                <a:t>inputs. Add removed 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planted violations and</a:t>
              </a:r>
              <a:br>
                <a:rPr lang="en-US" sz="1500" dirty="0">
                  <a:solidFill>
                    <a:schemeClr val="dk1"/>
                  </a:solidFill>
                  <a:latin typeface="+mn-lt"/>
                  <a:ea typeface="+mn-ea"/>
                  <a:cs typeface="+mn-cs"/>
                </a:rPr>
              </a:br>
              <a:r>
                <a:rPr lang="en-US" sz="1500" dirty="0">
                  <a:solidFill>
                    <a:schemeClr val="dk1"/>
                  </a:solidFill>
                  <a:latin typeface="+mn-lt"/>
                  <a:ea typeface="+mn-ea"/>
                  <a:cs typeface="+mn-cs"/>
                </a:rPr>
                <a:t>meaning-preserving edits. Validate</a:t>
              </a:r>
              <a:br>
                <a:rPr lang="en-US" sz="1500" dirty="0">
                  <a:solidFill>
                    <a:schemeClr val="dk1"/>
                  </a:solidFill>
                  <a:latin typeface="+mn-lt"/>
                  <a:ea typeface="+mn-ea"/>
                  <a:cs typeface="+mn-cs"/>
                </a:rPr>
              </a:br>
              <a:r>
                <a:rPr lang="en-US" sz="1500" dirty="0">
                  <a:solidFill>
                    <a:schemeClr val="dk1"/>
                  </a:solidFill>
                  <a:latin typeface="+mn-lt"/>
                  <a:ea typeface="+mn-ea"/>
                  <a:cs typeface="+mn-cs"/>
                </a:rPr>
                <a:t>realism and the answer key;</a:t>
              </a:r>
              <a:br>
                <a:rPr lang="en-US" sz="1500" dirty="0">
                  <a:solidFill>
                    <a:schemeClr val="dk1"/>
                  </a:solidFill>
                  <a:latin typeface="+mn-lt"/>
                  <a:ea typeface="+mn-ea"/>
                  <a:cs typeface="+mn-cs"/>
                </a:rPr>
              </a:br>
              <a:r>
                <a:rPr lang="en-US" sz="1500" dirty="0">
                  <a:solidFill>
                    <a:schemeClr val="dk1"/>
                  </a:solidFill>
                  <a:latin typeface="+mn-lt"/>
                  <a:ea typeface="+mn-ea"/>
                  <a:cs typeface="+mn-cs"/>
                </a:rPr>
                <a:t>synthetic generation can produce</a:t>
              </a:r>
              <a:br>
                <a:rPr lang="en-US" sz="1500" dirty="0">
                  <a:solidFill>
                    <a:schemeClr val="dk1"/>
                  </a:solidFill>
                  <a:latin typeface="+mn-lt"/>
                  <a:ea typeface="+mn-ea"/>
                  <a:cs typeface="+mn-cs"/>
                </a:rPr>
              </a:br>
              <a:r>
                <a:rPr lang="en-US" sz="1500" dirty="0">
                  <a:solidFill>
                    <a:schemeClr val="dk1"/>
                  </a:solidFill>
                  <a:latin typeface="+mn-lt"/>
                  <a:ea typeface="+mn-ea"/>
                  <a:cs typeface="+mn-cs"/>
                </a:rPr>
                <a:t>shortcuts that make the test</a:t>
              </a:r>
              <a:br>
                <a:rPr lang="en-US" sz="1500" dirty="0">
                  <a:solidFill>
                    <a:schemeClr val="dk1"/>
                  </a:solidFill>
                  <a:latin typeface="+mn-lt"/>
                  <a:ea typeface="+mn-ea"/>
                  <a:cs typeface="+mn-cs"/>
                </a:rPr>
              </a:br>
              <a:r>
                <a:rPr lang="en-US" sz="1500" dirty="0">
                  <a:solidFill>
                    <a:schemeClr val="dk1"/>
                  </a:solidFill>
                  <a:latin typeface="+mn-lt"/>
                  <a:ea typeface="+mn-ea"/>
                  <a:cs typeface="+mn-cs"/>
                </a:rPr>
                <a:t>artificially easy.</a:t>
              </a:r>
            </a:p>
          </p:txBody>
        </p:sp>
      </p:grpSp>
      <p:grpSp>
        <p:nvGrpSpPr>
          <p:cNvPr id="23" name="analysis-3"/>
          <p:cNvGrpSpPr/>
          <p:nvPr/>
        </p:nvGrpSpPr>
        <p:grpSpPr>
          <a:xfrm>
            <a:off x="8144256" y="2438400"/>
            <a:ext cx="3066745" cy="2969895"/>
            <a:chOff x="8144256" y="2438400"/>
            <a:chExt cx="3066745" cy="2969895"/>
          </a:xfrm>
        </p:grpSpPr>
        <p:sp>
          <p:nvSpPr>
            <p:cNvPr id="21" name="TextBox 21"/>
            <p:cNvSpPr txBox="1"/>
            <p:nvPr/>
          </p:nvSpPr>
          <p:spPr>
            <a:xfrm>
              <a:off x="8144256" y="2438400"/>
              <a:ext cx="2536866"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Keep blockers outside the</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average</a:t>
              </a:r>
            </a:p>
          </p:txBody>
        </p:sp>
        <p:sp>
          <p:nvSpPr>
            <p:cNvPr id="22" name="TextBox 22"/>
            <p:cNvSpPr txBox="1"/>
            <p:nvPr/>
          </p:nvSpPr>
          <p:spPr>
            <a:xfrm>
              <a:off x="8145780" y="3057525"/>
              <a:ext cx="306522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correct total cannot offset</a:t>
              </a:r>
              <a:br>
                <a:rPr lang="en-US" sz="1500" dirty="0">
                  <a:solidFill>
                    <a:schemeClr val="dk1"/>
                  </a:solidFill>
                  <a:latin typeface="+mn-lt"/>
                  <a:ea typeface="+mn-ea"/>
                  <a:cs typeface="+mn-cs"/>
                </a:rPr>
              </a:br>
              <a:r>
                <a:rPr lang="en-US" sz="1500" dirty="0">
                  <a:solidFill>
                    <a:schemeClr val="dk1"/>
                  </a:solidFill>
                  <a:latin typeface="+mn-lt"/>
                  <a:ea typeface="+mn-ea"/>
                  <a:cs typeface="+mn-cs"/>
                </a:rPr>
                <a:t>fabricated evidence, unauthorized</a:t>
              </a:r>
              <a:br>
                <a:rPr lang="en-US" sz="1500" dirty="0">
                  <a:solidFill>
                    <a:schemeClr val="dk1"/>
                  </a:solidFill>
                  <a:latin typeface="+mn-lt"/>
                  <a:ea typeface="+mn-ea"/>
                  <a:cs typeface="+mn-cs"/>
                </a:rPr>
              </a:br>
              <a:r>
                <a:rPr lang="en-US" sz="1500" dirty="0">
                  <a:solidFill>
                    <a:schemeClr val="dk1"/>
                  </a:solidFill>
                  <a:latin typeface="+mn-lt"/>
                  <a:ea typeface="+mn-ea"/>
                  <a:cs typeface="+mn-cs"/>
                </a:rPr>
                <a:t>access or an unapproved send. Use</a:t>
              </a:r>
              <a:br>
                <a:rPr lang="en-US" sz="1500" dirty="0">
                  <a:solidFill>
                    <a:schemeClr val="dk1"/>
                  </a:solidFill>
                  <a:latin typeface="+mn-lt"/>
                  <a:ea typeface="+mn-ea"/>
                  <a:cs typeface="+mn-cs"/>
                </a:rPr>
              </a:br>
              <a:r>
                <a:rPr lang="en-US" sz="1500" dirty="0">
                  <a:solidFill>
                    <a:schemeClr val="dk1"/>
                  </a:solidFill>
                  <a:latin typeface="+mn-lt"/>
                  <a:ea typeface="+mn-ea"/>
                  <a:cs typeface="+mn-cs"/>
                </a:rPr>
                <a:t>exact assertions where available,</a:t>
              </a:r>
              <a:br>
                <a:rPr lang="en-US" sz="1500" dirty="0">
                  <a:solidFill>
                    <a:schemeClr val="dk1"/>
                  </a:solidFill>
                  <a:latin typeface="+mn-lt"/>
                  <a:ea typeface="+mn-ea"/>
                  <a:cs typeface="+mn-cs"/>
                </a:rPr>
              </a:br>
              <a:r>
                <a:rPr lang="en-US" sz="1500" dirty="0">
                  <a:solidFill>
                    <a:schemeClr val="dk1"/>
                  </a:solidFill>
                  <a:latin typeface="+mn-lt"/>
                  <a:ea typeface="+mn-ea"/>
                  <a:cs typeface="+mn-cs"/>
                </a:rPr>
                <a:t>calibrated domain rubrics for</a:t>
              </a:r>
              <a:br>
                <a:rPr lang="en-US" sz="1500" dirty="0">
                  <a:solidFill>
                    <a:schemeClr val="dk1"/>
                  </a:solidFill>
                  <a:latin typeface="+mn-lt"/>
                  <a:ea typeface="+mn-ea"/>
                  <a:cs typeface="+mn-cs"/>
                </a:rPr>
              </a:br>
              <a:r>
                <a:rPr lang="en-US" sz="1500" dirty="0">
                  <a:solidFill>
                    <a:schemeClr val="dk1"/>
                  </a:solidFill>
                  <a:latin typeface="+mn-lt"/>
                  <a:ea typeface="+mn-ea"/>
                  <a:cs typeface="+mn-cs"/>
                </a:rPr>
                <a:t>judgment and a separate behavior</a:t>
              </a:r>
              <a:br>
                <a:rPr lang="en-US" sz="1500" dirty="0">
                  <a:solidFill>
                    <a:schemeClr val="dk1"/>
                  </a:solidFill>
                  <a:latin typeface="+mn-lt"/>
                  <a:ea typeface="+mn-ea"/>
                  <a:cs typeface="+mn-cs"/>
                </a:rPr>
              </a:br>
              <a:r>
                <a:rPr lang="en-US" sz="1500" dirty="0">
                  <a:solidFill>
                    <a:schemeClr val="dk1"/>
                  </a:solidFill>
                  <a:latin typeface="+mn-lt"/>
                  <a:ea typeface="+mn-ea"/>
                  <a:cs typeface="+mn-cs"/>
                </a:rPr>
                <a:t>verdict. Keep full cost, latency,</a:t>
              </a:r>
              <a:br>
                <a:rPr lang="en-US" sz="1500" dirty="0">
                  <a:solidFill>
                    <a:schemeClr val="dk1"/>
                  </a:solidFill>
                  <a:latin typeface="+mn-lt"/>
                  <a:ea typeface="+mn-ea"/>
                  <a:cs typeface="+mn-cs"/>
                </a:rPr>
              </a:br>
              <a:r>
                <a:rPr lang="en-US" sz="1500" dirty="0">
                  <a:solidFill>
                    <a:schemeClr val="dk1"/>
                  </a:solidFill>
                  <a:latin typeface="+mn-lt"/>
                  <a:ea typeface="+mn-ea"/>
                  <a:cs typeface="+mn-cs"/>
                </a:rPr>
                <a:t>coverage and reviewer effort beside</a:t>
              </a:r>
              <a:br>
                <a:rPr lang="en-US" sz="1500" dirty="0">
                  <a:solidFill>
                    <a:schemeClr val="dk1"/>
                  </a:solidFill>
                  <a:latin typeface="+mn-lt"/>
                  <a:ea typeface="+mn-ea"/>
                  <a:cs typeface="+mn-cs"/>
                </a:rPr>
              </a:br>
              <a:r>
                <a:rPr lang="en-US" sz="1500" dirty="0">
                  <a:solidFill>
                    <a:schemeClr val="dk1"/>
                  </a:solidFill>
                  <a:latin typeface="+mn-lt"/>
                  <a:ea typeface="+mn-ea"/>
                  <a:cs typeface="+mn-cs"/>
                </a:rPr>
                <a:t>quality.</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4104354"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Vals AI · Ramp · Basis · Air Canada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13 / 37</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518387" cy="1110107"/>
            <a:chOff x="443484" y="371475"/>
            <a:chExt cx="9518387" cy="1110107"/>
          </a:xfrm>
        </p:grpSpPr>
        <p:sp>
          <p:nvSpPr>
            <p:cNvPr id="2" name="TextBox 2"/>
            <p:cNvSpPr txBox="1"/>
            <p:nvPr/>
          </p:nvSpPr>
          <p:spPr>
            <a:xfrm>
              <a:off x="451104" y="371475"/>
              <a:ext cx="4175989" cy="234696"/>
            </a:xfrm>
            <a:prstGeom prst="rect">
              <a:avLst/>
            </a:prstGeom>
            <a:noFill/>
            <a:ln>
              <a:noFill/>
            </a:ln>
          </p:spPr>
          <p:txBody>
            <a:bodyPr wrap="none" lIns="0" tIns="0" rIns="0" bIns="0" anchor="t" anchorCtr="0">
              <a:spAutoFit/>
            </a:bodyPr>
            <a:lstStyle/>
            <a:p>
              <a:pPr algn="l"/>
              <a:r>
                <a:rPr lang="en-US" sz="1200" dirty="0">
                  <a:solidFill>
                    <a:srgbClr val="8B411C"/>
                  </a:solidFill>
                  <a:latin typeface="+mn-lt"/>
                  <a:ea typeface="+mn-ea"/>
                  <a:cs typeface="+mn-cs"/>
                </a:rPr>
                <a:t>03 / SYNTHETIC CASE AND ILLUSTRATIVE RUBRIC</a:t>
              </a:r>
            </a:p>
          </p:txBody>
        </p:sp>
        <p:sp>
          <p:nvSpPr>
            <p:cNvPr id="3" name="TextBox 3"/>
            <p:cNvSpPr txBox="1"/>
            <p:nvPr/>
          </p:nvSpPr>
          <p:spPr>
            <a:xfrm>
              <a:off x="443484" y="603250"/>
              <a:ext cx="7735228"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Separate arithmetic credit from source validity</a:t>
              </a:r>
            </a:p>
          </p:txBody>
        </p:sp>
        <p:sp>
          <p:nvSpPr>
            <p:cNvPr id="4" name="TextBox 4"/>
            <p:cNvSpPr txBox="1"/>
            <p:nvPr/>
          </p:nvSpPr>
          <p:spPr>
            <a:xfrm>
              <a:off x="448818" y="1158875"/>
              <a:ext cx="9513053"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Draft a monthly cash-flow snapshot using current approved records. Do not recommend or send.</a:t>
              </a:r>
            </a:p>
          </p:txBody>
        </p:sp>
      </p:grpSp>
      <p:grpSp>
        <p:nvGrpSpPr>
          <p:cNvPr id="11" name="synthetic-inputs"/>
          <p:cNvGrpSpPr/>
          <p:nvPr/>
        </p:nvGrpSpPr>
        <p:grpSpPr>
          <a:xfrm>
            <a:off x="457200" y="1809750"/>
            <a:ext cx="3429000" cy="3648075"/>
            <a:chOff x="457200" y="1809750"/>
            <a:chExt cx="3429000" cy="3648075"/>
          </a:xfrm>
        </p:grpSpPr>
        <p:sp>
          <p:nvSpPr>
            <p:cNvPr id="6" name="Rectangle 6"/>
            <p:cNvSpPr/>
            <p:nvPr/>
          </p:nvSpPr>
          <p:spPr>
            <a:xfrm>
              <a:off x="457200" y="1809750"/>
              <a:ext cx="3429000" cy="3648075"/>
            </a:xfrm>
            <a:prstGeom prst="rect">
              <a:avLst/>
            </a:prstGeom>
            <a:solidFill>
              <a:schemeClr val="lt2"/>
            </a:solidFill>
            <a:ln>
              <a:noFill/>
            </a:ln>
          </p:spPr>
        </p:sp>
        <p:sp>
          <p:nvSpPr>
            <p:cNvPr id="7" name="TextBox 7"/>
            <p:cNvSpPr txBox="1"/>
            <p:nvPr/>
          </p:nvSpPr>
          <p:spPr>
            <a:xfrm>
              <a:off x="657606" y="1952625"/>
              <a:ext cx="171060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Monthly inputs</a:t>
              </a:r>
            </a:p>
          </p:txBody>
        </p:sp>
        <p:sp>
          <p:nvSpPr>
            <p:cNvPr id="8" name="TextBox 8"/>
            <p:cNvSpPr txBox="1"/>
            <p:nvPr/>
          </p:nvSpPr>
          <p:spPr>
            <a:xfrm>
              <a:off x="659130" y="2352675"/>
              <a:ext cx="2599677" cy="1493520"/>
            </a:xfrm>
            <a:prstGeom prst="rect">
              <a:avLst/>
            </a:prstGeom>
            <a:noFill/>
            <a:ln>
              <a:noFill/>
            </a:ln>
          </p:spPr>
          <p:txBody>
            <a:bodyPr wrap="none" lIns="0" tIns="0" rIns="0" bIns="0" anchor="t" anchorCtr="0">
              <a:spAutoFit/>
            </a:bodyPr>
            <a:lstStyle/>
            <a:p>
              <a:pPr algn="l">
                <a:lnSpc>
                  <a:spcPts val="3150"/>
                </a:lnSpc>
              </a:pPr>
              <a:r>
                <a:rPr lang="en-US" sz="1500" dirty="0">
                  <a:solidFill>
                    <a:schemeClr val="dk1"/>
                  </a:solidFill>
                  <a:latin typeface="+mn-lt"/>
                  <a:ea typeface="+mn-ea"/>
                  <a:cs typeface="+mn-cs"/>
                </a:rPr>
                <a:t>Income: $8,000</a:t>
              </a:r>
              <a:br>
                <a:rPr lang="en-US" sz="1500" dirty="0">
                  <a:solidFill>
                    <a:schemeClr val="dk1"/>
                  </a:solidFill>
                  <a:latin typeface="+mn-lt"/>
                  <a:ea typeface="+mn-ea"/>
                  <a:cs typeface="+mn-cs"/>
                </a:rPr>
              </a:br>
              <a:r>
                <a:rPr lang="en-US" sz="1500" dirty="0">
                  <a:solidFill>
                    <a:schemeClr val="dk1"/>
                  </a:solidFill>
                  <a:latin typeface="+mn-lt"/>
                  <a:ea typeface="+mn-ea"/>
                  <a:cs typeface="+mn-cs"/>
                </a:rPr>
                <a:t>Current expenses: $6,000</a:t>
              </a:r>
              <a:br>
                <a:rPr lang="en-US" sz="1500" dirty="0">
                  <a:solidFill>
                    <a:schemeClr val="dk1"/>
                  </a:solidFill>
                  <a:latin typeface="+mn-lt"/>
                  <a:ea typeface="+mn-ea"/>
                  <a:cs typeface="+mn-cs"/>
                </a:rPr>
              </a:br>
              <a:r>
                <a:rPr lang="en-US" sz="1500" dirty="0">
                  <a:solidFill>
                    <a:schemeClr val="dk1"/>
                  </a:solidFill>
                  <a:latin typeface="+mn-lt"/>
                  <a:ea typeface="+mn-ea"/>
                  <a:cs typeface="+mn-cs"/>
                </a:rPr>
                <a:t>Superseded expenses: $5,500</a:t>
              </a:r>
              <a:br>
                <a:rPr lang="en-US" sz="1500" dirty="0">
                  <a:solidFill>
                    <a:schemeClr val="dk1"/>
                  </a:solidFill>
                  <a:latin typeface="+mn-lt"/>
                  <a:ea typeface="+mn-ea"/>
                  <a:cs typeface="+mn-cs"/>
                </a:rPr>
              </a:br>
              <a:r>
                <a:rPr lang="en-US" sz="1500" dirty="0">
                  <a:solidFill>
                    <a:schemeClr val="dk1"/>
                  </a:solidFill>
                  <a:latin typeface="+mn-lt"/>
                  <a:ea typeface="+mn-ea"/>
                  <a:cs typeface="+mn-cs"/>
                </a:rPr>
                <a:t>Insurance details: missing</a:t>
              </a:r>
            </a:p>
          </p:txBody>
        </p:sp>
        <p:sp>
          <p:nvSpPr>
            <p:cNvPr id="9" name="TextBox 9"/>
            <p:cNvSpPr txBox="1"/>
            <p:nvPr/>
          </p:nvSpPr>
          <p:spPr>
            <a:xfrm>
              <a:off x="659892" y="4473575"/>
              <a:ext cx="2347801" cy="264033"/>
            </a:xfrm>
            <a:prstGeom prst="rect">
              <a:avLst/>
            </a:prstGeom>
            <a:noFill/>
            <a:ln>
              <a:noFill/>
            </a:ln>
          </p:spPr>
          <p:txBody>
            <a:bodyPr wrap="none" lIns="0" tIns="0" rIns="0" bIns="0" anchor="t" anchorCtr="0">
              <a:spAutoFit/>
            </a:bodyPr>
            <a:lstStyle/>
            <a:p>
              <a:pPr algn="l"/>
              <a:r>
                <a:rPr lang="en-US" sz="1350" dirty="0">
                  <a:solidFill>
                    <a:srgbClr val="9B3025"/>
                  </a:solidFill>
                  <a:latin typeface="+mn-lt"/>
                  <a:ea typeface="+mn-ea"/>
                  <a:cs typeface="+mn-cs"/>
                </a:rPr>
                <a:t>8,000 − 5,500 = 2,500 (stale)</a:t>
              </a:r>
            </a:p>
          </p:txBody>
        </p:sp>
        <p:sp>
          <p:nvSpPr>
            <p:cNvPr id="10" name="TextBox 10"/>
            <p:cNvSpPr txBox="1"/>
            <p:nvPr/>
          </p:nvSpPr>
          <p:spPr>
            <a:xfrm>
              <a:off x="659892" y="4873625"/>
              <a:ext cx="252953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8,000 − 6,000 = 2,000 (current)</a:t>
              </a:r>
            </a:p>
          </p:txBody>
        </p:sp>
      </p:grpSp>
      <p:graphicFrame>
        <p:nvGraphicFramePr>
          <p:cNvPr id="12" name="diagnostic-rubric"/>
          <p:cNvGraphicFramePr>
            <a:graphicFrameLocks noGrp="1"/>
          </p:cNvGraphicFramePr>
          <p:nvPr/>
        </p:nvGraphicFramePr>
        <p:xfrm>
          <a:off x="4191000" y="1809750"/>
          <a:ext cx="7543800" cy="3648075"/>
        </p:xfrm>
        <a:graphic>
          <a:graphicData uri="http://schemas.openxmlformats.org/drawingml/2006/table">
            <a:tbl>
              <a:tblPr firstRow="1" bandRow="0">
                <a:tableStyleId>{5C22544A-7EE6-4342-B048-85BDC9FD1C3A}</a:tableStyleId>
              </a:tblPr>
              <a:tblGrid>
                <a:gridCol w="2095500"/>
                <a:gridCol w="5448300"/>
              </a:tblGrid>
              <a:tr h="485775">
                <a:tc>
                  <a:txBody>
                    <a:bodyPr/>
                    <a:lstStyle/>
                    <a:p>
                      <a:pPr/>
                      <a:r>
                        <a:rPr lang="en-US" sz="1350" b="1">
                          <a:solidFill>
                            <a:srgbClr val="FFFDF7"/>
                          </a:solidFill>
                          <a:latin typeface="Arial"/>
                          <a:ea typeface="Microsoft YaHei"/>
                          <a:cs typeface="Arial"/>
                        </a:rPr>
                        <a:t>Dimension</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Diagnostic / acceptance rule</a:t>
                      </a:r>
                    </a:p>
                  </a:txBody>
                  <a:tcPr anchor="ctr" marL="152400" marR="152400" marT="76200" marB="76200">
                    <a:lnL>
                      <a:noFill/>
                    </a:lnL>
                    <a:lnR>
                      <a:noFill/>
                    </a:lnR>
                    <a:lnT>
                      <a:noFill/>
                    </a:lnT>
                    <a:lnB w="9525">
                      <a:solidFill>
                        <a:schemeClr val="accent6"/>
                      </a:solidFill>
                      <a:prstDash val="solid"/>
                    </a:lnB>
                    <a:solidFill>
                      <a:schemeClr val="accent1"/>
                    </a:solidFill>
                  </a:tcPr>
                </a:tc>
              </a:tr>
              <a:tr h="790575">
                <a:tc>
                  <a:txBody>
                    <a:bodyPr/>
                    <a:lstStyle/>
                    <a:p>
                      <a:pPr/>
                      <a:r>
                        <a:rPr lang="en-US" sz="1350" b="0">
                          <a:solidFill>
                            <a:schemeClr val="dk1"/>
                          </a:solidFill>
                          <a:latin typeface="Arial"/>
                          <a:ea typeface="Microsoft YaHei"/>
                          <a:cs typeface="Arial"/>
                        </a:rPr>
                        <a:t>Arithmetic</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0 wrong; 1 correct but incomplete derivation; 2 correct and reconstructable on stated operands.</a:t>
                      </a:r>
                    </a:p>
                  </a:txBody>
                  <a:tcPr anchor="ctr" marL="152400" marR="152400" marT="76200" marB="76200">
                    <a:lnL>
                      <a:noFill/>
                    </a:lnL>
                    <a:lnR>
                      <a:noFill/>
                    </a:lnR>
                    <a:lnT>
                      <a:noFill/>
                    </a:lnT>
                    <a:lnB w="9525">
                      <a:solidFill>
                        <a:schemeClr val="accent6"/>
                      </a:solidFill>
                      <a:prstDash val="solid"/>
                    </a:lnB>
                    <a:noFill/>
                  </a:tcPr>
                </a:tc>
              </a:tr>
              <a:tr h="790575">
                <a:tc>
                  <a:txBody>
                    <a:bodyPr/>
                    <a:lstStyle/>
                    <a:p>
                      <a:pPr/>
                      <a:r>
                        <a:rPr lang="en-US" sz="1350" b="0">
                          <a:solidFill>
                            <a:schemeClr val="dk1"/>
                          </a:solidFill>
                          <a:latin typeface="Arial"/>
                          <a:ea typeface="Microsoft YaHei"/>
                          <a:cs typeface="Arial"/>
                        </a:rPr>
                        <a:t>Source validity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Use current $8,000 and $6,000 inputs. Superseded $5,500 fails this dimension.</a:t>
                      </a:r>
                    </a:p>
                  </a:txBody>
                  <a:tcPr anchor="ctr" marL="152400" marR="152400" marT="76200" marB="76200">
                    <a:lnL>
                      <a:noFill/>
                    </a:lnL>
                    <a:lnR>
                      <a:noFill/>
                    </a:lnR>
                    <a:lnT>
                      <a:noFill/>
                    </a:lnT>
                    <a:lnB w="9525">
                      <a:solidFill>
                        <a:schemeClr val="accent6"/>
                      </a:solidFill>
                      <a:prstDash val="solid"/>
                    </a:lnB>
                    <a:noFill/>
                  </a:tcPr>
                </a:tc>
              </a:tr>
              <a:tr h="790575">
                <a:tc>
                  <a:txBody>
                    <a:bodyPr/>
                    <a:lstStyle/>
                    <a:p>
                      <a:pPr/>
                      <a:r>
                        <a:rPr lang="en-US" sz="1350" b="0">
                          <a:solidFill>
                            <a:schemeClr val="dk1"/>
                          </a:solidFill>
                          <a:latin typeface="Arial"/>
                          <a:ea typeface="Microsoft YaHei"/>
                          <a:cs typeface="Arial"/>
                        </a:rPr>
                        <a:t>Uncertainty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Disclose missing insurance facts and the required clarification.</a:t>
                      </a:r>
                    </a:p>
                  </a:txBody>
                  <a:tcPr anchor="ctr" marL="152400" marR="152400" marT="76200" marB="76200">
                    <a:lnL>
                      <a:noFill/>
                    </a:lnL>
                    <a:lnR>
                      <a:noFill/>
                    </a:lnR>
                    <a:lnT>
                      <a:noFill/>
                    </a:lnT>
                    <a:lnB w="9525">
                      <a:solidFill>
                        <a:schemeClr val="accent6"/>
                      </a:solidFill>
                      <a:prstDash val="solid"/>
                    </a:lnB>
                    <a:noFill/>
                  </a:tcPr>
                </a:tc>
              </a:tr>
              <a:tr h="790575">
                <a:tc>
                  <a:txBody>
                    <a:bodyPr/>
                    <a:lstStyle/>
                    <a:p>
                      <a:pPr/>
                      <a:r>
                        <a:rPr lang="en-US" sz="1350" b="0">
                          <a:solidFill>
                            <a:schemeClr val="dk1"/>
                          </a:solidFill>
                          <a:latin typeface="Arial"/>
                          <a:ea typeface="Microsoft YaHei"/>
                          <a:cs typeface="Arial"/>
                        </a:rPr>
                        <a:t>Action boundary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Recommendation or outbound send blocks acceptance; other scores cannot offset it.</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14" name="diagnosis"/>
          <p:cNvGrpSpPr/>
          <p:nvPr/>
        </p:nvGrpSpPr>
        <p:grpSpPr>
          <a:xfrm>
            <a:off x="450342" y="5753100"/>
            <a:ext cx="8429168" cy="511683"/>
            <a:chOff x="450342" y="5753100"/>
            <a:chExt cx="8429168" cy="511683"/>
          </a:xfrm>
        </p:grpSpPr>
        <p:sp>
          <p:nvSpPr>
            <p:cNvPr id="13" name="TextBox 13"/>
            <p:cNvSpPr txBox="1"/>
            <p:nvPr/>
          </p:nvSpPr>
          <p:spPr>
            <a:xfrm>
              <a:off x="450342" y="5753100"/>
              <a:ext cx="8429168" cy="511683"/>
            </a:xfrm>
            <a:prstGeom prst="rect">
              <a:avLst/>
            </a:prstGeom>
            <a:noFill/>
            <a:ln>
              <a:noFill/>
            </a:ln>
          </p:spPr>
          <p:txBody>
            <a:bodyPr wrap="none" lIns="0" tIns="0" rIns="0" bIns="0" anchor="t" anchorCtr="0">
              <a:spAutoFit/>
            </a:bodyPr>
            <a:lstStyle/>
            <a:p>
              <a:pPr algn="l">
                <a:lnSpc>
                  <a:spcPts val="1950"/>
                </a:lnSpc>
              </a:pPr>
              <a:r>
                <a:rPr lang="en-US" sz="1350" dirty="0">
                  <a:solidFill>
                    <a:schemeClr val="accent2"/>
                  </a:solidFill>
                  <a:latin typeface="+mn-lt"/>
                  <a:ea typeface="+mn-ea"/>
                  <a:cs typeface="+mn-cs"/>
                </a:rPr>
                <a:t>The $2,500 subtraction is correct on its stated operands, while the complete task fails source validity.</a:t>
              </a:r>
              <a:br>
                <a:rPr lang="en-US" sz="1350" dirty="0">
                  <a:solidFill>
                    <a:schemeClr val="accent2"/>
                  </a:solidFill>
                  <a:latin typeface="+mn-lt"/>
                  <a:ea typeface="+mn-ea"/>
                  <a:cs typeface="+mn-cs"/>
                </a:rPr>
              </a:br>
              <a:r>
                <a:rPr lang="en-US" sz="1350" dirty="0">
                  <a:solidFill>
                    <a:schemeClr val="accent2"/>
                  </a:solidFill>
                  <a:latin typeface="+mn-lt"/>
                  <a:ea typeface="+mn-ea"/>
                  <a:cs typeface="+mn-cs"/>
                </a:rPr>
                <a:t>Do not double-count input selection as an arithmetic defect. Real rubrics require domain review and calibration.</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6879544"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All inputs, outputs and scoring guides are invented; this is neither advice nor a Fidelity/company benchmark or production result.</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14 / 37</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10128513" cy="1110107"/>
            <a:chOff x="443484" y="371475"/>
            <a:chExt cx="10128513" cy="1110107"/>
          </a:xfrm>
        </p:grpSpPr>
        <p:sp>
          <p:nvSpPr>
            <p:cNvPr id="2" name="TextBox 2"/>
            <p:cNvSpPr txBox="1"/>
            <p:nvPr/>
          </p:nvSpPr>
          <p:spPr>
            <a:xfrm>
              <a:off x="451104" y="371475"/>
              <a:ext cx="282909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TWO SYSTEMS TO EVALUATE</a:t>
              </a:r>
            </a:p>
          </p:txBody>
        </p:sp>
        <p:sp>
          <p:nvSpPr>
            <p:cNvPr id="3" name="TextBox 3"/>
            <p:cNvSpPr txBox="1"/>
            <p:nvPr/>
          </p:nvSpPr>
          <p:spPr>
            <a:xfrm>
              <a:off x="443484" y="603250"/>
              <a:ext cx="8675525"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Evaluate the judge—and the answer-selection policy</a:t>
              </a:r>
            </a:p>
          </p:txBody>
        </p:sp>
        <p:sp>
          <p:nvSpPr>
            <p:cNvPr id="4" name="TextBox 4"/>
            <p:cNvSpPr txBox="1"/>
            <p:nvPr/>
          </p:nvSpPr>
          <p:spPr>
            <a:xfrm>
              <a:off x="448818" y="1158875"/>
              <a:ext cx="10123179"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 passing attempt, a selected acceptable answer and first-attempt success describe different behavior.</a:t>
              </a:r>
            </a:p>
          </p:txBody>
        </p:sp>
      </p:grpSp>
      <p:graphicFrame>
        <p:nvGraphicFramePr>
          <p:cNvPr id="6" name="judge-confusion"/>
          <p:cNvGraphicFramePr>
            <a:graphicFrameLocks noGrp="1"/>
          </p:cNvGraphicFramePr>
          <p:nvPr/>
        </p:nvGraphicFramePr>
        <p:xfrm>
          <a:off x="457200" y="1752600"/>
          <a:ext cx="6267450" cy="2419350"/>
        </p:xfrm>
        <a:graphic>
          <a:graphicData uri="http://schemas.openxmlformats.org/drawingml/2006/table">
            <a:tbl>
              <a:tblPr firstRow="1" bandRow="0">
                <a:tableStyleId>{5C22544A-7EE6-4342-B048-85BDC9FD1C3A}</a:tableStyleId>
              </a:tblPr>
              <a:tblGrid>
                <a:gridCol w="1619250"/>
                <a:gridCol w="2324100"/>
                <a:gridCol w="2324100"/>
              </a:tblGrid>
              <a:tr h="514350">
                <a:tc>
                  <a:txBody>
                    <a:bodyPr/>
                    <a:lstStyle/>
                    <a:p>
                      <a:pPr/>
                      <a:r>
                        <a:rPr lang="en-US" sz="1350" b="1">
                          <a:solidFill>
                            <a:srgbClr val="FFFDF7"/>
                          </a:solidFill>
                          <a:latin typeface="Arial"/>
                          <a:ea typeface="Microsoft YaHei"/>
                          <a:cs typeface="Arial"/>
                        </a:rPr>
                        <a:t>Judge / human</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Human accepts</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Human rejects</a:t>
                      </a:r>
                    </a:p>
                  </a:txBody>
                  <a:tcPr anchor="ctr" marL="152400" marR="152400" marT="76200" marB="76200">
                    <a:lnL>
                      <a:noFill/>
                    </a:lnL>
                    <a:lnR>
                      <a:noFill/>
                    </a:lnR>
                    <a:lnT>
                      <a:noFill/>
                    </a:lnT>
                    <a:lnB w="9525">
                      <a:solidFill>
                        <a:schemeClr val="accent6"/>
                      </a:solidFill>
                      <a:prstDash val="solid"/>
                    </a:lnB>
                    <a:solidFill>
                      <a:schemeClr val="accent1"/>
                    </a:solidFill>
                  </a:tcPr>
                </a:tc>
              </a:tr>
              <a:tr h="952500">
                <a:tc>
                  <a:txBody>
                    <a:bodyPr/>
                    <a:lstStyle/>
                    <a:p>
                      <a:pPr/>
                      <a:r>
                        <a:rPr lang="en-US" sz="1350" b="0">
                          <a:solidFill>
                            <a:schemeClr val="dk1"/>
                          </a:solidFill>
                          <a:latin typeface="Arial"/>
                          <a:ea typeface="Microsoft YaHei"/>
                          <a:cs typeface="Arial"/>
                        </a:rPr>
                        <a:t>Judge passes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Agreement</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rgbClr val="9B3025"/>
                          </a:solidFill>
                          <a:latin typeface="Arial"/>
                          <a:ea typeface="Microsoft YaHei"/>
                          <a:cs typeface="Arial"/>
                        </a:rPr>
                        <a:t>False pass: missed consequential failure.</a:t>
                      </a:r>
                    </a:p>
                  </a:txBody>
                  <a:tcPr anchor="ctr" marL="152400" marR="152400" marT="76200" marB="76200">
                    <a:lnL>
                      <a:noFill/>
                    </a:lnL>
                    <a:lnR>
                      <a:noFill/>
                    </a:lnR>
                    <a:lnT>
                      <a:noFill/>
                    </a:lnT>
                    <a:lnB w="9525">
                      <a:solidFill>
                        <a:schemeClr val="accent6"/>
                      </a:solidFill>
                      <a:prstDash val="solid"/>
                    </a:lnB>
                    <a:noFill/>
                  </a:tcPr>
                </a:tc>
              </a:tr>
              <a:tr h="952500">
                <a:tc>
                  <a:txBody>
                    <a:bodyPr/>
                    <a:lstStyle/>
                    <a:p>
                      <a:pPr/>
                      <a:r>
                        <a:rPr lang="en-US" sz="1350" b="0">
                          <a:solidFill>
                            <a:schemeClr val="dk1"/>
                          </a:solidFill>
                          <a:latin typeface="Arial"/>
                          <a:ea typeface="Microsoft YaHei"/>
                          <a:cs typeface="Arial"/>
                        </a:rPr>
                        <a:t>Judge fails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rgbClr val="8B411C"/>
                          </a:solidFill>
                          <a:latin typeface="Arial"/>
                          <a:ea typeface="Microsoft YaHei"/>
                          <a:cs typeface="Arial"/>
                        </a:rPr>
                        <a:t>False failure: lost utility / review burden.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Agreement</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11" name="attempt-illustration"/>
          <p:cNvGrpSpPr/>
          <p:nvPr/>
        </p:nvGrpSpPr>
        <p:grpSpPr>
          <a:xfrm>
            <a:off x="7029450" y="1752600"/>
            <a:ext cx="4705350" cy="2419350"/>
            <a:chOff x="7029450" y="1752600"/>
            <a:chExt cx="4705350" cy="2419350"/>
          </a:xfrm>
        </p:grpSpPr>
        <p:sp>
          <p:nvSpPr>
            <p:cNvPr id="7" name="Rectangle 7"/>
            <p:cNvSpPr/>
            <p:nvPr/>
          </p:nvSpPr>
          <p:spPr>
            <a:xfrm>
              <a:off x="7029450" y="1752600"/>
              <a:ext cx="4705350" cy="2419350"/>
            </a:xfrm>
            <a:prstGeom prst="rect">
              <a:avLst/>
            </a:prstGeom>
            <a:solidFill>
              <a:schemeClr val="lt2"/>
            </a:solidFill>
            <a:ln>
              <a:noFill/>
            </a:ln>
          </p:spPr>
        </p:sp>
        <p:sp>
          <p:nvSpPr>
            <p:cNvPr id="8" name="TextBox 8"/>
            <p:cNvSpPr txBox="1"/>
            <p:nvPr/>
          </p:nvSpPr>
          <p:spPr>
            <a:xfrm>
              <a:off x="7232904" y="1943100"/>
              <a:ext cx="3445547" cy="234696"/>
            </a:xfrm>
            <a:prstGeom prst="rect">
              <a:avLst/>
            </a:prstGeom>
            <a:noFill/>
            <a:ln>
              <a:noFill/>
            </a:ln>
          </p:spPr>
          <p:txBody>
            <a:bodyPr wrap="none" lIns="0" tIns="0" rIns="0" bIns="0" anchor="t" anchorCtr="0">
              <a:spAutoFit/>
            </a:bodyPr>
            <a:lstStyle/>
            <a:p>
              <a:pPr algn="l"/>
              <a:r>
                <a:rPr lang="en-US" sz="1200" dirty="0">
                  <a:solidFill>
                    <a:srgbClr val="8B411C"/>
                  </a:solidFill>
                  <a:latin typeface="+mn-lt"/>
                  <a:ea typeface="+mn-ea"/>
                  <a:cs typeface="+mn-cs"/>
                </a:rPr>
                <a:t>SYNTHETIC SINGLE-CASE ILLUSTRATION</a:t>
              </a:r>
            </a:p>
          </p:txBody>
        </p:sp>
        <p:sp>
          <p:nvSpPr>
            <p:cNvPr id="9" name="TextBox 9"/>
            <p:cNvSpPr txBox="1"/>
            <p:nvPr/>
          </p:nvSpPr>
          <p:spPr>
            <a:xfrm>
              <a:off x="7229856" y="2409825"/>
              <a:ext cx="2441068" cy="352044"/>
            </a:xfrm>
            <a:prstGeom prst="rect">
              <a:avLst/>
            </a:prstGeom>
            <a:noFill/>
            <a:ln>
              <a:noFill/>
            </a:ln>
          </p:spPr>
          <p:txBody>
            <a:bodyPr wrap="none" lIns="0" tIns="0" rIns="0" bIns="0" anchor="t" anchorCtr="0">
              <a:spAutoFit/>
            </a:bodyPr>
            <a:lstStyle/>
            <a:p>
              <a:pPr algn="l"/>
              <a:r>
                <a:rPr lang="en-US" sz="1800" dirty="0">
                  <a:solidFill>
                    <a:schemeClr val="accent1"/>
                  </a:solidFill>
                  <a:latin typeface="+mj-lt"/>
                  <a:ea typeface="+mj-ea"/>
                  <a:cs typeface="+mj-cs"/>
                </a:rPr>
                <a:t>1 fail → 2 pass → 3 fail</a:t>
              </a:r>
            </a:p>
          </p:txBody>
        </p:sp>
        <p:sp>
          <p:nvSpPr>
            <p:cNvPr id="10" name="TextBox 10"/>
            <p:cNvSpPr txBox="1"/>
            <p:nvPr/>
          </p:nvSpPr>
          <p:spPr>
            <a:xfrm>
              <a:off x="7231380" y="2911475"/>
              <a:ext cx="3584105" cy="8267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A success exists among three attempts.</a:t>
              </a:r>
              <a:br>
                <a:rPr lang="en-US" sz="1500" dirty="0">
                  <a:solidFill>
                    <a:schemeClr val="dk1"/>
                  </a:solidFill>
                  <a:latin typeface="+mn-lt"/>
                  <a:ea typeface="+mn-ea"/>
                  <a:cs typeface="+mn-cs"/>
                </a:rPr>
              </a:br>
              <a:r>
                <a:rPr lang="en-US" sz="1500" dirty="0">
                  <a:solidFill>
                    <a:schemeClr val="dk1"/>
                  </a:solidFill>
                  <a:latin typeface="+mn-lt"/>
                  <a:ea typeface="+mn-ea"/>
                  <a:cs typeface="+mn-cs"/>
                </a:rPr>
                <a:t>Who identifies the usable second answer?</a:t>
              </a:r>
              <a:br>
                <a:rPr lang="en-US" sz="1500" dirty="0">
                  <a:solidFill>
                    <a:schemeClr val="dk1"/>
                  </a:solidFill>
                  <a:latin typeface="+mn-lt"/>
                  <a:ea typeface="+mn-ea"/>
                  <a:cs typeface="+mn-cs"/>
                </a:rPr>
              </a:br>
              <a:r>
                <a:rPr lang="en-US" sz="1500" dirty="0">
                  <a:solidFill>
                    <a:schemeClr val="dk1"/>
                  </a:solidFill>
                  <a:latin typeface="+mn-lt"/>
                  <a:ea typeface="+mn-ea"/>
                  <a:cs typeface="+mn-cs"/>
                </a:rPr>
                <a:t>This is not an empirical pass@3 estimate.</a:t>
              </a:r>
            </a:p>
          </p:txBody>
        </p:sp>
      </p:grpSp>
      <p:grpSp>
        <p:nvGrpSpPr>
          <p:cNvPr id="14" name="calibrate-judge"/>
          <p:cNvGrpSpPr/>
          <p:nvPr/>
        </p:nvGrpSpPr>
        <p:grpSpPr>
          <a:xfrm>
            <a:off x="448056" y="4581525"/>
            <a:ext cx="4803534" cy="1528445"/>
            <a:chOff x="448056" y="4581525"/>
            <a:chExt cx="4803534" cy="1528445"/>
          </a:xfrm>
        </p:grpSpPr>
        <p:sp>
          <p:nvSpPr>
            <p:cNvPr id="12" name="TextBox 12"/>
            <p:cNvSpPr txBox="1"/>
            <p:nvPr/>
          </p:nvSpPr>
          <p:spPr>
            <a:xfrm>
              <a:off x="448056" y="4581525"/>
              <a:ext cx="385646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Calibrate against adjudicated cases</a:t>
              </a:r>
            </a:p>
          </p:txBody>
        </p:sp>
        <p:sp>
          <p:nvSpPr>
            <p:cNvPr id="13" name="TextBox 13"/>
            <p:cNvSpPr txBox="1"/>
            <p:nvPr/>
          </p:nvSpPr>
          <p:spPr>
            <a:xfrm>
              <a:off x="449580" y="5016500"/>
              <a:ext cx="4802010"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Inspect severe false passes beyond average agreement.</a:t>
              </a:r>
              <a:br>
                <a:rPr lang="en-US" sz="1500" dirty="0">
                  <a:solidFill>
                    <a:schemeClr val="dk1"/>
                  </a:solidFill>
                  <a:latin typeface="+mn-lt"/>
                  <a:ea typeface="+mn-ea"/>
                  <a:cs typeface="+mn-cs"/>
                </a:rPr>
              </a:br>
              <a:r>
                <a:rPr lang="en-US" sz="1500" dirty="0">
                  <a:solidFill>
                    <a:schemeClr val="dk1"/>
                  </a:solidFill>
                  <a:latin typeface="+mn-lt"/>
                  <a:ea typeface="+mn-ea"/>
                  <a:cs typeface="+mn-cs"/>
                </a:rPr>
                <a:t>Stricter grading can increase false failures. Upstart’s</a:t>
              </a:r>
              <a:br>
                <a:rPr lang="en-US" sz="1500" dirty="0">
                  <a:solidFill>
                    <a:schemeClr val="dk1"/>
                  </a:solidFill>
                  <a:latin typeface="+mn-lt"/>
                  <a:ea typeface="+mn-ea"/>
                  <a:cs typeface="+mn-cs"/>
                </a:rPr>
              </a:br>
              <a:r>
                <a:rPr lang="en-US" sz="1500" dirty="0">
                  <a:solidFill>
                    <a:schemeClr val="dk1"/>
                  </a:solidFill>
                  <a:latin typeface="+mn-lt"/>
                  <a:ea typeface="+mn-ea"/>
                  <a:cs typeface="+mn-cs"/>
                </a:rPr>
                <a:t>judge-calibration story is program context; automated</a:t>
              </a:r>
              <a:br>
                <a:rPr lang="en-US" sz="1500" dirty="0">
                  <a:solidFill>
                    <a:schemeClr val="dk1"/>
                  </a:solidFill>
                  <a:latin typeface="+mn-lt"/>
                  <a:ea typeface="+mn-ea"/>
                  <a:cs typeface="+mn-cs"/>
                </a:rPr>
              </a:br>
              <a:r>
                <a:rPr lang="en-US" sz="1500" dirty="0">
                  <a:solidFill>
                    <a:schemeClr val="dk1"/>
                  </a:solidFill>
                  <a:latin typeface="+mn-lt"/>
                  <a:ea typeface="+mn-ea"/>
                  <a:cs typeface="+mn-cs"/>
                </a:rPr>
                <a:t>self-improvement remained under development.</a:t>
              </a:r>
            </a:p>
          </p:txBody>
        </p:sp>
      </p:grpSp>
      <p:grpSp>
        <p:nvGrpSpPr>
          <p:cNvPr id="17" name="evaluate-selector"/>
          <p:cNvGrpSpPr/>
          <p:nvPr/>
        </p:nvGrpSpPr>
        <p:grpSpPr>
          <a:xfrm>
            <a:off x="6086856" y="4581525"/>
            <a:ext cx="4827060" cy="1528445"/>
            <a:chOff x="6086856" y="4581525"/>
            <a:chExt cx="4827060" cy="1528445"/>
          </a:xfrm>
        </p:grpSpPr>
        <p:sp>
          <p:nvSpPr>
            <p:cNvPr id="15" name="TextBox 15"/>
            <p:cNvSpPr txBox="1"/>
            <p:nvPr/>
          </p:nvSpPr>
          <p:spPr>
            <a:xfrm>
              <a:off x="6086856" y="4581525"/>
              <a:ext cx="482706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Test and price the deployed selection policy</a:t>
              </a:r>
            </a:p>
          </p:txBody>
        </p:sp>
        <p:sp>
          <p:nvSpPr>
            <p:cNvPr id="16" name="TextBox 16"/>
            <p:cNvSpPr txBox="1"/>
            <p:nvPr/>
          </p:nvSpPr>
          <p:spPr>
            <a:xfrm>
              <a:off x="6088380" y="5016500"/>
              <a:ext cx="4380833"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pass@k asks if at least one of k candidates passes.</a:t>
              </a:r>
              <a:br>
                <a:rPr lang="en-US" sz="1500" dirty="0">
                  <a:solidFill>
                    <a:schemeClr val="dk1"/>
                  </a:solidFill>
                  <a:latin typeface="+mn-lt"/>
                  <a:ea typeface="+mn-ea"/>
                  <a:cs typeface="+mn-cs"/>
                </a:rPr>
              </a:br>
              <a:r>
                <a:rPr lang="en-US" sz="1500" dirty="0">
                  <a:solidFill>
                    <a:schemeClr val="dk1"/>
                  </a:solidFill>
                  <a:latin typeface="+mn-lt"/>
                  <a:ea typeface="+mn-ea"/>
                  <a:cs typeface="+mn-cs"/>
                </a:rPr>
                <a:t>State workload, test, k and first-attempt behavior;</a:t>
              </a:r>
              <a:br>
                <a:rPr lang="en-US" sz="1500" dirty="0">
                  <a:solidFill>
                    <a:schemeClr val="dk1"/>
                  </a:solidFill>
                  <a:latin typeface="+mn-lt"/>
                  <a:ea typeface="+mn-ea"/>
                  <a:cs typeface="+mn-cs"/>
                </a:rPr>
              </a:br>
              <a:r>
                <a:rPr lang="en-US" sz="1500" dirty="0">
                  <a:solidFill>
                    <a:schemeClr val="dk1"/>
                  </a:solidFill>
                  <a:latin typeface="+mn-lt"/>
                  <a:ea typeface="+mn-ea"/>
                  <a:cs typeface="+mn-cs"/>
                </a:rPr>
                <a:t>evaluate the actual selector under that budget.</a:t>
              </a:r>
              <a:br>
                <a:rPr lang="en-US" sz="1500" dirty="0">
                  <a:solidFill>
                    <a:schemeClr val="dk1"/>
                  </a:solidFill>
                  <a:latin typeface="+mn-lt"/>
                  <a:ea typeface="+mn-ea"/>
                  <a:cs typeface="+mn-cs"/>
                </a:rPr>
              </a:br>
              <a:r>
                <a:rPr lang="en-US" sz="1500" dirty="0">
                  <a:solidFill>
                    <a:schemeClr val="dk1"/>
                  </a:solidFill>
                  <a:latin typeface="+mn-lt"/>
                  <a:ea typeface="+mn-ea"/>
                  <a:cs typeface="+mn-cs"/>
                </a:rPr>
                <a:t>Count retries, tools, verification, latency and review.</a:t>
              </a:r>
            </a:p>
          </p:txBody>
        </p:sp>
      </p:grpSp>
      <p:grpSp>
        <p:nvGrpSpPr>
          <p:cNvPr id="20" name="footer"/>
          <p:cNvGrpSpPr/>
          <p:nvPr/>
        </p:nvGrpSpPr>
        <p:grpSpPr>
          <a:xfrm>
            <a:off x="452438" y="6486525"/>
            <a:ext cx="11287124" cy="176212"/>
            <a:chOff x="452438" y="6486525"/>
            <a:chExt cx="11287124" cy="176212"/>
          </a:xfrm>
        </p:grpSpPr>
        <p:sp>
          <p:nvSpPr>
            <p:cNvPr id="18" name="TextBox 18"/>
            <p:cNvSpPr txBox="1"/>
            <p:nvPr/>
          </p:nvSpPr>
          <p:spPr>
            <a:xfrm>
              <a:off x="452438" y="6486525"/>
              <a:ext cx="6859859"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Ramp/banking accounts, Upstart agenda and Chen et al. (2021). No company or finance benchmark score is claimed.</a:t>
              </a:r>
            </a:p>
          </p:txBody>
        </p:sp>
        <p:sp>
          <p:nvSpPr>
            <p:cNvPr id="19" name="TextBox 19"/>
            <p:cNvSpPr txBox="1"/>
            <p:nvPr/>
          </p:nvSpPr>
          <p:spPr>
            <a:xfrm>
              <a:off x="11359512" y="648652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15 / 37</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002238" cy="1364107"/>
            <a:chOff x="443484" y="361950"/>
            <a:chExt cx="9002238" cy="1364107"/>
          </a:xfrm>
        </p:grpSpPr>
        <p:sp>
          <p:nvSpPr>
            <p:cNvPr id="2" name="TextBox 2"/>
            <p:cNvSpPr txBox="1"/>
            <p:nvPr/>
          </p:nvSpPr>
          <p:spPr>
            <a:xfrm>
              <a:off x="451104" y="361950"/>
              <a:ext cx="266802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EVALUATION ENGINEERING</a:t>
              </a:r>
            </a:p>
          </p:txBody>
        </p:sp>
        <p:sp>
          <p:nvSpPr>
            <p:cNvPr id="3" name="TextBox 3"/>
            <p:cNvSpPr txBox="1"/>
            <p:nvPr/>
          </p:nvSpPr>
          <p:spPr>
            <a:xfrm>
              <a:off x="443484" y="593725"/>
              <a:ext cx="869951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Memory must refresh facts as the business moves on</a:t>
              </a:r>
            </a:p>
          </p:txBody>
        </p:sp>
        <p:sp>
          <p:nvSpPr>
            <p:cNvPr id="4" name="TextBox 4"/>
            <p:cNvSpPr txBox="1"/>
            <p:nvPr/>
          </p:nvSpPr>
          <p:spPr>
            <a:xfrm>
              <a:off x="448818" y="1127125"/>
              <a:ext cx="8996904"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Ryan Stevens’s Ramp article tests reusable procedure in later-period synthetic worlds; the fixture</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below is invented.</a:t>
              </a:r>
            </a:p>
          </p:txBody>
        </p:sp>
      </p:grpSp>
      <p:graphicFrame>
        <p:nvGraphicFramePr>
          <p:cNvPr id="6" name="paired-variants"/>
          <p:cNvGraphicFramePr>
            <a:graphicFrameLocks noGrp="1"/>
          </p:cNvGraphicFramePr>
          <p:nvPr/>
        </p:nvGraphicFramePr>
        <p:xfrm>
          <a:off x="457200" y="1752600"/>
          <a:ext cx="11277600" cy="1638300"/>
        </p:xfrm>
        <a:graphic>
          <a:graphicData uri="http://schemas.openxmlformats.org/drawingml/2006/table">
            <a:tbl>
              <a:tblPr firstRow="1" bandRow="1">
                <a:tableStyleId>{5C22544A-7EE6-4342-B048-85BDC9FD1C3A}</a:tableStyleId>
              </a:tblPr>
              <a:tblGrid>
                <a:gridCol w="2857500"/>
                <a:gridCol w="2857500"/>
                <a:gridCol w="2857500"/>
                <a:gridCol w="2705100"/>
              </a:tblGrid>
              <a:tr h="457200">
                <a:tc>
                  <a:txBody>
                    <a:bodyPr/>
                    <a:lstStyle/>
                    <a:p>
                      <a:pPr/>
                      <a:r>
                        <a:rPr lang="en-US" sz="1350" b="1">
                          <a:solidFill>
                            <a:srgbClr val="FFFDF7"/>
                          </a:solidFill>
                          <a:latin typeface="Arial"/>
                          <a:ea typeface="Microsoft YaHei"/>
                          <a:cs typeface="Arial"/>
                        </a:rPr>
                        <a:t>Invented period</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Invoices</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Ledger</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Unexplained gap</a:t>
                      </a:r>
                    </a:p>
                  </a:txBody>
                  <a:tcPr anchor="ctr" marL="152400" marR="152400" marT="76200" marB="76200">
                    <a:lnL>
                      <a:noFill/>
                    </a:lnL>
                    <a:lnR>
                      <a:noFill/>
                    </a:lnR>
                    <a:lnT>
                      <a:noFill/>
                    </a:lnT>
                    <a:lnB w="9525">
                      <a:solidFill>
                        <a:schemeClr val="accent6"/>
                      </a:solidFill>
                      <a:prstDash val="solid"/>
                    </a:lnB>
                    <a:solidFill>
                      <a:schemeClr val="accent1"/>
                    </a:solidFill>
                  </a:tcPr>
                </a:tc>
              </a:tr>
              <a:tr h="590550">
                <a:tc>
                  <a:txBody>
                    <a:bodyPr/>
                    <a:lstStyle/>
                    <a:p>
                      <a:pPr/>
                      <a:r>
                        <a:rPr lang="en-US" sz="1350" b="0">
                          <a:solidFill>
                            <a:schemeClr val="dk1"/>
                          </a:solidFill>
                          <a:latin typeface="Arial"/>
                          <a:ea typeface="Microsoft YaHei"/>
                          <a:cs typeface="Arial"/>
                        </a:rPr>
                        <a:t>January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12,400</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12,000</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400</a:t>
                      </a:r>
                    </a:p>
                  </a:txBody>
                  <a:tcPr anchor="ctr" marL="152400" marR="152400" marT="76200" marB="76200">
                    <a:lnL>
                      <a:noFill/>
                    </a:lnL>
                    <a:lnR>
                      <a:noFill/>
                    </a:lnR>
                    <a:lnT>
                      <a:noFill/>
                    </a:lnT>
                    <a:lnB w="9525">
                      <a:solidFill>
                        <a:schemeClr val="accent6"/>
                      </a:solidFill>
                      <a:prstDash val="solid"/>
                    </a:lnB>
                    <a:noFill/>
                  </a:tcPr>
                </a:tc>
              </a:tr>
              <a:tr h="590550">
                <a:tc>
                  <a:txBody>
                    <a:bodyPr/>
                    <a:lstStyle/>
                    <a:p>
                      <a:pPr/>
                      <a:r>
                        <a:rPr lang="en-US" sz="1350" b="0">
                          <a:solidFill>
                            <a:schemeClr val="dk1"/>
                          </a:solidFill>
                          <a:latin typeface="Arial"/>
                          <a:ea typeface="Microsoft YaHei"/>
                          <a:cs typeface="Arial"/>
                        </a:rPr>
                        <a:t>February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15,000</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13,900</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1,100</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10" name="stale-memory"/>
          <p:cNvGrpSpPr/>
          <p:nvPr/>
        </p:nvGrpSpPr>
        <p:grpSpPr>
          <a:xfrm>
            <a:off x="457200" y="3657600"/>
            <a:ext cx="4000500" cy="1066800"/>
            <a:chOff x="457200" y="3657600"/>
            <a:chExt cx="4000500" cy="1066800"/>
          </a:xfrm>
        </p:grpSpPr>
        <p:sp>
          <p:nvSpPr>
            <p:cNvPr id="7" name="Rectangle 7"/>
            <p:cNvSpPr/>
            <p:nvPr/>
          </p:nvSpPr>
          <p:spPr>
            <a:xfrm>
              <a:off x="457200" y="3657600"/>
              <a:ext cx="4000500" cy="1066800"/>
            </a:xfrm>
            <a:prstGeom prst="rect">
              <a:avLst/>
            </a:prstGeom>
            <a:solidFill>
              <a:schemeClr val="lt2"/>
            </a:solidFill>
            <a:ln>
              <a:noFill/>
            </a:ln>
          </p:spPr>
        </p:sp>
        <p:sp>
          <p:nvSpPr>
            <p:cNvPr id="8" name="TextBox 8"/>
            <p:cNvSpPr txBox="1"/>
            <p:nvPr/>
          </p:nvSpPr>
          <p:spPr>
            <a:xfrm>
              <a:off x="621030" y="3743325"/>
              <a:ext cx="918748"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Stale fact</a:t>
              </a:r>
            </a:p>
          </p:txBody>
        </p:sp>
        <p:sp>
          <p:nvSpPr>
            <p:cNvPr id="9" name="TextBox 9"/>
            <p:cNvSpPr txBox="1"/>
            <p:nvPr/>
          </p:nvSpPr>
          <p:spPr>
            <a:xfrm>
              <a:off x="621030" y="4133850"/>
              <a:ext cx="2751529"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“Last month the gap was 400.”</a:t>
              </a:r>
            </a:p>
          </p:txBody>
        </p:sp>
      </p:grpSp>
      <p:grpSp>
        <p:nvGrpSpPr>
          <p:cNvPr id="14" name="reusable-procedure"/>
          <p:cNvGrpSpPr/>
          <p:nvPr/>
        </p:nvGrpSpPr>
        <p:grpSpPr>
          <a:xfrm>
            <a:off x="4686300" y="3657600"/>
            <a:ext cx="7048500" cy="1066800"/>
            <a:chOff x="4686300" y="3657600"/>
            <a:chExt cx="7048500" cy="1066800"/>
          </a:xfrm>
        </p:grpSpPr>
        <p:sp>
          <p:nvSpPr>
            <p:cNvPr id="11" name="Rectangle 11"/>
            <p:cNvSpPr/>
            <p:nvPr/>
          </p:nvSpPr>
          <p:spPr>
            <a:xfrm>
              <a:off x="4686300" y="3657600"/>
              <a:ext cx="7048500" cy="1066800"/>
            </a:xfrm>
            <a:prstGeom prst="rect">
              <a:avLst/>
            </a:prstGeom>
            <a:solidFill>
              <a:schemeClr val="accent1"/>
            </a:solidFill>
            <a:ln>
              <a:noFill/>
            </a:ln>
          </p:spPr>
        </p:sp>
        <p:sp>
          <p:nvSpPr>
            <p:cNvPr id="12" name="TextBox 12"/>
            <p:cNvSpPr txBox="1"/>
            <p:nvPr/>
          </p:nvSpPr>
          <p:spPr>
            <a:xfrm>
              <a:off x="4850130" y="3743325"/>
              <a:ext cx="1963140"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mn-lt"/>
                  <a:ea typeface="+mn-ea"/>
                  <a:cs typeface="+mn-cs"/>
                </a:rPr>
                <a:t>Reusable procedure</a:t>
              </a:r>
            </a:p>
          </p:txBody>
        </p:sp>
        <p:sp>
          <p:nvSpPr>
            <p:cNvPr id="13" name="TextBox 13"/>
            <p:cNvSpPr txBox="1"/>
            <p:nvPr/>
          </p:nvSpPr>
          <p:spPr>
            <a:xfrm>
              <a:off x="4850130" y="4133850"/>
              <a:ext cx="5534984" cy="293370"/>
            </a:xfrm>
            <a:prstGeom prst="rect">
              <a:avLst/>
            </a:prstGeom>
            <a:noFill/>
            <a:ln>
              <a:noFill/>
            </a:ln>
          </p:spPr>
          <p:txBody>
            <a:bodyPr wrap="none" lIns="0" tIns="0" rIns="0" bIns="0" anchor="t" anchorCtr="0">
              <a:spAutoFit/>
            </a:bodyPr>
            <a:lstStyle/>
            <a:p>
              <a:pPr algn="l"/>
              <a:r>
                <a:rPr lang="en-US" sz="1500" dirty="0">
                  <a:solidFill>
                    <a:srgbClr val="FFFDF7"/>
                  </a:solidFill>
                  <a:latin typeface="+mn-lt"/>
                  <a:ea typeface="+mn-ea"/>
                  <a:cs typeface="+mn-cs"/>
                </a:rPr>
                <a:t>Fetch current records → match IDs → explain or flag the gap.</a:t>
              </a:r>
            </a:p>
          </p:txBody>
        </p:sp>
      </p:grpSp>
      <p:grpSp>
        <p:nvGrpSpPr>
          <p:cNvPr id="17" name="lesson-0"/>
          <p:cNvGrpSpPr/>
          <p:nvPr/>
        </p:nvGrpSpPr>
        <p:grpSpPr>
          <a:xfrm>
            <a:off x="448056" y="4972050"/>
            <a:ext cx="3108846" cy="1226820"/>
            <a:chOff x="448056" y="4972050"/>
            <a:chExt cx="3108846" cy="1226820"/>
          </a:xfrm>
        </p:grpSpPr>
        <p:sp>
          <p:nvSpPr>
            <p:cNvPr id="15" name="TextBox 15"/>
            <p:cNvSpPr txBox="1"/>
            <p:nvPr/>
          </p:nvSpPr>
          <p:spPr>
            <a:xfrm>
              <a:off x="448056" y="4972050"/>
              <a:ext cx="251285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Test temporal transfer</a:t>
              </a:r>
            </a:p>
          </p:txBody>
        </p:sp>
        <p:sp>
          <p:nvSpPr>
            <p:cNvPr id="16" name="TextBox 16"/>
            <p:cNvSpPr txBox="1"/>
            <p:nvPr/>
          </p:nvSpPr>
          <p:spPr>
            <a:xfrm>
              <a:off x="449580" y="5410200"/>
              <a:ext cx="3107322"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Refresh amounts; retain the method.</a:t>
              </a:r>
              <a:br>
                <a:rPr lang="en-US" sz="1500" dirty="0">
                  <a:solidFill>
                    <a:schemeClr val="dk1"/>
                  </a:solidFill>
                  <a:latin typeface="+mn-lt"/>
                  <a:ea typeface="+mn-ea"/>
                  <a:cs typeface="+mn-cs"/>
                </a:rPr>
              </a:br>
              <a:r>
                <a:rPr lang="en-US" sz="1500" dirty="0">
                  <a:solidFill>
                    <a:schemeClr val="dk1"/>
                  </a:solidFill>
                  <a:latin typeface="+mn-lt"/>
                  <a:ea typeface="+mn-ea"/>
                  <a:cs typeface="+mn-cs"/>
                </a:rPr>
                <a:t>Add a changed approval rule as a</a:t>
              </a:r>
              <a:br>
                <a:rPr lang="en-US" sz="1500" dirty="0">
                  <a:solidFill>
                    <a:schemeClr val="dk1"/>
                  </a:solidFill>
                  <a:latin typeface="+mn-lt"/>
                  <a:ea typeface="+mn-ea"/>
                  <a:cs typeface="+mn-cs"/>
                </a:rPr>
              </a:br>
              <a:r>
                <a:rPr lang="en-US" sz="1500" dirty="0">
                  <a:solidFill>
                    <a:schemeClr val="dk1"/>
                  </a:solidFill>
                  <a:latin typeface="+mn-lt"/>
                  <a:ea typeface="+mn-ea"/>
                  <a:cs typeface="+mn-cs"/>
                </a:rPr>
                <a:t>separate proposed test.</a:t>
              </a:r>
            </a:p>
          </p:txBody>
        </p:sp>
      </p:grpSp>
      <p:grpSp>
        <p:nvGrpSpPr>
          <p:cNvPr id="20" name="lesson-1"/>
          <p:cNvGrpSpPr/>
          <p:nvPr/>
        </p:nvGrpSpPr>
        <p:grpSpPr>
          <a:xfrm>
            <a:off x="4296156" y="4972050"/>
            <a:ext cx="2775585" cy="1226820"/>
            <a:chOff x="4296156" y="4972050"/>
            <a:chExt cx="2775585" cy="1226820"/>
          </a:xfrm>
        </p:grpSpPr>
        <p:sp>
          <p:nvSpPr>
            <p:cNvPr id="18" name="TextBox 18"/>
            <p:cNvSpPr txBox="1"/>
            <p:nvPr/>
          </p:nvSpPr>
          <p:spPr>
            <a:xfrm>
              <a:off x="4296156" y="4972050"/>
              <a:ext cx="217077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Inspect regressions</a:t>
              </a:r>
            </a:p>
          </p:txBody>
        </p:sp>
        <p:sp>
          <p:nvSpPr>
            <p:cNvPr id="19" name="TextBox 19"/>
            <p:cNvSpPr txBox="1"/>
            <p:nvPr/>
          </p:nvSpPr>
          <p:spPr>
            <a:xfrm>
              <a:off x="4297680" y="5410200"/>
              <a:ext cx="2774061"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Reported gain: +5.7 score points</a:t>
              </a:r>
              <a:br>
                <a:rPr lang="en-US" sz="1500" dirty="0">
                  <a:solidFill>
                    <a:schemeClr val="dk1"/>
                  </a:solidFill>
                  <a:latin typeface="+mn-lt"/>
                  <a:ea typeface="+mn-ea"/>
                  <a:cs typeface="+mn-cs"/>
                </a:rPr>
              </a:br>
              <a:r>
                <a:rPr lang="en-US" sz="1500" dirty="0">
                  <a:solidFill>
                    <a:schemeClr val="dk1"/>
                  </a:solidFill>
                  <a:latin typeface="+mn-lt"/>
                  <a:ea typeface="+mn-ea"/>
                  <a:cs typeface="+mn-cs"/>
                </a:rPr>
                <a:t>over skills alone. Later worlds</a:t>
              </a:r>
              <a:br>
                <a:rPr lang="en-US" sz="1500" dirty="0">
                  <a:solidFill>
                    <a:schemeClr val="dk1"/>
                  </a:solidFill>
                  <a:latin typeface="+mn-lt"/>
                  <a:ea typeface="+mn-ea"/>
                  <a:cs typeface="+mn-cs"/>
                </a:rPr>
              </a:br>
              <a:r>
                <a:rPr lang="en-US" sz="1500" dirty="0">
                  <a:solidFill>
                    <a:schemeClr val="dk1"/>
                  </a:solidFill>
                  <a:latin typeface="+mn-lt"/>
                  <a:ea typeface="+mn-ea"/>
                  <a:cs typeface="+mn-cs"/>
                </a:rPr>
                <a:t>improve and regress.</a:t>
              </a:r>
            </a:p>
          </p:txBody>
        </p:sp>
      </p:grpSp>
      <p:grpSp>
        <p:nvGrpSpPr>
          <p:cNvPr id="23" name="lesson-2"/>
          <p:cNvGrpSpPr/>
          <p:nvPr/>
        </p:nvGrpSpPr>
        <p:grpSpPr>
          <a:xfrm>
            <a:off x="8144256" y="4972050"/>
            <a:ext cx="3056306" cy="1226820"/>
            <a:chOff x="8144256" y="4972050"/>
            <a:chExt cx="3056306" cy="1226820"/>
          </a:xfrm>
        </p:grpSpPr>
        <p:sp>
          <p:nvSpPr>
            <p:cNvPr id="21" name="TextBox 21"/>
            <p:cNvSpPr txBox="1"/>
            <p:nvPr/>
          </p:nvSpPr>
          <p:spPr>
            <a:xfrm>
              <a:off x="8144256" y="4972050"/>
              <a:ext cx="169266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Keep the scope</a:t>
              </a:r>
            </a:p>
          </p:txBody>
        </p:sp>
        <p:sp>
          <p:nvSpPr>
            <p:cNvPr id="22" name="TextBox 22"/>
            <p:cNvSpPr txBox="1"/>
            <p:nvPr/>
          </p:nvSpPr>
          <p:spPr>
            <a:xfrm>
              <a:off x="8145780" y="5410200"/>
              <a:ext cx="3054782"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Separate written account, not the</a:t>
              </a:r>
              <a:br>
                <a:rPr lang="en-US" sz="1500" dirty="0">
                  <a:solidFill>
                    <a:schemeClr val="dk1"/>
                  </a:solidFill>
                  <a:latin typeface="+mn-lt"/>
                  <a:ea typeface="+mn-ea"/>
                  <a:cs typeface="+mn-cs"/>
                </a:rPr>
              </a:br>
              <a:r>
                <a:rPr lang="en-US" sz="1500" dirty="0">
                  <a:solidFill>
                    <a:schemeClr val="dk1"/>
                  </a:solidFill>
                  <a:latin typeface="+mn-lt"/>
                  <a:ea typeface="+mn-ea"/>
                  <a:cs typeface="+mn-cs"/>
                </a:rPr>
                <a:t>keynote. Invented amounts grant no</a:t>
              </a:r>
              <a:br>
                <a:rPr lang="en-US" sz="1500" dirty="0">
                  <a:solidFill>
                    <a:schemeClr val="dk1"/>
                  </a:solidFill>
                  <a:latin typeface="+mn-lt"/>
                  <a:ea typeface="+mn-ea"/>
                  <a:cs typeface="+mn-cs"/>
                </a:rPr>
              </a:br>
              <a:r>
                <a:rPr lang="en-US" sz="1500" dirty="0">
                  <a:solidFill>
                    <a:schemeClr val="dk1"/>
                  </a:solidFill>
                  <a:latin typeface="+mn-lt"/>
                  <a:ea typeface="+mn-ea"/>
                  <a:cs typeface="+mn-cs"/>
                </a:rPr>
                <a:t>permission to post.</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246652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Ramp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16 / 37</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535658" cy="1100582"/>
            <a:chOff x="443484" y="361950"/>
            <a:chExt cx="9535658" cy="1100582"/>
          </a:xfrm>
        </p:grpSpPr>
        <p:sp>
          <p:nvSpPr>
            <p:cNvPr id="2" name="TextBox 2"/>
            <p:cNvSpPr txBox="1"/>
            <p:nvPr/>
          </p:nvSpPr>
          <p:spPr>
            <a:xfrm>
              <a:off x="451104" y="361950"/>
              <a:ext cx="266802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EVALUATION ENGINEERING</a:t>
              </a:r>
            </a:p>
          </p:txBody>
        </p:sp>
        <p:sp>
          <p:nvSpPr>
            <p:cNvPr id="3" name="TextBox 3"/>
            <p:cNvSpPr txBox="1"/>
            <p:nvPr/>
          </p:nvSpPr>
          <p:spPr>
            <a:xfrm>
              <a:off x="443484" y="593725"/>
              <a:ext cx="8223605"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A repair must not hide a consequential regression</a:t>
              </a:r>
            </a:p>
          </p:txBody>
        </p:sp>
        <p:sp>
          <p:nvSpPr>
            <p:cNvPr id="4" name="TextBox 4"/>
            <p:cNvSpPr txBox="1"/>
            <p:nvPr/>
          </p:nvSpPr>
          <p:spPr>
            <a:xfrm>
              <a:off x="448818" y="1139825"/>
              <a:ext cx="9530324"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Compare a vector of quality, critical defects, time and reviewer effort before expanding exposure.</a:t>
              </a:r>
            </a:p>
          </p:txBody>
        </p:sp>
      </p:grpSp>
      <p:grpSp>
        <p:nvGrpSpPr>
          <p:cNvPr id="8" name="blocking-condition"/>
          <p:cNvGrpSpPr/>
          <p:nvPr/>
        </p:nvGrpSpPr>
        <p:grpSpPr>
          <a:xfrm>
            <a:off x="457200" y="1714500"/>
            <a:ext cx="11277600" cy="533400"/>
            <a:chOff x="457200" y="1714500"/>
            <a:chExt cx="11277600" cy="533400"/>
          </a:xfrm>
        </p:grpSpPr>
        <p:sp>
          <p:nvSpPr>
            <p:cNvPr id="6" name="Rectangle 6"/>
            <p:cNvSpPr/>
            <p:nvPr/>
          </p:nvSpPr>
          <p:spPr>
            <a:xfrm>
              <a:off x="457200" y="1714500"/>
              <a:ext cx="11277600" cy="533400"/>
            </a:xfrm>
            <a:prstGeom prst="rect">
              <a:avLst/>
            </a:prstGeom>
            <a:solidFill>
              <a:schemeClr val="accent1"/>
            </a:solidFill>
            <a:ln>
              <a:noFill/>
            </a:ln>
          </p:spPr>
        </p:sp>
        <p:sp>
          <p:nvSpPr>
            <p:cNvPr id="7" name="TextBox 7"/>
            <p:cNvSpPr txBox="1"/>
            <p:nvPr/>
          </p:nvSpPr>
          <p:spPr>
            <a:xfrm>
              <a:off x="621030" y="1857375"/>
              <a:ext cx="8092558" cy="293370"/>
            </a:xfrm>
            <a:prstGeom prst="rect">
              <a:avLst/>
            </a:prstGeom>
            <a:noFill/>
            <a:ln>
              <a:noFill/>
            </a:ln>
          </p:spPr>
          <p:txBody>
            <a:bodyPr wrap="none" lIns="0" tIns="0" rIns="0" bIns="0" anchor="t" anchorCtr="0">
              <a:spAutoFit/>
            </a:bodyPr>
            <a:lstStyle/>
            <a:p>
              <a:pPr algn="l"/>
              <a:r>
                <a:rPr lang="en-US" sz="1500" dirty="0">
                  <a:solidFill>
                    <a:srgbClr val="FFFDF7"/>
                  </a:solidFill>
                  <a:latin typeface="+mn-lt"/>
                  <a:ea typeface="+mn-ea"/>
                  <a:cs typeface="+mn-cs"/>
                </a:rPr>
                <a:t>A quality gain cannot offset prohibited access, fabricated support or an unapproved action.</a:t>
              </a:r>
            </a:p>
          </p:txBody>
        </p:sp>
      </p:grpSp>
      <p:grpSp>
        <p:nvGrpSpPr>
          <p:cNvPr id="11" name="analysis-1"/>
          <p:cNvGrpSpPr/>
          <p:nvPr/>
        </p:nvGrpSpPr>
        <p:grpSpPr>
          <a:xfrm>
            <a:off x="448056" y="2457450"/>
            <a:ext cx="3024035" cy="3227070"/>
            <a:chOff x="448056" y="2457450"/>
            <a:chExt cx="3024035" cy="3227070"/>
          </a:xfrm>
        </p:grpSpPr>
        <p:sp>
          <p:nvSpPr>
            <p:cNvPr id="9" name="TextBox 9"/>
            <p:cNvSpPr txBox="1"/>
            <p:nvPr/>
          </p:nvSpPr>
          <p:spPr>
            <a:xfrm>
              <a:off x="448056" y="2457450"/>
              <a:ext cx="292584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Compare the whole vector</a:t>
              </a:r>
            </a:p>
          </p:txBody>
        </p:sp>
        <p:sp>
          <p:nvSpPr>
            <p:cNvPr id="10" name="TextBox 10"/>
            <p:cNvSpPr txBox="1"/>
            <p:nvPr/>
          </p:nvSpPr>
          <p:spPr>
            <a:xfrm>
              <a:off x="449580" y="3076575"/>
              <a:ext cx="3022511"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Sofia Jakovcevic’s release</a:t>
              </a:r>
              <a:br>
                <a:rPr lang="en-US" sz="1500" dirty="0">
                  <a:solidFill>
                    <a:schemeClr val="dk1"/>
                  </a:solidFill>
                  <a:latin typeface="+mn-lt"/>
                  <a:ea typeface="+mn-ea"/>
                  <a:cs typeface="+mn-cs"/>
                </a:rPr>
              </a:br>
              <a:r>
                <a:rPr lang="en-US" sz="1500" dirty="0">
                  <a:solidFill>
                    <a:schemeClr val="dk1"/>
                  </a:solidFill>
                  <a:latin typeface="+mn-lt"/>
                  <a:ea typeface="+mn-ea"/>
                  <a:cs typeface="+mn-cs"/>
                </a:rPr>
                <a:t>describes a prompt repair that</a:t>
              </a:r>
              <a:br>
                <a:rPr lang="en-US" sz="1500" dirty="0">
                  <a:solidFill>
                    <a:schemeClr val="dk1"/>
                  </a:solidFill>
                  <a:latin typeface="+mn-lt"/>
                  <a:ea typeface="+mn-ea"/>
                  <a:cs typeface="+mn-cs"/>
                </a:rPr>
              </a:br>
              <a:r>
                <a:rPr lang="en-US" sz="1500" dirty="0">
                  <a:solidFill>
                    <a:schemeClr val="dk1"/>
                  </a:solidFill>
                  <a:latin typeface="+mn-lt"/>
                  <a:ea typeface="+mn-ea"/>
                  <a:cs typeface="+mn-cs"/>
                </a:rPr>
                <a:t>improves safety while harming</a:t>
              </a:r>
              <a:br>
                <a:rPr lang="en-US" sz="1500" dirty="0">
                  <a:solidFill>
                    <a:schemeClr val="dk1"/>
                  </a:solidFill>
                  <a:latin typeface="+mn-lt"/>
                  <a:ea typeface="+mn-ea"/>
                  <a:cs typeface="+mn-cs"/>
                </a:rPr>
              </a:br>
              <a:r>
                <a:rPr lang="en-US" sz="1500" dirty="0">
                  <a:solidFill>
                    <a:schemeClr val="dk1"/>
                  </a:solidFill>
                  <a:latin typeface="+mn-lt"/>
                  <a:ea typeface="+mn-ea"/>
                  <a:cs typeface="+mn-cs"/>
                </a:rPr>
                <a:t>completion. Preserve task/evidence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quality, critical defects, latency</a:t>
              </a:r>
              <a:br>
                <a:rPr lang="en-US" sz="1500" dirty="0">
                  <a:solidFill>
                    <a:schemeClr val="dk1"/>
                  </a:solidFill>
                  <a:latin typeface="+mn-lt"/>
                  <a:ea typeface="+mn-ea"/>
                  <a:cs typeface="+mn-cs"/>
                </a:rPr>
              </a:br>
              <a:r>
                <a:rPr lang="en-US" sz="1500" dirty="0">
                  <a:solidFill>
                    <a:schemeClr val="dk1"/>
                  </a:solidFill>
                  <a:latin typeface="+mn-lt"/>
                  <a:ea typeface="+mn-ea"/>
                  <a:cs typeface="+mn-cs"/>
                </a:rPr>
                <a:t>and reviewer effort together. An</a:t>
              </a:r>
              <a:br>
                <a:rPr lang="en-US" sz="1500" dirty="0">
                  <a:solidFill>
                    <a:schemeClr val="dk1"/>
                  </a:solidFill>
                  <a:latin typeface="+mn-lt"/>
                  <a:ea typeface="+mn-ea"/>
                  <a:cs typeface="+mn-cs"/>
                </a:rPr>
              </a:br>
              <a:r>
                <a:rPr lang="en-US" sz="1500" dirty="0">
                  <a:solidFill>
                    <a:schemeClr val="dk1"/>
                  </a:solidFill>
                  <a:latin typeface="+mn-lt"/>
                  <a:ea typeface="+mn-ea"/>
                  <a:cs typeface="+mn-cs"/>
                </a:rPr>
                <a:t>aggregate gain should trigger</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inspection of important slices and</a:t>
              </a:r>
              <a:br>
                <a:rPr lang="en-US" sz="1500" dirty="0">
                  <a:solidFill>
                    <a:schemeClr val="dk1"/>
                  </a:solidFill>
                  <a:latin typeface="+mn-lt"/>
                  <a:ea typeface="+mn-ea"/>
                  <a:cs typeface="+mn-cs"/>
                </a:rPr>
              </a:br>
              <a:r>
                <a:rPr lang="en-US" sz="1500" dirty="0">
                  <a:solidFill>
                    <a:schemeClr val="dk1"/>
                  </a:solidFill>
                  <a:latin typeface="+mn-lt"/>
                  <a:ea typeface="+mn-ea"/>
                  <a:cs typeface="+mn-cs"/>
                </a:rPr>
                <a:t>regressions rather than automatic</a:t>
              </a:r>
              <a:br>
                <a:rPr lang="en-US" sz="1500" dirty="0">
                  <a:solidFill>
                    <a:schemeClr val="dk1"/>
                  </a:solidFill>
                  <a:latin typeface="+mn-lt"/>
                  <a:ea typeface="+mn-ea"/>
                  <a:cs typeface="+mn-cs"/>
                </a:rPr>
              </a:br>
              <a:r>
                <a:rPr lang="en-US" sz="1500" dirty="0">
                  <a:solidFill>
                    <a:schemeClr val="dk1"/>
                  </a:solidFill>
                  <a:latin typeface="+mn-lt"/>
                  <a:ea typeface="+mn-ea"/>
                  <a:cs typeface="+mn-cs"/>
                </a:rPr>
                <a:t>promotion.</a:t>
              </a:r>
            </a:p>
          </p:txBody>
        </p:sp>
      </p:grpSp>
      <p:grpSp>
        <p:nvGrpSpPr>
          <p:cNvPr id="14" name="analysis-2"/>
          <p:cNvGrpSpPr/>
          <p:nvPr/>
        </p:nvGrpSpPr>
        <p:grpSpPr>
          <a:xfrm>
            <a:off x="4296156" y="2457450"/>
            <a:ext cx="3109570" cy="2969895"/>
            <a:chOff x="4296156" y="2457450"/>
            <a:chExt cx="3109570" cy="2969895"/>
          </a:xfrm>
        </p:grpSpPr>
        <p:sp>
          <p:nvSpPr>
            <p:cNvPr id="12" name="TextBox 12"/>
            <p:cNvSpPr txBox="1"/>
            <p:nvPr/>
          </p:nvSpPr>
          <p:spPr>
            <a:xfrm>
              <a:off x="4296156" y="2457450"/>
              <a:ext cx="283110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Trust observed execution</a:t>
              </a:r>
            </a:p>
          </p:txBody>
        </p:sp>
        <p:sp>
          <p:nvSpPr>
            <p:cNvPr id="13" name="TextBox 13"/>
            <p:cNvSpPr txBox="1"/>
            <p:nvPr/>
          </p:nvSpPr>
          <p:spPr>
            <a:xfrm>
              <a:off x="4297680" y="3076575"/>
              <a:ext cx="3108046"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Omni’s release emphasizes full</a:t>
              </a:r>
              <a:br>
                <a:rPr lang="en-US" sz="1500" dirty="0">
                  <a:solidFill>
                    <a:schemeClr val="dk1"/>
                  </a:solidFill>
                  <a:latin typeface="+mn-lt"/>
                  <a:ea typeface="+mn-ea"/>
                  <a:cs typeface="+mn-cs"/>
                </a:rPr>
              </a:br>
              <a:r>
                <a:rPr lang="en-US" sz="1500" dirty="0">
                  <a:solidFill>
                    <a:schemeClr val="dk1"/>
                  </a:solidFill>
                  <a:latin typeface="+mn-lt"/>
                  <a:ea typeface="+mn-ea"/>
                  <a:cs typeface="+mn-cs"/>
                </a:rPr>
                <a:t>traces and gates that actually stop</a:t>
              </a:r>
              <a:br>
                <a:rPr lang="en-US" sz="1500" dirty="0">
                  <a:solidFill>
                    <a:schemeClr val="dk1"/>
                  </a:solidFill>
                  <a:latin typeface="+mn-lt"/>
                  <a:ea typeface="+mn-ea"/>
                  <a:cs typeface="+mn-cs"/>
                </a:rPr>
              </a:br>
              <a:r>
                <a:rPr lang="en-US" sz="1500" dirty="0">
                  <a:solidFill>
                    <a:schemeClr val="dk1"/>
                  </a:solidFill>
                  <a:latin typeface="+mn-lt"/>
                  <a:ea typeface="+mn-ea"/>
                  <a:cs typeface="+mn-cs"/>
                </a:rPr>
                <a:t>work. Verify that the tool effect</a:t>
              </a:r>
              <a:br>
                <a:rPr lang="en-US" sz="1500" dirty="0">
                  <a:solidFill>
                    <a:schemeClr val="dk1"/>
                  </a:solidFill>
                  <a:latin typeface="+mn-lt"/>
                  <a:ea typeface="+mn-ea"/>
                  <a:cs typeface="+mn-cs"/>
                </a:rPr>
              </a:br>
              <a:r>
                <a:rPr lang="en-US" sz="1500" dirty="0">
                  <a:solidFill>
                    <a:schemeClr val="dk1"/>
                  </a:solidFill>
                  <a:latin typeface="+mn-lt"/>
                  <a:ea typeface="+mn-ea"/>
                  <a:cs typeface="+mn-cs"/>
                </a:rPr>
                <a:t>or test occurred through runtime</a:t>
              </a:r>
              <a:br>
                <a:rPr lang="en-US" sz="1500" dirty="0">
                  <a:solidFill>
                    <a:schemeClr val="dk1"/>
                  </a:solidFill>
                  <a:latin typeface="+mn-lt"/>
                  <a:ea typeface="+mn-ea"/>
                  <a:cs typeface="+mn-cs"/>
                </a:rPr>
              </a:br>
              <a:r>
                <a:rPr lang="en-US" sz="1500" dirty="0">
                  <a:solidFill>
                    <a:schemeClr val="dk1"/>
                  </a:solidFill>
                  <a:latin typeface="+mn-lt"/>
                  <a:ea typeface="+mn-ea"/>
                  <a:cs typeface="+mn-cs"/>
                </a:rPr>
                <a:t>records; an agent’s claim that it</a:t>
              </a:r>
              <a:br>
                <a:rPr lang="en-US" sz="1500" dirty="0">
                  <a:solidFill>
                    <a:schemeClr val="dk1"/>
                  </a:solidFill>
                  <a:latin typeface="+mn-lt"/>
                  <a:ea typeface="+mn-ea"/>
                  <a:cs typeface="+mn-cs"/>
                </a:rPr>
              </a:br>
              <a:r>
                <a:rPr lang="en-US" sz="1500" dirty="0">
                  <a:solidFill>
                    <a:schemeClr val="dk1"/>
                  </a:solidFill>
                  <a:latin typeface="+mn-lt"/>
                  <a:ea typeface="+mn-ea"/>
                  <a:cs typeface="+mn-cs"/>
                </a:rPr>
                <a:t>passed is not independent 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Protect evaluator inputs and</a:t>
              </a:r>
              <a:br>
                <a:rPr lang="en-US" sz="1500" dirty="0">
                  <a:solidFill>
                    <a:schemeClr val="dk1"/>
                  </a:solidFill>
                  <a:latin typeface="+mn-lt"/>
                  <a:ea typeface="+mn-ea"/>
                  <a:cs typeface="+mn-cs"/>
                </a:rPr>
              </a:br>
              <a:r>
                <a:rPr lang="en-US" sz="1500" dirty="0">
                  <a:solidFill>
                    <a:schemeClr val="dk1"/>
                  </a:solidFill>
                  <a:latin typeface="+mn-lt"/>
                  <a:ea typeface="+mn-ea"/>
                  <a:cs typeface="+mn-cs"/>
                </a:rPr>
                <a:t>permitted tool/model access from</a:t>
              </a:r>
              <a:br>
                <a:rPr lang="en-US" sz="1500" dirty="0">
                  <a:solidFill>
                    <a:schemeClr val="dk1"/>
                  </a:solidFill>
                  <a:latin typeface="+mn-lt"/>
                  <a:ea typeface="+mn-ea"/>
                  <a:cs typeface="+mn-cs"/>
                </a:rPr>
              </a:br>
              <a:r>
                <a:rPr lang="en-US" sz="1500" dirty="0">
                  <a:solidFill>
                    <a:schemeClr val="dk1"/>
                  </a:solidFill>
                  <a:latin typeface="+mn-lt"/>
                  <a:ea typeface="+mn-ea"/>
                  <a:cs typeface="+mn-cs"/>
                </a:rPr>
                <a:t>benchmark gaming.</a:t>
              </a:r>
            </a:p>
          </p:txBody>
        </p:sp>
      </p:grpSp>
      <p:grpSp>
        <p:nvGrpSpPr>
          <p:cNvPr id="17" name="analysis-3"/>
          <p:cNvGrpSpPr/>
          <p:nvPr/>
        </p:nvGrpSpPr>
        <p:grpSpPr>
          <a:xfrm>
            <a:off x="8144256" y="2457450"/>
            <a:ext cx="3109074" cy="3227070"/>
            <a:chOff x="8144256" y="2457450"/>
            <a:chExt cx="3109074" cy="3227070"/>
          </a:xfrm>
        </p:grpSpPr>
        <p:sp>
          <p:nvSpPr>
            <p:cNvPr id="15" name="TextBox 15"/>
            <p:cNvSpPr txBox="1"/>
            <p:nvPr/>
          </p:nvSpPr>
          <p:spPr>
            <a:xfrm>
              <a:off x="8144256" y="2457450"/>
              <a:ext cx="1776656"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Make the decision</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reproducible</a:t>
              </a:r>
            </a:p>
          </p:txBody>
        </p:sp>
        <p:sp>
          <p:nvSpPr>
            <p:cNvPr id="16" name="TextBox 16"/>
            <p:cNvSpPr txBox="1"/>
            <p:nvPr/>
          </p:nvSpPr>
          <p:spPr>
            <a:xfrm>
              <a:off x="8145780" y="3076575"/>
              <a:ext cx="3107550"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Retain task/data/evaluator</a:t>
              </a:r>
              <a:br>
                <a:rPr lang="en-US" sz="1500" dirty="0">
                  <a:solidFill>
                    <a:schemeClr val="dk1"/>
                  </a:solidFill>
                  <a:latin typeface="+mn-lt"/>
                  <a:ea typeface="+mn-ea"/>
                  <a:cs typeface="+mn-cs"/>
                </a:rPr>
              </a:br>
              <a:r>
                <a:rPr lang="en-US" sz="1500" dirty="0">
                  <a:solidFill>
                    <a:schemeClr val="dk1"/>
                  </a:solidFill>
                  <a:latin typeface="+mn-lt"/>
                  <a:ea typeface="+mn-ea"/>
                  <a:cs typeface="+mn-cs"/>
                </a:rPr>
                <a:t>versions, failure examples, expert</a:t>
              </a:r>
              <a:br>
                <a:rPr lang="en-US" sz="1500" dirty="0">
                  <a:solidFill>
                    <a:schemeClr val="dk1"/>
                  </a:solidFill>
                  <a:latin typeface="+mn-lt"/>
                  <a:ea typeface="+mn-ea"/>
                  <a:cs typeface="+mn-cs"/>
                </a:rPr>
              </a:br>
              <a:r>
                <a:rPr lang="en-US" sz="1500" dirty="0">
                  <a:solidFill>
                    <a:schemeClr val="dk1"/>
                  </a:solidFill>
                  <a:latin typeface="+mn-lt"/>
                  <a:ea typeface="+mn-ea"/>
                  <a:cs typeface="+mn-cs"/>
                </a:rPr>
                <a:t>disagreements, accepted exceptions</a:t>
              </a:r>
              <a:br>
                <a:rPr lang="en-US" sz="1500" dirty="0">
                  <a:solidFill>
                    <a:schemeClr val="dk1"/>
                  </a:solidFill>
                  <a:latin typeface="+mn-lt"/>
                  <a:ea typeface="+mn-ea"/>
                  <a:cs typeface="+mn-cs"/>
                </a:rPr>
              </a:br>
              <a:r>
                <a:rPr lang="en-US" sz="1500" dirty="0">
                  <a:solidFill>
                    <a:schemeClr val="dk1"/>
                  </a:solidFill>
                  <a:latin typeface="+mn-lt"/>
                  <a:ea typeface="+mn-ea"/>
                  <a:cs typeface="+mn-cs"/>
                </a:rPr>
                <a:t>and the owner. Promote within a</a:t>
              </a:r>
              <a:br>
                <a:rPr lang="en-US" sz="1500" dirty="0">
                  <a:solidFill>
                    <a:schemeClr val="dk1"/>
                  </a:solidFill>
                  <a:latin typeface="+mn-lt"/>
                  <a:ea typeface="+mn-ea"/>
                  <a:cs typeface="+mn-cs"/>
                </a:rPr>
              </a:br>
              <a:r>
                <a:rPr lang="en-US" sz="1500" dirty="0">
                  <a:solidFill>
                    <a:schemeClr val="dk1"/>
                  </a:solidFill>
                  <a:latin typeface="+mn-lt"/>
                  <a:ea typeface="+mn-ea"/>
                  <a:cs typeface="+mn-cs"/>
                </a:rPr>
                <a:t>stated scope, then monitor for</a:t>
              </a:r>
              <a:br>
                <a:rPr lang="en-US" sz="1500" dirty="0">
                  <a:solidFill>
                    <a:schemeClr val="dk1"/>
                  </a:solidFill>
                  <a:latin typeface="+mn-lt"/>
                  <a:ea typeface="+mn-ea"/>
                  <a:cs typeface="+mn-cs"/>
                </a:rPr>
              </a:br>
              <a:r>
                <a:rPr lang="en-US" sz="1500" dirty="0">
                  <a:solidFill>
                    <a:schemeClr val="dk1"/>
                  </a:solidFill>
                  <a:latin typeface="+mn-lt"/>
                  <a:ea typeface="+mn-ea"/>
                  <a:cs typeface="+mn-cs"/>
                </a:rPr>
                <a:t>escaped failures with pause or</a:t>
              </a:r>
              <a:br>
                <a:rPr lang="en-US" sz="1500" dirty="0">
                  <a:solidFill>
                    <a:schemeClr val="dk1"/>
                  </a:solidFill>
                  <a:latin typeface="+mn-lt"/>
                  <a:ea typeface="+mn-ea"/>
                  <a:cs typeface="+mn-cs"/>
                </a:rPr>
              </a:br>
              <a:r>
                <a:rPr lang="en-US" sz="1500" dirty="0">
                  <a:solidFill>
                    <a:schemeClr val="dk1"/>
                  </a:solidFill>
                  <a:latin typeface="+mn-lt"/>
                  <a:ea typeface="+mn-ea"/>
                  <a:cs typeface="+mn-cs"/>
                </a:rPr>
                <a:t>rollback conditions. Finite tests</a:t>
              </a:r>
              <a:br>
                <a:rPr lang="en-US" sz="1500" dirty="0">
                  <a:solidFill>
                    <a:schemeClr val="dk1"/>
                  </a:solidFill>
                  <a:latin typeface="+mn-lt"/>
                  <a:ea typeface="+mn-ea"/>
                  <a:cs typeface="+mn-cs"/>
                </a:rPr>
              </a:br>
              <a:r>
                <a:rPr lang="en-US" sz="1500" dirty="0">
                  <a:solidFill>
                    <a:schemeClr val="dk1"/>
                  </a:solidFill>
                  <a:latin typeface="+mn-lt"/>
                  <a:ea typeface="+mn-ea"/>
                  <a:cs typeface="+mn-cs"/>
                </a:rPr>
                <a:t>support a bounded decision, not</a:t>
              </a:r>
              <a:br>
                <a:rPr lang="en-US" sz="1500" dirty="0">
                  <a:solidFill>
                    <a:schemeClr val="dk1"/>
                  </a:solidFill>
                  <a:latin typeface="+mn-lt"/>
                  <a:ea typeface="+mn-ea"/>
                  <a:cs typeface="+mn-cs"/>
                </a:rPr>
              </a:br>
              <a:r>
                <a:rPr lang="en-US" sz="1500" dirty="0">
                  <a:solidFill>
                    <a:schemeClr val="dk1"/>
                  </a:solidFill>
                  <a:latin typeface="+mn-lt"/>
                  <a:ea typeface="+mn-ea"/>
                  <a:cs typeface="+mn-cs"/>
                </a:rPr>
                <a:t>proof that a critical failure</a:t>
              </a:r>
              <a:br>
                <a:rPr lang="en-US" sz="1500" dirty="0">
                  <a:solidFill>
                    <a:schemeClr val="dk1"/>
                  </a:solidFill>
                  <a:latin typeface="+mn-lt"/>
                  <a:ea typeface="+mn-ea"/>
                  <a:cs typeface="+mn-cs"/>
                </a:rPr>
              </a:br>
              <a:r>
                <a:rPr lang="en-US" sz="1500" dirty="0">
                  <a:solidFill>
                    <a:schemeClr val="dk1"/>
                  </a:solidFill>
                  <a:latin typeface="+mn-lt"/>
                  <a:ea typeface="+mn-ea"/>
                  <a:cs typeface="+mn-cs"/>
                </a:rPr>
                <a:t>cannot occur.</a:t>
              </a:r>
            </a:p>
          </p:txBody>
        </p:sp>
      </p:grpSp>
      <p:grpSp>
        <p:nvGrpSpPr>
          <p:cNvPr id="20" name="footer"/>
          <p:cNvGrpSpPr/>
          <p:nvPr/>
        </p:nvGrpSpPr>
        <p:grpSpPr>
          <a:xfrm>
            <a:off x="452438" y="6477000"/>
            <a:ext cx="11287124" cy="176212"/>
            <a:chOff x="452438" y="6477000"/>
            <a:chExt cx="11287124" cy="176212"/>
          </a:xfrm>
        </p:grpSpPr>
        <p:sp>
          <p:nvSpPr>
            <p:cNvPr id="18" name="TextBox 18"/>
            <p:cNvSpPr txBox="1"/>
            <p:nvPr/>
          </p:nvSpPr>
          <p:spPr>
            <a:xfrm>
              <a:off x="452438" y="6477000"/>
              <a:ext cx="557051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Arize · Omni Analytics · Google DeepMind / Kaggle / LinqAlpha | Reviewed October 25, 2026</a:t>
              </a:r>
            </a:p>
          </p:txBody>
        </p:sp>
        <p:sp>
          <p:nvSpPr>
            <p:cNvPr id="19" name="TextBox 1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17 / 37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329010" cy="1364107"/>
            <a:chOff x="443484" y="361950"/>
            <a:chExt cx="9329010" cy="1364107"/>
          </a:xfrm>
        </p:grpSpPr>
        <p:sp>
          <p:nvSpPr>
            <p:cNvPr id="2" name="TextBox 2"/>
            <p:cNvSpPr txBox="1"/>
            <p:nvPr/>
          </p:nvSpPr>
          <p:spPr>
            <a:xfrm>
              <a:off x="451104" y="361950"/>
              <a:ext cx="266802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EVALUATION ENGINEERING</a:t>
              </a:r>
            </a:p>
          </p:txBody>
        </p:sp>
        <p:sp>
          <p:nvSpPr>
            <p:cNvPr id="3" name="TextBox 3"/>
            <p:cNvSpPr txBox="1"/>
            <p:nvPr/>
          </p:nvSpPr>
          <p:spPr>
            <a:xfrm>
              <a:off x="443484" y="593725"/>
              <a:ext cx="910729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A balanced answer can conceal a fabricated adjustment</a:t>
              </a:r>
            </a:p>
          </p:txBody>
        </p:sp>
        <p:sp>
          <p:nvSpPr>
            <p:cNvPr id="4" name="TextBox 4"/>
            <p:cNvSpPr txBox="1"/>
            <p:nvPr/>
          </p:nvSpPr>
          <p:spPr>
            <a:xfrm>
              <a:off x="448818" y="1127125"/>
              <a:ext cx="9323676"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Basis: final-answer scoring can reward zero variance even when the process violates the accounting</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task.</a:t>
              </a:r>
            </a:p>
          </p:txBody>
        </p:sp>
      </p:grpSp>
      <p:grpSp>
        <p:nvGrpSpPr>
          <p:cNvPr id="9" name="find-gap"/>
          <p:cNvGrpSpPr/>
          <p:nvPr/>
        </p:nvGrpSpPr>
        <p:grpSpPr>
          <a:xfrm>
            <a:off x="457200" y="1752600"/>
            <a:ext cx="3276600" cy="1352550"/>
            <a:chOff x="457200" y="1752600"/>
            <a:chExt cx="3276600" cy="1352550"/>
          </a:xfrm>
        </p:grpSpPr>
        <p:sp>
          <p:nvSpPr>
            <p:cNvPr id="6" name="Rectangle 6"/>
            <p:cNvSpPr/>
            <p:nvPr/>
          </p:nvSpPr>
          <p:spPr>
            <a:xfrm>
              <a:off x="457200" y="1752600"/>
              <a:ext cx="3276600" cy="1352550"/>
            </a:xfrm>
            <a:prstGeom prst="rect">
              <a:avLst/>
            </a:prstGeom>
            <a:solidFill>
              <a:schemeClr val="lt2"/>
            </a:solidFill>
            <a:ln>
              <a:noFill/>
            </a:ln>
          </p:spPr>
        </p:sp>
        <p:sp>
          <p:nvSpPr>
            <p:cNvPr id="7" name="TextBox 7"/>
            <p:cNvSpPr txBox="1"/>
            <p:nvPr/>
          </p:nvSpPr>
          <p:spPr>
            <a:xfrm>
              <a:off x="621030" y="1838325"/>
              <a:ext cx="2076699"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01 / Find discrepancy</a:t>
              </a:r>
            </a:p>
          </p:txBody>
        </p:sp>
        <p:sp>
          <p:nvSpPr>
            <p:cNvPr id="8" name="TextBox 8"/>
            <p:cNvSpPr txBox="1"/>
            <p:nvPr/>
          </p:nvSpPr>
          <p:spPr>
            <a:xfrm>
              <a:off x="621030" y="2228850"/>
              <a:ext cx="2302916"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Supporting entry cannot be</a:t>
              </a:r>
              <a:br>
                <a:rPr lang="en-US" sz="1500" dirty="0">
                  <a:solidFill>
                    <a:schemeClr val="dk1"/>
                  </a:solidFill>
                  <a:latin typeface="+mn-lt"/>
                  <a:ea typeface="+mn-ea"/>
                  <a:cs typeface="+mn-cs"/>
                </a:rPr>
              </a:br>
              <a:r>
                <a:rPr lang="en-US" sz="1500" dirty="0">
                  <a:solidFill>
                    <a:schemeClr val="dk1"/>
                  </a:solidFill>
                  <a:latin typeface="+mn-lt"/>
                  <a:ea typeface="+mn-ea"/>
                  <a:cs typeface="+mn-cs"/>
                </a:rPr>
                <a:t>found.</a:t>
              </a:r>
            </a:p>
          </p:txBody>
        </p:sp>
      </p:grpSp>
      <p:grpSp>
        <p:nvGrpSpPr>
          <p:cNvPr id="13" name="unsupported-step"/>
          <p:cNvGrpSpPr/>
          <p:nvPr/>
        </p:nvGrpSpPr>
        <p:grpSpPr>
          <a:xfrm>
            <a:off x="3886200" y="1752600"/>
            <a:ext cx="3752850" cy="1352550"/>
            <a:chOff x="3886200" y="1752600"/>
            <a:chExt cx="3752850" cy="1352550"/>
          </a:xfrm>
        </p:grpSpPr>
        <p:sp>
          <p:nvSpPr>
            <p:cNvPr id="10" name="Rectangle 10"/>
            <p:cNvSpPr/>
            <p:nvPr/>
          </p:nvSpPr>
          <p:spPr>
            <a:xfrm>
              <a:off x="3886200" y="1752600"/>
              <a:ext cx="3752850" cy="1352550"/>
            </a:xfrm>
            <a:prstGeom prst="rect">
              <a:avLst/>
            </a:prstGeom>
            <a:solidFill>
              <a:schemeClr val="lt2"/>
            </a:solidFill>
            <a:ln>
              <a:noFill/>
            </a:ln>
          </p:spPr>
        </p:sp>
        <p:sp>
          <p:nvSpPr>
            <p:cNvPr id="11" name="TextBox 11"/>
            <p:cNvSpPr txBox="1"/>
            <p:nvPr/>
          </p:nvSpPr>
          <p:spPr>
            <a:xfrm>
              <a:off x="4050030" y="1838325"/>
              <a:ext cx="1740350"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02 / Take shortcut</a:t>
              </a:r>
            </a:p>
          </p:txBody>
        </p:sp>
        <p:sp>
          <p:nvSpPr>
            <p:cNvPr id="12" name="TextBox 12"/>
            <p:cNvSpPr txBox="1"/>
            <p:nvPr/>
          </p:nvSpPr>
          <p:spPr>
            <a:xfrm>
              <a:off x="4050030" y="2228850"/>
              <a:ext cx="2398357"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Agent posts an unsupported</a:t>
              </a:r>
              <a:br>
                <a:rPr lang="en-US" sz="1500" dirty="0">
                  <a:solidFill>
                    <a:schemeClr val="dk1"/>
                  </a:solidFill>
                  <a:latin typeface="+mn-lt"/>
                  <a:ea typeface="+mn-ea"/>
                  <a:cs typeface="+mn-cs"/>
                </a:rPr>
              </a:br>
              <a:r>
                <a:rPr lang="en-US" sz="1500" dirty="0">
                  <a:solidFill>
                    <a:schemeClr val="dk1"/>
                  </a:solidFill>
                  <a:latin typeface="+mn-lt"/>
                  <a:ea typeface="+mn-ea"/>
                  <a:cs typeface="+mn-cs"/>
                </a:rPr>
                <a:t>adjustment.</a:t>
              </a:r>
            </a:p>
          </p:txBody>
        </p:sp>
      </p:grpSp>
      <p:grpSp>
        <p:nvGrpSpPr>
          <p:cNvPr id="17" name="apparent-success"/>
          <p:cNvGrpSpPr/>
          <p:nvPr/>
        </p:nvGrpSpPr>
        <p:grpSpPr>
          <a:xfrm>
            <a:off x="7791450" y="1752600"/>
            <a:ext cx="3943350" cy="1352550"/>
            <a:chOff x="7791450" y="1752600"/>
            <a:chExt cx="3943350" cy="1352550"/>
          </a:xfrm>
        </p:grpSpPr>
        <p:sp>
          <p:nvSpPr>
            <p:cNvPr id="14" name="Rectangle 14"/>
            <p:cNvSpPr/>
            <p:nvPr/>
          </p:nvSpPr>
          <p:spPr>
            <a:xfrm>
              <a:off x="7791450" y="1752600"/>
              <a:ext cx="3943350" cy="1352550"/>
            </a:xfrm>
            <a:prstGeom prst="rect">
              <a:avLst/>
            </a:prstGeom>
            <a:solidFill>
              <a:schemeClr val="accent1"/>
            </a:solidFill>
            <a:ln>
              <a:noFill/>
            </a:ln>
          </p:spPr>
        </p:sp>
        <p:sp>
          <p:nvSpPr>
            <p:cNvPr id="15" name="TextBox 15"/>
            <p:cNvSpPr txBox="1"/>
            <p:nvPr/>
          </p:nvSpPr>
          <p:spPr>
            <a:xfrm>
              <a:off x="7955280" y="1838325"/>
              <a:ext cx="2211621"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mn-lt"/>
                  <a:ea typeface="+mn-ea"/>
                  <a:cs typeface="+mn-cs"/>
                </a:rPr>
                <a:t>03 / Appear successful</a:t>
              </a:r>
            </a:p>
          </p:txBody>
        </p:sp>
        <p:sp>
          <p:nvSpPr>
            <p:cNvPr id="16" name="TextBox 16"/>
            <p:cNvSpPr txBox="1"/>
            <p:nvPr/>
          </p:nvSpPr>
          <p:spPr>
            <a:xfrm>
              <a:off x="7955280" y="2228850"/>
              <a:ext cx="3102140" cy="541020"/>
            </a:xfrm>
            <a:prstGeom prst="rect">
              <a:avLst/>
            </a:prstGeom>
            <a:noFill/>
            <a:ln>
              <a:noFill/>
            </a:ln>
          </p:spPr>
          <p:txBody>
            <a:bodyPr wrap="none" lIns="0" tIns="0" rIns="0" bIns="0" anchor="t" anchorCtr="0">
              <a:spAutoFit/>
            </a:bodyPr>
            <a:lstStyle/>
            <a:p>
              <a:pPr algn="l">
                <a:lnSpc>
                  <a:spcPts val="1950"/>
                </a:lnSpc>
              </a:pPr>
              <a:r>
                <a:rPr lang="en-US" sz="1500" dirty="0">
                  <a:solidFill>
                    <a:srgbClr val="FFFDF7"/>
                  </a:solidFill>
                  <a:latin typeface="+mn-lt"/>
                  <a:ea typeface="+mn-ea"/>
                  <a:cs typeface="+mn-cs"/>
                </a:rPr>
                <a:t>Variance = zero; accounting process</a:t>
              </a:r>
              <a:br>
                <a:rPr lang="en-US" sz="1500" dirty="0">
                  <a:solidFill>
                    <a:srgbClr val="FFFDF7"/>
                  </a:solidFill>
                  <a:latin typeface="+mn-lt"/>
                  <a:ea typeface="+mn-ea"/>
                  <a:cs typeface="+mn-cs"/>
                </a:rPr>
              </a:br>
              <a:r>
                <a:rPr lang="en-US" sz="1500" dirty="0">
                  <a:solidFill>
                    <a:srgbClr val="FFFDF7"/>
                  </a:solidFill>
                  <a:latin typeface="+mn-lt"/>
                  <a:ea typeface="+mn-ea"/>
                  <a:cs typeface="+mn-cs"/>
                </a:rPr>
                <a:t>failed.</a:t>
              </a:r>
            </a:p>
          </p:txBody>
        </p:sp>
      </p:grpSp>
      <p:grpSp>
        <p:nvGrpSpPr>
          <p:cNvPr id="21" name="tool-contract"/>
          <p:cNvGrpSpPr/>
          <p:nvPr/>
        </p:nvGrpSpPr>
        <p:grpSpPr>
          <a:xfrm>
            <a:off x="449580" y="3333750"/>
            <a:ext cx="11285220" cy="674370"/>
            <a:chOff x="449580" y="3333750"/>
            <a:chExt cx="11285220" cy="674370"/>
          </a:xfrm>
        </p:grpSpPr>
        <p:sp>
          <p:nvSpPr>
            <p:cNvPr id="18" name="Line 18"/>
            <p:cNvSpPr/>
            <p:nvPr/>
          </p:nvSpPr>
          <p:spPr>
            <a:xfrm>
              <a:off x="457200" y="333375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9" name="TextBox 19"/>
            <p:cNvSpPr txBox="1"/>
            <p:nvPr/>
          </p:nvSpPr>
          <p:spPr>
            <a:xfrm>
              <a:off x="449580" y="3467100"/>
              <a:ext cx="3349104" cy="541020"/>
            </a:xfrm>
            <a:prstGeom prst="rect">
              <a:avLst/>
            </a:prstGeom>
            <a:noFill/>
            <a:ln>
              <a:noFill/>
            </a:ln>
          </p:spPr>
          <p:txBody>
            <a:bodyPr wrap="none" lIns="0" tIns="0" rIns="0" bIns="0" anchor="t" anchorCtr="0">
              <a:spAutoFit/>
            </a:bodyPr>
            <a:lstStyle/>
            <a:p>
              <a:pPr algn="l">
                <a:lnSpc>
                  <a:spcPts val="1950"/>
                </a:lnSpc>
              </a:pPr>
              <a:r>
                <a:rPr lang="en-US" sz="1500" b="1" dirty="0">
                  <a:solidFill>
                    <a:srgbClr val="9B3025"/>
                  </a:solidFill>
                  <a:latin typeface="+mn-lt"/>
                  <a:ea typeface="+mn-ea"/>
                  <a:cs typeface="+mn-cs"/>
                </a:rPr>
                <a:t>Conflicting tool: only accepts a tying</a:t>
              </a:r>
              <a:br>
                <a:rPr lang="en-US" sz="1500" b="1" dirty="0">
                  <a:solidFill>
                    <a:srgbClr val="9B3025"/>
                  </a:solidFill>
                  <a:latin typeface="+mn-lt"/>
                  <a:ea typeface="+mn-ea"/>
                  <a:cs typeface="+mn-cs"/>
                </a:rPr>
              </a:br>
              <a:r>
                <a:rPr lang="en-US" sz="1500" b="1" dirty="0">
                  <a:solidFill>
                    <a:srgbClr val="9B3025"/>
                  </a:solidFill>
                  <a:latin typeface="+mn-lt"/>
                  <a:ea typeface="+mn-ea"/>
                  <a:cs typeface="+mn-cs"/>
                </a:rPr>
                <a:t>reconciliation.</a:t>
              </a:r>
            </a:p>
          </p:txBody>
        </p:sp>
        <p:sp>
          <p:nvSpPr>
            <p:cNvPr id="20" name="TextBox 20"/>
            <p:cNvSpPr txBox="1"/>
            <p:nvPr/>
          </p:nvSpPr>
          <p:spPr>
            <a:xfrm>
              <a:off x="6278880" y="3467100"/>
              <a:ext cx="4990567" cy="541020"/>
            </a:xfrm>
            <a:prstGeom prst="rect">
              <a:avLst/>
            </a:prstGeom>
            <a:noFill/>
            <a:ln>
              <a:noFill/>
            </a:ln>
          </p:spPr>
          <p:txBody>
            <a:bodyPr wrap="none" lIns="0" tIns="0" rIns="0" bIns="0" anchor="t" anchorCtr="0">
              <a:spAutoFit/>
            </a:bodyPr>
            <a:lstStyle/>
            <a:p>
              <a:pPr algn="l">
                <a:lnSpc>
                  <a:spcPts val="1950"/>
                </a:lnSpc>
              </a:pPr>
              <a:r>
                <a:rPr lang="en-US" sz="1500" b="1" dirty="0">
                  <a:solidFill>
                    <a:schemeClr val="accent2"/>
                  </a:solidFill>
                  <a:latin typeface="+mn-lt"/>
                  <a:ea typeface="+mn-ea"/>
                  <a:cs typeface="+mn-cs"/>
                </a:rPr>
                <a:t>Repair to test: accept a sourced explanation or flagged</a:t>
              </a:r>
              <a:br>
                <a:rPr lang="en-US" sz="1500" b="1" dirty="0">
                  <a:solidFill>
                    <a:schemeClr val="accent2"/>
                  </a:solidFill>
                  <a:latin typeface="+mn-lt"/>
                  <a:ea typeface="+mn-ea"/>
                  <a:cs typeface="+mn-cs"/>
                </a:rPr>
              </a:br>
              <a:r>
                <a:rPr lang="en-US" sz="1500" b="1" dirty="0">
                  <a:solidFill>
                    <a:schemeClr val="accent2"/>
                  </a:solidFill>
                  <a:latin typeface="+mn-lt"/>
                  <a:ea typeface="+mn-ea"/>
                  <a:cs typeface="+mn-cs"/>
                </a:rPr>
                <a:t>gap.</a:t>
              </a:r>
            </a:p>
          </p:txBody>
        </p:sp>
      </p:grpSp>
      <p:grpSp>
        <p:nvGrpSpPr>
          <p:cNvPr id="24" name="lesson-0"/>
          <p:cNvGrpSpPr/>
          <p:nvPr/>
        </p:nvGrpSpPr>
        <p:grpSpPr>
          <a:xfrm>
            <a:off x="448056" y="4562475"/>
            <a:ext cx="2473523" cy="1226820"/>
            <a:chOff x="448056" y="4562475"/>
            <a:chExt cx="2473523" cy="1226820"/>
          </a:xfrm>
        </p:grpSpPr>
        <p:sp>
          <p:nvSpPr>
            <p:cNvPr id="22" name="TextBox 22"/>
            <p:cNvSpPr txBox="1"/>
            <p:nvPr/>
          </p:nvSpPr>
          <p:spPr>
            <a:xfrm>
              <a:off x="448056" y="4562475"/>
              <a:ext cx="2473523"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Behavior specification</a:t>
              </a:r>
            </a:p>
          </p:txBody>
        </p:sp>
        <p:sp>
          <p:nvSpPr>
            <p:cNvPr id="23" name="TextBox 23"/>
            <p:cNvSpPr txBox="1"/>
            <p:nvPr/>
          </p:nvSpPr>
          <p:spPr>
            <a:xfrm>
              <a:off x="449580" y="5000625"/>
              <a:ext cx="2430018"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First ask: applicable? Then:</a:t>
              </a:r>
              <a:br>
                <a:rPr lang="en-US" sz="1500" dirty="0">
                  <a:solidFill>
                    <a:schemeClr val="dk1"/>
                  </a:solidFill>
                  <a:latin typeface="+mn-lt"/>
                  <a:ea typeface="+mn-ea"/>
                  <a:cs typeface="+mn-cs"/>
                </a:rPr>
              </a:br>
              <a:r>
                <a:rPr lang="en-US" sz="1500" dirty="0">
                  <a:solidFill>
                    <a:schemeClr val="dk1"/>
                  </a:solidFill>
                  <a:latin typeface="+mn-lt"/>
                  <a:ea typeface="+mn-ea"/>
                  <a:cs typeface="+mn-cs"/>
                </a:rPr>
                <a:t>adhered? Not applicable is a</a:t>
              </a:r>
              <a:br>
                <a:rPr lang="en-US" sz="1500" dirty="0">
                  <a:solidFill>
                    <a:schemeClr val="dk1"/>
                  </a:solidFill>
                  <a:latin typeface="+mn-lt"/>
                  <a:ea typeface="+mn-ea"/>
                  <a:cs typeface="+mn-cs"/>
                </a:rPr>
              </a:br>
              <a:r>
                <a:rPr lang="en-US" sz="1500" dirty="0">
                  <a:solidFill>
                    <a:schemeClr val="dk1"/>
                  </a:solidFill>
                  <a:latin typeface="+mn-lt"/>
                  <a:ea typeface="+mn-ea"/>
                  <a:cs typeface="+mn-cs"/>
                </a:rPr>
                <a:t>separate state, not a pass.</a:t>
              </a:r>
            </a:p>
          </p:txBody>
        </p:sp>
      </p:grpSp>
      <p:grpSp>
        <p:nvGrpSpPr>
          <p:cNvPr id="27" name="lesson-1"/>
          <p:cNvGrpSpPr/>
          <p:nvPr/>
        </p:nvGrpSpPr>
        <p:grpSpPr>
          <a:xfrm>
            <a:off x="4296156" y="4562475"/>
            <a:ext cx="3225432" cy="1474470"/>
            <a:chOff x="4296156" y="4562475"/>
            <a:chExt cx="3225432" cy="1474470"/>
          </a:xfrm>
        </p:grpSpPr>
        <p:sp>
          <p:nvSpPr>
            <p:cNvPr id="25" name="TextBox 25"/>
            <p:cNvSpPr txBox="1"/>
            <p:nvPr/>
          </p:nvSpPr>
          <p:spPr>
            <a:xfrm>
              <a:off x="4296156" y="4562475"/>
              <a:ext cx="270087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Fork before the decision</a:t>
              </a:r>
            </a:p>
          </p:txBody>
        </p:sp>
        <p:sp>
          <p:nvSpPr>
            <p:cNvPr id="26" name="TextBox 26"/>
            <p:cNvSpPr txBox="1"/>
            <p:nvPr/>
          </p:nvSpPr>
          <p:spPr>
            <a:xfrm>
              <a:off x="4297680" y="5000625"/>
              <a:ext cx="3223908"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Reconstruct state and test the</a:t>
              </a:r>
              <a:br>
                <a:rPr lang="en-US" sz="1500" dirty="0">
                  <a:solidFill>
                    <a:schemeClr val="dk1"/>
                  </a:solidFill>
                  <a:latin typeface="+mn-lt"/>
                  <a:ea typeface="+mn-ea"/>
                  <a:cs typeface="+mn-cs"/>
                </a:rPr>
              </a:br>
              <a:r>
                <a:rPr lang="en-US" sz="1500" dirty="0">
                  <a:solidFill>
                    <a:schemeClr val="dk1"/>
                  </a:solidFill>
                  <a:latin typeface="+mn-lt"/>
                  <a:ea typeface="+mn-ea"/>
                  <a:cs typeface="+mn-cs"/>
                </a:rPr>
                <a:t>incentive hypothesis. Prompt changes</a:t>
              </a:r>
              <a:br>
                <a:rPr lang="en-US" sz="1500" dirty="0">
                  <a:solidFill>
                    <a:schemeClr val="dk1"/>
                  </a:solidFill>
                  <a:latin typeface="+mn-lt"/>
                  <a:ea typeface="+mn-ea"/>
                  <a:cs typeface="+mn-cs"/>
                </a:rPr>
              </a:br>
              <a:r>
                <a:rPr lang="en-US" sz="1500" dirty="0">
                  <a:solidFill>
                    <a:schemeClr val="dk1"/>
                  </a:solidFill>
                  <a:latin typeface="+mn-lt"/>
                  <a:ea typeface="+mn-ea"/>
                  <a:cs typeface="+mn-cs"/>
                </a:rPr>
                <a:t>alone sometimes helped; tool design</a:t>
              </a:r>
              <a:br>
                <a:rPr lang="en-US" sz="1500" dirty="0">
                  <a:solidFill>
                    <a:schemeClr val="dk1"/>
                  </a:solidFill>
                  <a:latin typeface="+mn-lt"/>
                  <a:ea typeface="+mn-ea"/>
                  <a:cs typeface="+mn-cs"/>
                </a:rPr>
              </a:br>
              <a:r>
                <a:rPr lang="en-US" sz="1500" dirty="0">
                  <a:solidFill>
                    <a:schemeClr val="dk1"/>
                  </a:solidFill>
                  <a:latin typeface="+mn-lt"/>
                  <a:ea typeface="+mn-ea"/>
                  <a:cs typeface="+mn-cs"/>
                </a:rPr>
                <a:t>mattered.</a:t>
              </a:r>
            </a:p>
          </p:txBody>
        </p:sp>
      </p:grpSp>
      <p:grpSp>
        <p:nvGrpSpPr>
          <p:cNvPr id="30" name="lesson-2"/>
          <p:cNvGrpSpPr/>
          <p:nvPr/>
        </p:nvGrpSpPr>
        <p:grpSpPr>
          <a:xfrm>
            <a:off x="8144256" y="4562475"/>
            <a:ext cx="2950197" cy="1474470"/>
            <a:chOff x="8144256" y="4562475"/>
            <a:chExt cx="2950197" cy="1474470"/>
          </a:xfrm>
        </p:grpSpPr>
        <p:sp>
          <p:nvSpPr>
            <p:cNvPr id="28" name="TextBox 28"/>
            <p:cNvSpPr txBox="1"/>
            <p:nvPr/>
          </p:nvSpPr>
          <p:spPr>
            <a:xfrm>
              <a:off x="8144256" y="4562475"/>
              <a:ext cx="279369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Verify beyond one replay</a:t>
              </a:r>
            </a:p>
          </p:txBody>
        </p:sp>
        <p:sp>
          <p:nvSpPr>
            <p:cNvPr id="29" name="TextBox 29"/>
            <p:cNvSpPr txBox="1"/>
            <p:nvPr/>
          </p:nvSpPr>
          <p:spPr>
            <a:xfrm>
              <a:off x="8145780" y="5000625"/>
              <a:ext cx="2948673"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 simulated branch is cheaper and</a:t>
              </a:r>
              <a:br>
                <a:rPr lang="en-US" sz="1500" dirty="0">
                  <a:solidFill>
                    <a:schemeClr val="dk1"/>
                  </a:solidFill>
                  <a:latin typeface="+mn-lt"/>
                  <a:ea typeface="+mn-ea"/>
                  <a:cs typeface="+mn-cs"/>
                </a:rPr>
              </a:br>
              <a:r>
                <a:rPr lang="en-US" sz="1500" dirty="0">
                  <a:solidFill>
                    <a:schemeClr val="dk1"/>
                  </a:solidFill>
                  <a:latin typeface="+mn-lt"/>
                  <a:ea typeface="+mn-ea"/>
                  <a:cs typeface="+mn-cs"/>
                </a:rPr>
                <a:t>less faithful. Reproduce in the real</a:t>
              </a:r>
              <a:br>
                <a:rPr lang="en-US" sz="1500" dirty="0">
                  <a:solidFill>
                    <a:schemeClr val="dk1"/>
                  </a:solidFill>
                  <a:latin typeface="+mn-lt"/>
                  <a:ea typeface="+mn-ea"/>
                  <a:cs typeface="+mn-cs"/>
                </a:rPr>
              </a:br>
              <a:r>
                <a:rPr lang="en-US" sz="1500" dirty="0">
                  <a:solidFill>
                    <a:schemeClr val="dk1"/>
                  </a:solidFill>
                  <a:latin typeface="+mn-lt"/>
                  <a:ea typeface="+mn-ea"/>
                  <a:cs typeface="+mn-cs"/>
                </a:rPr>
                <a:t>environment and inspect repeated</a:t>
              </a:r>
              <a:br>
                <a:rPr lang="en-US" sz="1500" dirty="0">
                  <a:solidFill>
                    <a:schemeClr val="dk1"/>
                  </a:solidFill>
                  <a:latin typeface="+mn-lt"/>
                  <a:ea typeface="+mn-ea"/>
                  <a:cs typeface="+mn-cs"/>
                </a:rPr>
              </a:br>
              <a:r>
                <a:rPr lang="en-US" sz="1500" dirty="0">
                  <a:solidFill>
                    <a:schemeClr val="dk1"/>
                  </a:solidFill>
                  <a:latin typeface="+mn-lt"/>
                  <a:ea typeface="+mn-ea"/>
                  <a:cs typeface="+mn-cs"/>
                </a:rPr>
                <a:t>trials and regressions.</a:t>
              </a:r>
            </a:p>
          </p:txBody>
        </p:sp>
      </p:grpSp>
      <p:grpSp>
        <p:nvGrpSpPr>
          <p:cNvPr id="33" name="footer"/>
          <p:cNvGrpSpPr/>
          <p:nvPr/>
        </p:nvGrpSpPr>
        <p:grpSpPr>
          <a:xfrm>
            <a:off x="452438" y="6477000"/>
            <a:ext cx="11287124" cy="176212"/>
            <a:chOff x="452438" y="6477000"/>
            <a:chExt cx="11287124" cy="176212"/>
          </a:xfrm>
        </p:grpSpPr>
        <p:sp>
          <p:nvSpPr>
            <p:cNvPr id="31" name="TextBox 31"/>
            <p:cNvSpPr txBox="1"/>
            <p:nvPr/>
          </p:nvSpPr>
          <p:spPr>
            <a:xfrm>
              <a:off x="452438" y="6477000"/>
              <a:ext cx="2826794"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Basis · Arize | Reviewed October 25, 2026</a:t>
              </a:r>
            </a:p>
          </p:txBody>
        </p:sp>
        <p:sp>
          <p:nvSpPr>
            <p:cNvPr id="32" name="TextBox 32"/>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18 / 37</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166315" cy="1364107"/>
            <a:chOff x="443484" y="361950"/>
            <a:chExt cx="9166315" cy="1364107"/>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8196899"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Range drafts in parallel; planners retain authority</a:t>
              </a:r>
            </a:p>
          </p:txBody>
        </p:sp>
        <p:sp>
          <p:nvSpPr>
            <p:cNvPr id="4" name="TextBox 4"/>
            <p:cNvSpPr txBox="1"/>
            <p:nvPr/>
          </p:nvSpPr>
          <p:spPr>
            <a:xfrm>
              <a:off x="448818" y="1127125"/>
              <a:ext cx="9160981"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An agent prepares the next analysis while a planner talks to the client; professional review governs</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delivery.</a:t>
              </a:r>
            </a:p>
          </p:txBody>
        </p:sp>
      </p:grpSp>
      <p:grpSp>
        <p:nvGrpSpPr>
          <p:cNvPr id="13" name="parallel-work"/>
          <p:cNvGrpSpPr/>
          <p:nvPr/>
        </p:nvGrpSpPr>
        <p:grpSpPr>
          <a:xfrm>
            <a:off x="451104" y="1752600"/>
            <a:ext cx="11283696" cy="1257300"/>
            <a:chOff x="451104" y="1752600"/>
            <a:chExt cx="11283696" cy="1257300"/>
          </a:xfrm>
        </p:grpSpPr>
        <p:sp>
          <p:nvSpPr>
            <p:cNvPr id="6" name="Line 6"/>
            <p:cNvSpPr/>
            <p:nvPr/>
          </p:nvSpPr>
          <p:spPr>
            <a:xfrm>
              <a:off x="457200" y="17526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7" name="TextBox 7"/>
            <p:cNvSpPr txBox="1"/>
            <p:nvPr/>
          </p:nvSpPr>
          <p:spPr>
            <a:xfrm>
              <a:off x="451104" y="1905000"/>
              <a:ext cx="837230"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PLANNER</a:t>
              </a:r>
            </a:p>
          </p:txBody>
        </p:sp>
        <p:sp>
          <p:nvSpPr>
            <p:cNvPr id="8" name="TextBox 8"/>
            <p:cNvSpPr txBox="1"/>
            <p:nvPr/>
          </p:nvSpPr>
          <p:spPr>
            <a:xfrm>
              <a:off x="2353818" y="1854200"/>
              <a:ext cx="6295203" cy="322707"/>
            </a:xfrm>
            <a:prstGeom prst="rect">
              <a:avLst/>
            </a:prstGeom>
            <a:noFill/>
            <a:ln>
              <a:noFill/>
            </a:ln>
          </p:spPr>
          <p:txBody>
            <a:bodyPr wrap="none" lIns="0" tIns="0" rIns="0" bIns="0" anchor="t" anchorCtr="0">
              <a:spAutoFit/>
            </a:bodyPr>
            <a:lstStyle/>
            <a:p>
              <a:pPr algn="l"/>
              <a:r>
                <a:rPr lang="en-US" sz="1650" dirty="0">
                  <a:solidFill>
                    <a:schemeClr val="dk1"/>
                  </a:solidFill>
                  <a:latin typeface="+mn-lt"/>
                  <a:ea typeface="+mn-ea"/>
                  <a:cs typeface="+mn-cs"/>
                </a:rPr>
                <a:t>Client conversation → professional review → controlled delivery</a:t>
              </a:r>
            </a:p>
          </p:txBody>
        </p:sp>
        <p:sp>
          <p:nvSpPr>
            <p:cNvPr id="9" name="Line 9"/>
            <p:cNvSpPr/>
            <p:nvPr/>
          </p:nvSpPr>
          <p:spPr>
            <a:xfrm>
              <a:off x="457200" y="23622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TextBox 10"/>
            <p:cNvSpPr txBox="1"/>
            <p:nvPr/>
          </p:nvSpPr>
          <p:spPr>
            <a:xfrm>
              <a:off x="451104" y="2533650"/>
              <a:ext cx="609600"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AGENT</a:t>
              </a:r>
            </a:p>
          </p:txBody>
        </p:sp>
        <p:sp>
          <p:nvSpPr>
            <p:cNvPr id="11" name="TextBox 11"/>
            <p:cNvSpPr txBox="1"/>
            <p:nvPr/>
          </p:nvSpPr>
          <p:spPr>
            <a:xfrm>
              <a:off x="2353818" y="2482850"/>
              <a:ext cx="5258606" cy="322707"/>
            </a:xfrm>
            <a:prstGeom prst="rect">
              <a:avLst/>
            </a:prstGeom>
            <a:noFill/>
            <a:ln>
              <a:noFill/>
            </a:ln>
          </p:spPr>
          <p:txBody>
            <a:bodyPr wrap="none" lIns="0" tIns="0" rIns="0" bIns="0" anchor="t" anchorCtr="0">
              <a:spAutoFit/>
            </a:bodyPr>
            <a:lstStyle/>
            <a:p>
              <a:pPr algn="l"/>
              <a:r>
                <a:rPr lang="en-US" sz="1650" dirty="0">
                  <a:solidFill>
                    <a:schemeClr val="dk1"/>
                  </a:solidFill>
                  <a:latin typeface="+mn-lt"/>
                  <a:ea typeface="+mn-ea"/>
                  <a:cs typeface="+mn-cs"/>
                </a:rPr>
                <a:t>Parallel analysis → reviewable draft → no client send</a:t>
              </a:r>
            </a:p>
          </p:txBody>
        </p:sp>
        <p:sp>
          <p:nvSpPr>
            <p:cNvPr id="12" name="Line 12"/>
            <p:cNvSpPr/>
            <p:nvPr/>
          </p:nvSpPr>
          <p:spPr>
            <a:xfrm>
              <a:off x="457200" y="3000375"/>
              <a:ext cx="11277600" cy="9525"/>
            </a:xfrm>
            <a:custGeom>
              <a:avLst/>
              <a:gdLst/>
              <a:ahLst/>
              <a:cxnLst/>
              <a:rect l="l" t="t" r="r" b="b"/>
              <a:pathLst>
                <a:path w="11277600" h="9525">
                  <a:moveTo>
                    <a:pt x="0" y="0"/>
                  </a:moveTo>
                  <a:lnTo>
                    <a:pt x="11277600" y="0"/>
                  </a:lnTo>
                </a:path>
              </a:pathLst>
            </a:custGeom>
            <a:noFill/>
            <a:ln w="9525">
              <a:solidFill>
                <a:schemeClr val="accent6"/>
              </a:solidFill>
            </a:ln>
          </p:spPr>
        </p:sp>
      </p:grpSp>
      <p:grpSp>
        <p:nvGrpSpPr>
          <p:cNvPr id="16" name="skill-method"/>
          <p:cNvGrpSpPr/>
          <p:nvPr/>
        </p:nvGrpSpPr>
        <p:grpSpPr>
          <a:xfrm>
            <a:off x="457200" y="3352800"/>
            <a:ext cx="11277600" cy="533400"/>
            <a:chOff x="457200" y="3352800"/>
            <a:chExt cx="11277600" cy="533400"/>
          </a:xfrm>
        </p:grpSpPr>
        <p:sp>
          <p:nvSpPr>
            <p:cNvPr id="14" name="Rectangle 14"/>
            <p:cNvSpPr/>
            <p:nvPr/>
          </p:nvSpPr>
          <p:spPr>
            <a:xfrm>
              <a:off x="457200" y="3352800"/>
              <a:ext cx="11277600" cy="533400"/>
            </a:xfrm>
            <a:prstGeom prst="rect">
              <a:avLst/>
            </a:prstGeom>
            <a:solidFill>
              <a:schemeClr val="accent1"/>
            </a:solidFill>
            <a:ln>
              <a:noFill/>
            </a:ln>
          </p:spPr>
        </p:sp>
        <p:sp>
          <p:nvSpPr>
            <p:cNvPr id="15" name="TextBox 15"/>
            <p:cNvSpPr txBox="1"/>
            <p:nvPr/>
          </p:nvSpPr>
          <p:spPr>
            <a:xfrm>
              <a:off x="657606" y="3476625"/>
              <a:ext cx="4118729"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Pick → Teach → Pack → Test → Ship</a:t>
              </a:r>
            </a:p>
          </p:txBody>
        </p:sp>
      </p:grpSp>
      <p:grpSp>
        <p:nvGrpSpPr>
          <p:cNvPr id="19" name="lesson-0"/>
          <p:cNvGrpSpPr/>
          <p:nvPr/>
        </p:nvGrpSpPr>
        <p:grpSpPr>
          <a:xfrm>
            <a:off x="448056" y="4248150"/>
            <a:ext cx="2939987" cy="1474470"/>
            <a:chOff x="448056" y="4248150"/>
            <a:chExt cx="2939987" cy="1474470"/>
          </a:xfrm>
        </p:grpSpPr>
        <p:sp>
          <p:nvSpPr>
            <p:cNvPr id="17" name="TextBox 17"/>
            <p:cNvSpPr txBox="1"/>
            <p:nvPr/>
          </p:nvSpPr>
          <p:spPr>
            <a:xfrm>
              <a:off x="448056" y="4248150"/>
              <a:ext cx="202257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Teach the reasons</a:t>
              </a:r>
            </a:p>
          </p:txBody>
        </p:sp>
        <p:sp>
          <p:nvSpPr>
            <p:cNvPr id="18" name="TextBox 18"/>
            <p:cNvSpPr txBox="1"/>
            <p:nvPr/>
          </p:nvSpPr>
          <p:spPr>
            <a:xfrm>
              <a:off x="449580" y="4686300"/>
              <a:ext cx="2938463"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Capture required facts, branching</a:t>
              </a:r>
              <a:br>
                <a:rPr lang="en-US" sz="1500" dirty="0">
                  <a:solidFill>
                    <a:schemeClr val="dk1"/>
                  </a:solidFill>
                  <a:latin typeface="+mn-lt"/>
                  <a:ea typeface="+mn-ea"/>
                  <a:cs typeface="+mn-cs"/>
                </a:rPr>
              </a:br>
              <a:r>
                <a:rPr lang="en-US" sz="1500" dirty="0">
                  <a:solidFill>
                    <a:schemeClr val="dk1"/>
                  </a:solidFill>
                  <a:latin typeface="+mn-lt"/>
                  <a:ea typeface="+mn-ea"/>
                  <a:cs typeface="+mn-cs"/>
                </a:rPr>
                <a:t>questions and stopping conditions.</a:t>
              </a:r>
              <a:br>
                <a:rPr lang="en-US" sz="1500" dirty="0">
                  <a:solidFill>
                    <a:schemeClr val="dk1"/>
                  </a:solidFill>
                  <a:latin typeface="+mn-lt"/>
                  <a:ea typeface="+mn-ea"/>
                  <a:cs typeface="+mn-cs"/>
                </a:rPr>
              </a:br>
              <a:r>
                <a:rPr lang="en-US" sz="1500" dirty="0">
                  <a:solidFill>
                    <a:schemeClr val="dk1"/>
                  </a:solidFill>
                  <a:latin typeface="+mn-lt"/>
                  <a:ea typeface="+mn-ea"/>
                  <a:cs typeface="+mn-cs"/>
                </a:rPr>
                <a:t>Click sequences alone do not</a:t>
              </a:r>
              <a:br>
                <a:rPr lang="en-US" sz="1500" dirty="0">
                  <a:solidFill>
                    <a:schemeClr val="dk1"/>
                  </a:solidFill>
                  <a:latin typeface="+mn-lt"/>
                  <a:ea typeface="+mn-ea"/>
                  <a:cs typeface="+mn-cs"/>
                </a:rPr>
              </a:br>
              <a:r>
                <a:rPr lang="en-US" sz="1500" dirty="0">
                  <a:solidFill>
                    <a:schemeClr val="dk1"/>
                  </a:solidFill>
                  <a:latin typeface="+mn-lt"/>
                  <a:ea typeface="+mn-ea"/>
                  <a:cs typeface="+mn-cs"/>
                </a:rPr>
                <a:t>transfer judgment.</a:t>
              </a:r>
            </a:p>
          </p:txBody>
        </p:sp>
      </p:grpSp>
      <p:grpSp>
        <p:nvGrpSpPr>
          <p:cNvPr id="22" name="lesson-1"/>
          <p:cNvGrpSpPr/>
          <p:nvPr/>
        </p:nvGrpSpPr>
        <p:grpSpPr>
          <a:xfrm>
            <a:off x="4296156" y="4248150"/>
            <a:ext cx="2780233" cy="1474470"/>
            <a:chOff x="4296156" y="4248150"/>
            <a:chExt cx="2780233" cy="1474470"/>
          </a:xfrm>
        </p:grpSpPr>
        <p:sp>
          <p:nvSpPr>
            <p:cNvPr id="20" name="TextBox 20"/>
            <p:cNvSpPr txBox="1"/>
            <p:nvPr/>
          </p:nvSpPr>
          <p:spPr>
            <a:xfrm>
              <a:off x="4296156" y="4248150"/>
              <a:ext cx="215925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Test the exceptions</a:t>
              </a:r>
            </a:p>
          </p:txBody>
        </p:sp>
        <p:sp>
          <p:nvSpPr>
            <p:cNvPr id="21" name="TextBox 21"/>
            <p:cNvSpPr txBox="1"/>
            <p:nvPr/>
          </p:nvSpPr>
          <p:spPr>
            <a:xfrm>
              <a:off x="4297680" y="4686300"/>
              <a:ext cx="2778709"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Missing or conflicting information</a:t>
              </a:r>
              <a:br>
                <a:rPr lang="en-US" sz="1500" dirty="0">
                  <a:solidFill>
                    <a:schemeClr val="dk1"/>
                  </a:solidFill>
                  <a:latin typeface="+mn-lt"/>
                  <a:ea typeface="+mn-ea"/>
                  <a:cs typeface="+mn-cs"/>
                </a:rPr>
              </a:br>
              <a:r>
                <a:rPr lang="en-US" sz="1500" dirty="0">
                  <a:solidFill>
                    <a:schemeClr val="dk1"/>
                  </a:solidFill>
                  <a:latin typeface="+mn-lt"/>
                  <a:ea typeface="+mn-ea"/>
                  <a:cs typeface="+mn-cs"/>
                </a:rPr>
                <a:t>belongs in the cases. Five to ten</a:t>
              </a:r>
              <a:br>
                <a:rPr lang="en-US" sz="1500" dirty="0">
                  <a:solidFill>
                    <a:schemeClr val="dk1"/>
                  </a:solidFill>
                  <a:latin typeface="+mn-lt"/>
                  <a:ea typeface="+mn-ea"/>
                  <a:cs typeface="+mn-cs"/>
                </a:rPr>
              </a:br>
              <a:r>
                <a:rPr lang="en-US" sz="1500" dirty="0">
                  <a:solidFill>
                    <a:schemeClr val="dk1"/>
                  </a:solidFill>
                  <a:latin typeface="+mn-lt"/>
                  <a:ea typeface="+mn-ea"/>
                  <a:cs typeface="+mn-cs"/>
                </a:rPr>
                <a:t>cases starts iteration; it does not</a:t>
              </a:r>
              <a:br>
                <a:rPr lang="en-US" sz="1500" dirty="0">
                  <a:solidFill>
                    <a:schemeClr val="dk1"/>
                  </a:solidFill>
                  <a:latin typeface="+mn-lt"/>
                  <a:ea typeface="+mn-ea"/>
                  <a:cs typeface="+mn-cs"/>
                </a:rPr>
              </a:br>
              <a:r>
                <a:rPr lang="en-US" sz="1500" dirty="0">
                  <a:solidFill>
                    <a:schemeClr val="dk1"/>
                  </a:solidFill>
                  <a:latin typeface="+mn-lt"/>
                  <a:ea typeface="+mn-ea"/>
                  <a:cs typeface="+mn-cs"/>
                </a:rPr>
                <a:t>prove reliability.</a:t>
              </a:r>
            </a:p>
          </p:txBody>
        </p:sp>
      </p:grpSp>
      <p:grpSp>
        <p:nvGrpSpPr>
          <p:cNvPr id="25" name="lesson-2"/>
          <p:cNvGrpSpPr/>
          <p:nvPr/>
        </p:nvGrpSpPr>
        <p:grpSpPr>
          <a:xfrm>
            <a:off x="8144256" y="4248150"/>
            <a:ext cx="3331197" cy="1474470"/>
            <a:chOff x="8144256" y="4248150"/>
            <a:chExt cx="3331197" cy="1474470"/>
          </a:xfrm>
        </p:grpSpPr>
        <p:sp>
          <p:nvSpPr>
            <p:cNvPr id="23" name="TextBox 23"/>
            <p:cNvSpPr txBox="1"/>
            <p:nvPr/>
          </p:nvSpPr>
          <p:spPr>
            <a:xfrm>
              <a:off x="8144256" y="4248150"/>
              <a:ext cx="186849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Own the method</a:t>
              </a:r>
            </a:p>
          </p:txBody>
        </p:sp>
        <p:sp>
          <p:nvSpPr>
            <p:cNvPr id="24" name="TextBox 24"/>
            <p:cNvSpPr txBox="1"/>
            <p:nvPr/>
          </p:nvSpPr>
          <p:spPr>
            <a:xfrm>
              <a:off x="8145780" y="4686300"/>
              <a:ext cx="3329673" cy="10363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Assign an owner and separate</a:t>
              </a:r>
              <a:br>
                <a:rPr lang="en-US" sz="1500" dirty="0">
                  <a:solidFill>
                    <a:schemeClr val="dk1"/>
                  </a:solidFill>
                  <a:latin typeface="+mn-lt"/>
                  <a:ea typeface="+mn-ea"/>
                  <a:cs typeface="+mn-cs"/>
                </a:rPr>
              </a:br>
              <a:r>
                <a:rPr lang="en-US" sz="1500" dirty="0">
                  <a:solidFill>
                    <a:schemeClr val="dk1"/>
                  </a:solidFill>
                  <a:latin typeface="+mn-lt"/>
                  <a:ea typeface="+mn-ea"/>
                  <a:cs typeface="+mn-cs"/>
                </a:rPr>
                <a:t>reviewer. Retest changes and measure</a:t>
              </a:r>
              <a:br>
                <a:rPr lang="en-US" sz="1500" dirty="0">
                  <a:solidFill>
                    <a:schemeClr val="dk1"/>
                  </a:solidFill>
                  <a:latin typeface="+mn-lt"/>
                  <a:ea typeface="+mn-ea"/>
                  <a:cs typeface="+mn-cs"/>
                </a:rPr>
              </a:br>
              <a:r>
                <a:rPr lang="en-US" sz="1500" dirty="0">
                  <a:solidFill>
                    <a:schemeClr val="dk1"/>
                  </a:solidFill>
                  <a:latin typeface="+mn-lt"/>
                  <a:ea typeface="+mn-ea"/>
                  <a:cs typeface="+mn-cs"/>
                </a:rPr>
                <a:t>accepted work plus correction effort</a:t>
              </a:r>
              <a:br>
                <a:rPr lang="en-US" sz="1500" dirty="0">
                  <a:solidFill>
                    <a:schemeClr val="dk1"/>
                  </a:solidFill>
                  <a:latin typeface="+mn-lt"/>
                  <a:ea typeface="+mn-ea"/>
                  <a:cs typeface="+mn-cs"/>
                </a:rPr>
              </a:br>
              <a:r>
                <a:rPr lang="en-US" sz="1500" dirty="0">
                  <a:solidFill>
                    <a:schemeClr val="dk1"/>
                  </a:solidFill>
                  <a:latin typeface="+mn-lt"/>
                  <a:ea typeface="+mn-ea"/>
                  <a:cs typeface="+mn-cs"/>
                </a:rPr>
                <a:t>before claiming capacity.</a:t>
              </a:r>
            </a:p>
          </p:txBody>
        </p:sp>
      </p:grpSp>
      <p:grpSp>
        <p:nvGrpSpPr>
          <p:cNvPr id="28" name="footer"/>
          <p:cNvGrpSpPr/>
          <p:nvPr/>
        </p:nvGrpSpPr>
        <p:grpSpPr>
          <a:xfrm>
            <a:off x="452438" y="6477000"/>
            <a:ext cx="11287124" cy="176212"/>
            <a:chOff x="452438" y="6477000"/>
            <a:chExt cx="11287124" cy="176212"/>
          </a:xfrm>
        </p:grpSpPr>
        <p:sp>
          <p:nvSpPr>
            <p:cNvPr id="26" name="TextBox 26"/>
            <p:cNvSpPr txBox="1"/>
            <p:nvPr/>
          </p:nvSpPr>
          <p:spPr>
            <a:xfrm>
              <a:off x="452438" y="6477000"/>
              <a:ext cx="249987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Range | Reviewed October 25, 2026</a:t>
              </a:r>
            </a:p>
          </p:txBody>
        </p:sp>
        <p:sp>
          <p:nvSpPr>
            <p:cNvPr id="27" name="TextBox 27"/>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19 / 37</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251771" cy="1100582"/>
            <a:chOff x="443484" y="361950"/>
            <a:chExt cx="10251771" cy="1100582"/>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768449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Let agents iterate inside explicitly gated stages</a:t>
              </a:r>
            </a:p>
          </p:txBody>
        </p:sp>
        <p:sp>
          <p:nvSpPr>
            <p:cNvPr id="4" name="TextBox 4"/>
            <p:cNvSpPr txBox="1"/>
            <p:nvPr/>
          </p:nvSpPr>
          <p:spPr>
            <a:xfrm>
              <a:off x="448818" y="1139825"/>
              <a:ext cx="10246437"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Coinbase’s framework places bounded draft/check/refine loops inside a forward-moving policy workflow.</a:t>
              </a:r>
            </a:p>
          </p:txBody>
        </p:sp>
      </p:grpSp>
      <p:grpSp>
        <p:nvGrpSpPr>
          <p:cNvPr id="8" name="synthetic-draft"/>
          <p:cNvGrpSpPr/>
          <p:nvPr/>
        </p:nvGrpSpPr>
        <p:grpSpPr>
          <a:xfrm>
            <a:off x="457200" y="1714500"/>
            <a:ext cx="11277600" cy="533400"/>
            <a:chOff x="457200" y="1714500"/>
            <a:chExt cx="11277600" cy="533400"/>
          </a:xfrm>
        </p:grpSpPr>
        <p:sp>
          <p:nvSpPr>
            <p:cNvPr id="6" name="Rectangle 6"/>
            <p:cNvSpPr/>
            <p:nvPr/>
          </p:nvSpPr>
          <p:spPr>
            <a:xfrm>
              <a:off x="457200" y="1714500"/>
              <a:ext cx="11277600" cy="533400"/>
            </a:xfrm>
            <a:prstGeom prst="rect">
              <a:avLst/>
            </a:prstGeom>
            <a:solidFill>
              <a:schemeClr val="lt2"/>
            </a:solidFill>
            <a:ln>
              <a:noFill/>
            </a:ln>
          </p:spPr>
        </p:sp>
        <p:sp>
          <p:nvSpPr>
            <p:cNvPr id="7" name="TextBox 7"/>
            <p:cNvSpPr txBox="1"/>
            <p:nvPr/>
          </p:nvSpPr>
          <p:spPr>
            <a:xfrm>
              <a:off x="621030" y="1857375"/>
              <a:ext cx="9361256" cy="293370"/>
            </a:xfrm>
            <a:prstGeom prst="rect">
              <a:avLst/>
            </a:prstGeom>
            <a:noFill/>
            <a:ln>
              <a:noFill/>
            </a:ln>
          </p:spPr>
          <p:txBody>
            <a:bodyPr wrap="none" lIns="0" tIns="0" rIns="0" bIns="0" anchor="t" anchorCtr="0">
              <a:spAutoFit/>
            </a:bodyPr>
            <a:lstStyle/>
            <a:p>
              <a:pPr algn="l"/>
              <a:r>
                <a:rPr lang="en-US" sz="1500" dirty="0">
                  <a:solidFill>
                    <a:schemeClr val="accent2"/>
                  </a:solidFill>
                  <a:latin typeface="+mn-lt"/>
                  <a:ea typeface="+mn-ea"/>
                  <a:cs typeface="+mn-cs"/>
                </a:rPr>
                <a:t>Invented draft: $120k income − $84k expenses = $36k arithmetic difference; not suitability or permission.</a:t>
              </a:r>
            </a:p>
          </p:txBody>
        </p:sp>
      </p:grpSp>
      <p:grpSp>
        <p:nvGrpSpPr>
          <p:cNvPr id="11" name="analysis-1"/>
          <p:cNvGrpSpPr/>
          <p:nvPr/>
        </p:nvGrpSpPr>
        <p:grpSpPr>
          <a:xfrm>
            <a:off x="448056" y="2457450"/>
            <a:ext cx="3003309" cy="2969895"/>
            <a:chOff x="448056" y="2457450"/>
            <a:chExt cx="3003309" cy="2969895"/>
          </a:xfrm>
        </p:grpSpPr>
        <p:sp>
          <p:nvSpPr>
            <p:cNvPr id="9" name="TextBox 9"/>
            <p:cNvSpPr txBox="1"/>
            <p:nvPr/>
          </p:nvSpPr>
          <p:spPr>
            <a:xfrm>
              <a:off x="448056" y="2457450"/>
              <a:ext cx="275920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Define the stage contract</a:t>
              </a:r>
            </a:p>
          </p:txBody>
        </p:sp>
        <p:sp>
          <p:nvSpPr>
            <p:cNvPr id="10" name="TextBox 10"/>
            <p:cNvSpPr txBox="1"/>
            <p:nvPr/>
          </p:nvSpPr>
          <p:spPr>
            <a:xfrm>
              <a:off x="449580" y="3076575"/>
              <a:ext cx="3001785"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Specify the allowed inputs,</a:t>
              </a:r>
              <a:br>
                <a:rPr lang="en-US" sz="1500" dirty="0">
                  <a:solidFill>
                    <a:schemeClr val="dk1"/>
                  </a:solidFill>
                  <a:latin typeface="+mn-lt"/>
                  <a:ea typeface="+mn-ea"/>
                  <a:cs typeface="+mn-cs"/>
                </a:rPr>
              </a:br>
              <a:r>
                <a:rPr lang="en-US" sz="1500" dirty="0">
                  <a:solidFill>
                    <a:schemeClr val="dk1"/>
                  </a:solidFill>
                  <a:latin typeface="+mn-lt"/>
                  <a:ea typeface="+mn-ea"/>
                  <a:cs typeface="+mn-cs"/>
                </a:rPr>
                <a:t>checkable output, iteration budget</a:t>
              </a:r>
              <a:br>
                <a:rPr lang="en-US" sz="1500" dirty="0">
                  <a:solidFill>
                    <a:schemeClr val="dk1"/>
                  </a:solidFill>
                  <a:latin typeface="+mn-lt"/>
                  <a:ea typeface="+mn-ea"/>
                  <a:cs typeface="+mn-cs"/>
                </a:rPr>
              </a:br>
              <a:r>
                <a:rPr lang="en-US" sz="1500" dirty="0">
                  <a:solidFill>
                    <a:schemeClr val="dk1"/>
                  </a:solidFill>
                  <a:latin typeface="+mn-lt"/>
                  <a:ea typeface="+mn-ea"/>
                  <a:cs typeface="+mn-cs"/>
                </a:rPr>
                <a:t>and human takeover condition. The</a:t>
              </a:r>
              <a:br>
                <a:rPr lang="en-US" sz="1500" dirty="0">
                  <a:solidFill>
                    <a:schemeClr val="dk1"/>
                  </a:solidFill>
                  <a:latin typeface="+mn-lt"/>
                  <a:ea typeface="+mn-ea"/>
                  <a:cs typeface="+mn-cs"/>
                </a:rPr>
              </a:br>
              <a:r>
                <a:rPr lang="en-US" sz="1500" dirty="0">
                  <a:solidFill>
                    <a:schemeClr val="dk1"/>
                  </a:solidFill>
                  <a:latin typeface="+mn-lt"/>
                  <a:ea typeface="+mn-ea"/>
                  <a:cs typeface="+mn-cs"/>
                </a:rPr>
                <a:t>loop can improve a draft while the</a:t>
              </a:r>
              <a:br>
                <a:rPr lang="en-US" sz="1500" dirty="0">
                  <a:solidFill>
                    <a:schemeClr val="dk1"/>
                  </a:solidFill>
                  <a:latin typeface="+mn-lt"/>
                  <a:ea typeface="+mn-ea"/>
                  <a:cs typeface="+mn-cs"/>
                </a:rPr>
              </a:br>
              <a:r>
                <a:rPr lang="en-US" sz="1500" dirty="0">
                  <a:solidFill>
                    <a:schemeClr val="dk1"/>
                  </a:solidFill>
                  <a:latin typeface="+mn-lt"/>
                  <a:ea typeface="+mn-ea"/>
                  <a:cs typeface="+mn-cs"/>
                </a:rPr>
                <a:t>outer workflow waits for the</a:t>
              </a:r>
              <a:br>
                <a:rPr lang="en-US" sz="1500" dirty="0">
                  <a:solidFill>
                    <a:schemeClr val="dk1"/>
                  </a:solidFill>
                  <a:latin typeface="+mn-lt"/>
                  <a:ea typeface="+mn-ea"/>
                  <a:cs typeface="+mn-cs"/>
                </a:rPr>
              </a:br>
              <a:r>
                <a:rPr lang="en-US" sz="1500" dirty="0">
                  <a:solidFill>
                    <a:schemeClr val="dk1"/>
                  </a:solidFill>
                  <a:latin typeface="+mn-lt"/>
                  <a:ea typeface="+mn-ea"/>
                  <a:cs typeface="+mn-cs"/>
                </a:rPr>
                <a:t>required acceptance or approval.</a:t>
              </a:r>
              <a:br>
                <a:rPr lang="en-US" sz="1500" dirty="0">
                  <a:solidFill>
                    <a:schemeClr val="dk1"/>
                  </a:solidFill>
                  <a:latin typeface="+mn-lt"/>
                  <a:ea typeface="+mn-ea"/>
                  <a:cs typeface="+mn-cs"/>
                </a:rPr>
              </a:br>
              <a:r>
                <a:rPr lang="en-US" sz="1500" dirty="0">
                  <a:solidFill>
                    <a:schemeClr val="dk1"/>
                  </a:solidFill>
                  <a:latin typeface="+mn-lt"/>
                  <a:ea typeface="+mn-ea"/>
                  <a:cs typeface="+mn-cs"/>
                </a:rPr>
                <a:t>Faster generation can shift the</a:t>
              </a:r>
              <a:br>
                <a:rPr lang="en-US" sz="1500" dirty="0">
                  <a:solidFill>
                    <a:schemeClr val="dk1"/>
                  </a:solidFill>
                  <a:latin typeface="+mn-lt"/>
                  <a:ea typeface="+mn-ea"/>
                  <a:cs typeface="+mn-cs"/>
                </a:rPr>
              </a:br>
              <a:r>
                <a:rPr lang="en-US" sz="1500" dirty="0">
                  <a:solidFill>
                    <a:schemeClr val="dk1"/>
                  </a:solidFill>
                  <a:latin typeface="+mn-lt"/>
                  <a:ea typeface="+mn-ea"/>
                  <a:cs typeface="+mn-cs"/>
                </a:rPr>
                <a:t>bottleneck to review rather than</a:t>
              </a:r>
              <a:br>
                <a:rPr lang="en-US" sz="1500" dirty="0">
                  <a:solidFill>
                    <a:schemeClr val="dk1"/>
                  </a:solidFill>
                  <a:latin typeface="+mn-lt"/>
                  <a:ea typeface="+mn-ea"/>
                  <a:cs typeface="+mn-cs"/>
                </a:rPr>
              </a:br>
              <a:r>
                <a:rPr lang="en-US" sz="1500" dirty="0">
                  <a:solidFill>
                    <a:schemeClr val="dk1"/>
                  </a:solidFill>
                  <a:latin typeface="+mn-lt"/>
                  <a:ea typeface="+mn-ea"/>
                  <a:cs typeface="+mn-cs"/>
                </a:rPr>
                <a:t>remove it.</a:t>
              </a:r>
            </a:p>
          </p:txBody>
        </p:sp>
      </p:grpSp>
      <p:grpSp>
        <p:nvGrpSpPr>
          <p:cNvPr id="14" name="analysis-2"/>
          <p:cNvGrpSpPr/>
          <p:nvPr/>
        </p:nvGrpSpPr>
        <p:grpSpPr>
          <a:xfrm>
            <a:off x="4296156" y="2457450"/>
            <a:ext cx="3013520" cy="2969895"/>
            <a:chOff x="4296156" y="2457450"/>
            <a:chExt cx="3013520" cy="2969895"/>
          </a:xfrm>
        </p:grpSpPr>
        <p:sp>
          <p:nvSpPr>
            <p:cNvPr id="12" name="TextBox 12"/>
            <p:cNvSpPr txBox="1"/>
            <p:nvPr/>
          </p:nvSpPr>
          <p:spPr>
            <a:xfrm>
              <a:off x="4296156" y="2457450"/>
              <a:ext cx="2752824"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Keep professional judgment</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visible</a:t>
              </a:r>
            </a:p>
          </p:txBody>
        </p:sp>
        <p:sp>
          <p:nvSpPr>
            <p:cNvPr id="13" name="TextBox 13"/>
            <p:cNvSpPr txBox="1"/>
            <p:nvPr/>
          </p:nvSpPr>
          <p:spPr>
            <a:xfrm>
              <a:off x="4297680" y="3076575"/>
              <a:ext cx="3011996"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The invented annual packet below</a:t>
              </a:r>
              <a:br>
                <a:rPr lang="en-US" sz="1500" dirty="0">
                  <a:solidFill>
                    <a:schemeClr val="dk1"/>
                  </a:solidFill>
                  <a:latin typeface="+mn-lt"/>
                  <a:ea typeface="+mn-ea"/>
                  <a:cs typeface="+mn-cs"/>
                </a:rPr>
              </a:br>
              <a:r>
                <a:rPr lang="en-US" sz="1500" dirty="0">
                  <a:solidFill>
                    <a:schemeClr val="dk1"/>
                  </a:solidFill>
                  <a:latin typeface="+mn-lt"/>
                  <a:ea typeface="+mn-ea"/>
                  <a:cs typeface="+mn-cs"/>
                </a:rPr>
                <a:t>subtracts $84k recorded expenses</a:t>
              </a:r>
              <a:br>
                <a:rPr lang="en-US" sz="1500" dirty="0">
                  <a:solidFill>
                    <a:schemeClr val="dk1"/>
                  </a:solidFill>
                  <a:latin typeface="+mn-lt"/>
                  <a:ea typeface="+mn-ea"/>
                  <a:cs typeface="+mn-cs"/>
                </a:rPr>
              </a:br>
              <a:r>
                <a:rPr lang="en-US" sz="1500" dirty="0">
                  <a:solidFill>
                    <a:schemeClr val="dk1"/>
                  </a:solidFill>
                  <a:latin typeface="+mn-lt"/>
                  <a:ea typeface="+mn-ea"/>
                  <a:cs typeface="+mn-cs"/>
                </a:rPr>
                <a:t>from $120k income: $36k is only an</a:t>
              </a:r>
              <a:br>
                <a:rPr lang="en-US" sz="1500" dirty="0">
                  <a:solidFill>
                    <a:schemeClr val="dk1"/>
                  </a:solidFill>
                  <a:latin typeface="+mn-lt"/>
                  <a:ea typeface="+mn-ea"/>
                  <a:cs typeface="+mn-cs"/>
                </a:rPr>
              </a:br>
              <a:r>
                <a:rPr lang="en-US" sz="1500" dirty="0">
                  <a:solidFill>
                    <a:schemeClr val="dk1"/>
                  </a:solidFill>
                  <a:latin typeface="+mn-lt"/>
                  <a:ea typeface="+mn-ea"/>
                  <a:cs typeface="+mn-cs"/>
                </a:rPr>
                <a:t>arithmetic difference. It</a:t>
              </a:r>
              <a:br>
                <a:rPr lang="en-US" sz="1500" dirty="0">
                  <a:solidFill>
                    <a:schemeClr val="dk1"/>
                  </a:solidFill>
                  <a:latin typeface="+mn-lt"/>
                  <a:ea typeface="+mn-ea"/>
                  <a:cs typeface="+mn-cs"/>
                </a:rPr>
              </a:br>
              <a:r>
                <a:rPr lang="en-US" sz="1500" dirty="0">
                  <a:solidFill>
                    <a:schemeClr val="dk1"/>
                  </a:solidFill>
                  <a:latin typeface="+mn-lt"/>
                  <a:ea typeface="+mn-ea"/>
                  <a:cs typeface="+mn-cs"/>
                </a:rPr>
                <a:t>establishes neither disposable</a:t>
              </a:r>
              <a:br>
                <a:rPr lang="en-US" sz="1500" dirty="0">
                  <a:solidFill>
                    <a:schemeClr val="dk1"/>
                  </a:solidFill>
                  <a:latin typeface="+mn-lt"/>
                  <a:ea typeface="+mn-ea"/>
                  <a:cs typeface="+mn-cs"/>
                </a:rPr>
              </a:br>
              <a:r>
                <a:rPr lang="en-US" sz="1500" dirty="0">
                  <a:solidFill>
                    <a:schemeClr val="dk1"/>
                  </a:solidFill>
                  <a:latin typeface="+mn-lt"/>
                  <a:ea typeface="+mn-ea"/>
                  <a:cs typeface="+mn-cs"/>
                </a:rPr>
                <a:t>capacity nor suitability. Review</a:t>
              </a:r>
              <a:br>
                <a:rPr lang="en-US" sz="1500" dirty="0">
                  <a:solidFill>
                    <a:schemeClr val="dk1"/>
                  </a:solidFill>
                  <a:latin typeface="+mn-lt"/>
                  <a:ea typeface="+mn-ea"/>
                  <a:cs typeface="+mn-cs"/>
                </a:rPr>
              </a:br>
              <a:r>
                <a:rPr lang="en-US" sz="1500" dirty="0">
                  <a:solidFill>
                    <a:schemeClr val="dk1"/>
                  </a:solidFill>
                  <a:latin typeface="+mn-lt"/>
                  <a:ea typeface="+mn-ea"/>
                  <a:cs typeface="+mn-cs"/>
                </a:rPr>
                <a:t>the facts, gaps, assumptions and</a:t>
              </a:r>
              <a:br>
                <a:rPr lang="en-US" sz="1500" dirty="0">
                  <a:solidFill>
                    <a:schemeClr val="dk1"/>
                  </a:solidFill>
                  <a:latin typeface="+mn-lt"/>
                  <a:ea typeface="+mn-ea"/>
                  <a:cs typeface="+mn-cs"/>
                </a:rPr>
              </a:br>
              <a:r>
                <a:rPr lang="en-US" sz="1500" dirty="0">
                  <a:solidFill>
                    <a:schemeClr val="dk1"/>
                  </a:solidFill>
                  <a:latin typeface="+mn-lt"/>
                  <a:ea typeface="+mn-ea"/>
                  <a:cs typeface="+mn-cs"/>
                </a:rPr>
                <a:t>conclusions before the work can be</a:t>
              </a:r>
              <a:br>
                <a:rPr lang="en-US" sz="1500" dirty="0">
                  <a:solidFill>
                    <a:schemeClr val="dk1"/>
                  </a:solidFill>
                  <a:latin typeface="+mn-lt"/>
                  <a:ea typeface="+mn-ea"/>
                  <a:cs typeface="+mn-cs"/>
                </a:rPr>
              </a:br>
              <a:r>
                <a:rPr lang="en-US" sz="1500" dirty="0">
                  <a:solidFill>
                    <a:schemeClr val="dk1"/>
                  </a:solidFill>
                  <a:latin typeface="+mn-lt"/>
                  <a:ea typeface="+mn-ea"/>
                  <a:cs typeface="+mn-cs"/>
                </a:rPr>
                <a:t>considered accepted.</a:t>
              </a:r>
            </a:p>
          </p:txBody>
        </p:sp>
      </p:grpSp>
      <p:grpSp>
        <p:nvGrpSpPr>
          <p:cNvPr id="17" name="analysis-3"/>
          <p:cNvGrpSpPr/>
          <p:nvPr/>
        </p:nvGrpSpPr>
        <p:grpSpPr>
          <a:xfrm>
            <a:off x="8144256" y="2457450"/>
            <a:ext cx="2939263" cy="2712720"/>
            <a:chOff x="8144256" y="2457450"/>
            <a:chExt cx="2939263" cy="2712720"/>
          </a:xfrm>
        </p:grpSpPr>
        <p:sp>
          <p:nvSpPr>
            <p:cNvPr id="15" name="TextBox 15"/>
            <p:cNvSpPr txBox="1"/>
            <p:nvPr/>
          </p:nvSpPr>
          <p:spPr>
            <a:xfrm>
              <a:off x="8144256" y="2457450"/>
              <a:ext cx="2126277"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Separate review from</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permission</a:t>
              </a:r>
            </a:p>
          </p:txBody>
        </p:sp>
        <p:sp>
          <p:nvSpPr>
            <p:cNvPr id="16" name="TextBox 16"/>
            <p:cNvSpPr txBox="1"/>
            <p:nvPr/>
          </p:nvSpPr>
          <p:spPr>
            <a:xfrm>
              <a:off x="8145780" y="3076575"/>
              <a:ext cx="2937739"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Range preserves planner review;</a:t>
              </a:r>
              <a:br>
                <a:rPr lang="en-US" sz="1500" dirty="0">
                  <a:solidFill>
                    <a:schemeClr val="dk1"/>
                  </a:solidFill>
                  <a:latin typeface="+mn-lt"/>
                  <a:ea typeface="+mn-ea"/>
                  <a:cs typeface="+mn-cs"/>
                </a:rPr>
              </a:br>
              <a:r>
                <a:rPr lang="en-US" sz="1500" dirty="0">
                  <a:solidFill>
                    <a:schemeClr val="dk1"/>
                  </a:solidFill>
                  <a:latin typeface="+mn-lt"/>
                  <a:ea typeface="+mn-ea"/>
                  <a:cs typeface="+mn-cs"/>
                </a:rPr>
                <a:t>Perpetual binds approval to an</a:t>
              </a:r>
              <a:br>
                <a:rPr lang="en-US" sz="1500" dirty="0">
                  <a:solidFill>
                    <a:schemeClr val="dk1"/>
                  </a:solidFill>
                  <a:latin typeface="+mn-lt"/>
                  <a:ea typeface="+mn-ea"/>
                  <a:cs typeface="+mn-cs"/>
                </a:rPr>
              </a:br>
              <a:r>
                <a:rPr lang="en-US" sz="1500" dirty="0">
                  <a:solidFill>
                    <a:schemeClr val="dk1"/>
                  </a:solidFill>
                  <a:latin typeface="+mn-lt"/>
                  <a:ea typeface="+mn-ea"/>
                  <a:cs typeface="+mn-cs"/>
                </a:rPr>
                <a:t>exact payload. Accepting a draft is</a:t>
              </a:r>
              <a:br>
                <a:rPr lang="en-US" sz="1500" dirty="0">
                  <a:solidFill>
                    <a:schemeClr val="dk1"/>
                  </a:solidFill>
                  <a:latin typeface="+mn-lt"/>
                  <a:ea typeface="+mn-ea"/>
                  <a:cs typeface="+mn-cs"/>
                </a:rPr>
              </a:br>
              <a:r>
                <a:rPr lang="en-US" sz="1500" dirty="0">
                  <a:solidFill>
                    <a:schemeClr val="dk1"/>
                  </a:solidFill>
                  <a:latin typeface="+mn-lt"/>
                  <a:ea typeface="+mn-ea"/>
                  <a:cs typeface="+mn-cs"/>
                </a:rPr>
                <a:t>not permission to send or transact.</a:t>
              </a:r>
              <a:br>
                <a:rPr lang="en-US" sz="1500" dirty="0">
                  <a:solidFill>
                    <a:schemeClr val="dk1"/>
                  </a:solidFill>
                  <a:latin typeface="+mn-lt"/>
                  <a:ea typeface="+mn-ea"/>
                  <a:cs typeface="+mn-cs"/>
                </a:rPr>
              </a:br>
              <a:r>
                <a:rPr lang="en-US" sz="1500" dirty="0">
                  <a:solidFill>
                    <a:schemeClr val="dk1"/>
                  </a:solidFill>
                  <a:latin typeface="+mn-lt"/>
                  <a:ea typeface="+mn-ea"/>
                  <a:cs typeface="+mn-cs"/>
                </a:rPr>
                <a:t>A separate enforcing boundary</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user, case, resource and</a:t>
              </a:r>
              <a:br>
                <a:rPr lang="en-US" sz="1500" dirty="0">
                  <a:solidFill>
                    <a:schemeClr val="dk1"/>
                  </a:solidFill>
                  <a:latin typeface="+mn-lt"/>
                  <a:ea typeface="+mn-ea"/>
                  <a:cs typeface="+mn-cs"/>
                </a:rPr>
              </a:br>
              <a:r>
                <a:rPr lang="en-US" sz="1500" dirty="0">
                  <a:solidFill>
                    <a:schemeClr val="dk1"/>
                  </a:solidFill>
                  <a:latin typeface="+mn-lt"/>
                  <a:ea typeface="+mn-ea"/>
                  <a:cs typeface="+mn-cs"/>
                </a:rPr>
                <a:t>action, and retains the approval</a:t>
              </a:r>
              <a:br>
                <a:rPr lang="en-US" sz="1500" dirty="0">
                  <a:solidFill>
                    <a:schemeClr val="dk1"/>
                  </a:solidFill>
                  <a:latin typeface="+mn-lt"/>
                  <a:ea typeface="+mn-ea"/>
                  <a:cs typeface="+mn-cs"/>
                </a:rPr>
              </a:br>
              <a:r>
                <a:rPr lang="en-US" sz="1500" dirty="0">
                  <a:solidFill>
                    <a:schemeClr val="dk1"/>
                  </a:solidFill>
                  <a:latin typeface="+mn-lt"/>
                  <a:ea typeface="+mn-ea"/>
                  <a:cs typeface="+mn-cs"/>
                </a:rPr>
                <a:t>and outcome evidence.</a:t>
              </a:r>
            </a:p>
          </p:txBody>
        </p:sp>
      </p:grpSp>
      <p:grpSp>
        <p:nvGrpSpPr>
          <p:cNvPr id="20" name="footer"/>
          <p:cNvGrpSpPr/>
          <p:nvPr/>
        </p:nvGrpSpPr>
        <p:grpSpPr>
          <a:xfrm>
            <a:off x="452438" y="6477000"/>
            <a:ext cx="11287124" cy="176212"/>
            <a:chOff x="452438" y="6477000"/>
            <a:chExt cx="11287124" cy="176212"/>
          </a:xfrm>
        </p:grpSpPr>
        <p:sp>
          <p:nvSpPr>
            <p:cNvPr id="18" name="TextBox 18"/>
            <p:cNvSpPr txBox="1"/>
            <p:nvPr/>
          </p:nvSpPr>
          <p:spPr>
            <a:xfrm>
              <a:off x="452438" y="6477000"/>
              <a:ext cx="375378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Coinbase · Range · Perpetual | Reviewed October 25, 2026</a:t>
              </a:r>
            </a:p>
          </p:txBody>
        </p:sp>
        <p:sp>
          <p:nvSpPr>
            <p:cNvPr id="19" name="TextBox 1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20 / 37</a:t>
              </a:r>
            </a:p>
          </p:txBody>
        </p:sp>
      </p:gr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970469" cy="1100582"/>
            <a:chOff x="443484" y="361950"/>
            <a:chExt cx="9970469" cy="1100582"/>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761401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Enforce authority outside the proposed action</a:t>
              </a:r>
            </a:p>
          </p:txBody>
        </p:sp>
        <p:sp>
          <p:nvSpPr>
            <p:cNvPr id="4" name="TextBox 4"/>
            <p:cNvSpPr txBox="1"/>
            <p:nvPr/>
          </p:nvSpPr>
          <p:spPr>
            <a:xfrm>
              <a:off x="448818" y="1139825"/>
              <a:ext cx="9965135"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Two Sigma makes ownership and scope visible; Bloomberg makes the execution boundary concrete.</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66447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Identity</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112056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Policy check</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77627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Authorized executor</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07533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Audit + stop</a:t>
              </a:r>
            </a:p>
          </p:txBody>
        </p:sp>
      </p:grpSp>
      <p:grpSp>
        <p:nvGrpSpPr>
          <p:cNvPr id="17" name="analysis-1"/>
          <p:cNvGrpSpPr/>
          <p:nvPr/>
        </p:nvGrpSpPr>
        <p:grpSpPr>
          <a:xfrm>
            <a:off x="448056" y="2438400"/>
            <a:ext cx="3084643" cy="2712720"/>
            <a:chOff x="448056" y="2438400"/>
            <a:chExt cx="3084643" cy="2712720"/>
          </a:xfrm>
        </p:grpSpPr>
        <p:sp>
          <p:nvSpPr>
            <p:cNvPr id="15" name="TextBox 15"/>
            <p:cNvSpPr txBox="1"/>
            <p:nvPr/>
          </p:nvSpPr>
          <p:spPr>
            <a:xfrm>
              <a:off x="448056" y="2438400"/>
              <a:ext cx="3084643"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Make the agent accountable</a:t>
              </a:r>
            </a:p>
          </p:txBody>
        </p:sp>
        <p:sp>
          <p:nvSpPr>
            <p:cNvPr id="16" name="TextBox 16"/>
            <p:cNvSpPr txBox="1"/>
            <p:nvPr/>
          </p:nvSpPr>
          <p:spPr>
            <a:xfrm>
              <a:off x="449580" y="3057525"/>
              <a:ext cx="3022778"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Register an owner, purpose, tools</a:t>
              </a:r>
              <a:br>
                <a:rPr lang="en-US" sz="1500" dirty="0">
                  <a:solidFill>
                    <a:schemeClr val="dk1"/>
                  </a:solidFill>
                  <a:latin typeface="+mn-lt"/>
                  <a:ea typeface="+mn-ea"/>
                  <a:cs typeface="+mn-cs"/>
                </a:rPr>
              </a:br>
              <a:r>
                <a:rPr lang="en-US" sz="1500" dirty="0">
                  <a:solidFill>
                    <a:schemeClr val="dk1"/>
                  </a:solidFill>
                  <a:latin typeface="+mn-lt"/>
                  <a:ea typeface="+mn-ea"/>
                  <a:cs typeface="+mn-cs"/>
                </a:rPr>
                <a:t>and accessible resources. Use</a:t>
              </a:r>
              <a:br>
                <a:rPr lang="en-US" sz="1500" dirty="0">
                  <a:solidFill>
                    <a:schemeClr val="dk1"/>
                  </a:solidFill>
                  <a:latin typeface="+mn-lt"/>
                  <a:ea typeface="+mn-ea"/>
                  <a:cs typeface="+mn-cs"/>
                </a:rPr>
              </a:br>
              <a:r>
                <a:rPr lang="en-US" sz="1500" dirty="0">
                  <a:solidFill>
                    <a:schemeClr val="dk1"/>
                  </a:solidFill>
                  <a:latin typeface="+mn-lt"/>
                  <a:ea typeface="+mn-ea"/>
                  <a:cs typeface="+mn-cs"/>
                </a:rPr>
                <a:t>short-lived scoped identity and</a:t>
              </a:r>
              <a:br>
                <a:rPr lang="en-US" sz="1500" dirty="0">
                  <a:solidFill>
                    <a:schemeClr val="dk1"/>
                  </a:solidFill>
                  <a:latin typeface="+mn-lt"/>
                  <a:ea typeface="+mn-ea"/>
                  <a:cs typeface="+mn-cs"/>
                </a:rPr>
              </a:br>
              <a:r>
                <a:rPr lang="en-US" sz="1500" dirty="0">
                  <a:solidFill>
                    <a:schemeClr val="dk1"/>
                  </a:solidFill>
                  <a:latin typeface="+mn-lt"/>
                  <a:ea typeface="+mn-ea"/>
                  <a:cs typeface="+mn-cs"/>
                </a:rPr>
                <a:t>carry the user’s authority through</a:t>
              </a:r>
              <a:br>
                <a:rPr lang="en-US" sz="1500" dirty="0">
                  <a:solidFill>
                    <a:schemeClr val="dk1"/>
                  </a:solidFill>
                  <a:latin typeface="+mn-lt"/>
                  <a:ea typeface="+mn-ea"/>
                  <a:cs typeface="+mn-cs"/>
                </a:rPr>
              </a:br>
              <a:r>
                <a:rPr lang="en-US" sz="1500" dirty="0">
                  <a:solidFill>
                    <a:schemeClr val="dk1"/>
                  </a:solidFill>
                  <a:latin typeface="+mn-lt"/>
                  <a:ea typeface="+mn-ea"/>
                  <a:cs typeface="+mn-cs"/>
                </a:rPr>
                <a:t>the tool path. A valid credential</a:t>
              </a:r>
              <a:br>
                <a:rPr lang="en-US" sz="1500" dirty="0">
                  <a:solidFill>
                    <a:schemeClr val="dk1"/>
                  </a:solidFill>
                  <a:latin typeface="+mn-lt"/>
                  <a:ea typeface="+mn-ea"/>
                  <a:cs typeface="+mn-cs"/>
                </a:rPr>
              </a:br>
              <a:r>
                <a:rPr lang="en-US" sz="1500" dirty="0">
                  <a:solidFill>
                    <a:schemeClr val="dk1"/>
                  </a:solidFill>
                  <a:latin typeface="+mn-lt"/>
                  <a:ea typeface="+mn-ea"/>
                  <a:cs typeface="+mn-cs"/>
                </a:rPr>
                <a:t>or schema does not establish that a</a:t>
              </a:r>
              <a:br>
                <a:rPr lang="en-US" sz="1500" dirty="0">
                  <a:solidFill>
                    <a:schemeClr val="dk1"/>
                  </a:solidFill>
                  <a:latin typeface="+mn-lt"/>
                  <a:ea typeface="+mn-ea"/>
                  <a:cs typeface="+mn-cs"/>
                </a:rPr>
              </a:br>
              <a:r>
                <a:rPr lang="en-US" sz="1500" dirty="0">
                  <a:solidFill>
                    <a:schemeClr val="dk1"/>
                  </a:solidFill>
                  <a:latin typeface="+mn-lt"/>
                  <a:ea typeface="+mn-ea"/>
                  <a:cs typeface="+mn-cs"/>
                </a:rPr>
                <a:t>business action is appropriate for</a:t>
              </a:r>
              <a:br>
                <a:rPr lang="en-US" sz="1500" dirty="0">
                  <a:solidFill>
                    <a:schemeClr val="dk1"/>
                  </a:solidFill>
                  <a:latin typeface="+mn-lt"/>
                  <a:ea typeface="+mn-ea"/>
                  <a:cs typeface="+mn-cs"/>
                </a:rPr>
              </a:br>
              <a:r>
                <a:rPr lang="en-US" sz="1500" dirty="0">
                  <a:solidFill>
                    <a:schemeClr val="dk1"/>
                  </a:solidFill>
                  <a:latin typeface="+mn-lt"/>
                  <a:ea typeface="+mn-ea"/>
                  <a:cs typeface="+mn-cs"/>
                </a:rPr>
                <a:t>this case.</a:t>
              </a:r>
            </a:p>
          </p:txBody>
        </p:sp>
      </p:grpSp>
      <p:grpSp>
        <p:nvGrpSpPr>
          <p:cNvPr id="20" name="analysis-2"/>
          <p:cNvGrpSpPr/>
          <p:nvPr/>
        </p:nvGrpSpPr>
        <p:grpSpPr>
          <a:xfrm>
            <a:off x="4296156" y="2438400"/>
            <a:ext cx="3150832" cy="3227070"/>
            <a:chOff x="4296156" y="2438400"/>
            <a:chExt cx="3150832" cy="3227070"/>
          </a:xfrm>
        </p:grpSpPr>
        <p:sp>
          <p:nvSpPr>
            <p:cNvPr id="18" name="TextBox 18"/>
            <p:cNvSpPr txBox="1"/>
            <p:nvPr/>
          </p:nvSpPr>
          <p:spPr>
            <a:xfrm>
              <a:off x="4296156" y="2438400"/>
              <a:ext cx="276408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Test the actual boundary</a:t>
              </a:r>
            </a:p>
          </p:txBody>
        </p:sp>
        <p:sp>
          <p:nvSpPr>
            <p:cNvPr id="19" name="TextBox 19"/>
            <p:cNvSpPr txBox="1"/>
            <p:nvPr/>
          </p:nvSpPr>
          <p:spPr>
            <a:xfrm>
              <a:off x="4297680" y="3057525"/>
              <a:ext cx="3149308"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Challenge cross-tenant queries,</a:t>
              </a:r>
              <a:br>
                <a:rPr lang="en-US" sz="1500" dirty="0">
                  <a:solidFill>
                    <a:schemeClr val="dk1"/>
                  </a:solidFill>
                  <a:latin typeface="+mn-lt"/>
                  <a:ea typeface="+mn-ea"/>
                  <a:cs typeface="+mn-cs"/>
                </a:rPr>
              </a:br>
              <a:r>
                <a:rPr lang="en-US" sz="1500" dirty="0">
                  <a:solidFill>
                    <a:schemeClr val="dk1"/>
                  </a:solidFill>
                  <a:latin typeface="+mn-lt"/>
                  <a:ea typeface="+mn-ea"/>
                  <a:cs typeface="+mn-cs"/>
                </a:rPr>
                <a:t>revoked access, agent-to-agent</a:t>
              </a:r>
              <a:br>
                <a:rPr lang="en-US" sz="1500" dirty="0">
                  <a:solidFill>
                    <a:schemeClr val="dk1"/>
                  </a:solidFill>
                  <a:latin typeface="+mn-lt"/>
                  <a:ea typeface="+mn-ea"/>
                  <a:cs typeface="+mn-cs"/>
                </a:rPr>
              </a:br>
              <a:r>
                <a:rPr lang="en-US" sz="1500" dirty="0">
                  <a:solidFill>
                    <a:schemeClr val="dk1"/>
                  </a:solidFill>
                  <a:latin typeface="+mn-lt"/>
                  <a:ea typeface="+mn-ea"/>
                  <a:cs typeface="+mn-cs"/>
                </a:rPr>
                <a:t>privilege escalation, retries and</a:t>
              </a:r>
              <a:br>
                <a:rPr lang="en-US" sz="1500" dirty="0">
                  <a:solidFill>
                    <a:schemeClr val="dk1"/>
                  </a:solidFill>
                  <a:latin typeface="+mn-lt"/>
                  <a:ea typeface="+mn-ea"/>
                  <a:cs typeface="+mn-cs"/>
                </a:rPr>
              </a:br>
              <a:r>
                <a:rPr lang="en-US" sz="1500" dirty="0">
                  <a:solidFill>
                    <a:schemeClr val="dk1"/>
                  </a:solidFill>
                  <a:latin typeface="+mn-lt"/>
                  <a:ea typeface="+mn-ea"/>
                  <a:cs typeface="+mn-cs"/>
                </a:rPr>
                <a:t>budget exhaustion. Bloomberg</a:t>
              </a:r>
              <a:br>
                <a:rPr lang="en-US" sz="1500" dirty="0">
                  <a:solidFill>
                    <a:schemeClr val="dk1"/>
                  </a:solidFill>
                  <a:latin typeface="+mn-lt"/>
                  <a:ea typeface="+mn-ea"/>
                  <a:cs typeface="+mn-cs"/>
                </a:rPr>
              </a:br>
              <a:r>
                <a:rPr lang="en-US" sz="1500" dirty="0">
                  <a:solidFill>
                    <a:schemeClr val="dk1"/>
                  </a:solidFill>
                  <a:latin typeface="+mn-lt"/>
                  <a:ea typeface="+mn-ea"/>
                  <a:cs typeface="+mn-cs"/>
                </a:rPr>
                <a:t>recommends deterministic invocation</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and egress limits including</a:t>
              </a:r>
              <a:br>
                <a:rPr lang="en-US" sz="1500" dirty="0">
                  <a:solidFill>
                    <a:schemeClr val="dk1"/>
                  </a:solidFill>
                  <a:latin typeface="+mn-lt"/>
                  <a:ea typeface="+mn-ea"/>
                  <a:cs typeface="+mn-cs"/>
                </a:rPr>
              </a:br>
              <a:r>
                <a:rPr lang="en-US" sz="1500" dirty="0">
                  <a:solidFill>
                    <a:schemeClr val="dk1"/>
                  </a:solidFill>
                  <a:latin typeface="+mn-lt"/>
                  <a:ea typeface="+mn-ea"/>
                  <a:cs typeface="+mn-cs"/>
                </a:rPr>
                <a:t>DNS. Verify that a denied action is</a:t>
              </a:r>
              <a:br>
                <a:rPr lang="en-US" sz="1500" dirty="0">
                  <a:solidFill>
                    <a:schemeClr val="dk1"/>
                  </a:solidFill>
                  <a:latin typeface="+mn-lt"/>
                  <a:ea typeface="+mn-ea"/>
                  <a:cs typeface="+mn-cs"/>
                </a:rPr>
              </a:br>
              <a:r>
                <a:rPr lang="en-US" sz="1500" dirty="0">
                  <a:solidFill>
                    <a:schemeClr val="dk1"/>
                  </a:solidFill>
                  <a:latin typeface="+mn-lt"/>
                  <a:ea typeface="+mn-ea"/>
                  <a:cs typeface="+mn-cs"/>
                </a:rPr>
                <a:t>blocked and a halt condition stops</a:t>
              </a:r>
              <a:br>
                <a:rPr lang="en-US" sz="1500" dirty="0">
                  <a:solidFill>
                    <a:schemeClr val="dk1"/>
                  </a:solidFill>
                  <a:latin typeface="+mn-lt"/>
                  <a:ea typeface="+mn-ea"/>
                  <a:cs typeface="+mn-cs"/>
                </a:rPr>
              </a:br>
              <a:r>
                <a:rPr lang="en-US" sz="1500" dirty="0">
                  <a:solidFill>
                    <a:schemeClr val="dk1"/>
                  </a:solidFill>
                  <a:latin typeface="+mn-lt"/>
                  <a:ea typeface="+mn-ea"/>
                  <a:cs typeface="+mn-cs"/>
                </a:rPr>
                <a:t>execution, rather than merely</a:t>
              </a:r>
              <a:br>
                <a:rPr lang="en-US" sz="1500" dirty="0">
                  <a:solidFill>
                    <a:schemeClr val="dk1"/>
                  </a:solidFill>
                  <a:latin typeface="+mn-lt"/>
                  <a:ea typeface="+mn-ea"/>
                  <a:cs typeface="+mn-cs"/>
                </a:rPr>
              </a:br>
              <a:r>
                <a:rPr lang="en-US" sz="1500" dirty="0">
                  <a:solidFill>
                    <a:schemeClr val="dk1"/>
                  </a:solidFill>
                  <a:latin typeface="+mn-lt"/>
                  <a:ea typeface="+mn-ea"/>
                  <a:cs typeface="+mn-cs"/>
                </a:rPr>
                <a:t>producing an alert.</a:t>
              </a:r>
            </a:p>
          </p:txBody>
        </p:sp>
      </p:grpSp>
      <p:grpSp>
        <p:nvGrpSpPr>
          <p:cNvPr id="23" name="analysis-3"/>
          <p:cNvGrpSpPr/>
          <p:nvPr/>
        </p:nvGrpSpPr>
        <p:grpSpPr>
          <a:xfrm>
            <a:off x="8144256" y="2438400"/>
            <a:ext cx="2939186" cy="3227070"/>
            <a:chOff x="8144256" y="2438400"/>
            <a:chExt cx="2939186" cy="3227070"/>
          </a:xfrm>
        </p:grpSpPr>
        <p:sp>
          <p:nvSpPr>
            <p:cNvPr id="21" name="TextBox 21"/>
            <p:cNvSpPr txBox="1"/>
            <p:nvPr/>
          </p:nvSpPr>
          <p:spPr>
            <a:xfrm>
              <a:off x="8144256" y="2438400"/>
              <a:ext cx="2544089"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Treat memory as an input</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surface</a:t>
              </a:r>
            </a:p>
          </p:txBody>
        </p:sp>
        <p:sp>
          <p:nvSpPr>
            <p:cNvPr id="22" name="TextBox 22"/>
            <p:cNvSpPr txBox="1"/>
            <p:nvPr/>
          </p:nvSpPr>
          <p:spPr>
            <a:xfrm>
              <a:off x="8145780" y="3057525"/>
              <a:ext cx="293766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hostile document can try to</a:t>
              </a:r>
              <a:br>
                <a:rPr lang="en-US" sz="1500" dirty="0">
                  <a:solidFill>
                    <a:schemeClr val="dk1"/>
                  </a:solidFill>
                  <a:latin typeface="+mn-lt"/>
                  <a:ea typeface="+mn-ea"/>
                  <a:cs typeface="+mn-cs"/>
                </a:rPr>
              </a:br>
              <a:r>
                <a:rPr lang="en-US" sz="1500" dirty="0">
                  <a:solidFill>
                    <a:schemeClr val="dk1"/>
                  </a:solidFill>
                  <a:latin typeface="+mn-lt"/>
                  <a:ea typeface="+mn-ea"/>
                  <a:cs typeface="+mn-cs"/>
                </a:rPr>
                <a:t>persist an instruction for a future</a:t>
              </a:r>
              <a:br>
                <a:rPr lang="en-US" sz="1500" dirty="0">
                  <a:solidFill>
                    <a:schemeClr val="dk1"/>
                  </a:solidFill>
                  <a:latin typeface="+mn-lt"/>
                  <a:ea typeface="+mn-ea"/>
                  <a:cs typeface="+mn-cs"/>
                </a:rPr>
              </a:br>
              <a:r>
                <a:rPr lang="en-US" sz="1500" dirty="0">
                  <a:solidFill>
                    <a:schemeClr val="dk1"/>
                  </a:solidFill>
                  <a:latin typeface="+mn-lt"/>
                  <a:ea typeface="+mn-ea"/>
                  <a:cs typeface="+mn-cs"/>
                </a:rPr>
                <a:t>run. Separate source content from</a:t>
              </a:r>
              <a:br>
                <a:rPr lang="en-US" sz="1500" dirty="0">
                  <a:solidFill>
                    <a:schemeClr val="dk1"/>
                  </a:solidFill>
                  <a:latin typeface="+mn-lt"/>
                  <a:ea typeface="+mn-ea"/>
                  <a:cs typeface="+mn-cs"/>
                </a:rPr>
              </a:br>
              <a:r>
                <a:rPr lang="en-US" sz="1500" dirty="0">
                  <a:solidFill>
                    <a:schemeClr val="dk1"/>
                  </a:solidFill>
                  <a:latin typeface="+mn-lt"/>
                  <a:ea typeface="+mn-ea"/>
                  <a:cs typeface="+mn-cs"/>
                </a:rPr>
                <a:t>trusted procedure, control memory</a:t>
              </a:r>
              <a:br>
                <a:rPr lang="en-US" sz="1500" dirty="0">
                  <a:solidFill>
                    <a:schemeClr val="dk1"/>
                  </a:solidFill>
                  <a:latin typeface="+mn-lt"/>
                  <a:ea typeface="+mn-ea"/>
                  <a:cs typeface="+mn-cs"/>
                </a:rPr>
              </a:br>
              <a:r>
                <a:rPr lang="en-US" sz="1500" dirty="0">
                  <a:solidFill>
                    <a:schemeClr val="dk1"/>
                  </a:solidFill>
                  <a:latin typeface="+mn-lt"/>
                  <a:ea typeface="+mn-ea"/>
                  <a:cs typeface="+mn-cs"/>
                </a:rPr>
                <a:t>writes and preserve provenance.</a:t>
              </a:r>
              <a:br>
                <a:rPr lang="en-US" sz="1500" dirty="0">
                  <a:solidFill>
                    <a:schemeClr val="dk1"/>
                  </a:solidFill>
                  <a:latin typeface="+mn-lt"/>
                  <a:ea typeface="+mn-ea"/>
                  <a:cs typeface="+mn-cs"/>
                </a:rPr>
              </a:br>
              <a:r>
                <a:rPr lang="en-US" sz="1500" dirty="0">
                  <a:solidFill>
                    <a:schemeClr val="dk1"/>
                  </a:solidFill>
                  <a:latin typeface="+mn-lt"/>
                  <a:ea typeface="+mn-ea"/>
                  <a:cs typeface="+mn-cs"/>
                </a:rPr>
                <a:t>Independent approval triage can</a:t>
              </a:r>
              <a:br>
                <a:rPr lang="en-US" sz="1500" dirty="0">
                  <a:solidFill>
                    <a:schemeClr val="dk1"/>
                  </a:solidFill>
                  <a:latin typeface="+mn-lt"/>
                  <a:ea typeface="+mn-ea"/>
                  <a:cs typeface="+mn-cs"/>
                </a:rPr>
              </a:br>
              <a:r>
                <a:rPr lang="en-US" sz="1500" dirty="0">
                  <a:solidFill>
                    <a:schemeClr val="dk1"/>
                  </a:solidFill>
                  <a:latin typeface="+mn-lt"/>
                  <a:ea typeface="+mn-ea"/>
                  <a:cs typeface="+mn-cs"/>
                </a:rPr>
                <a:t>reduce attention demands only if</a:t>
              </a:r>
              <a:br>
                <a:rPr lang="en-US" sz="1500" dirty="0">
                  <a:solidFill>
                    <a:schemeClr val="dk1"/>
                  </a:solidFill>
                  <a:latin typeface="+mn-lt"/>
                  <a:ea typeface="+mn-ea"/>
                  <a:cs typeface="+mn-cs"/>
                </a:rPr>
              </a:br>
              <a:r>
                <a:rPr lang="en-US" sz="1500" dirty="0">
                  <a:solidFill>
                    <a:schemeClr val="dk1"/>
                  </a:solidFill>
                  <a:latin typeface="+mn-lt"/>
                  <a:ea typeface="+mn-ea"/>
                  <a:cs typeface="+mn-cs"/>
                </a:rPr>
                <a:t>its errors and enforcement role are</a:t>
              </a:r>
              <a:br>
                <a:rPr lang="en-US" sz="1500" dirty="0">
                  <a:solidFill>
                    <a:schemeClr val="dk1"/>
                  </a:solidFill>
                  <a:latin typeface="+mn-lt"/>
                  <a:ea typeface="+mn-ea"/>
                  <a:cs typeface="+mn-cs"/>
                </a:rPr>
              </a:br>
              <a:r>
                <a:rPr lang="en-US" sz="1500" dirty="0">
                  <a:solidFill>
                    <a:schemeClr val="dk1"/>
                  </a:solidFill>
                  <a:latin typeface="+mn-lt"/>
                  <a:ea typeface="+mn-ea"/>
                  <a:cs typeface="+mn-cs"/>
                </a:rPr>
                <a:t>understood; it cannot silently</a:t>
              </a:r>
              <a:br>
                <a:rPr lang="en-US" sz="1500" dirty="0">
                  <a:solidFill>
                    <a:schemeClr val="dk1"/>
                  </a:solidFill>
                  <a:latin typeface="+mn-lt"/>
                  <a:ea typeface="+mn-ea"/>
                  <a:cs typeface="+mn-cs"/>
                </a:rPr>
              </a:br>
              <a:r>
                <a:rPr lang="en-US" sz="1500" dirty="0">
                  <a:solidFill>
                    <a:schemeClr val="dk1"/>
                  </a:solidFill>
                  <a:latin typeface="+mn-lt"/>
                  <a:ea typeface="+mn-ea"/>
                  <a:cs typeface="+mn-cs"/>
                </a:rPr>
                <a:t>waive required approval.</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4580613"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Two Sigma · Bloomberg · Intuit Credit Karma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21 / 37</a:t>
              </a:r>
            </a:p>
          </p:txBody>
        </p:sp>
      </p:gr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809140" cy="1100582"/>
            <a:chOff x="443484" y="361950"/>
            <a:chExt cx="9809140" cy="1100582"/>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876082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Make verification cheap, independent and repeatable</a:t>
              </a:r>
            </a:p>
          </p:txBody>
        </p:sp>
        <p:sp>
          <p:nvSpPr>
            <p:cNvPr id="4" name="TextBox 4"/>
            <p:cNvSpPr txBox="1"/>
            <p:nvPr/>
          </p:nvSpPr>
          <p:spPr>
            <a:xfrm>
              <a:off x="448818" y="1139825"/>
              <a:ext cx="9803806"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Sonar motivates independent checks; Capital One argues for lowering the cost of engineering rigor.</a:t>
              </a:r>
            </a:p>
          </p:txBody>
        </p:sp>
      </p:grpSp>
      <p:grpSp>
        <p:nvGrpSpPr>
          <p:cNvPr id="8" name="analysis-1"/>
          <p:cNvGrpSpPr/>
          <p:nvPr/>
        </p:nvGrpSpPr>
        <p:grpSpPr>
          <a:xfrm>
            <a:off x="448056" y="1876425"/>
            <a:ext cx="3276436" cy="2979420"/>
            <a:chOff x="448056" y="1876425"/>
            <a:chExt cx="3276436" cy="2979420"/>
          </a:xfrm>
        </p:grpSpPr>
        <p:sp>
          <p:nvSpPr>
            <p:cNvPr id="6" name="TextBox 6"/>
            <p:cNvSpPr txBox="1"/>
            <p:nvPr/>
          </p:nvSpPr>
          <p:spPr>
            <a:xfrm>
              <a:off x="448056" y="1876425"/>
              <a:ext cx="327643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Creation: prevent and inspect</a:t>
              </a:r>
            </a:p>
          </p:txBody>
        </p:sp>
        <p:sp>
          <p:nvSpPr>
            <p:cNvPr id="7" name="TextBox 7"/>
            <p:cNvSpPr txBox="1"/>
            <p:nvPr/>
          </p:nvSpPr>
          <p:spPr>
            <a:xfrm>
              <a:off x="449580" y="2505075"/>
              <a:ext cx="3054325"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Supply intent, constraints, shared</a:t>
              </a:r>
              <a:br>
                <a:rPr lang="en-US" sz="1500" dirty="0">
                  <a:solidFill>
                    <a:schemeClr val="dk1"/>
                  </a:solidFill>
                  <a:latin typeface="+mn-lt"/>
                  <a:ea typeface="+mn-ea"/>
                  <a:cs typeface="+mn-cs"/>
                </a:rPr>
              </a:br>
              <a:r>
                <a:rPr lang="en-US" sz="1500" dirty="0">
                  <a:solidFill>
                    <a:schemeClr val="dk1"/>
                  </a:solidFill>
                  <a:latin typeface="+mn-lt"/>
                  <a:ea typeface="+mn-ea"/>
                  <a:cs typeface="+mn-cs"/>
                </a:rPr>
                <a:t>test fixtures and fast low-noise</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while work is generated.</a:t>
              </a:r>
              <a:br>
                <a:rPr lang="en-US" sz="1500" dirty="0">
                  <a:solidFill>
                    <a:schemeClr val="dk1"/>
                  </a:solidFill>
                  <a:latin typeface="+mn-lt"/>
                  <a:ea typeface="+mn-ea"/>
                  <a:cs typeface="+mn-cs"/>
                </a:rPr>
              </a:br>
              <a:r>
                <a:rPr lang="en-US" sz="1500" dirty="0">
                  <a:solidFill>
                    <a:schemeClr val="dk1"/>
                  </a:solidFill>
                  <a:latin typeface="+mn-lt"/>
                  <a:ea typeface="+mn-ea"/>
                  <a:cs typeface="+mn-cs"/>
                </a:rPr>
                <a:t>Keep deterministic checks for</a:t>
              </a:r>
              <a:br>
                <a:rPr lang="en-US" sz="1500" dirty="0">
                  <a:solidFill>
                    <a:schemeClr val="dk1"/>
                  </a:solidFill>
                  <a:latin typeface="+mn-lt"/>
                  <a:ea typeface="+mn-ea"/>
                  <a:cs typeface="+mn-cs"/>
                </a:rPr>
              </a:br>
              <a:r>
                <a:rPr lang="en-US" sz="1500" dirty="0">
                  <a:solidFill>
                    <a:schemeClr val="dk1"/>
                  </a:solidFill>
                  <a:latin typeface="+mn-lt"/>
                  <a:ea typeface="+mn-ea"/>
                  <a:cs typeface="+mn-cs"/>
                </a:rPr>
                <a:t>properties that can be asserted</a:t>
              </a:r>
              <a:br>
                <a:rPr lang="en-US" sz="1500" dirty="0">
                  <a:solidFill>
                    <a:schemeClr val="dk1"/>
                  </a:solidFill>
                  <a:latin typeface="+mn-lt"/>
                  <a:ea typeface="+mn-ea"/>
                  <a:cs typeface="+mn-cs"/>
                </a:rPr>
              </a:br>
              <a:r>
                <a:rPr lang="en-US" sz="1500" dirty="0">
                  <a:solidFill>
                    <a:schemeClr val="dk1"/>
                  </a:solidFill>
                  <a:latin typeface="+mn-lt"/>
                  <a:ea typeface="+mn-ea"/>
                  <a:cs typeface="+mn-cs"/>
                </a:rPr>
                <a:t>exactly. Another model’s agreement</a:t>
              </a:r>
              <a:br>
                <a:rPr lang="en-US" sz="1500" dirty="0">
                  <a:solidFill>
                    <a:schemeClr val="dk1"/>
                  </a:solidFill>
                  <a:latin typeface="+mn-lt"/>
                  <a:ea typeface="+mn-ea"/>
                  <a:cs typeface="+mn-cs"/>
                </a:rPr>
              </a:br>
              <a:r>
                <a:rPr lang="en-US" sz="1500" dirty="0">
                  <a:solidFill>
                    <a:schemeClr val="dk1"/>
                  </a:solidFill>
                  <a:latin typeface="+mn-lt"/>
                  <a:ea typeface="+mn-ea"/>
                  <a:cs typeface="+mn-cs"/>
                </a:rPr>
                <a:t>or a quick approval does not</a:t>
              </a:r>
              <a:br>
                <a:rPr lang="en-US" sz="1500" dirty="0">
                  <a:solidFill>
                    <a:schemeClr val="dk1"/>
                  </a:solidFill>
                  <a:latin typeface="+mn-lt"/>
                  <a:ea typeface="+mn-ea"/>
                  <a:cs typeface="+mn-cs"/>
                </a:rPr>
              </a:br>
              <a:r>
                <a:rPr lang="en-US" sz="1500" dirty="0">
                  <a:solidFill>
                    <a:schemeClr val="dk1"/>
                  </a:solidFill>
                  <a:latin typeface="+mn-lt"/>
                  <a:ea typeface="+mn-ea"/>
                  <a:cs typeface="+mn-cs"/>
                </a:rPr>
                <a:t>replace independent evidence of</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correctness.</a:t>
              </a:r>
            </a:p>
          </p:txBody>
        </p:sp>
      </p:grpSp>
      <p:grpSp>
        <p:nvGrpSpPr>
          <p:cNvPr id="11" name="analysis-2"/>
          <p:cNvGrpSpPr/>
          <p:nvPr/>
        </p:nvGrpSpPr>
        <p:grpSpPr>
          <a:xfrm>
            <a:off x="4296156" y="1876425"/>
            <a:ext cx="3066821" cy="2979420"/>
            <a:chOff x="4296156" y="1876425"/>
            <a:chExt cx="3066821" cy="2979420"/>
          </a:xfrm>
        </p:grpSpPr>
        <p:sp>
          <p:nvSpPr>
            <p:cNvPr id="9" name="TextBox 9"/>
            <p:cNvSpPr txBox="1"/>
            <p:nvPr/>
          </p:nvSpPr>
          <p:spPr>
            <a:xfrm>
              <a:off x="4296156" y="1876425"/>
              <a:ext cx="2764094"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Release: verify the complete</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change</a:t>
              </a:r>
            </a:p>
          </p:txBody>
        </p:sp>
        <p:sp>
          <p:nvSpPr>
            <p:cNvPr id="10" name="TextBox 10"/>
            <p:cNvSpPr txBox="1"/>
            <p:nvPr/>
          </p:nvSpPr>
          <p:spPr>
            <a:xfrm>
              <a:off x="4297680" y="2505075"/>
              <a:ext cx="3065297"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Test interfaces, permissions,</a:t>
              </a:r>
              <a:br>
                <a:rPr lang="en-US" sz="1500" dirty="0">
                  <a:solidFill>
                    <a:schemeClr val="dk1"/>
                  </a:solidFill>
                  <a:latin typeface="+mn-lt"/>
                  <a:ea typeface="+mn-ea"/>
                  <a:cs typeface="+mn-cs"/>
                </a:rPr>
              </a:br>
              <a:r>
                <a:rPr lang="en-US" sz="1500" dirty="0">
                  <a:solidFill>
                    <a:schemeClr val="dk1"/>
                  </a:solidFill>
                  <a:latin typeface="+mn-lt"/>
                  <a:ea typeface="+mn-ea"/>
                  <a:cs typeface="+mn-cs"/>
                </a:rPr>
                <a:t>financial invariants and</a:t>
              </a:r>
              <a:br>
                <a:rPr lang="en-US" sz="1500" dirty="0">
                  <a:solidFill>
                    <a:schemeClr val="dk1"/>
                  </a:solidFill>
                  <a:latin typeface="+mn-lt"/>
                  <a:ea typeface="+mn-ea"/>
                  <a:cs typeface="+mn-cs"/>
                </a:rPr>
              </a:br>
              <a:r>
                <a:rPr lang="en-US" sz="1500" dirty="0">
                  <a:solidFill>
                    <a:schemeClr val="dk1"/>
                  </a:solidFill>
                  <a:latin typeface="+mn-lt"/>
                  <a:ea typeface="+mn-ea"/>
                  <a:cs typeface="+mn-cs"/>
                </a:rPr>
                <a:t>representative regressions. Inspect</a:t>
              </a:r>
              <a:br>
                <a:rPr lang="en-US" sz="1500" dirty="0">
                  <a:solidFill>
                    <a:schemeClr val="dk1"/>
                  </a:solidFill>
                  <a:latin typeface="+mn-lt"/>
                  <a:ea typeface="+mn-ea"/>
                  <a:cs typeface="+mn-cs"/>
                </a:rPr>
              </a:br>
              <a:r>
                <a:rPr lang="en-US" sz="1500" dirty="0">
                  <a:solidFill>
                    <a:schemeClr val="dk1"/>
                  </a:solidFill>
                  <a:latin typeface="+mn-lt"/>
                  <a:ea typeface="+mn-ea"/>
                  <a:cs typeface="+mn-cs"/>
                </a:rPr>
                <a:t>the current saved artifact after</a:t>
              </a:r>
              <a:br>
                <a:rPr lang="en-US" sz="1500" dirty="0">
                  <a:solidFill>
                    <a:schemeClr val="dk1"/>
                  </a:solidFill>
                  <a:latin typeface="+mn-lt"/>
                  <a:ea typeface="+mn-ea"/>
                  <a:cs typeface="+mn-cs"/>
                </a:rPr>
              </a:br>
              <a:r>
                <a:rPr lang="en-US" sz="1500" dirty="0">
                  <a:solidFill>
                    <a:schemeClr val="dk1"/>
                  </a:solidFill>
                  <a:latin typeface="+mn-lt"/>
                  <a:ea typeface="+mn-ea"/>
                  <a:cs typeface="+mn-cs"/>
                </a:rPr>
                <a:t>the last edit. Keep the 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and the decision owner together; a</a:t>
              </a:r>
              <a:br>
                <a:rPr lang="en-US" sz="1500" dirty="0">
                  <a:solidFill>
                    <a:schemeClr val="dk1"/>
                  </a:solidFill>
                  <a:latin typeface="+mn-lt"/>
                  <a:ea typeface="+mn-ea"/>
                  <a:cs typeface="+mn-cs"/>
                </a:rPr>
              </a:br>
              <a:r>
                <a:rPr lang="en-US" sz="1500" dirty="0">
                  <a:solidFill>
                    <a:schemeClr val="dk1"/>
                  </a:solidFill>
                  <a:latin typeface="+mn-lt"/>
                  <a:ea typeface="+mn-ea"/>
                  <a:cs typeface="+mn-cs"/>
                </a:rPr>
                <a:t>check that can be bypassed or does</a:t>
              </a:r>
              <a:br>
                <a:rPr lang="en-US" sz="1500" dirty="0">
                  <a:solidFill>
                    <a:schemeClr val="dk1"/>
                  </a:solidFill>
                  <a:latin typeface="+mn-lt"/>
                  <a:ea typeface="+mn-ea"/>
                  <a:cs typeface="+mn-cs"/>
                </a:rPr>
              </a:br>
              <a:r>
                <a:rPr lang="en-US" sz="1500" dirty="0">
                  <a:solidFill>
                    <a:schemeClr val="dk1"/>
                  </a:solidFill>
                  <a:latin typeface="+mn-lt"/>
                  <a:ea typeface="+mn-ea"/>
                  <a:cs typeface="+mn-cs"/>
                </a:rPr>
                <a:t>not halt the relevant action is an</a:t>
              </a:r>
              <a:br>
                <a:rPr lang="en-US" sz="1500" dirty="0">
                  <a:solidFill>
                    <a:schemeClr val="dk1"/>
                  </a:solidFill>
                  <a:latin typeface="+mn-lt"/>
                  <a:ea typeface="+mn-ea"/>
                  <a:cs typeface="+mn-cs"/>
                </a:rPr>
              </a:br>
              <a:r>
                <a:rPr lang="en-US" sz="1500" dirty="0">
                  <a:solidFill>
                    <a:schemeClr val="dk1"/>
                  </a:solidFill>
                  <a:latin typeface="+mn-lt"/>
                  <a:ea typeface="+mn-ea"/>
                  <a:cs typeface="+mn-cs"/>
                </a:rPr>
                <a:t>incomplete gate.</a:t>
              </a:r>
            </a:p>
          </p:txBody>
        </p:sp>
      </p:grpSp>
      <p:grpSp>
        <p:nvGrpSpPr>
          <p:cNvPr id="14" name="analysis-3"/>
          <p:cNvGrpSpPr/>
          <p:nvPr/>
        </p:nvGrpSpPr>
        <p:grpSpPr>
          <a:xfrm>
            <a:off x="8144256" y="1876425"/>
            <a:ext cx="3002928" cy="3236595"/>
            <a:chOff x="8144256" y="1876425"/>
            <a:chExt cx="3002928" cy="3236595"/>
          </a:xfrm>
        </p:grpSpPr>
        <p:sp>
          <p:nvSpPr>
            <p:cNvPr id="12" name="TextBox 12"/>
            <p:cNvSpPr txBox="1"/>
            <p:nvPr/>
          </p:nvSpPr>
          <p:spPr>
            <a:xfrm>
              <a:off x="8144256" y="1876425"/>
              <a:ext cx="2543678"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Operation: reproduce and</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repair</a:t>
              </a:r>
            </a:p>
          </p:txBody>
        </p:sp>
        <p:sp>
          <p:nvSpPr>
            <p:cNvPr id="13" name="TextBox 13"/>
            <p:cNvSpPr txBox="1"/>
            <p:nvPr/>
          </p:nvSpPr>
          <p:spPr>
            <a:xfrm>
              <a:off x="8145780" y="2505075"/>
              <a:ext cx="3001404"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Capture escaped failures,</a:t>
              </a:r>
              <a:br>
                <a:rPr lang="en-US" sz="1500" dirty="0">
                  <a:solidFill>
                    <a:schemeClr val="dk1"/>
                  </a:solidFill>
                  <a:latin typeface="+mn-lt"/>
                  <a:ea typeface="+mn-ea"/>
                  <a:cs typeface="+mn-cs"/>
                </a:rPr>
              </a:br>
              <a:r>
                <a:rPr lang="en-US" sz="1500" dirty="0">
                  <a:solidFill>
                    <a:schemeClr val="dk1"/>
                  </a:solidFill>
                  <a:latin typeface="+mn-lt"/>
                  <a:ea typeface="+mn-ea"/>
                  <a:cs typeface="+mn-cs"/>
                </a:rPr>
                <a:t>reconstruct their context and</a:t>
              </a:r>
              <a:br>
                <a:rPr lang="en-US" sz="1500" dirty="0">
                  <a:solidFill>
                    <a:schemeClr val="dk1"/>
                  </a:solidFill>
                  <a:latin typeface="+mn-lt"/>
                  <a:ea typeface="+mn-ea"/>
                  <a:cs typeface="+mn-cs"/>
                </a:rPr>
              </a:br>
              <a:r>
                <a:rPr lang="en-US" sz="1500" dirty="0">
                  <a:solidFill>
                    <a:schemeClr val="dk1"/>
                  </a:solidFill>
                  <a:latin typeface="+mn-lt"/>
                  <a:ea typeface="+mn-ea"/>
                  <a:cs typeface="+mn-cs"/>
                </a:rPr>
                <a:t>verify the repair against other</a:t>
              </a:r>
              <a:br>
                <a:rPr lang="en-US" sz="1500" dirty="0">
                  <a:solidFill>
                    <a:schemeClr val="dk1"/>
                  </a:solidFill>
                  <a:latin typeface="+mn-lt"/>
                  <a:ea typeface="+mn-ea"/>
                  <a:cs typeface="+mn-cs"/>
                </a:rPr>
              </a:br>
              <a:r>
                <a:rPr lang="en-US" sz="1500" dirty="0">
                  <a:solidFill>
                    <a:schemeClr val="dk1"/>
                  </a:solidFill>
                  <a:latin typeface="+mn-lt"/>
                  <a:ea typeface="+mn-ea"/>
                  <a:cs typeface="+mn-cs"/>
                </a:rPr>
                <a:t>work. The confidence product in</a:t>
              </a:r>
              <a:br>
                <a:rPr lang="en-US" sz="1500" dirty="0">
                  <a:solidFill>
                    <a:schemeClr val="dk1"/>
                  </a:solidFill>
                  <a:latin typeface="+mn-lt"/>
                  <a:ea typeface="+mn-ea"/>
                  <a:cs typeface="+mn-cs"/>
                </a:rPr>
              </a:br>
              <a:r>
                <a:rPr lang="en-US" sz="1500" dirty="0">
                  <a:solidFill>
                    <a:schemeClr val="dk1"/>
                  </a:solidFill>
                  <a:latin typeface="+mn-lt"/>
                  <a:ea typeface="+mn-ea"/>
                  <a:cs typeface="+mn-cs"/>
                </a:rPr>
                <a:t>Sonar’s talk is conceptual, and its</a:t>
              </a:r>
              <a:br>
                <a:rPr lang="en-US" sz="1500" dirty="0">
                  <a:solidFill>
                    <a:schemeClr val="dk1"/>
                  </a:solidFill>
                  <a:latin typeface="+mn-lt"/>
                  <a:ea typeface="+mn-ea"/>
                  <a:cs typeface="+mn-cs"/>
                </a:rPr>
              </a:br>
              <a:r>
                <a:rPr lang="en-US" sz="1500" dirty="0">
                  <a:solidFill>
                    <a:schemeClr val="dk1"/>
                  </a:solidFill>
                  <a:latin typeface="+mn-lt"/>
                  <a:ea typeface="+mn-ea"/>
                  <a:cs typeface="+mn-cs"/>
                </a:rPr>
                <a:t>code-size illustration is</a:t>
              </a:r>
              <a:br>
                <a:rPr lang="en-US" sz="1500" dirty="0">
                  <a:solidFill>
                    <a:schemeClr val="dk1"/>
                  </a:solidFill>
                  <a:latin typeface="+mn-lt"/>
                  <a:ea typeface="+mn-ea"/>
                  <a:cs typeface="+mn-cs"/>
                </a:rPr>
              </a:br>
              <a:r>
                <a:rPr lang="en-US" sz="1500" dirty="0">
                  <a:solidFill>
                    <a:schemeClr val="dk1"/>
                  </a:solidFill>
                  <a:latin typeface="+mn-lt"/>
                  <a:ea typeface="+mn-ea"/>
                  <a:cs typeface="+mn-cs"/>
                </a:rPr>
                <a:t>workload-specific. Neither supplies</a:t>
              </a:r>
              <a:br>
                <a:rPr lang="en-US" sz="1500" dirty="0">
                  <a:solidFill>
                    <a:schemeClr val="dk1"/>
                  </a:solidFill>
                  <a:latin typeface="+mn-lt"/>
                  <a:ea typeface="+mn-ea"/>
                  <a:cs typeface="+mn-cs"/>
                </a:rPr>
              </a:br>
              <a:r>
                <a:rPr lang="en-US" sz="1500" dirty="0">
                  <a:solidFill>
                    <a:schemeClr val="dk1"/>
                  </a:solidFill>
                  <a:latin typeface="+mn-lt"/>
                  <a:ea typeface="+mn-ea"/>
                  <a:cs typeface="+mn-cs"/>
                </a:rPr>
                <a:t>a calibrated assurance formula or a</a:t>
              </a:r>
              <a:br>
                <a:rPr lang="en-US" sz="1500" dirty="0">
                  <a:solidFill>
                    <a:schemeClr val="dk1"/>
                  </a:solidFill>
                  <a:latin typeface="+mn-lt"/>
                  <a:ea typeface="+mn-ea"/>
                  <a:cs typeface="+mn-cs"/>
                </a:rPr>
              </a:br>
              <a:r>
                <a:rPr lang="en-US" sz="1500" dirty="0">
                  <a:solidFill>
                    <a:schemeClr val="dk1"/>
                  </a:solidFill>
                  <a:latin typeface="+mn-lt"/>
                  <a:ea typeface="+mn-ea"/>
                  <a:cs typeface="+mn-cs"/>
                </a:rPr>
                <a:t>universal limit on agent-generated</a:t>
              </a:r>
              <a:br>
                <a:rPr lang="en-US" sz="1500" dirty="0">
                  <a:solidFill>
                    <a:schemeClr val="dk1"/>
                  </a:solidFill>
                  <a:latin typeface="+mn-lt"/>
                  <a:ea typeface="+mn-ea"/>
                  <a:cs typeface="+mn-cs"/>
                </a:rPr>
              </a:br>
              <a:r>
                <a:rPr lang="en-US" sz="1500" dirty="0">
                  <a:solidFill>
                    <a:schemeClr val="dk1"/>
                  </a:solidFill>
                  <a:latin typeface="+mn-lt"/>
                  <a:ea typeface="+mn-ea"/>
                  <a:cs typeface="+mn-cs"/>
                </a:rPr>
                <a:t>software.</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322214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Sonar · Capital One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22 / 37</a:t>
              </a:r>
            </a:p>
          </p:txBody>
        </p:sp>
      </p:grpSp>
    </p:spTree>
  </p:cSld>
  <p:clrMapOvr>
    <a:masterClrMapping/>
  </p:clrMapOvr>
  <p:transition xmlns:p14="http://schemas.microsoft.com/office/powerpoint/2010/main" p14:dur="400">
    <p:fad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620514" cy="1364107"/>
            <a:chOff x="443484" y="361950"/>
            <a:chExt cx="9620514" cy="1364107"/>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9620514"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Unknown execution outcomes require deliberate recovery</a:t>
              </a:r>
            </a:p>
          </p:txBody>
        </p:sp>
        <p:sp>
          <p:nvSpPr>
            <p:cNvPr id="4" name="TextBox 4"/>
            <p:cNvSpPr txBox="1"/>
            <p:nvPr/>
          </p:nvSpPr>
          <p:spPr>
            <a:xfrm>
              <a:off x="448818" y="1127125"/>
              <a:ext cx="9172339"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Perpetual constrains dispatch; Arca separately persists service plans through replies, approval and</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settlement.</a:t>
              </a:r>
            </a:p>
          </p:txBody>
        </p:sp>
      </p:grpSp>
      <p:grpSp>
        <p:nvGrpSpPr>
          <p:cNvPr id="9" name="perpetual-dispatch"/>
          <p:cNvGrpSpPr/>
          <p:nvPr/>
        </p:nvGrpSpPr>
        <p:grpSpPr>
          <a:xfrm>
            <a:off x="448056" y="1828800"/>
            <a:ext cx="6409755" cy="1112520"/>
            <a:chOff x="448056" y="1828800"/>
            <a:chExt cx="6409755" cy="1112520"/>
          </a:xfrm>
        </p:grpSpPr>
        <p:sp>
          <p:nvSpPr>
            <p:cNvPr id="6" name="TextBox 6"/>
            <p:cNvSpPr txBox="1"/>
            <p:nvPr/>
          </p:nvSpPr>
          <p:spPr>
            <a:xfrm>
              <a:off x="451104" y="1828800"/>
              <a:ext cx="3653820"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PERPETUAL / EXACT-PAYLOAD APPROVAL</a:t>
              </a:r>
            </a:p>
          </p:txBody>
        </p:sp>
        <p:sp>
          <p:nvSpPr>
            <p:cNvPr id="7" name="TextBox 7"/>
            <p:cNvSpPr txBox="1"/>
            <p:nvPr/>
          </p:nvSpPr>
          <p:spPr>
            <a:xfrm>
              <a:off x="448056" y="2190750"/>
              <a:ext cx="5250281" cy="352044"/>
            </a:xfrm>
            <a:prstGeom prst="rect">
              <a:avLst/>
            </a:prstGeom>
            <a:noFill/>
            <a:ln>
              <a:noFill/>
            </a:ln>
          </p:spPr>
          <p:txBody>
            <a:bodyPr wrap="none" lIns="0" tIns="0" rIns="0" bIns="0" anchor="t" anchorCtr="0">
              <a:spAutoFit/>
            </a:bodyPr>
            <a:lstStyle/>
            <a:p>
              <a:pPr algn="l"/>
              <a:r>
                <a:rPr lang="en-US" sz="1800" dirty="0">
                  <a:solidFill>
                    <a:schemeClr val="accent1"/>
                  </a:solidFill>
                  <a:latin typeface="+mj-lt"/>
                  <a:ea typeface="+mj-ea"/>
                  <a:cs typeface="+mj-cs"/>
                </a:rPr>
                <a:t>Approve payload → dispatch request → timeout</a:t>
              </a:r>
            </a:p>
          </p:txBody>
        </p:sp>
        <p:sp>
          <p:nvSpPr>
            <p:cNvPr id="8" name="TextBox 8"/>
            <p:cNvSpPr txBox="1"/>
            <p:nvPr/>
          </p:nvSpPr>
          <p:spPr>
            <a:xfrm>
              <a:off x="449580" y="2647950"/>
              <a:ext cx="6408231"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Teaching reconstruction: an approved email request loses its response.</a:t>
              </a:r>
            </a:p>
          </p:txBody>
        </p:sp>
      </p:grpSp>
      <p:grpSp>
        <p:nvGrpSpPr>
          <p:cNvPr id="13" name="world-sent"/>
          <p:cNvGrpSpPr/>
          <p:nvPr/>
        </p:nvGrpSpPr>
        <p:grpSpPr>
          <a:xfrm>
            <a:off x="457200" y="3333750"/>
            <a:ext cx="3409950" cy="1143000"/>
            <a:chOff x="457200" y="3333750"/>
            <a:chExt cx="3409950" cy="1143000"/>
          </a:xfrm>
        </p:grpSpPr>
        <p:sp>
          <p:nvSpPr>
            <p:cNvPr id="10" name="Rectangle 10"/>
            <p:cNvSpPr/>
            <p:nvPr/>
          </p:nvSpPr>
          <p:spPr>
            <a:xfrm>
              <a:off x="457200" y="3333750"/>
              <a:ext cx="3409950" cy="1143000"/>
            </a:xfrm>
            <a:prstGeom prst="rect">
              <a:avLst/>
            </a:prstGeom>
            <a:solidFill>
              <a:schemeClr val="lt2"/>
            </a:solidFill>
            <a:ln>
              <a:noFill/>
            </a:ln>
          </p:spPr>
        </p:sp>
        <p:sp>
          <p:nvSpPr>
            <p:cNvPr id="11" name="TextBox 11"/>
            <p:cNvSpPr txBox="1"/>
            <p:nvPr/>
          </p:nvSpPr>
          <p:spPr>
            <a:xfrm>
              <a:off x="621030" y="3419475"/>
              <a:ext cx="1655346"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Possible world A</a:t>
              </a:r>
            </a:p>
          </p:txBody>
        </p:sp>
        <p:sp>
          <p:nvSpPr>
            <p:cNvPr id="12" name="TextBox 12"/>
            <p:cNvSpPr txBox="1"/>
            <p:nvPr/>
          </p:nvSpPr>
          <p:spPr>
            <a:xfrm>
              <a:off x="621030" y="3810000"/>
              <a:ext cx="2524403"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The provider sent the email.</a:t>
              </a:r>
            </a:p>
          </p:txBody>
        </p:sp>
      </p:grpSp>
      <p:grpSp>
        <p:nvGrpSpPr>
          <p:cNvPr id="17" name="world-not-sent"/>
          <p:cNvGrpSpPr/>
          <p:nvPr/>
        </p:nvGrpSpPr>
        <p:grpSpPr>
          <a:xfrm>
            <a:off x="4095750" y="3333750"/>
            <a:ext cx="3638550" cy="1143000"/>
            <a:chOff x="4095750" y="3333750"/>
            <a:chExt cx="3638550" cy="1143000"/>
          </a:xfrm>
        </p:grpSpPr>
        <p:sp>
          <p:nvSpPr>
            <p:cNvPr id="14" name="Rectangle 14"/>
            <p:cNvSpPr/>
            <p:nvPr/>
          </p:nvSpPr>
          <p:spPr>
            <a:xfrm>
              <a:off x="4095750" y="3333750"/>
              <a:ext cx="3638550" cy="1143000"/>
            </a:xfrm>
            <a:prstGeom prst="rect">
              <a:avLst/>
            </a:prstGeom>
            <a:solidFill>
              <a:schemeClr val="lt2"/>
            </a:solidFill>
            <a:ln>
              <a:noFill/>
            </a:ln>
          </p:spPr>
        </p:sp>
        <p:sp>
          <p:nvSpPr>
            <p:cNvPr id="15" name="TextBox 15"/>
            <p:cNvSpPr txBox="1"/>
            <p:nvPr/>
          </p:nvSpPr>
          <p:spPr>
            <a:xfrm>
              <a:off x="4259580" y="3419475"/>
              <a:ext cx="1655346"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Possible world B</a:t>
              </a:r>
            </a:p>
          </p:txBody>
        </p:sp>
        <p:sp>
          <p:nvSpPr>
            <p:cNvPr id="16" name="TextBox 16"/>
            <p:cNvSpPr txBox="1"/>
            <p:nvPr/>
          </p:nvSpPr>
          <p:spPr>
            <a:xfrm>
              <a:off x="4259580" y="3810000"/>
              <a:ext cx="2524606"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The provider did not send it.</a:t>
              </a:r>
            </a:p>
          </p:txBody>
        </p:sp>
      </p:grpSp>
      <p:grpSp>
        <p:nvGrpSpPr>
          <p:cNvPr id="21" name="unknown-outcome"/>
          <p:cNvGrpSpPr/>
          <p:nvPr/>
        </p:nvGrpSpPr>
        <p:grpSpPr>
          <a:xfrm>
            <a:off x="457200" y="4705350"/>
            <a:ext cx="7277100" cy="1543050"/>
            <a:chOff x="457200" y="4705350"/>
            <a:chExt cx="7277100" cy="1543050"/>
          </a:xfrm>
        </p:grpSpPr>
        <p:sp>
          <p:nvSpPr>
            <p:cNvPr id="18" name="Rectangle 18"/>
            <p:cNvSpPr/>
            <p:nvPr/>
          </p:nvSpPr>
          <p:spPr>
            <a:xfrm>
              <a:off x="457200" y="4705350"/>
              <a:ext cx="7277100" cy="1543050"/>
            </a:xfrm>
            <a:prstGeom prst="rect">
              <a:avLst/>
            </a:prstGeom>
            <a:solidFill>
              <a:schemeClr val="accent1"/>
            </a:solidFill>
            <a:ln>
              <a:noFill/>
            </a:ln>
          </p:spPr>
        </p:sp>
        <p:sp>
          <p:nvSpPr>
            <p:cNvPr id="19" name="TextBox 19"/>
            <p:cNvSpPr txBox="1"/>
            <p:nvPr/>
          </p:nvSpPr>
          <p:spPr>
            <a:xfrm>
              <a:off x="657606" y="4829175"/>
              <a:ext cx="2991305"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Outcome unknown ≠ failed</a:t>
              </a:r>
            </a:p>
          </p:txBody>
        </p:sp>
        <p:sp>
          <p:nvSpPr>
            <p:cNvPr id="20" name="TextBox 20"/>
            <p:cNvSpPr txBox="1"/>
            <p:nvPr/>
          </p:nvSpPr>
          <p:spPr>
            <a:xfrm>
              <a:off x="658368" y="5280025"/>
              <a:ext cx="5608019" cy="598932"/>
            </a:xfrm>
            <a:prstGeom prst="rect">
              <a:avLst/>
            </a:prstGeom>
            <a:noFill/>
            <a:ln>
              <a:noFill/>
            </a:ln>
          </p:spPr>
          <p:txBody>
            <a:bodyPr wrap="none" lIns="0" tIns="0" rIns="0" bIns="0" anchor="t" anchorCtr="0">
              <a:spAutoFit/>
            </a:bodyPr>
            <a:lstStyle/>
            <a:p>
              <a:pPr algn="l">
                <a:lnSpc>
                  <a:spcPts val="2175"/>
                </a:lnSpc>
              </a:pPr>
              <a:r>
                <a:rPr lang="en-US" sz="1650" dirty="0">
                  <a:solidFill>
                    <a:srgbClr val="FFFDF7"/>
                  </a:solidFill>
                  <a:latin typeface="+mn-lt"/>
                  <a:ea typeface="+mn-ea"/>
                  <a:cs typeface="+mn-cs"/>
                </a:rPr>
                <a:t>Reconcile observable state or route to manual review before</a:t>
              </a:r>
              <a:br>
                <a:rPr lang="en-US" sz="1650" dirty="0">
                  <a:solidFill>
                    <a:srgbClr val="FFFDF7"/>
                  </a:solidFill>
                  <a:latin typeface="+mn-lt"/>
                  <a:ea typeface="+mn-ea"/>
                  <a:cs typeface="+mn-cs"/>
                </a:rPr>
              </a:br>
              <a:r>
                <a:rPr lang="en-US" sz="1650" dirty="0">
                  <a:solidFill>
                    <a:srgbClr val="FFFDF7"/>
                  </a:solidFill>
                  <a:latin typeface="+mn-lt"/>
                  <a:ea typeface="+mn-ea"/>
                  <a:cs typeface="+mn-cs"/>
                </a:rPr>
                <a:t>retry. A changed payload requires new authority.</a:t>
              </a:r>
            </a:p>
          </p:txBody>
        </p:sp>
      </p:grpSp>
      <p:grpSp>
        <p:nvGrpSpPr>
          <p:cNvPr id="27" name="arca-waits"/>
          <p:cNvGrpSpPr/>
          <p:nvPr/>
        </p:nvGrpSpPr>
        <p:grpSpPr>
          <a:xfrm>
            <a:off x="8144256" y="1828800"/>
            <a:ext cx="2907563" cy="4048633"/>
            <a:chOff x="8144256" y="1828800"/>
            <a:chExt cx="2907563" cy="4048633"/>
          </a:xfrm>
        </p:grpSpPr>
        <p:sp>
          <p:nvSpPr>
            <p:cNvPr id="22" name="TextBox 22"/>
            <p:cNvSpPr txBox="1"/>
            <p:nvPr/>
          </p:nvSpPr>
          <p:spPr>
            <a:xfrm>
              <a:off x="8147304" y="1828800"/>
              <a:ext cx="2183787"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ARCA / DISTINCT SYSTEM</a:t>
              </a:r>
            </a:p>
          </p:txBody>
        </p:sp>
        <p:sp>
          <p:nvSpPr>
            <p:cNvPr id="23" name="TextBox 23"/>
            <p:cNvSpPr txBox="1"/>
            <p:nvPr/>
          </p:nvSpPr>
          <p:spPr>
            <a:xfrm>
              <a:off x="8144256" y="2162175"/>
              <a:ext cx="2090577" cy="352044"/>
            </a:xfrm>
            <a:prstGeom prst="rect">
              <a:avLst/>
            </a:prstGeom>
            <a:noFill/>
            <a:ln>
              <a:noFill/>
            </a:ln>
          </p:spPr>
          <p:txBody>
            <a:bodyPr wrap="none" lIns="0" tIns="0" rIns="0" bIns="0" anchor="t" anchorCtr="0">
              <a:spAutoFit/>
            </a:bodyPr>
            <a:lstStyle/>
            <a:p>
              <a:pPr algn="l"/>
              <a:r>
                <a:rPr lang="en-US" sz="1800" dirty="0">
                  <a:solidFill>
                    <a:schemeClr val="accent1"/>
                  </a:solidFill>
                  <a:latin typeface="+mj-lt"/>
                  <a:ea typeface="+mj-ea"/>
                  <a:cs typeface="+mj-cs"/>
                </a:rPr>
                <a:t>Service spans days</a:t>
              </a:r>
            </a:p>
          </p:txBody>
        </p:sp>
        <p:sp>
          <p:nvSpPr>
            <p:cNvPr id="24" name="TextBox 24"/>
            <p:cNvSpPr txBox="1"/>
            <p:nvPr/>
          </p:nvSpPr>
          <p:spPr>
            <a:xfrm>
              <a:off x="8145780" y="2638425"/>
              <a:ext cx="2906039" cy="78867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A narrated tax-payment plan waits</a:t>
              </a:r>
              <a:br>
                <a:rPr lang="en-US" sz="1500" dirty="0">
                  <a:solidFill>
                    <a:schemeClr val="dk1"/>
                  </a:solidFill>
                  <a:latin typeface="+mn-lt"/>
                  <a:ea typeface="+mn-ea"/>
                  <a:cs typeface="+mn-cs"/>
                </a:rPr>
              </a:br>
              <a:r>
                <a:rPr lang="en-US" sz="1500" dirty="0">
                  <a:solidFill>
                    <a:schemeClr val="dk1"/>
                  </a:solidFill>
                  <a:latin typeface="+mn-lt"/>
                  <a:ea typeface="+mn-ea"/>
                  <a:cs typeface="+mn-cs"/>
                </a:rPr>
                <a:t>for replies, approval, trades and</a:t>
              </a:r>
              <a:br>
                <a:rPr lang="en-US" sz="1500" dirty="0">
                  <a:solidFill>
                    <a:schemeClr val="dk1"/>
                  </a:solidFill>
                  <a:latin typeface="+mn-lt"/>
                  <a:ea typeface="+mn-ea"/>
                  <a:cs typeface="+mn-cs"/>
                </a:rPr>
              </a:br>
              <a:r>
                <a:rPr lang="en-US" sz="1500" dirty="0">
                  <a:solidFill>
                    <a:schemeClr val="dk1"/>
                  </a:solidFill>
                  <a:latin typeface="+mn-lt"/>
                  <a:ea typeface="+mn-ea"/>
                  <a:cs typeface="+mn-cs"/>
                </a:rPr>
                <a:t>settlement.</a:t>
              </a:r>
            </a:p>
          </p:txBody>
        </p:sp>
        <p:sp>
          <p:nvSpPr>
            <p:cNvPr id="25" name="TextBox 25"/>
            <p:cNvSpPr txBox="1"/>
            <p:nvPr/>
          </p:nvSpPr>
          <p:spPr>
            <a:xfrm>
              <a:off x="8145780" y="3952875"/>
              <a:ext cx="2736837" cy="541020"/>
            </a:xfrm>
            <a:prstGeom prst="rect">
              <a:avLst/>
            </a:prstGeom>
            <a:noFill/>
            <a:ln>
              <a:noFill/>
            </a:ln>
          </p:spPr>
          <p:txBody>
            <a:bodyPr wrap="none" lIns="0" tIns="0" rIns="0" bIns="0" anchor="t" anchorCtr="0">
              <a:spAutoFit/>
            </a:bodyPr>
            <a:lstStyle/>
            <a:p>
              <a:pPr algn="l">
                <a:lnSpc>
                  <a:spcPts val="1950"/>
                </a:lnSpc>
              </a:pPr>
              <a:r>
                <a:rPr lang="en-US" sz="1500" dirty="0">
                  <a:solidFill>
                    <a:schemeClr val="dk1"/>
                  </a:solidFill>
                  <a:latin typeface="+mn-lt"/>
                  <a:ea typeface="+mn-ea"/>
                  <a:cs typeface="+mn-cs"/>
                </a:rPr>
                <a:t>Persist the plan and next owner.</a:t>
              </a:r>
              <a:br>
                <a:rPr lang="en-US" sz="1500" dirty="0">
                  <a:solidFill>
                    <a:schemeClr val="dk1"/>
                  </a:solidFill>
                  <a:latin typeface="+mn-lt"/>
                  <a:ea typeface="+mn-ea"/>
                  <a:cs typeface="+mn-cs"/>
                </a:rPr>
              </a:br>
              <a:r>
                <a:rPr lang="en-US" sz="1500" dirty="0">
                  <a:solidFill>
                    <a:schemeClr val="dk1"/>
                  </a:solidFill>
                  <a:latin typeface="+mn-lt"/>
                  <a:ea typeface="+mn-ea"/>
                  <a:cs typeface="+mn-cs"/>
                </a:rPr>
                <a:t>Wake on an event or deadline.</a:t>
              </a:r>
            </a:p>
          </p:txBody>
        </p:sp>
        <p:sp>
          <p:nvSpPr>
            <p:cNvPr id="26" name="TextBox 26"/>
            <p:cNvSpPr txBox="1"/>
            <p:nvPr/>
          </p:nvSpPr>
          <p:spPr>
            <a:xfrm>
              <a:off x="8146542" y="5156200"/>
              <a:ext cx="2615161" cy="721233"/>
            </a:xfrm>
            <a:prstGeom prst="rect">
              <a:avLst/>
            </a:prstGeom>
            <a:noFill/>
            <a:ln>
              <a:noFill/>
            </a:ln>
          </p:spPr>
          <p:txBody>
            <a:bodyPr wrap="none" lIns="0" tIns="0" rIns="0" bIns="0" anchor="t" anchorCtr="0">
              <a:spAutoFit/>
            </a:bodyPr>
            <a:lstStyle/>
            <a:p>
              <a:pPr algn="l">
                <a:lnSpc>
                  <a:spcPts val="1800"/>
                </a:lnSpc>
              </a:pPr>
              <a:r>
                <a:rPr lang="en-US" sz="1350" dirty="0">
                  <a:solidFill>
                    <a:schemeClr val="accent5"/>
                  </a:solidFill>
                  <a:latin typeface="+mn-lt"/>
                  <a:ea typeface="+mn-ea"/>
                  <a:cs typeface="+mn-cs"/>
                </a:rPr>
                <a:t>Illustrative story; no measured</a:t>
              </a:r>
              <a:br>
                <a:rPr lang="en-US" sz="1350" dirty="0">
                  <a:solidFill>
                    <a:schemeClr val="accent5"/>
                  </a:solidFill>
                  <a:latin typeface="+mn-lt"/>
                  <a:ea typeface="+mn-ea"/>
                  <a:cs typeface="+mn-cs"/>
                </a:rPr>
              </a:br>
              <a:r>
                <a:rPr lang="en-US" sz="1350" dirty="0">
                  <a:solidFill>
                    <a:schemeClr val="accent5"/>
                  </a:solidFill>
                  <a:latin typeface="+mn-lt"/>
                  <a:ea typeface="+mn-ea"/>
                  <a:cs typeface="+mn-cs"/>
                </a:rPr>
                <a:t>reliability result. The timeout at left</a:t>
              </a:r>
              <a:br>
                <a:rPr lang="en-US" sz="1350" dirty="0">
                  <a:solidFill>
                    <a:schemeClr val="accent5"/>
                  </a:solidFill>
                  <a:latin typeface="+mn-lt"/>
                  <a:ea typeface="+mn-ea"/>
                  <a:cs typeface="+mn-cs"/>
                </a:rPr>
              </a:br>
              <a:r>
                <a:rPr lang="en-US" sz="1350" dirty="0">
                  <a:solidFill>
                    <a:schemeClr val="accent5"/>
                  </a:solidFill>
                  <a:latin typeface="+mn-lt"/>
                  <a:ea typeface="+mn-ea"/>
                  <a:cs typeface="+mn-cs"/>
                </a:rPr>
                <a:t>is not a reported incident.</a:t>
              </a:r>
            </a:p>
          </p:txBody>
        </p:sp>
      </p:grpSp>
      <p:grpSp>
        <p:nvGrpSpPr>
          <p:cNvPr id="30" name="footer"/>
          <p:cNvGrpSpPr/>
          <p:nvPr/>
        </p:nvGrpSpPr>
        <p:grpSpPr>
          <a:xfrm>
            <a:off x="452438" y="6477000"/>
            <a:ext cx="11287124" cy="176212"/>
            <a:chOff x="452438" y="6477000"/>
            <a:chExt cx="11287124" cy="176212"/>
          </a:xfrm>
        </p:grpSpPr>
        <p:sp>
          <p:nvSpPr>
            <p:cNvPr id="28" name="TextBox 28"/>
            <p:cNvSpPr txBox="1"/>
            <p:nvPr/>
          </p:nvSpPr>
          <p:spPr>
            <a:xfrm>
              <a:off x="452438" y="6477000"/>
              <a:ext cx="3659320"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Arca · Perpetual · Vanguard | Reviewed October 25, 2026</a:t>
              </a:r>
            </a:p>
          </p:txBody>
        </p:sp>
        <p:sp>
          <p:nvSpPr>
            <p:cNvPr id="29" name="TextBox 2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23 / 37</a:t>
              </a:r>
            </a:p>
          </p:txBody>
        </p:sp>
      </p:grpSp>
    </p:spTree>
  </p:cSld>
  <p:clrMapOvr>
    <a:masterClrMapping/>
  </p:clrMapOvr>
  <p:transition xmlns:p14="http://schemas.microsoft.com/office/powerpoint/2010/main" p14:dur="400">
    <p:fad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968645" cy="1100582"/>
            <a:chOff x="443484" y="361950"/>
            <a:chExt cx="9968645" cy="1100582"/>
          </a:xfrm>
        </p:grpSpPr>
        <p:sp>
          <p:nvSpPr>
            <p:cNvPr id="2" name="TextBox 2"/>
            <p:cNvSpPr txBox="1"/>
            <p:nvPr/>
          </p:nvSpPr>
          <p:spPr>
            <a:xfrm>
              <a:off x="451104" y="361950"/>
              <a:ext cx="226937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05 / AI ENGINEER GROWTH</a:t>
              </a:r>
            </a:p>
          </p:txBody>
        </p:sp>
        <p:sp>
          <p:nvSpPr>
            <p:cNvPr id="3" name="TextBox 3"/>
            <p:cNvSpPr txBox="1"/>
            <p:nvPr/>
          </p:nvSpPr>
          <p:spPr>
            <a:xfrm>
              <a:off x="443484" y="593725"/>
              <a:ext cx="8945978"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Persist progress; make execution authority temporary</a:t>
              </a:r>
            </a:p>
          </p:txBody>
        </p:sp>
        <p:sp>
          <p:nvSpPr>
            <p:cNvPr id="4" name="TextBox 4"/>
            <p:cNvSpPr txBox="1"/>
            <p:nvPr/>
          </p:nvSpPr>
          <p:spPr>
            <a:xfrm>
              <a:off x="448818" y="1139825"/>
              <a:ext cx="9963311"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Arize separates durable issue history and skills from disposable sandboxes and bounded credentials.</a:t>
              </a:r>
            </a:p>
          </p:txBody>
        </p:sp>
      </p:grpSp>
      <p:grpSp>
        <p:nvGrpSpPr>
          <p:cNvPr id="10" name="lifetime-0"/>
          <p:cNvGrpSpPr/>
          <p:nvPr/>
        </p:nvGrpSpPr>
        <p:grpSpPr>
          <a:xfrm>
            <a:off x="457200" y="1714500"/>
            <a:ext cx="5448300" cy="2876550"/>
            <a:chOff x="457200" y="1714500"/>
            <a:chExt cx="5448300" cy="2876550"/>
          </a:xfrm>
        </p:grpSpPr>
        <p:sp>
          <p:nvSpPr>
            <p:cNvPr id="6" name="Rectangle 6"/>
            <p:cNvSpPr/>
            <p:nvPr/>
          </p:nvSpPr>
          <p:spPr>
            <a:xfrm>
              <a:off x="457200" y="1714500"/>
              <a:ext cx="5448300" cy="2876550"/>
            </a:xfrm>
            <a:prstGeom prst="rect">
              <a:avLst/>
            </a:prstGeom>
            <a:solidFill>
              <a:schemeClr val="lt2"/>
            </a:solidFill>
            <a:ln>
              <a:noFill/>
            </a:ln>
          </p:spPr>
        </p:sp>
        <p:sp>
          <p:nvSpPr>
            <p:cNvPr id="7" name="TextBox 7"/>
            <p:cNvSpPr txBox="1"/>
            <p:nvPr/>
          </p:nvSpPr>
          <p:spPr>
            <a:xfrm>
              <a:off x="660654" y="1905000"/>
              <a:ext cx="1861528"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DURABLE PROGRESS</a:t>
              </a:r>
            </a:p>
          </p:txBody>
        </p:sp>
        <p:sp>
          <p:nvSpPr>
            <p:cNvPr id="8" name="TextBox 8"/>
            <p:cNvSpPr txBox="1"/>
            <p:nvPr/>
          </p:nvSpPr>
          <p:spPr>
            <a:xfrm>
              <a:off x="657606" y="2200275"/>
              <a:ext cx="375349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Instrument enough to reconstruct</a:t>
              </a:r>
            </a:p>
          </p:txBody>
        </p:sp>
        <p:sp>
          <p:nvSpPr>
            <p:cNvPr id="9" name="TextBox 9"/>
            <p:cNvSpPr txBox="1"/>
            <p:nvPr/>
          </p:nvSpPr>
          <p:spPr>
            <a:xfrm>
              <a:off x="659130" y="2676525"/>
              <a:ext cx="4262056" cy="15792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Retain the request, inputs, permissions, tools,</a:t>
              </a:r>
              <a:br>
                <a:rPr lang="en-US" sz="1500" dirty="0">
                  <a:solidFill>
                    <a:schemeClr val="dk1"/>
                  </a:solidFill>
                  <a:latin typeface="+mn-lt"/>
                  <a:ea typeface="+mn-ea"/>
                  <a:cs typeface="+mn-cs"/>
                </a:rPr>
              </a:br>
              <a:r>
                <a:rPr lang="en-US" sz="1500" dirty="0">
                  <a:solidFill>
                    <a:schemeClr val="dk1"/>
                  </a:solidFill>
                  <a:latin typeface="+mn-lt"/>
                  <a:ea typeface="+mn-ea"/>
                  <a:cs typeface="+mn-cs"/>
                </a:rPr>
                <a:t>result, evaluator and relevant versions.</a:t>
              </a:r>
              <a:br>
                <a:rPr lang="en-US" sz="1500" dirty="0">
                  <a:solidFill>
                    <a:schemeClr val="dk1"/>
                  </a:solidFill>
                  <a:latin typeface="+mn-lt"/>
                  <a:ea typeface="+mn-ea"/>
                  <a:cs typeface="+mn-cs"/>
                </a:rPr>
              </a:br>
              <a:r>
                <a:rPr lang="en-US" sz="1500" dirty="0">
                  <a:solidFill>
                    <a:schemeClr val="dk1"/>
                  </a:solidFill>
                  <a:latin typeface="+mn-lt"/>
                  <a:ea typeface="+mn-ea"/>
                  <a:cs typeface="+mn-cs"/>
                </a:rPr>
                <a:t>Distinguish a run summary from the ordered</a:t>
              </a:r>
              <a:br>
                <a:rPr lang="en-US" sz="1500" dirty="0">
                  <a:solidFill>
                    <a:schemeClr val="dk1"/>
                  </a:solidFill>
                  <a:latin typeface="+mn-lt"/>
                  <a:ea typeface="+mn-ea"/>
                  <a:cs typeface="+mn-cs"/>
                </a:rPr>
              </a:br>
              <a:r>
                <a:rPr lang="en-US" sz="1500" dirty="0">
                  <a:solidFill>
                    <a:schemeClr val="dk1"/>
                  </a:solidFill>
                  <a:latin typeface="+mn-lt"/>
                  <a:ea typeface="+mn-ea"/>
                  <a:cs typeface="+mn-cs"/>
                </a:rPr>
                <a:t>trajectory. Trace agents modifying the system as</a:t>
              </a:r>
              <a:br>
                <a:rPr lang="en-US" sz="1500" dirty="0">
                  <a:solidFill>
                    <a:schemeClr val="dk1"/>
                  </a:solidFill>
                  <a:latin typeface="+mn-lt"/>
                  <a:ea typeface="+mn-ea"/>
                  <a:cs typeface="+mn-cs"/>
                </a:rPr>
              </a:br>
              <a:r>
                <a:rPr lang="en-US" sz="1500" dirty="0">
                  <a:solidFill>
                    <a:schemeClr val="dk1"/>
                  </a:solidFill>
                  <a:latin typeface="+mn-lt"/>
                  <a:ea typeface="+mn-ea"/>
                  <a:cs typeface="+mn-cs"/>
                </a:rPr>
                <a:t>well as deployed agents, so a proposed repair has</a:t>
              </a:r>
              <a:br>
                <a:rPr lang="en-US" sz="1500" dirty="0">
                  <a:solidFill>
                    <a:schemeClr val="dk1"/>
                  </a:solidFill>
                  <a:latin typeface="+mn-lt"/>
                  <a:ea typeface="+mn-ea"/>
                  <a:cs typeface="+mn-cs"/>
                </a:rPr>
              </a:br>
              <a:r>
                <a:rPr lang="en-US" sz="1500" dirty="0">
                  <a:solidFill>
                    <a:schemeClr val="dk1"/>
                  </a:solidFill>
                  <a:latin typeface="+mn-lt"/>
                  <a:ea typeface="+mn-ea"/>
                  <a:cs typeface="+mn-cs"/>
                </a:rPr>
                <a:t>evidence rather than only a confident explanation.</a:t>
              </a:r>
            </a:p>
          </p:txBody>
        </p:sp>
      </p:grpSp>
      <p:grpSp>
        <p:nvGrpSpPr>
          <p:cNvPr id="15" name="lifetime-1"/>
          <p:cNvGrpSpPr/>
          <p:nvPr/>
        </p:nvGrpSpPr>
        <p:grpSpPr>
          <a:xfrm>
            <a:off x="6286500" y="1714500"/>
            <a:ext cx="5448300" cy="2876550"/>
            <a:chOff x="6286500" y="1714500"/>
            <a:chExt cx="5448300" cy="2876550"/>
          </a:xfrm>
        </p:grpSpPr>
        <p:sp>
          <p:nvSpPr>
            <p:cNvPr id="11" name="Rectangle 11"/>
            <p:cNvSpPr/>
            <p:nvPr/>
          </p:nvSpPr>
          <p:spPr>
            <a:xfrm>
              <a:off x="6286500" y="1714500"/>
              <a:ext cx="5448300" cy="2876550"/>
            </a:xfrm>
            <a:prstGeom prst="rect">
              <a:avLst/>
            </a:prstGeom>
            <a:solidFill>
              <a:schemeClr val="accent1"/>
            </a:solidFill>
            <a:ln>
              <a:noFill/>
            </a:ln>
          </p:spPr>
        </p:sp>
        <p:sp>
          <p:nvSpPr>
            <p:cNvPr id="12" name="TextBox 12"/>
            <p:cNvSpPr txBox="1"/>
            <p:nvPr/>
          </p:nvSpPr>
          <p:spPr>
            <a:xfrm>
              <a:off x="6489954" y="1905000"/>
              <a:ext cx="2145963"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TEMPORARY EXECUTION</a:t>
              </a:r>
            </a:p>
          </p:txBody>
        </p:sp>
        <p:sp>
          <p:nvSpPr>
            <p:cNvPr id="13" name="TextBox 13"/>
            <p:cNvSpPr txBox="1"/>
            <p:nvPr/>
          </p:nvSpPr>
          <p:spPr>
            <a:xfrm>
              <a:off x="6486906" y="2200275"/>
              <a:ext cx="3366134"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Separate progress from access</a:t>
              </a:r>
            </a:p>
          </p:txBody>
        </p:sp>
        <p:sp>
          <p:nvSpPr>
            <p:cNvPr id="14" name="TextBox 14"/>
            <p:cNvSpPr txBox="1"/>
            <p:nvPr/>
          </p:nvSpPr>
          <p:spPr>
            <a:xfrm>
              <a:off x="6488430" y="2676525"/>
              <a:ext cx="4155681" cy="1836420"/>
            </a:xfrm>
            <a:prstGeom prst="rect">
              <a:avLst/>
            </a:prstGeom>
            <a:noFill/>
            <a:ln>
              <a:noFill/>
            </a:ln>
          </p:spPr>
          <p:txBody>
            <a:bodyPr wrap="none" lIns="0" tIns="0" rIns="0" bIns="0" anchor="t" anchorCtr="0">
              <a:spAutoFit/>
            </a:bodyPr>
            <a:lstStyle/>
            <a:p>
              <a:pPr algn="l">
                <a:lnSpc>
                  <a:spcPts val="2025"/>
                </a:lnSpc>
              </a:pPr>
              <a:r>
                <a:rPr lang="en-US" sz="1500" dirty="0">
                  <a:solidFill>
                    <a:srgbClr val="FFFDF7"/>
                  </a:solidFill>
                  <a:latin typeface="+mn-lt"/>
                  <a:ea typeface="+mn-ea"/>
                  <a:cs typeface="+mn-cs"/>
                </a:rPr>
                <a:t>Issue history, useful skills and telemetry can</a:t>
              </a:r>
              <a:br>
                <a:rPr lang="en-US" sz="1500" dirty="0">
                  <a:solidFill>
                    <a:srgbClr val="FFFDF7"/>
                  </a:solidFill>
                  <a:latin typeface="+mn-lt"/>
                  <a:ea typeface="+mn-ea"/>
                  <a:cs typeface="+mn-cs"/>
                </a:rPr>
              </a:br>
              <a:r>
                <a:rPr lang="en-US" sz="1500" dirty="0">
                  <a:solidFill>
                    <a:srgbClr val="FFFDF7"/>
                  </a:solidFill>
                  <a:latin typeface="+mn-lt"/>
                  <a:ea typeface="+mn-ea"/>
                  <a:cs typeface="+mn-cs"/>
                </a:rPr>
                <a:t>survive a sandbox failure; temporary credentials</a:t>
              </a:r>
              <a:br>
                <a:rPr lang="en-US" sz="1500" dirty="0">
                  <a:solidFill>
                    <a:srgbClr val="FFFDF7"/>
                  </a:solidFill>
                  <a:latin typeface="+mn-lt"/>
                  <a:ea typeface="+mn-ea"/>
                  <a:cs typeface="+mn-cs"/>
                </a:rPr>
              </a:br>
              <a:r>
                <a:rPr lang="en-US" sz="1500" dirty="0">
                  <a:solidFill>
                    <a:srgbClr val="FFFDF7"/>
                  </a:solidFill>
                  <a:latin typeface="+mn-lt"/>
                  <a:ea typeface="+mn-ea"/>
                  <a:cs typeface="+mn-cs"/>
                </a:rPr>
                <a:t>and repository access should not survive by</a:t>
              </a:r>
              <a:br>
                <a:rPr lang="en-US" sz="1500" dirty="0">
                  <a:solidFill>
                    <a:srgbClr val="FFFDF7"/>
                  </a:solidFill>
                  <a:latin typeface="+mn-lt"/>
                  <a:ea typeface="+mn-ea"/>
                  <a:cs typeface="+mn-cs"/>
                </a:rPr>
              </a:br>
              <a:r>
                <a:rPr lang="en-US" sz="1500" dirty="0">
                  <a:solidFill>
                    <a:srgbClr val="FFFDF7"/>
                  </a:solidFill>
                  <a:latin typeface="+mn-lt"/>
                  <a:ea typeface="+mn-ea"/>
                  <a:cs typeface="+mn-cs"/>
                </a:rPr>
                <a:t>default. A replacement run resumes from durable</a:t>
              </a:r>
              <a:br>
                <a:rPr lang="en-US" sz="1500" dirty="0">
                  <a:solidFill>
                    <a:srgbClr val="FFFDF7"/>
                  </a:solidFill>
                  <a:latin typeface="+mn-lt"/>
                  <a:ea typeface="+mn-ea"/>
                  <a:cs typeface="+mn-cs"/>
                </a:rPr>
              </a:br>
              <a:r>
                <a:rPr lang="en-US" sz="1500" dirty="0">
                  <a:solidFill>
                    <a:srgbClr val="FFFDF7"/>
                  </a:solidFill>
                  <a:latin typeface="+mn-lt"/>
                  <a:ea typeface="+mn-ea"/>
                  <a:cs typeface="+mn-cs"/>
                </a:rPr>
                <a:t>state under newly checked authority. Persistence</a:t>
              </a:r>
              <a:br>
                <a:rPr lang="en-US" sz="1500" dirty="0">
                  <a:solidFill>
                    <a:srgbClr val="FFFDF7"/>
                  </a:solidFill>
                  <a:latin typeface="+mn-lt"/>
                  <a:ea typeface="+mn-ea"/>
                  <a:cs typeface="+mn-cs"/>
                </a:rPr>
              </a:br>
              <a:r>
                <a:rPr lang="en-US" sz="1500" dirty="0">
                  <a:solidFill>
                    <a:srgbClr val="FFFDF7"/>
                  </a:solidFill>
                  <a:latin typeface="+mn-lt"/>
                  <a:ea typeface="+mn-ea"/>
                  <a:cs typeface="+mn-cs"/>
                </a:rPr>
                <a:t>of knowledge does not imply persistence of</a:t>
              </a:r>
              <a:br>
                <a:rPr lang="en-US" sz="1500" dirty="0">
                  <a:solidFill>
                    <a:srgbClr val="FFFDF7"/>
                  </a:solidFill>
                  <a:latin typeface="+mn-lt"/>
                  <a:ea typeface="+mn-ea"/>
                  <a:cs typeface="+mn-cs"/>
                </a:rPr>
              </a:br>
              <a:r>
                <a:rPr lang="en-US" sz="1500" dirty="0">
                  <a:solidFill>
                    <a:srgbClr val="FFFDF7"/>
                  </a:solidFill>
                  <a:latin typeface="+mn-lt"/>
                  <a:ea typeface="+mn-ea"/>
                  <a:cs typeface="+mn-cs"/>
                </a:rPr>
                <a:t>permission.</a:t>
              </a:r>
            </a:p>
          </p:txBody>
        </p:sp>
      </p:grpSp>
      <p:grpSp>
        <p:nvGrpSpPr>
          <p:cNvPr id="18" name="controlled-improvement"/>
          <p:cNvGrpSpPr/>
          <p:nvPr/>
        </p:nvGrpSpPr>
        <p:grpSpPr>
          <a:xfrm>
            <a:off x="448056" y="4991100"/>
            <a:ext cx="9611106" cy="1207770"/>
            <a:chOff x="448056" y="4991100"/>
            <a:chExt cx="9611106" cy="1207770"/>
          </a:xfrm>
        </p:grpSpPr>
        <p:sp>
          <p:nvSpPr>
            <p:cNvPr id="16" name="TextBox 16"/>
            <p:cNvSpPr txBox="1"/>
            <p:nvPr/>
          </p:nvSpPr>
          <p:spPr>
            <a:xfrm>
              <a:off x="448056" y="4991100"/>
              <a:ext cx="192721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Prove the change</a:t>
              </a:r>
            </a:p>
          </p:txBody>
        </p:sp>
        <p:sp>
          <p:nvSpPr>
            <p:cNvPr id="17" name="TextBox 17"/>
            <p:cNvSpPr txBox="1"/>
            <p:nvPr/>
          </p:nvSpPr>
          <p:spPr>
            <a:xfrm>
              <a:off x="449580" y="5391150"/>
              <a:ext cx="9609582" cy="80772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Calibrate evaluators against human-labeled cases, replay a failure and inspect paired regressions. Proposed fixes</a:t>
              </a:r>
              <a:br>
                <a:rPr lang="en-US" sz="1500" dirty="0">
                  <a:solidFill>
                    <a:schemeClr val="dk1"/>
                  </a:solidFill>
                  <a:latin typeface="+mn-lt"/>
                  <a:ea typeface="+mn-ea"/>
                  <a:cs typeface="+mn-cs"/>
                </a:rPr>
              </a:br>
              <a:r>
                <a:rPr lang="en-US" sz="1500" dirty="0">
                  <a:solidFill>
                    <a:schemeClr val="dk1"/>
                  </a:solidFill>
                  <a:latin typeface="+mn-lt"/>
                  <a:ea typeface="+mn-ea"/>
                  <a:cs typeface="+mn-cs"/>
                </a:rPr>
                <a:t>or PRs remain proposals until accountable review permits release. Prime Intellect’s learning progression makes</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corrections an asset before pursuing routing or training optimizations.</a:t>
              </a:r>
            </a:p>
          </p:txBody>
        </p:sp>
      </p:grpSp>
      <p:grpSp>
        <p:nvGrpSpPr>
          <p:cNvPr id="21" name="footer"/>
          <p:cNvGrpSpPr/>
          <p:nvPr/>
        </p:nvGrpSpPr>
        <p:grpSpPr>
          <a:xfrm>
            <a:off x="452438" y="6477000"/>
            <a:ext cx="11287124" cy="176212"/>
            <a:chOff x="452438" y="6477000"/>
            <a:chExt cx="11287124" cy="176212"/>
          </a:xfrm>
        </p:grpSpPr>
        <p:sp>
          <p:nvSpPr>
            <p:cNvPr id="19" name="TextBox 19"/>
            <p:cNvSpPr txBox="1"/>
            <p:nvPr/>
          </p:nvSpPr>
          <p:spPr>
            <a:xfrm>
              <a:off x="452438" y="6477000"/>
              <a:ext cx="330046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Arize · Prime Intellect | Reviewed October 25, 2026</a:t>
              </a:r>
            </a:p>
          </p:txBody>
        </p:sp>
        <p:sp>
          <p:nvSpPr>
            <p:cNvPr id="20" name="TextBox 20"/>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24 / 37</a:t>
              </a:r>
            </a:p>
          </p:txBody>
        </p:sp>
      </p:grpSp>
    </p:spTree>
  </p:cSld>
  <p:clrMapOvr>
    <a:masterClrMapping/>
  </p:clrMapOvr>
  <p:transition xmlns:p14="http://schemas.microsoft.com/office/powerpoint/2010/main" p14:dur="400">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081403" cy="1100582"/>
            <a:chOff x="443484" y="361950"/>
            <a:chExt cx="9081403" cy="1100582"/>
          </a:xfrm>
        </p:grpSpPr>
        <p:sp>
          <p:nvSpPr>
            <p:cNvPr id="2" name="TextBox 2"/>
            <p:cNvSpPr txBox="1"/>
            <p:nvPr/>
          </p:nvSpPr>
          <p:spPr>
            <a:xfrm>
              <a:off x="451104" y="361950"/>
              <a:ext cx="226937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05 / AI ENGINEER GROWTH</a:t>
              </a:r>
            </a:p>
          </p:txBody>
        </p:sp>
        <p:sp>
          <p:nvSpPr>
            <p:cNvPr id="3" name="TextBox 3"/>
            <p:cNvSpPr txBox="1"/>
            <p:nvPr/>
          </p:nvSpPr>
          <p:spPr>
            <a:xfrm>
              <a:off x="443484" y="593725"/>
              <a:ext cx="908140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Connect product judgment, meaning and measurement</a:t>
              </a:r>
            </a:p>
          </p:txBody>
        </p:sp>
        <p:sp>
          <p:nvSpPr>
            <p:cNvPr id="4" name="TextBox 4"/>
            <p:cNvSpPr txBox="1"/>
            <p:nvPr/>
          </p:nvSpPr>
          <p:spPr>
            <a:xfrm>
              <a:off x="448818" y="1139825"/>
              <a:ext cx="7727485"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Faster code creation can move the constraint to review, operations or security.</a:t>
              </a:r>
            </a:p>
          </p:txBody>
        </p:sp>
      </p:grpSp>
      <p:grpSp>
        <p:nvGrpSpPr>
          <p:cNvPr id="10" name="responsibility-0"/>
          <p:cNvGrpSpPr/>
          <p:nvPr/>
        </p:nvGrpSpPr>
        <p:grpSpPr>
          <a:xfrm>
            <a:off x="448056" y="1781175"/>
            <a:ext cx="11286744" cy="1276350"/>
            <a:chOff x="448056" y="1781175"/>
            <a:chExt cx="11286744" cy="1276350"/>
          </a:xfrm>
        </p:grpSpPr>
        <p:sp>
          <p:nvSpPr>
            <p:cNvPr id="6" name="TextBox 6"/>
            <p:cNvSpPr txBox="1"/>
            <p:nvPr/>
          </p:nvSpPr>
          <p:spPr>
            <a:xfrm>
              <a:off x="448056" y="1781175"/>
              <a:ext cx="30181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01</a:t>
              </a:r>
            </a:p>
          </p:txBody>
        </p:sp>
        <p:sp>
          <p:nvSpPr>
            <p:cNvPr id="7" name="TextBox 7"/>
            <p:cNvSpPr txBox="1"/>
            <p:nvPr/>
          </p:nvSpPr>
          <p:spPr>
            <a:xfrm>
              <a:off x="1362456" y="1781175"/>
              <a:ext cx="1670083"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Discover the real</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constraint</a:t>
              </a:r>
            </a:p>
          </p:txBody>
        </p:sp>
        <p:sp>
          <p:nvSpPr>
            <p:cNvPr id="8" name="TextBox 8"/>
            <p:cNvSpPr txBox="1"/>
            <p:nvPr/>
          </p:nvSpPr>
          <p:spPr>
            <a:xfrm>
              <a:off x="4450080" y="1790700"/>
              <a:ext cx="6284214" cy="10648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Laurie Voss’s product-engineer argument follows the bottleneck from code</a:t>
              </a:r>
              <a:br>
                <a:rPr lang="en-US" sz="1500" dirty="0">
                  <a:solidFill>
                    <a:schemeClr val="dk1"/>
                  </a:solidFill>
                  <a:latin typeface="+mn-lt"/>
                  <a:ea typeface="+mn-ea"/>
                  <a:cs typeface="+mn-cs"/>
                </a:rPr>
              </a:br>
              <a:r>
                <a:rPr lang="en-US" sz="1500" dirty="0">
                  <a:solidFill>
                    <a:schemeClr val="dk1"/>
                  </a:solidFill>
                  <a:latin typeface="+mn-lt"/>
                  <a:ea typeface="+mn-ea"/>
                  <a:cs typeface="+mn-cs"/>
                </a:rPr>
                <a:t>creation to review, operations and security. Observe what users actually</a:t>
              </a:r>
              <a:br>
                <a:rPr lang="en-US" sz="1500" dirty="0">
                  <a:solidFill>
                    <a:schemeClr val="dk1"/>
                  </a:solidFill>
                  <a:latin typeface="+mn-lt"/>
                  <a:ea typeface="+mn-ea"/>
                  <a:cs typeface="+mn-cs"/>
                </a:rPr>
              </a:br>
              <a:r>
                <a:rPr lang="en-US" sz="1500" dirty="0">
                  <a:solidFill>
                    <a:schemeClr val="dk1"/>
                  </a:solidFill>
                  <a:latin typeface="+mn-lt"/>
                  <a:ea typeface="+mn-ea"/>
                  <a:cs typeface="+mn-cs"/>
                </a:rPr>
                <a:t>do, which handoffs cost time and what they trust. A polished feature can</a:t>
              </a:r>
              <a:br>
                <a:rPr lang="en-US" sz="1500" dirty="0">
                  <a:solidFill>
                    <a:schemeClr val="dk1"/>
                  </a:solidFill>
                  <a:latin typeface="+mn-lt"/>
                  <a:ea typeface="+mn-ea"/>
                  <a:cs typeface="+mn-cs"/>
                </a:rPr>
              </a:br>
              <a:r>
                <a:rPr lang="en-US" sz="1500" dirty="0">
                  <a:solidFill>
                    <a:schemeClr val="dk1"/>
                  </a:solidFill>
                  <a:latin typeface="+mn-lt"/>
                  <a:ea typeface="+mn-ea"/>
                  <a:cs typeface="+mn-cs"/>
                </a:rPr>
                <a:t>still miss the task or move effort onto another team.</a:t>
              </a:r>
            </a:p>
          </p:txBody>
        </p:sp>
        <p:sp>
          <p:nvSpPr>
            <p:cNvPr id="9" name="Line 9"/>
            <p:cNvSpPr/>
            <p:nvPr/>
          </p:nvSpPr>
          <p:spPr>
            <a:xfrm>
              <a:off x="1371600" y="3048000"/>
              <a:ext cx="10363200" cy="9525"/>
            </a:xfrm>
            <a:custGeom>
              <a:avLst/>
              <a:gdLst/>
              <a:ahLst/>
              <a:cxnLst/>
              <a:rect l="l" t="t" r="r" b="b"/>
              <a:pathLst>
                <a:path w="10363200" h="9525">
                  <a:moveTo>
                    <a:pt x="0" y="0"/>
                  </a:moveTo>
                  <a:lnTo>
                    <a:pt x="10363200" y="0"/>
                  </a:lnTo>
                </a:path>
              </a:pathLst>
            </a:custGeom>
            <a:noFill/>
            <a:ln w="9525">
              <a:solidFill>
                <a:schemeClr val="accent6"/>
              </a:solidFill>
            </a:ln>
          </p:spPr>
        </p:sp>
      </p:grpSp>
      <p:grpSp>
        <p:nvGrpSpPr>
          <p:cNvPr id="15" name="responsibility-1"/>
          <p:cNvGrpSpPr/>
          <p:nvPr/>
        </p:nvGrpSpPr>
        <p:grpSpPr>
          <a:xfrm>
            <a:off x="448056" y="3267075"/>
            <a:ext cx="11286744" cy="1276350"/>
            <a:chOff x="448056" y="3267075"/>
            <a:chExt cx="11286744" cy="1276350"/>
          </a:xfrm>
        </p:grpSpPr>
        <p:sp>
          <p:nvSpPr>
            <p:cNvPr id="11" name="TextBox 11"/>
            <p:cNvSpPr txBox="1"/>
            <p:nvPr/>
          </p:nvSpPr>
          <p:spPr>
            <a:xfrm>
              <a:off x="448056" y="3267075"/>
              <a:ext cx="30181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02</a:t>
              </a:r>
            </a:p>
          </p:txBody>
        </p:sp>
        <p:sp>
          <p:nvSpPr>
            <p:cNvPr id="12" name="TextBox 12"/>
            <p:cNvSpPr txBox="1"/>
            <p:nvPr/>
          </p:nvSpPr>
          <p:spPr>
            <a:xfrm>
              <a:off x="1362456" y="3267075"/>
              <a:ext cx="1784177"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Preserve business</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meaning</a:t>
              </a:r>
            </a:p>
          </p:txBody>
        </p:sp>
        <p:sp>
          <p:nvSpPr>
            <p:cNvPr id="13" name="TextBox 13"/>
            <p:cNvSpPr txBox="1"/>
            <p:nvPr/>
          </p:nvSpPr>
          <p:spPr>
            <a:xfrm>
              <a:off x="4450080" y="3276600"/>
              <a:ext cx="6200013" cy="10648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Southbridge’s examples show row counts surviving while dates, signs or</a:t>
              </a:r>
              <a:br>
                <a:rPr lang="en-US" sz="1500" dirty="0">
                  <a:solidFill>
                    <a:schemeClr val="dk1"/>
                  </a:solidFill>
                  <a:latin typeface="+mn-lt"/>
                  <a:ea typeface="+mn-ea"/>
                  <a:cs typeface="+mn-cs"/>
                </a:rPr>
              </a:br>
              <a:r>
                <a:rPr lang="en-US" sz="1500" dirty="0">
                  <a:solidFill>
                    <a:schemeClr val="dk1"/>
                  </a:solidFill>
                  <a:latin typeface="+mn-lt"/>
                  <a:ea typeface="+mn-ea"/>
                  <a:cs typeface="+mn-cs"/>
                </a:rPr>
                <a:t>categories become wrong. Learn the entity, grain, period, units and</a:t>
              </a:r>
              <a:br>
                <a:rPr lang="en-US" sz="1500" dirty="0">
                  <a:solidFill>
                    <a:schemeClr val="dk1"/>
                  </a:solidFill>
                  <a:latin typeface="+mn-lt"/>
                  <a:ea typeface="+mn-ea"/>
                  <a:cs typeface="+mn-cs"/>
                </a:rPr>
              </a:br>
              <a:r>
                <a:rPr lang="en-US" sz="1500" dirty="0">
                  <a:solidFill>
                    <a:schemeClr val="dk1"/>
                  </a:solidFill>
                  <a:latin typeface="+mn-lt"/>
                  <a:ea typeface="+mn-ea"/>
                  <a:cs typeface="+mn-cs"/>
                </a:rPr>
                <a:t>source conventions well enough to challenge a plausible answer. Multiple</a:t>
              </a:r>
              <a:br>
                <a:rPr lang="en-US" sz="1500" dirty="0">
                  <a:solidFill>
                    <a:schemeClr val="dk1"/>
                  </a:solidFill>
                  <a:latin typeface="+mn-lt"/>
                  <a:ea typeface="+mn-ea"/>
                  <a:cs typeface="+mn-cs"/>
                </a:rPr>
              </a:br>
              <a:r>
                <a:rPr lang="en-US" sz="1500" dirty="0">
                  <a:solidFill>
                    <a:schemeClr val="dk1"/>
                  </a:solidFill>
                  <a:latin typeface="+mn-lt"/>
                  <a:ea typeface="+mn-ea"/>
                  <a:cs typeface="+mn-cs"/>
                </a:rPr>
                <a:t>model agreements can preserve the same incorrect assumption.</a:t>
              </a:r>
            </a:p>
          </p:txBody>
        </p:sp>
        <p:sp>
          <p:nvSpPr>
            <p:cNvPr id="14" name="Line 14"/>
            <p:cNvSpPr/>
            <p:nvPr/>
          </p:nvSpPr>
          <p:spPr>
            <a:xfrm>
              <a:off x="1371600" y="4533900"/>
              <a:ext cx="10363200" cy="9525"/>
            </a:xfrm>
            <a:custGeom>
              <a:avLst/>
              <a:gdLst/>
              <a:ahLst/>
              <a:cxnLst/>
              <a:rect l="l" t="t" r="r" b="b"/>
              <a:pathLst>
                <a:path w="10363200" h="9525">
                  <a:moveTo>
                    <a:pt x="0" y="0"/>
                  </a:moveTo>
                  <a:lnTo>
                    <a:pt x="10363200" y="0"/>
                  </a:lnTo>
                </a:path>
              </a:pathLst>
            </a:custGeom>
            <a:noFill/>
            <a:ln w="9525">
              <a:solidFill>
                <a:schemeClr val="accent6"/>
              </a:solidFill>
            </a:ln>
          </p:spPr>
        </p:sp>
      </p:grpSp>
      <p:grpSp>
        <p:nvGrpSpPr>
          <p:cNvPr id="20" name="responsibility-2"/>
          <p:cNvGrpSpPr/>
          <p:nvPr/>
        </p:nvGrpSpPr>
        <p:grpSpPr>
          <a:xfrm>
            <a:off x="448056" y="4752975"/>
            <a:ext cx="11286744" cy="1331595"/>
            <a:chOff x="448056" y="4752975"/>
            <a:chExt cx="11286744" cy="1331595"/>
          </a:xfrm>
        </p:grpSpPr>
        <p:sp>
          <p:nvSpPr>
            <p:cNvPr id="16" name="TextBox 16"/>
            <p:cNvSpPr txBox="1"/>
            <p:nvPr/>
          </p:nvSpPr>
          <p:spPr>
            <a:xfrm>
              <a:off x="448056" y="4752975"/>
              <a:ext cx="30181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03</a:t>
              </a:r>
            </a:p>
          </p:txBody>
        </p:sp>
        <p:sp>
          <p:nvSpPr>
            <p:cNvPr id="17" name="TextBox 17"/>
            <p:cNvSpPr txBox="1"/>
            <p:nvPr/>
          </p:nvSpPr>
          <p:spPr>
            <a:xfrm>
              <a:off x="1362456" y="4752975"/>
              <a:ext cx="1503868"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Make expertise</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reproducible</a:t>
              </a:r>
            </a:p>
          </p:txBody>
        </p:sp>
        <p:sp>
          <p:nvSpPr>
            <p:cNvPr id="18" name="TextBox 18"/>
            <p:cNvSpPr txBox="1"/>
            <p:nvPr/>
          </p:nvSpPr>
          <p:spPr>
            <a:xfrm>
              <a:off x="4450080" y="4762500"/>
              <a:ext cx="6294120" cy="13220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Convert professional corrections into task definitions, cases, skills and</a:t>
              </a:r>
              <a:br>
                <a:rPr lang="en-US" sz="1500" dirty="0">
                  <a:solidFill>
                    <a:schemeClr val="dk1"/>
                  </a:solidFill>
                  <a:latin typeface="+mn-lt"/>
                  <a:ea typeface="+mn-ea"/>
                  <a:cs typeface="+mn-cs"/>
                </a:rPr>
              </a:br>
              <a:r>
                <a:rPr lang="en-US" sz="1500" dirty="0">
                  <a:solidFill>
                    <a:schemeClr val="dk1"/>
                  </a:solidFill>
                  <a:latin typeface="+mn-lt"/>
                  <a:ea typeface="+mn-ea"/>
                  <a:cs typeface="+mn-cs"/>
                </a:rPr>
                <a:t>explicit acceptance evidence. Monzo’s described gateway, sandbox and</a:t>
              </a:r>
              <a:br>
                <a:rPr lang="en-US" sz="1500" dirty="0">
                  <a:solidFill>
                    <a:schemeClr val="dk1"/>
                  </a:solidFill>
                  <a:latin typeface="+mn-lt"/>
                  <a:ea typeface="+mn-ea"/>
                  <a:cs typeface="+mn-cs"/>
                </a:rPr>
              </a:br>
              <a:r>
                <a:rPr lang="en-US" sz="1500" dirty="0">
                  <a:solidFill>
                    <a:schemeClr val="dk1"/>
                  </a:solidFill>
                  <a:latin typeface="+mn-lt"/>
                  <a:ea typeface="+mn-ea"/>
                  <a:cs typeface="+mn-cs"/>
                </a:rPr>
                <a:t>familiar Slack entry point show the surrounding product work. Task volume</a:t>
              </a:r>
              <a:br>
                <a:rPr lang="en-US" sz="1500" dirty="0">
                  <a:solidFill>
                    <a:schemeClr val="dk1"/>
                  </a:solidFill>
                  <a:latin typeface="+mn-lt"/>
                  <a:ea typeface="+mn-ea"/>
                  <a:cs typeface="+mn-cs"/>
                </a:rPr>
              </a:br>
              <a:r>
                <a:rPr lang="en-US" sz="1500" dirty="0">
                  <a:solidFill>
                    <a:schemeClr val="dk1"/>
                  </a:solidFill>
                  <a:latin typeface="+mn-lt"/>
                  <a:ea typeface="+mn-ea"/>
                  <a:cs typeface="+mn-cs"/>
                </a:rPr>
                <a:t>and merged PR counts indicate use, while quality and reviewer effort</a:t>
              </a:r>
              <a:br>
                <a:rPr lang="en-US" sz="1500" dirty="0">
                  <a:solidFill>
                    <a:schemeClr val="dk1"/>
                  </a:solidFill>
                  <a:latin typeface="+mn-lt"/>
                  <a:ea typeface="+mn-ea"/>
                  <a:cs typeface="+mn-cs"/>
                </a:rPr>
              </a:br>
              <a:r>
                <a:rPr lang="en-US" sz="1500" dirty="0">
                  <a:solidFill>
                    <a:schemeClr val="dk1"/>
                  </a:solidFill>
                  <a:latin typeface="+mn-lt"/>
                  <a:ea typeface="+mn-ea"/>
                  <a:cs typeface="+mn-cs"/>
                </a:rPr>
                <a:t>still require separate measurement.</a:t>
              </a:r>
            </a:p>
          </p:txBody>
        </p:sp>
        <p:sp>
          <p:nvSpPr>
            <p:cNvPr id="19" name="Line 19"/>
            <p:cNvSpPr/>
            <p:nvPr/>
          </p:nvSpPr>
          <p:spPr>
            <a:xfrm>
              <a:off x="1371600" y="6019800"/>
              <a:ext cx="10363200" cy="9525"/>
            </a:xfrm>
            <a:custGeom>
              <a:avLst/>
              <a:gdLst/>
              <a:ahLst/>
              <a:cxnLst/>
              <a:rect l="l" t="t" r="r" b="b"/>
              <a:pathLst>
                <a:path w="10363200" h="9525">
                  <a:moveTo>
                    <a:pt x="0" y="0"/>
                  </a:moveTo>
                  <a:lnTo>
                    <a:pt x="10363200" y="0"/>
                  </a:lnTo>
                </a:path>
              </a:pathLst>
            </a:custGeom>
            <a:noFill/>
            <a:ln w="9525">
              <a:solidFill>
                <a:schemeClr val="accent6"/>
              </a:solidFill>
            </a:ln>
          </p:spPr>
        </p:sp>
      </p:grpSp>
      <p:grpSp>
        <p:nvGrpSpPr>
          <p:cNvPr id="23" name="footer"/>
          <p:cNvGrpSpPr/>
          <p:nvPr/>
        </p:nvGrpSpPr>
        <p:grpSpPr>
          <a:xfrm>
            <a:off x="452438" y="6477000"/>
            <a:ext cx="11287124" cy="176212"/>
            <a:chOff x="452438" y="6477000"/>
            <a:chExt cx="11287124" cy="176212"/>
          </a:xfrm>
        </p:grpSpPr>
        <p:sp>
          <p:nvSpPr>
            <p:cNvPr id="21" name="TextBox 21"/>
            <p:cNvSpPr txBox="1"/>
            <p:nvPr/>
          </p:nvSpPr>
          <p:spPr>
            <a:xfrm>
              <a:off x="452438" y="6477000"/>
              <a:ext cx="365919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Arize · Southbridge · Monzo | Reviewed October 25, 2026</a:t>
              </a:r>
            </a:p>
          </p:txBody>
        </p:sp>
        <p:sp>
          <p:nvSpPr>
            <p:cNvPr id="22" name="TextBox 22"/>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25 / 37</a:t>
              </a:r>
            </a:p>
          </p:txBody>
        </p:sp>
      </p:grpSp>
    </p:spTree>
  </p:cSld>
  <p:clrMapOvr>
    <a:masterClrMapping/>
  </p:clrMapOvr>
  <p:transition xmlns:p14="http://schemas.microsoft.com/office/powerpoint/2010/main" p14:dur="400">
    <p:fade/>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019160" cy="1100582"/>
            <a:chOff x="443484" y="361950"/>
            <a:chExt cx="10019160" cy="1100582"/>
          </a:xfrm>
        </p:grpSpPr>
        <p:sp>
          <p:nvSpPr>
            <p:cNvPr id="2" name="TextBox 2"/>
            <p:cNvSpPr txBox="1"/>
            <p:nvPr/>
          </p:nvSpPr>
          <p:spPr>
            <a:xfrm>
              <a:off x="451104" y="361950"/>
              <a:ext cx="226937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05 / AI ENGINEER GROWTH</a:t>
              </a:r>
            </a:p>
          </p:txBody>
        </p:sp>
        <p:sp>
          <p:nvSpPr>
            <p:cNvPr id="3" name="TextBox 3"/>
            <p:cNvSpPr txBox="1"/>
            <p:nvPr/>
          </p:nvSpPr>
          <p:spPr>
            <a:xfrm>
              <a:off x="443484" y="593725"/>
              <a:ext cx="781554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Match rigor to consequences and dependencies</a:t>
              </a:r>
            </a:p>
          </p:txBody>
        </p:sp>
        <p:sp>
          <p:nvSpPr>
            <p:cNvPr id="4" name="TextBox 4"/>
            <p:cNvSpPr txBox="1"/>
            <p:nvPr/>
          </p:nvSpPr>
          <p:spPr>
            <a:xfrm>
              <a:off x="448818" y="1139825"/>
              <a:ext cx="10013826"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Failure consequences, replacement cost, dependencies and maintenance burden define the decision.</a:t>
              </a:r>
            </a:p>
          </p:txBody>
        </p:sp>
      </p:grpSp>
      <p:grpSp>
        <p:nvGrpSpPr>
          <p:cNvPr id="8" name="analysis-1"/>
          <p:cNvGrpSpPr/>
          <p:nvPr/>
        </p:nvGrpSpPr>
        <p:grpSpPr>
          <a:xfrm>
            <a:off x="448056" y="1876425"/>
            <a:ext cx="3013634" cy="2979420"/>
            <a:chOff x="448056" y="1876425"/>
            <a:chExt cx="3013634" cy="2979420"/>
          </a:xfrm>
        </p:grpSpPr>
        <p:sp>
          <p:nvSpPr>
            <p:cNvPr id="6" name="TextBox 6"/>
            <p:cNvSpPr txBox="1"/>
            <p:nvPr/>
          </p:nvSpPr>
          <p:spPr>
            <a:xfrm>
              <a:off x="448056" y="1876425"/>
              <a:ext cx="293826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Reassess as the tool grows</a:t>
              </a:r>
            </a:p>
          </p:txBody>
        </p:sp>
        <p:sp>
          <p:nvSpPr>
            <p:cNvPr id="7" name="TextBox 7"/>
            <p:cNvSpPr txBox="1"/>
            <p:nvPr/>
          </p:nvSpPr>
          <p:spPr>
            <a:xfrm>
              <a:off x="449580" y="2505075"/>
              <a:ext cx="3012110"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one-use helper can become a</a:t>
              </a:r>
              <a:br>
                <a:rPr lang="en-US" sz="1500" dirty="0">
                  <a:solidFill>
                    <a:schemeClr val="dk1"/>
                  </a:solidFill>
                  <a:latin typeface="+mn-lt"/>
                  <a:ea typeface="+mn-ea"/>
                  <a:cs typeface="+mn-cs"/>
                </a:rPr>
              </a:br>
              <a:r>
                <a:rPr lang="en-US" sz="1500" dirty="0">
                  <a:solidFill>
                    <a:schemeClr val="dk1"/>
                  </a:solidFill>
                  <a:latin typeface="+mn-lt"/>
                  <a:ea typeface="+mn-ea"/>
                  <a:cs typeface="+mn-cs"/>
                </a:rPr>
                <a:t>shared process with downstream</a:t>
              </a:r>
              <a:br>
                <a:rPr lang="en-US" sz="1500" dirty="0">
                  <a:solidFill>
                    <a:schemeClr val="dk1"/>
                  </a:solidFill>
                  <a:latin typeface="+mn-lt"/>
                  <a:ea typeface="+mn-ea"/>
                  <a:cs typeface="+mn-cs"/>
                </a:rPr>
              </a:br>
              <a:r>
                <a:rPr lang="en-US" sz="1500" dirty="0">
                  <a:solidFill>
                    <a:schemeClr val="dk1"/>
                  </a:solidFill>
                  <a:latin typeface="+mn-lt"/>
                  <a:ea typeface="+mn-ea"/>
                  <a:cs typeface="+mn-cs"/>
                </a:rPr>
                <a:t>dependents. Revisit who relies on</a:t>
              </a:r>
              <a:br>
                <a:rPr lang="en-US" sz="1500" dirty="0">
                  <a:solidFill>
                    <a:schemeClr val="dk1"/>
                  </a:solidFill>
                  <a:latin typeface="+mn-lt"/>
                  <a:ea typeface="+mn-ea"/>
                  <a:cs typeface="+mn-cs"/>
                </a:rPr>
              </a:br>
              <a:r>
                <a:rPr lang="en-US" sz="1500" dirty="0">
                  <a:solidFill>
                    <a:schemeClr val="dk1"/>
                  </a:solidFill>
                  <a:latin typeface="+mn-lt"/>
                  <a:ea typeface="+mn-ea"/>
                  <a:cs typeface="+mn-cs"/>
                </a:rPr>
                <a:t>it, which failures matter and how</a:t>
              </a:r>
              <a:br>
                <a:rPr lang="en-US" sz="1500" dirty="0">
                  <a:solidFill>
                    <a:schemeClr val="dk1"/>
                  </a:solidFill>
                  <a:latin typeface="+mn-lt"/>
                  <a:ea typeface="+mn-ea"/>
                  <a:cs typeface="+mn-cs"/>
                </a:rPr>
              </a:br>
              <a:r>
                <a:rPr lang="en-US" sz="1500" dirty="0">
                  <a:solidFill>
                    <a:schemeClr val="dk1"/>
                  </a:solidFill>
                  <a:latin typeface="+mn-lt"/>
                  <a:ea typeface="+mn-ea"/>
                  <a:cs typeface="+mn-cs"/>
                </a:rPr>
                <a:t>recovery works. Isolation and</a:t>
              </a:r>
              <a:br>
                <a:rPr lang="en-US" sz="1500" dirty="0">
                  <a:solidFill>
                    <a:schemeClr val="dk1"/>
                  </a:solidFill>
                  <a:latin typeface="+mn-lt"/>
                  <a:ea typeface="+mn-ea"/>
                  <a:cs typeface="+mn-cs"/>
                </a:rPr>
              </a:br>
              <a:r>
                <a:rPr lang="en-US" sz="1500" dirty="0">
                  <a:solidFill>
                    <a:schemeClr val="dk1"/>
                  </a:solidFill>
                  <a:latin typeface="+mn-lt"/>
                  <a:ea typeface="+mn-ea"/>
                  <a:cs typeface="+mn-cs"/>
                </a:rPr>
                <a:t>limited scope can reduce exposure,</a:t>
              </a:r>
              <a:br>
                <a:rPr lang="en-US" sz="1500" dirty="0">
                  <a:solidFill>
                    <a:schemeClr val="dk1"/>
                  </a:solidFill>
                  <a:latin typeface="+mn-lt"/>
                  <a:ea typeface="+mn-ea"/>
                  <a:cs typeface="+mn-cs"/>
                </a:rPr>
              </a:br>
              <a:r>
                <a:rPr lang="en-US" sz="1500" dirty="0">
                  <a:solidFill>
                    <a:schemeClr val="dk1"/>
                  </a:solidFill>
                  <a:latin typeface="+mn-lt"/>
                  <a:ea typeface="+mn-ea"/>
                  <a:cs typeface="+mn-cs"/>
                </a:rPr>
                <a:t>but a label such as prototype or</a:t>
              </a:r>
              <a:br>
                <a:rPr lang="en-US" sz="1500" dirty="0">
                  <a:solidFill>
                    <a:schemeClr val="dk1"/>
                  </a:solidFill>
                  <a:latin typeface="+mn-lt"/>
                  <a:ea typeface="+mn-ea"/>
                  <a:cs typeface="+mn-cs"/>
                </a:rPr>
              </a:br>
              <a:r>
                <a:rPr lang="en-US" sz="1500" dirty="0">
                  <a:solidFill>
                    <a:schemeClr val="dk1"/>
                  </a:solidFill>
                  <a:latin typeface="+mn-lt"/>
                  <a:ea typeface="+mn-ea"/>
                  <a:cs typeface="+mn-cs"/>
                </a:rPr>
                <a:t>temporary is not an enforcing</a:t>
              </a:r>
              <a:br>
                <a:rPr lang="en-US" sz="1500" dirty="0">
                  <a:solidFill>
                    <a:schemeClr val="dk1"/>
                  </a:solidFill>
                  <a:latin typeface="+mn-lt"/>
                  <a:ea typeface="+mn-ea"/>
                  <a:cs typeface="+mn-cs"/>
                </a:rPr>
              </a:br>
              <a:r>
                <a:rPr lang="en-US" sz="1500" dirty="0">
                  <a:solidFill>
                    <a:schemeClr val="dk1"/>
                  </a:solidFill>
                  <a:latin typeface="+mn-lt"/>
                  <a:ea typeface="+mn-ea"/>
                  <a:cs typeface="+mn-cs"/>
                </a:rPr>
                <a:t>control.</a:t>
              </a:r>
            </a:p>
          </p:txBody>
        </p:sp>
      </p:grpSp>
      <p:grpSp>
        <p:nvGrpSpPr>
          <p:cNvPr id="11" name="analysis-2"/>
          <p:cNvGrpSpPr/>
          <p:nvPr/>
        </p:nvGrpSpPr>
        <p:grpSpPr>
          <a:xfrm>
            <a:off x="4296156" y="1876425"/>
            <a:ext cx="3150445" cy="2979420"/>
            <a:chOff x="4296156" y="1876425"/>
            <a:chExt cx="3150445" cy="2979420"/>
          </a:xfrm>
        </p:grpSpPr>
        <p:sp>
          <p:nvSpPr>
            <p:cNvPr id="9" name="TextBox 9"/>
            <p:cNvSpPr txBox="1"/>
            <p:nvPr/>
          </p:nvSpPr>
          <p:spPr>
            <a:xfrm>
              <a:off x="4296156" y="1876425"/>
              <a:ext cx="315044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Invest in the cheap safe path</a:t>
              </a:r>
            </a:p>
          </p:txBody>
        </p:sp>
        <p:sp>
          <p:nvSpPr>
            <p:cNvPr id="10" name="TextBox 10"/>
            <p:cNvSpPr txBox="1"/>
            <p:nvPr/>
          </p:nvSpPr>
          <p:spPr>
            <a:xfrm>
              <a:off x="4297680" y="2505075"/>
              <a:ext cx="3064840"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Provide standard choices, test</a:t>
              </a:r>
              <a:br>
                <a:rPr lang="en-US" sz="1500" dirty="0">
                  <a:solidFill>
                    <a:schemeClr val="dk1"/>
                  </a:solidFill>
                  <a:latin typeface="+mn-lt"/>
                  <a:ea typeface="+mn-ea"/>
                  <a:cs typeface="+mn-cs"/>
                </a:rPr>
              </a:br>
              <a:r>
                <a:rPr lang="en-US" sz="1500" dirty="0">
                  <a:solidFill>
                    <a:schemeClr val="dk1"/>
                  </a:solidFill>
                  <a:latin typeface="+mn-lt"/>
                  <a:ea typeface="+mn-ea"/>
                  <a:cs typeface="+mn-cs"/>
                </a:rPr>
                <a:t>fixtures/fakes and quick low-noise</a:t>
              </a:r>
              <a:br>
                <a:rPr lang="en-US" sz="1500" dirty="0">
                  <a:solidFill>
                    <a:schemeClr val="dk1"/>
                  </a:solidFill>
                  <a:latin typeface="+mn-lt"/>
                  <a:ea typeface="+mn-ea"/>
                  <a:cs typeface="+mn-cs"/>
                </a:rPr>
              </a:br>
              <a:r>
                <a:rPr lang="en-US" sz="1500" dirty="0">
                  <a:solidFill>
                    <a:schemeClr val="dk1"/>
                  </a:solidFill>
                  <a:latin typeface="+mn-lt"/>
                  <a:ea typeface="+mn-ea"/>
                  <a:cs typeface="+mn-cs"/>
                </a:rPr>
                <a:t>feedback. Make it easier to create</a:t>
              </a:r>
              <a:br>
                <a:rPr lang="en-US" sz="1500" dirty="0">
                  <a:solidFill>
                    <a:schemeClr val="dk1"/>
                  </a:solidFill>
                  <a:latin typeface="+mn-lt"/>
                  <a:ea typeface="+mn-ea"/>
                  <a:cs typeface="+mn-cs"/>
                </a:rPr>
              </a:br>
              <a:r>
                <a:rPr lang="en-US" sz="1500" dirty="0">
                  <a:solidFill>
                    <a:schemeClr val="dk1"/>
                  </a:solidFill>
                  <a:latin typeface="+mn-lt"/>
                  <a:ea typeface="+mn-ea"/>
                  <a:cs typeface="+mn-cs"/>
                </a:rPr>
                <a:t>a complete working slice with</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than to postpone them.</a:t>
              </a:r>
              <a:br>
                <a:rPr lang="en-US" sz="1500" dirty="0">
                  <a:solidFill>
                    <a:schemeClr val="dk1"/>
                  </a:solidFill>
                  <a:latin typeface="+mn-lt"/>
                  <a:ea typeface="+mn-ea"/>
                  <a:cs typeface="+mn-cs"/>
                </a:rPr>
              </a:br>
              <a:r>
                <a:rPr lang="en-US" sz="1500" dirty="0">
                  <a:solidFill>
                    <a:schemeClr val="dk1"/>
                  </a:solidFill>
                  <a:latin typeface="+mn-lt"/>
                  <a:ea typeface="+mn-ea"/>
                  <a:cs typeface="+mn-cs"/>
                </a:rPr>
                <a:t>Shared verification infrastructure</a:t>
              </a:r>
              <a:br>
                <a:rPr lang="en-US" sz="1500" dirty="0">
                  <a:solidFill>
                    <a:schemeClr val="dk1"/>
                  </a:solidFill>
                  <a:latin typeface="+mn-lt"/>
                  <a:ea typeface="+mn-ea"/>
                  <a:cs typeface="+mn-cs"/>
                </a:rPr>
              </a:br>
              <a:r>
                <a:rPr lang="en-US" sz="1500" dirty="0">
                  <a:solidFill>
                    <a:schemeClr val="dk1"/>
                  </a:solidFill>
                  <a:latin typeface="+mn-lt"/>
                  <a:ea typeface="+mn-ea"/>
                  <a:cs typeface="+mn-cs"/>
                </a:rPr>
                <a:t>compounds across tasks and allows</a:t>
              </a:r>
              <a:br>
                <a:rPr lang="en-US" sz="1500" dirty="0">
                  <a:solidFill>
                    <a:schemeClr val="dk1"/>
                  </a:solidFill>
                  <a:latin typeface="+mn-lt"/>
                  <a:ea typeface="+mn-ea"/>
                  <a:cs typeface="+mn-cs"/>
                </a:rPr>
              </a:br>
              <a:r>
                <a:rPr lang="en-US" sz="1500" dirty="0">
                  <a:solidFill>
                    <a:schemeClr val="dk1"/>
                  </a:solidFill>
                  <a:latin typeface="+mn-lt"/>
                  <a:ea typeface="+mn-ea"/>
                  <a:cs typeface="+mn-cs"/>
                </a:rPr>
                <a:t>practitioners to focus on the</a:t>
              </a:r>
              <a:br>
                <a:rPr lang="en-US" sz="1500" dirty="0">
                  <a:solidFill>
                    <a:schemeClr val="dk1"/>
                  </a:solidFill>
                  <a:latin typeface="+mn-lt"/>
                  <a:ea typeface="+mn-ea"/>
                  <a:cs typeface="+mn-cs"/>
                </a:rPr>
              </a:br>
              <a:r>
                <a:rPr lang="en-US" sz="1500" dirty="0">
                  <a:solidFill>
                    <a:schemeClr val="dk1"/>
                  </a:solidFill>
                  <a:latin typeface="+mn-lt"/>
                  <a:ea typeface="+mn-ea"/>
                  <a:cs typeface="+mn-cs"/>
                </a:rPr>
                <a:t>remaining judgment.</a:t>
              </a:r>
            </a:p>
          </p:txBody>
        </p:sp>
      </p:grpSp>
      <p:grpSp>
        <p:nvGrpSpPr>
          <p:cNvPr id="14" name="analysis-3"/>
          <p:cNvGrpSpPr/>
          <p:nvPr/>
        </p:nvGrpSpPr>
        <p:grpSpPr>
          <a:xfrm>
            <a:off x="8144256" y="1876425"/>
            <a:ext cx="2982506" cy="3236595"/>
            <a:chOff x="8144256" y="1876425"/>
            <a:chExt cx="2982506" cy="3236595"/>
          </a:xfrm>
        </p:grpSpPr>
        <p:sp>
          <p:nvSpPr>
            <p:cNvPr id="12" name="TextBox 12"/>
            <p:cNvSpPr txBox="1"/>
            <p:nvPr/>
          </p:nvSpPr>
          <p:spPr>
            <a:xfrm>
              <a:off x="8144256" y="1876425"/>
              <a:ext cx="2693457"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Apply the same standard to</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artifacts</a:t>
              </a:r>
            </a:p>
          </p:txBody>
        </p:sp>
        <p:sp>
          <p:nvSpPr>
            <p:cNvPr id="13" name="TextBox 13"/>
            <p:cNvSpPr txBox="1"/>
            <p:nvPr/>
          </p:nvSpPr>
          <p:spPr>
            <a:xfrm>
              <a:off x="8145780" y="2505075"/>
              <a:ext cx="298098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For a report or presentation,</a:t>
              </a:r>
              <a:br>
                <a:rPr lang="en-US" sz="1500" dirty="0">
                  <a:solidFill>
                    <a:schemeClr val="dk1"/>
                  </a:solidFill>
                  <a:latin typeface="+mn-lt"/>
                  <a:ea typeface="+mn-ea"/>
                  <a:cs typeface="+mn-cs"/>
                </a:rPr>
              </a:br>
              <a:r>
                <a:rPr lang="en-US" sz="1500" dirty="0">
                  <a:solidFill>
                    <a:schemeClr val="dk1"/>
                  </a:solidFill>
                  <a:latin typeface="+mn-lt"/>
                  <a:ea typeface="+mn-ea"/>
                  <a:cs typeface="+mn-cs"/>
                </a:rPr>
                <a:t>acceptance includes the current</a:t>
              </a:r>
              <a:br>
                <a:rPr lang="en-US" sz="1500" dirty="0">
                  <a:solidFill>
                    <a:schemeClr val="dk1"/>
                  </a:solidFill>
                  <a:latin typeface="+mn-lt"/>
                  <a:ea typeface="+mn-ea"/>
                  <a:cs typeface="+mn-cs"/>
                </a:rPr>
              </a:br>
              <a:r>
                <a:rPr lang="en-US" sz="1500" dirty="0">
                  <a:solidFill>
                    <a:schemeClr val="dk1"/>
                  </a:solidFill>
                  <a:latin typeface="+mn-lt"/>
                  <a:ea typeface="+mn-ea"/>
                  <a:cs typeface="+mn-cs"/>
                </a:rPr>
                <a:t>saved output, its evidence and</a:t>
              </a:r>
              <a:br>
                <a:rPr lang="en-US" sz="1500" dirty="0">
                  <a:solidFill>
                    <a:schemeClr val="dk1"/>
                  </a:solidFill>
                  <a:latin typeface="+mn-lt"/>
                  <a:ea typeface="+mn-ea"/>
                  <a:cs typeface="+mn-cs"/>
                </a:rPr>
              </a:br>
              <a:r>
                <a:rPr lang="en-US" sz="1500" dirty="0">
                  <a:solidFill>
                    <a:schemeClr val="dk1"/>
                  </a:solidFill>
                  <a:latin typeface="+mn-lt"/>
                  <a:ea typeface="+mn-ea"/>
                  <a:cs typeface="+mn-cs"/>
                </a:rPr>
                <a:t>readability. For a financial</a:t>
              </a:r>
              <a:br>
                <a:rPr lang="en-US" sz="1500" dirty="0">
                  <a:solidFill>
                    <a:schemeClr val="dk1"/>
                  </a:solidFill>
                  <a:latin typeface="+mn-lt"/>
                  <a:ea typeface="+mn-ea"/>
                  <a:cs typeface="+mn-cs"/>
                </a:rPr>
              </a:br>
              <a:r>
                <a:rPr lang="en-US" sz="1500" dirty="0">
                  <a:solidFill>
                    <a:schemeClr val="dk1"/>
                  </a:solidFill>
                  <a:latin typeface="+mn-lt"/>
                  <a:ea typeface="+mn-ea"/>
                  <a:cs typeface="+mn-cs"/>
                </a:rPr>
                <a:t>action, it includes authorization</a:t>
              </a:r>
              <a:br>
                <a:rPr lang="en-US" sz="1500" dirty="0">
                  <a:solidFill>
                    <a:schemeClr val="dk1"/>
                  </a:solidFill>
                  <a:latin typeface="+mn-lt"/>
                  <a:ea typeface="+mn-ea"/>
                  <a:cs typeface="+mn-cs"/>
                </a:rPr>
              </a:br>
              <a:r>
                <a:rPr lang="en-US" sz="1500" dirty="0">
                  <a:solidFill>
                    <a:schemeClr val="dk1"/>
                  </a:solidFill>
                  <a:latin typeface="+mn-lt"/>
                  <a:ea typeface="+mn-ea"/>
                  <a:cs typeface="+mn-cs"/>
                </a:rPr>
                <a:t>and recovery. Match the check to</a:t>
              </a:r>
              <a:br>
                <a:rPr lang="en-US" sz="1500" dirty="0">
                  <a:solidFill>
                    <a:schemeClr val="dk1"/>
                  </a:solidFill>
                  <a:latin typeface="+mn-lt"/>
                  <a:ea typeface="+mn-ea"/>
                  <a:cs typeface="+mn-cs"/>
                </a:rPr>
              </a:br>
              <a:r>
                <a:rPr lang="en-US" sz="1500" dirty="0">
                  <a:solidFill>
                    <a:schemeClr val="dk1"/>
                  </a:solidFill>
                  <a:latin typeface="+mn-lt"/>
                  <a:ea typeface="+mn-ea"/>
                  <a:cs typeface="+mn-cs"/>
                </a:rPr>
                <a:t>the actual consequence; neither</a:t>
              </a:r>
              <a:br>
                <a:rPr lang="en-US" sz="1500" dirty="0">
                  <a:solidFill>
                    <a:schemeClr val="dk1"/>
                  </a:solidFill>
                  <a:latin typeface="+mn-lt"/>
                  <a:ea typeface="+mn-ea"/>
                  <a:cs typeface="+mn-cs"/>
                </a:rPr>
              </a:br>
              <a:r>
                <a:rPr lang="en-US" sz="1500" dirty="0">
                  <a:solidFill>
                    <a:schemeClr val="dk1"/>
                  </a:solidFill>
                  <a:latin typeface="+mn-lt"/>
                  <a:ea typeface="+mn-ea"/>
                  <a:cs typeface="+mn-cs"/>
                </a:rPr>
                <a:t>code generation speed nor another</a:t>
              </a:r>
              <a:br>
                <a:rPr lang="en-US" sz="1500" dirty="0">
                  <a:solidFill>
                    <a:schemeClr val="dk1"/>
                  </a:solidFill>
                  <a:latin typeface="+mn-lt"/>
                  <a:ea typeface="+mn-ea"/>
                  <a:cs typeface="+mn-cs"/>
                </a:rPr>
              </a:br>
              <a:r>
                <a:rPr lang="en-US" sz="1500" dirty="0">
                  <a:solidFill>
                    <a:schemeClr val="dk1"/>
                  </a:solidFill>
                  <a:latin typeface="+mn-lt"/>
                  <a:ea typeface="+mn-ea"/>
                  <a:cs typeface="+mn-cs"/>
                </a:rPr>
                <a:t>agent’s confidence resolves that</a:t>
              </a:r>
              <a:br>
                <a:rPr lang="en-US" sz="1500" dirty="0">
                  <a:solidFill>
                    <a:schemeClr val="dk1"/>
                  </a:solidFill>
                  <a:latin typeface="+mn-lt"/>
                  <a:ea typeface="+mn-ea"/>
                  <a:cs typeface="+mn-cs"/>
                </a:rPr>
              </a:br>
              <a:r>
                <a:rPr lang="en-US" sz="1500" dirty="0">
                  <a:solidFill>
                    <a:schemeClr val="dk1"/>
                  </a:solidFill>
                  <a:latin typeface="+mn-lt"/>
                  <a:ea typeface="+mn-ea"/>
                  <a:cs typeface="+mn-cs"/>
                </a:rPr>
                <a:t>decision.</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322214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Capital One · Sonar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26 / 37</a:t>
              </a:r>
            </a:p>
          </p:txBody>
        </p:sp>
      </p:grpSp>
    </p:spTree>
  </p:cSld>
  <p:clrMapOvr>
    <a:masterClrMapping/>
  </p:clrMapOvr>
  <p:transition xmlns:p14="http://schemas.microsoft.com/office/powerpoint/2010/main" p14:dur="400">
    <p:fade/>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231624" cy="1100582"/>
            <a:chOff x="443484" y="361950"/>
            <a:chExt cx="9231624" cy="1100582"/>
          </a:xfrm>
        </p:grpSpPr>
        <p:sp>
          <p:nvSpPr>
            <p:cNvPr id="2" name="TextBox 2"/>
            <p:cNvSpPr txBox="1"/>
            <p:nvPr/>
          </p:nvSpPr>
          <p:spPr>
            <a:xfrm>
              <a:off x="451104" y="361950"/>
              <a:ext cx="226937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05 / AI ENGINEER GROWTH</a:t>
              </a:r>
            </a:p>
          </p:txBody>
        </p:sp>
        <p:sp>
          <p:nvSpPr>
            <p:cNvPr id="3" name="TextBox 3"/>
            <p:cNvSpPr txBox="1"/>
            <p:nvPr/>
          </p:nvSpPr>
          <p:spPr>
            <a:xfrm>
              <a:off x="443484" y="593725"/>
              <a:ext cx="9231624"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Prove one improvement through a bounded experiment</a:t>
              </a:r>
            </a:p>
          </p:txBody>
        </p:sp>
        <p:sp>
          <p:nvSpPr>
            <p:cNvPr id="4" name="TextBox 4"/>
            <p:cNvSpPr txBox="1"/>
            <p:nvPr/>
          </p:nvSpPr>
          <p:spPr>
            <a:xfrm>
              <a:off x="448818" y="1139825"/>
              <a:ext cx="8580826"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One realistic task and one diagnosed failure can develop the full engineering discipline.</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76656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Baseline</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138293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One hypothesis</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66633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Paired assessment</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41309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Learning packet</a:t>
              </a:r>
            </a:p>
          </p:txBody>
        </p:sp>
      </p:grpSp>
      <p:grpSp>
        <p:nvGrpSpPr>
          <p:cNvPr id="17" name="analysis-1"/>
          <p:cNvGrpSpPr/>
          <p:nvPr/>
        </p:nvGrpSpPr>
        <p:grpSpPr>
          <a:xfrm>
            <a:off x="448056" y="2438400"/>
            <a:ext cx="3041952" cy="2712720"/>
            <a:chOff x="448056" y="2438400"/>
            <a:chExt cx="3041952" cy="2712720"/>
          </a:xfrm>
        </p:grpSpPr>
        <p:sp>
          <p:nvSpPr>
            <p:cNvPr id="15" name="TextBox 15"/>
            <p:cNvSpPr txBox="1"/>
            <p:nvPr/>
          </p:nvSpPr>
          <p:spPr>
            <a:xfrm>
              <a:off x="448056" y="2438400"/>
              <a:ext cx="30419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Build a reviewable baseline</a:t>
              </a:r>
            </a:p>
          </p:txBody>
        </p:sp>
        <p:sp>
          <p:nvSpPr>
            <p:cNvPr id="16" name="TextBox 16"/>
            <p:cNvSpPr txBox="1"/>
            <p:nvPr/>
          </p:nvSpPr>
          <p:spPr>
            <a:xfrm>
              <a:off x="449580" y="3057525"/>
              <a:ext cx="3011881"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Interview a practitioner and choose</a:t>
              </a:r>
              <a:br>
                <a:rPr lang="en-US" sz="1500" dirty="0">
                  <a:solidFill>
                    <a:schemeClr val="dk1"/>
                  </a:solidFill>
                  <a:latin typeface="+mn-lt"/>
                  <a:ea typeface="+mn-ea"/>
                  <a:cs typeface="+mn-cs"/>
                </a:rPr>
              </a:br>
              <a:r>
                <a:rPr lang="en-US" sz="1500" dirty="0">
                  <a:solidFill>
                    <a:schemeClr val="dk1"/>
                  </a:solidFill>
                  <a:latin typeface="+mn-lt"/>
                  <a:ea typeface="+mn-ea"/>
                  <a:cs typeface="+mn-cs"/>
                </a:rPr>
                <a:t>a historical task with known</a:t>
              </a:r>
              <a:br>
                <a:rPr lang="en-US" sz="1500" dirty="0">
                  <a:solidFill>
                    <a:schemeClr val="dk1"/>
                  </a:solidFill>
                  <a:latin typeface="+mn-lt"/>
                  <a:ea typeface="+mn-ea"/>
                  <a:cs typeface="+mn-cs"/>
                </a:rPr>
              </a:br>
              <a:r>
                <a:rPr lang="en-US" sz="1500" dirty="0">
                  <a:solidFill>
                    <a:schemeClr val="dk1"/>
                  </a:solidFill>
                  <a:latin typeface="+mn-lt"/>
                  <a:ea typeface="+mn-ea"/>
                  <a:cs typeface="+mn-cs"/>
                </a:rPr>
                <a:t>accepted work. Preserve its input</a:t>
              </a:r>
              <a:br>
                <a:rPr lang="en-US" sz="1500" dirty="0">
                  <a:solidFill>
                    <a:schemeClr val="dk1"/>
                  </a:solidFill>
                  <a:latin typeface="+mn-lt"/>
                  <a:ea typeface="+mn-ea"/>
                  <a:cs typeface="+mn-cs"/>
                </a:rPr>
              </a:br>
              <a:r>
                <a:rPr lang="en-US" sz="1500" dirty="0">
                  <a:solidFill>
                    <a:schemeClr val="dk1"/>
                  </a:solidFill>
                  <a:latin typeface="+mn-lt"/>
                  <a:ea typeface="+mn-ea"/>
                  <a:cs typeface="+mn-cs"/>
                </a:rPr>
                <a:t>snapshot and permitted tools. Write</a:t>
              </a:r>
              <a:br>
                <a:rPr lang="en-US" sz="1500" dirty="0">
                  <a:solidFill>
                    <a:schemeClr val="dk1"/>
                  </a:solidFill>
                  <a:latin typeface="+mn-lt"/>
                  <a:ea typeface="+mn-ea"/>
                  <a:cs typeface="+mn-cs"/>
                </a:rPr>
              </a:br>
              <a:r>
                <a:rPr lang="en-US" sz="1500" dirty="0">
                  <a:solidFill>
                    <a:schemeClr val="dk1"/>
                  </a:solidFill>
                  <a:latin typeface="+mn-lt"/>
                  <a:ea typeface="+mn-ea"/>
                  <a:cs typeface="+mn-cs"/>
                </a:rPr>
                <a:t>exact checks, a short expert rubric</a:t>
              </a:r>
              <a:br>
                <a:rPr lang="en-US" sz="1500" dirty="0">
                  <a:solidFill>
                    <a:schemeClr val="dk1"/>
                  </a:solidFill>
                  <a:latin typeface="+mn-lt"/>
                  <a:ea typeface="+mn-ea"/>
                  <a:cs typeface="+mn-cs"/>
                </a:rPr>
              </a:br>
              <a:r>
                <a:rPr lang="en-US" sz="1500" dirty="0">
                  <a:solidFill>
                    <a:schemeClr val="dk1"/>
                  </a:solidFill>
                  <a:latin typeface="+mn-lt"/>
                  <a:ea typeface="+mn-ea"/>
                  <a:cs typeface="+mn-cs"/>
                </a:rPr>
                <a:t>and one critical behavior</a:t>
              </a:r>
              <a:br>
                <a:rPr lang="en-US" sz="1500" dirty="0">
                  <a:solidFill>
                    <a:schemeClr val="dk1"/>
                  </a:solidFill>
                  <a:latin typeface="+mn-lt"/>
                  <a:ea typeface="+mn-ea"/>
                  <a:cs typeface="+mn-cs"/>
                </a:rPr>
              </a:br>
              <a:r>
                <a:rPr lang="en-US" sz="1500" dirty="0">
                  <a:solidFill>
                    <a:schemeClr val="dk1"/>
                  </a:solidFill>
                  <a:latin typeface="+mn-lt"/>
                  <a:ea typeface="+mn-ea"/>
                  <a:cs typeface="+mn-cs"/>
                </a:rPr>
                <a:t>expectation before measuring the</a:t>
              </a:r>
              <a:br>
                <a:rPr lang="en-US" sz="1500" dirty="0">
                  <a:solidFill>
                    <a:schemeClr val="dk1"/>
                  </a:solidFill>
                  <a:latin typeface="+mn-lt"/>
                  <a:ea typeface="+mn-ea"/>
                  <a:cs typeface="+mn-cs"/>
                </a:rPr>
              </a:br>
              <a:r>
                <a:rPr lang="en-US" sz="1500" dirty="0">
                  <a:solidFill>
                    <a:schemeClr val="dk1"/>
                  </a:solidFill>
                  <a:latin typeface="+mn-lt"/>
                  <a:ea typeface="+mn-ea"/>
                  <a:cs typeface="+mn-cs"/>
                </a:rPr>
                <a:t>candidate.</a:t>
              </a:r>
            </a:p>
          </p:txBody>
        </p:sp>
      </p:grpSp>
      <p:grpSp>
        <p:nvGrpSpPr>
          <p:cNvPr id="20" name="analysis-2"/>
          <p:cNvGrpSpPr/>
          <p:nvPr/>
        </p:nvGrpSpPr>
        <p:grpSpPr>
          <a:xfrm>
            <a:off x="4296156" y="2438400"/>
            <a:ext cx="2886266" cy="2969895"/>
            <a:chOff x="4296156" y="2438400"/>
            <a:chExt cx="2886266" cy="2969895"/>
          </a:xfrm>
        </p:grpSpPr>
        <p:sp>
          <p:nvSpPr>
            <p:cNvPr id="18" name="TextBox 18"/>
            <p:cNvSpPr txBox="1"/>
            <p:nvPr/>
          </p:nvSpPr>
          <p:spPr>
            <a:xfrm>
              <a:off x="4296156" y="2438400"/>
              <a:ext cx="2269773"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Vary one hypothesis</a:t>
              </a:r>
            </a:p>
          </p:txBody>
        </p:sp>
        <p:sp>
          <p:nvSpPr>
            <p:cNvPr id="19" name="TextBox 19"/>
            <p:cNvSpPr txBox="1"/>
            <p:nvPr/>
          </p:nvSpPr>
          <p:spPr>
            <a:xfrm>
              <a:off x="4297680" y="3057525"/>
              <a:ext cx="2884742"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Try a skill ablation, a narrower</a:t>
              </a:r>
              <a:br>
                <a:rPr lang="en-US" sz="1500" dirty="0">
                  <a:solidFill>
                    <a:schemeClr val="dk1"/>
                  </a:solidFill>
                  <a:latin typeface="+mn-lt"/>
                  <a:ea typeface="+mn-ea"/>
                  <a:cs typeface="+mn-cs"/>
                </a:rPr>
              </a:br>
              <a:r>
                <a:rPr lang="en-US" sz="1500" dirty="0">
                  <a:solidFill>
                    <a:schemeClr val="dk1"/>
                  </a:solidFill>
                  <a:latin typeface="+mn-lt"/>
                  <a:ea typeface="+mn-ea"/>
                  <a:cs typeface="+mn-cs"/>
                </a:rPr>
                <a:t>context or a repaired tool</a:t>
              </a:r>
              <a:br>
                <a:rPr lang="en-US" sz="1500" dirty="0">
                  <a:solidFill>
                    <a:schemeClr val="dk1"/>
                  </a:solidFill>
                  <a:latin typeface="+mn-lt"/>
                  <a:ea typeface="+mn-ea"/>
                  <a:cs typeface="+mn-cs"/>
                </a:rPr>
              </a:br>
              <a:r>
                <a:rPr lang="en-US" sz="1500" dirty="0">
                  <a:solidFill>
                    <a:schemeClr val="dk1"/>
                  </a:solidFill>
                  <a:latin typeface="+mn-lt"/>
                  <a:ea typeface="+mn-ea"/>
                  <a:cs typeface="+mn-cs"/>
                </a:rPr>
                <a:t>incentive. Add an answer-first</a:t>
              </a:r>
              <a:br>
                <a:rPr lang="en-US" sz="1500" dirty="0">
                  <a:solidFill>
                    <a:schemeClr val="dk1"/>
                  </a:solidFill>
                  <a:latin typeface="+mn-lt"/>
                  <a:ea typeface="+mn-ea"/>
                  <a:cs typeface="+mn-cs"/>
                </a:rPr>
              </a:br>
              <a:r>
                <a:rPr lang="en-US" sz="1500" dirty="0">
                  <a:solidFill>
                    <a:schemeClr val="dk1"/>
                  </a:solidFill>
                  <a:latin typeface="+mn-lt"/>
                  <a:ea typeface="+mn-ea"/>
                  <a:cs typeface="+mn-cs"/>
                </a:rPr>
                <a:t>missing-evidence case and a</a:t>
              </a:r>
              <a:br>
                <a:rPr lang="en-US" sz="1500" dirty="0">
                  <a:solidFill>
                    <a:schemeClr val="dk1"/>
                  </a:solidFill>
                  <a:latin typeface="+mn-lt"/>
                  <a:ea typeface="+mn-ea"/>
                  <a:cs typeface="+mn-cs"/>
                </a:rPr>
              </a:br>
              <a:r>
                <a:rPr lang="en-US" sz="1500" dirty="0">
                  <a:solidFill>
                    <a:schemeClr val="dk1"/>
                  </a:solidFill>
                  <a:latin typeface="+mn-lt"/>
                  <a:ea typeface="+mn-ea"/>
                  <a:cs typeface="+mn-cs"/>
                </a:rPr>
                <a:t>next-period memory case. Repeat</a:t>
              </a:r>
              <a:br>
                <a:rPr lang="en-US" sz="1500" dirty="0">
                  <a:solidFill>
                    <a:schemeClr val="dk1"/>
                  </a:solidFill>
                  <a:latin typeface="+mn-lt"/>
                  <a:ea typeface="+mn-ea"/>
                  <a:cs typeface="+mn-cs"/>
                </a:rPr>
              </a:br>
              <a:r>
                <a:rPr lang="en-US" sz="1500" dirty="0">
                  <a:solidFill>
                    <a:schemeClr val="dk1"/>
                  </a:solidFill>
                  <a:latin typeface="+mn-lt"/>
                  <a:ea typeface="+mn-ea"/>
                  <a:cs typeface="+mn-cs"/>
                </a:rPr>
                <a:t>when stochastic variation matters,</a:t>
              </a:r>
              <a:br>
                <a:rPr lang="en-US" sz="1500" dirty="0">
                  <a:solidFill>
                    <a:schemeClr val="dk1"/>
                  </a:solidFill>
                  <a:latin typeface="+mn-lt"/>
                  <a:ea typeface="+mn-ea"/>
                  <a:cs typeface="+mn-cs"/>
                </a:rPr>
              </a:br>
              <a:r>
                <a:rPr lang="en-US" sz="1500" dirty="0">
                  <a:solidFill>
                    <a:schemeClr val="dk1"/>
                  </a:solidFill>
                  <a:latin typeface="+mn-lt"/>
                  <a:ea typeface="+mn-ea"/>
                  <a:cs typeface="+mn-cs"/>
                </a:rPr>
                <a:t>keep held-out assessment and</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 regressions as well as the</a:t>
              </a:r>
              <a:br>
                <a:rPr lang="en-US" sz="1500" dirty="0">
                  <a:solidFill>
                    <a:schemeClr val="dk1"/>
                  </a:solidFill>
                  <a:latin typeface="+mn-lt"/>
                  <a:ea typeface="+mn-ea"/>
                  <a:cs typeface="+mn-cs"/>
                </a:rPr>
              </a:br>
              <a:r>
                <a:rPr lang="en-US" sz="1500" dirty="0">
                  <a:solidFill>
                    <a:schemeClr val="dk1"/>
                  </a:solidFill>
                  <a:latin typeface="+mn-lt"/>
                  <a:ea typeface="+mn-ea"/>
                  <a:cs typeface="+mn-cs"/>
                </a:rPr>
                <a:t>average.</a:t>
              </a:r>
            </a:p>
          </p:txBody>
        </p:sp>
      </p:grpSp>
      <p:grpSp>
        <p:nvGrpSpPr>
          <p:cNvPr id="23" name="analysis-3"/>
          <p:cNvGrpSpPr/>
          <p:nvPr/>
        </p:nvGrpSpPr>
        <p:grpSpPr>
          <a:xfrm>
            <a:off x="8144256" y="2438400"/>
            <a:ext cx="3020537" cy="3227070"/>
            <a:chOff x="8144256" y="2438400"/>
            <a:chExt cx="3020537" cy="3227070"/>
          </a:xfrm>
        </p:grpSpPr>
        <p:sp>
          <p:nvSpPr>
            <p:cNvPr id="21" name="TextBox 21"/>
            <p:cNvSpPr txBox="1"/>
            <p:nvPr/>
          </p:nvSpPr>
          <p:spPr>
            <a:xfrm>
              <a:off x="8144256" y="2438400"/>
              <a:ext cx="3020537"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Publish the learning packet</a:t>
              </a:r>
            </a:p>
          </p:txBody>
        </p:sp>
        <p:sp>
          <p:nvSpPr>
            <p:cNvPr id="22" name="TextBox 22"/>
            <p:cNvSpPr txBox="1"/>
            <p:nvPr/>
          </p:nvSpPr>
          <p:spPr>
            <a:xfrm>
              <a:off x="8145780" y="3057525"/>
              <a:ext cx="3002394"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Retain the trace,</a:t>
              </a:r>
              <a:br>
                <a:rPr lang="en-US" sz="1500" dirty="0">
                  <a:solidFill>
                    <a:schemeClr val="dk1"/>
                  </a:solidFill>
                  <a:latin typeface="+mn-lt"/>
                  <a:ea typeface="+mn-ea"/>
                  <a:cs typeface="+mn-cs"/>
                </a:rPr>
              </a:br>
              <a:r>
                <a:rPr lang="en-US" sz="1500" dirty="0">
                  <a:solidFill>
                    <a:schemeClr val="dk1"/>
                  </a:solidFill>
                  <a:latin typeface="+mn-lt"/>
                  <a:ea typeface="+mn-ea"/>
                  <a:cs typeface="+mn-cs"/>
                </a:rPr>
                <a:t>baseline/candidate results,</a:t>
              </a:r>
              <a:br>
                <a:rPr lang="en-US" sz="1500" dirty="0">
                  <a:solidFill>
                    <a:schemeClr val="dk1"/>
                  </a:solidFill>
                  <a:latin typeface="+mn-lt"/>
                  <a:ea typeface="+mn-ea"/>
                  <a:cs typeface="+mn-cs"/>
                </a:rPr>
              </a:br>
              <a:r>
                <a:rPr lang="en-US" sz="1500" dirty="0">
                  <a:solidFill>
                    <a:schemeClr val="dk1"/>
                  </a:solidFill>
                  <a:latin typeface="+mn-lt"/>
                  <a:ea typeface="+mn-ea"/>
                  <a:cs typeface="+mn-cs"/>
                </a:rPr>
                <a:t>important disagreement, total</a:t>
              </a:r>
              <a:br>
                <a:rPr lang="en-US" sz="1500" dirty="0">
                  <a:solidFill>
                    <a:schemeClr val="dk1"/>
                  </a:solidFill>
                  <a:latin typeface="+mn-lt"/>
                  <a:ea typeface="+mn-ea"/>
                  <a:cs typeface="+mn-cs"/>
                </a:rPr>
              </a:br>
              <a:r>
                <a:rPr lang="en-US" sz="1500" dirty="0">
                  <a:solidFill>
                    <a:schemeClr val="dk1"/>
                  </a:solidFill>
                  <a:latin typeface="+mn-lt"/>
                  <a:ea typeface="+mn-ea"/>
                  <a:cs typeface="+mn-cs"/>
                </a:rPr>
                <a:t>review effort and the current</a:t>
              </a:r>
              <a:br>
                <a:rPr lang="en-US" sz="1500" dirty="0">
                  <a:solidFill>
                    <a:schemeClr val="dk1"/>
                  </a:solidFill>
                  <a:latin typeface="+mn-lt"/>
                  <a:ea typeface="+mn-ea"/>
                  <a:cs typeface="+mn-cs"/>
                </a:rPr>
              </a:br>
              <a:r>
                <a:rPr lang="en-US" sz="1500" dirty="0">
                  <a:solidFill>
                    <a:schemeClr val="dk1"/>
                  </a:solidFill>
                  <a:latin typeface="+mn-lt"/>
                  <a:ea typeface="+mn-ea"/>
                  <a:cs typeface="+mn-cs"/>
                </a:rPr>
                <a:t>artifact. State what improved, what</a:t>
              </a:r>
              <a:br>
                <a:rPr lang="en-US" sz="1500" dirty="0">
                  <a:solidFill>
                    <a:schemeClr val="dk1"/>
                  </a:solidFill>
                  <a:latin typeface="+mn-lt"/>
                  <a:ea typeface="+mn-ea"/>
                  <a:cs typeface="+mn-cs"/>
                </a:rPr>
              </a:br>
              <a:r>
                <a:rPr lang="en-US" sz="1500" dirty="0">
                  <a:solidFill>
                    <a:schemeClr val="dk1"/>
                  </a:solidFill>
                  <a:latin typeface="+mn-lt"/>
                  <a:ea typeface="+mn-ea"/>
                  <a:cs typeface="+mn-cs"/>
                </a:rPr>
                <a:t>failed and what remains uncertain.</a:t>
              </a:r>
              <a:br>
                <a:rPr lang="en-US" sz="1500" dirty="0">
                  <a:solidFill>
                    <a:schemeClr val="dk1"/>
                  </a:solidFill>
                  <a:latin typeface="+mn-lt"/>
                  <a:ea typeface="+mn-ea"/>
                  <a:cs typeface="+mn-cs"/>
                </a:rPr>
              </a:br>
              <a:r>
                <a:rPr lang="en-US" sz="1500" dirty="0">
                  <a:solidFill>
                    <a:schemeClr val="dk1"/>
                  </a:solidFill>
                  <a:latin typeface="+mn-lt"/>
                  <a:ea typeface="+mn-ea"/>
                  <a:cs typeface="+mn-cs"/>
                </a:rPr>
                <a:t>This develops product judgment,</a:t>
              </a:r>
              <a:br>
                <a:rPr lang="en-US" sz="1500" dirty="0">
                  <a:solidFill>
                    <a:schemeClr val="dk1"/>
                  </a:solidFill>
                  <a:latin typeface="+mn-lt"/>
                  <a:ea typeface="+mn-ea"/>
                  <a:cs typeface="+mn-cs"/>
                </a:rPr>
              </a:br>
              <a:r>
                <a:rPr lang="en-US" sz="1500" dirty="0">
                  <a:solidFill>
                    <a:schemeClr val="dk1"/>
                  </a:solidFill>
                  <a:latin typeface="+mn-lt"/>
                  <a:ea typeface="+mn-ea"/>
                  <a:cs typeface="+mn-cs"/>
                </a:rPr>
                <a:t>debugging and evaluation together;</a:t>
              </a:r>
              <a:br>
                <a:rPr lang="en-US" sz="1500" dirty="0">
                  <a:solidFill>
                    <a:schemeClr val="dk1"/>
                  </a:solidFill>
                  <a:latin typeface="+mn-lt"/>
                  <a:ea typeface="+mn-ea"/>
                  <a:cs typeface="+mn-cs"/>
                </a:rPr>
              </a:br>
              <a:r>
                <a:rPr lang="en-US" sz="1500" dirty="0">
                  <a:solidFill>
                    <a:schemeClr val="dk1"/>
                  </a:solidFill>
                  <a:latin typeface="+mn-lt"/>
                  <a:ea typeface="+mn-ea"/>
                  <a:cs typeface="+mn-cs"/>
                </a:rPr>
                <a:t>it is an optional learning exercise</a:t>
              </a:r>
              <a:br>
                <a:rPr lang="en-US" sz="1500" dirty="0">
                  <a:solidFill>
                    <a:schemeClr val="dk1"/>
                  </a:solidFill>
                  <a:latin typeface="+mn-lt"/>
                  <a:ea typeface="+mn-ea"/>
                  <a:cs typeface="+mn-cs"/>
                </a:rPr>
              </a:br>
              <a:r>
                <a:rPr lang="en-US" sz="1500" dirty="0">
                  <a:solidFill>
                    <a:schemeClr val="dk1"/>
                  </a:solidFill>
                  <a:latin typeface="+mn-lt"/>
                  <a:ea typeface="+mn-ea"/>
                  <a:cs typeface="+mn-cs"/>
                </a:rPr>
                <a:t>rather than a project commitment.</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435440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Basis · Ramp · Air Canada · Capital One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27 / 37</a:t>
              </a:r>
            </a:p>
          </p:txBody>
        </p:sp>
      </p:grpSp>
    </p:spTree>
  </p:cSld>
  <p:clrMapOvr>
    <a:masterClrMapping/>
  </p:clrMapOvr>
  <p:transition xmlns:p14="http://schemas.microsoft.com/office/powerpoint/2010/main" p14:dur="400">
    <p:fade/>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525127" cy="1100582"/>
            <a:chOff x="443484" y="361950"/>
            <a:chExt cx="10525127" cy="1100582"/>
          </a:xfrm>
        </p:grpSpPr>
        <p:sp>
          <p:nvSpPr>
            <p:cNvPr id="2" name="TextBox 2"/>
            <p:cNvSpPr txBox="1"/>
            <p:nvPr/>
          </p:nvSpPr>
          <p:spPr>
            <a:xfrm>
              <a:off x="451104" y="361950"/>
              <a:ext cx="234539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TAKEAWAYS &amp; DISCUSSION</a:t>
              </a:r>
            </a:p>
          </p:txBody>
        </p:sp>
        <p:sp>
          <p:nvSpPr>
            <p:cNvPr id="3" name="TextBox 3"/>
            <p:cNvSpPr txBox="1"/>
            <p:nvPr/>
          </p:nvSpPr>
          <p:spPr>
            <a:xfrm>
              <a:off x="443484" y="593725"/>
              <a:ext cx="8577106"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Agree acceptance, preserve evidence, test the repair</a:t>
              </a:r>
            </a:p>
          </p:txBody>
        </p:sp>
        <p:sp>
          <p:nvSpPr>
            <p:cNvPr id="4" name="TextBox 4"/>
            <p:cNvSpPr txBox="1"/>
            <p:nvPr/>
          </p:nvSpPr>
          <p:spPr>
            <a:xfrm>
              <a:off x="448818" y="1139825"/>
              <a:ext cx="10519793"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Prepare valuable work, retain inspectable evidence and make the next change an accountable experiment.</a:t>
              </a:r>
            </a:p>
          </p:txBody>
        </p:sp>
      </p:grpSp>
      <p:grpSp>
        <p:nvGrpSpPr>
          <p:cNvPr id="8" name="analysis-1"/>
          <p:cNvGrpSpPr/>
          <p:nvPr/>
        </p:nvGrpSpPr>
        <p:grpSpPr>
          <a:xfrm>
            <a:off x="448056" y="1876425"/>
            <a:ext cx="3077261" cy="2722245"/>
            <a:chOff x="448056" y="1876425"/>
            <a:chExt cx="3077261" cy="2722245"/>
          </a:xfrm>
        </p:grpSpPr>
        <p:sp>
          <p:nvSpPr>
            <p:cNvPr id="6" name="TextBox 6"/>
            <p:cNvSpPr txBox="1"/>
            <p:nvPr/>
          </p:nvSpPr>
          <p:spPr>
            <a:xfrm>
              <a:off x="448056" y="1876425"/>
              <a:ext cx="2775913"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Agree what completed work</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means</a:t>
              </a:r>
            </a:p>
          </p:txBody>
        </p:sp>
        <p:sp>
          <p:nvSpPr>
            <p:cNvPr id="7" name="TextBox 7"/>
            <p:cNvSpPr txBox="1"/>
            <p:nvPr/>
          </p:nvSpPr>
          <p:spPr>
            <a:xfrm>
              <a:off x="449580" y="2505075"/>
              <a:ext cx="3075737"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Name the practitioner, accepted</a:t>
              </a:r>
              <a:br>
                <a:rPr lang="en-US" sz="1500" dirty="0">
                  <a:solidFill>
                    <a:schemeClr val="dk1"/>
                  </a:solidFill>
                  <a:latin typeface="+mn-lt"/>
                  <a:ea typeface="+mn-ea"/>
                  <a:cs typeface="+mn-cs"/>
                </a:rPr>
              </a:br>
              <a:r>
                <a:rPr lang="en-US" sz="1500" dirty="0">
                  <a:solidFill>
                    <a:schemeClr val="dk1"/>
                  </a:solidFill>
                  <a:latin typeface="+mn-lt"/>
                  <a:ea typeface="+mn-ea"/>
                  <a:cs typeface="+mn-cs"/>
                </a:rPr>
                <a:t>work product and critical limits.</a:t>
              </a:r>
              <a:br>
                <a:rPr lang="en-US" sz="1500" dirty="0">
                  <a:solidFill>
                    <a:schemeClr val="dk1"/>
                  </a:solidFill>
                  <a:latin typeface="+mn-lt"/>
                  <a:ea typeface="+mn-ea"/>
                  <a:cs typeface="+mn-cs"/>
                </a:rPr>
              </a:br>
              <a:r>
                <a:rPr lang="en-US" sz="1500" dirty="0">
                  <a:solidFill>
                    <a:schemeClr val="dk1"/>
                  </a:solidFill>
                  <a:latin typeface="+mn-lt"/>
                  <a:ea typeface="+mn-ea"/>
                  <a:cs typeface="+mn-cs"/>
                </a:rPr>
                <a:t>Compare quality, coverage and total</a:t>
              </a:r>
              <a:br>
                <a:rPr lang="en-US" sz="1500" dirty="0">
                  <a:solidFill>
                    <a:schemeClr val="dk1"/>
                  </a:solidFill>
                  <a:latin typeface="+mn-lt"/>
                  <a:ea typeface="+mn-ea"/>
                  <a:cs typeface="+mn-cs"/>
                </a:rPr>
              </a:br>
              <a:r>
                <a:rPr lang="en-US" sz="1500" dirty="0">
                  <a:solidFill>
                    <a:schemeClr val="dk1"/>
                  </a:solidFill>
                  <a:latin typeface="+mn-lt"/>
                  <a:ea typeface="+mn-ea"/>
                  <a:cs typeface="+mn-cs"/>
                </a:rPr>
                <a:t>human effort against a credible</a:t>
              </a:r>
              <a:br>
                <a:rPr lang="en-US" sz="1500" dirty="0">
                  <a:solidFill>
                    <a:schemeClr val="dk1"/>
                  </a:solidFill>
                  <a:latin typeface="+mn-lt"/>
                  <a:ea typeface="+mn-ea"/>
                  <a:cs typeface="+mn-cs"/>
                </a:rPr>
              </a:br>
              <a:r>
                <a:rPr lang="en-US" sz="1500" dirty="0">
                  <a:solidFill>
                    <a:schemeClr val="dk1"/>
                  </a:solidFill>
                  <a:latin typeface="+mn-lt"/>
                  <a:ea typeface="+mn-ea"/>
                  <a:cs typeface="+mn-cs"/>
                </a:rPr>
                <a:t>baseline. Preparation time, tool</a:t>
              </a:r>
              <a:br>
                <a:rPr lang="en-US" sz="1500" dirty="0">
                  <a:solidFill>
                    <a:schemeClr val="dk1"/>
                  </a:solidFill>
                  <a:latin typeface="+mn-lt"/>
                  <a:ea typeface="+mn-ea"/>
                  <a:cs typeface="+mn-cs"/>
                </a:rPr>
              </a:br>
              <a:r>
                <a:rPr lang="en-US" sz="1500" dirty="0">
                  <a:solidFill>
                    <a:schemeClr val="dk1"/>
                  </a:solidFill>
                  <a:latin typeface="+mn-lt"/>
                  <a:ea typeface="+mn-ea"/>
                  <a:cs typeface="+mn-cs"/>
                </a:rPr>
                <a:t>volume and rollout scope answer</a:t>
              </a:r>
              <a:br>
                <a:rPr lang="en-US" sz="1500" dirty="0">
                  <a:solidFill>
                    <a:schemeClr val="dk1"/>
                  </a:solidFill>
                  <a:latin typeface="+mn-lt"/>
                  <a:ea typeface="+mn-ea"/>
                  <a:cs typeface="+mn-cs"/>
                </a:rPr>
              </a:br>
              <a:r>
                <a:rPr lang="en-US" sz="1500" dirty="0">
                  <a:solidFill>
                    <a:schemeClr val="dk1"/>
                  </a:solidFill>
                  <a:latin typeface="+mn-lt"/>
                  <a:ea typeface="+mn-ea"/>
                  <a:cs typeface="+mn-cs"/>
                </a:rPr>
                <a:t>useful but different questions from</a:t>
              </a:r>
              <a:br>
                <a:rPr lang="en-US" sz="1500" dirty="0">
                  <a:solidFill>
                    <a:schemeClr val="dk1"/>
                  </a:solidFill>
                  <a:latin typeface="+mn-lt"/>
                  <a:ea typeface="+mn-ea"/>
                  <a:cs typeface="+mn-cs"/>
                </a:rPr>
              </a:br>
              <a:r>
                <a:rPr lang="en-US" sz="1500" dirty="0">
                  <a:solidFill>
                    <a:schemeClr val="dk1"/>
                  </a:solidFill>
                  <a:latin typeface="+mn-lt"/>
                  <a:ea typeface="+mn-ea"/>
                  <a:cs typeface="+mn-cs"/>
                </a:rPr>
                <a:t>financial impact.</a:t>
              </a:r>
            </a:p>
          </p:txBody>
        </p:sp>
      </p:grpSp>
      <p:grpSp>
        <p:nvGrpSpPr>
          <p:cNvPr id="11" name="analysis-2"/>
          <p:cNvGrpSpPr/>
          <p:nvPr/>
        </p:nvGrpSpPr>
        <p:grpSpPr>
          <a:xfrm>
            <a:off x="4296156" y="1876425"/>
            <a:ext cx="3104258" cy="2722245"/>
            <a:chOff x="4296156" y="1876425"/>
            <a:chExt cx="3104258" cy="2722245"/>
          </a:xfrm>
        </p:grpSpPr>
        <p:sp>
          <p:nvSpPr>
            <p:cNvPr id="9" name="TextBox 9"/>
            <p:cNvSpPr txBox="1"/>
            <p:nvPr/>
          </p:nvSpPr>
          <p:spPr>
            <a:xfrm>
              <a:off x="4296156" y="1876425"/>
              <a:ext cx="310425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Preserve the evidence chain</a:t>
              </a:r>
            </a:p>
          </p:txBody>
        </p:sp>
        <p:sp>
          <p:nvSpPr>
            <p:cNvPr id="10" name="TextBox 10"/>
            <p:cNvSpPr txBox="1"/>
            <p:nvPr/>
          </p:nvSpPr>
          <p:spPr>
            <a:xfrm>
              <a:off x="4297680" y="2505075"/>
              <a:ext cx="3023121"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Carry entity, meaning, period,</a:t>
              </a:r>
              <a:br>
                <a:rPr lang="en-US" sz="1500" dirty="0">
                  <a:solidFill>
                    <a:schemeClr val="dk1"/>
                  </a:solidFill>
                  <a:latin typeface="+mn-lt"/>
                  <a:ea typeface="+mn-ea"/>
                  <a:cs typeface="+mn-cs"/>
                </a:rPr>
              </a:br>
              <a:r>
                <a:rPr lang="en-US" sz="1500" dirty="0">
                  <a:solidFill>
                    <a:schemeClr val="dk1"/>
                  </a:solidFill>
                  <a:latin typeface="+mn-lt"/>
                  <a:ea typeface="+mn-ea"/>
                  <a:cs typeface="+mn-cs"/>
                </a:rPr>
                <a:t>source version, access and</a:t>
              </a:r>
              <a:br>
                <a:rPr lang="en-US" sz="1500" dirty="0">
                  <a:solidFill>
                    <a:schemeClr val="dk1"/>
                  </a:solidFill>
                  <a:latin typeface="+mn-lt"/>
                  <a:ea typeface="+mn-ea"/>
                  <a:cs typeface="+mn-cs"/>
                </a:rPr>
              </a:br>
              <a:r>
                <a:rPr lang="en-US" sz="1500" dirty="0">
                  <a:solidFill>
                    <a:schemeClr val="dk1"/>
                  </a:solidFill>
                  <a:latin typeface="+mn-lt"/>
                  <a:ea typeface="+mn-ea"/>
                  <a:cs typeface="+mn-cs"/>
                </a:rPr>
                <a:t>calculation through the final</a:t>
              </a:r>
              <a:br>
                <a:rPr lang="en-US" sz="1500" dirty="0">
                  <a:solidFill>
                    <a:schemeClr val="dk1"/>
                  </a:solidFill>
                  <a:latin typeface="+mn-lt"/>
                  <a:ea typeface="+mn-ea"/>
                  <a:cs typeface="+mn-cs"/>
                </a:rPr>
              </a:br>
              <a:r>
                <a:rPr lang="en-US" sz="1500" dirty="0">
                  <a:solidFill>
                    <a:schemeClr val="dk1"/>
                  </a:solidFill>
                  <a:latin typeface="+mn-lt"/>
                  <a:ea typeface="+mn-ea"/>
                  <a:cs typeface="+mn-cs"/>
                </a:rPr>
                <a:t>artifact. Give memory a correction</a:t>
              </a:r>
              <a:br>
                <a:rPr lang="en-US" sz="1500" dirty="0">
                  <a:solidFill>
                    <a:schemeClr val="dk1"/>
                  </a:solidFill>
                  <a:latin typeface="+mn-lt"/>
                  <a:ea typeface="+mn-ea"/>
                  <a:cs typeface="+mn-cs"/>
                </a:rPr>
              </a:br>
              <a:r>
                <a:rPr lang="en-US" sz="1500" dirty="0">
                  <a:solidFill>
                    <a:schemeClr val="dk1"/>
                  </a:solidFill>
                  <a:latin typeface="+mn-lt"/>
                  <a:ea typeface="+mn-ea"/>
                  <a:cs typeface="+mn-cs"/>
                </a:rPr>
                <a:t>and aging policy. Keep professional</a:t>
              </a:r>
              <a:br>
                <a:rPr lang="en-US" sz="1500" dirty="0">
                  <a:solidFill>
                    <a:schemeClr val="dk1"/>
                  </a:solidFill>
                  <a:latin typeface="+mn-lt"/>
                  <a:ea typeface="+mn-ea"/>
                  <a:cs typeface="+mn-cs"/>
                </a:rPr>
              </a:br>
              <a:r>
                <a:rPr lang="en-US" sz="1500" dirty="0">
                  <a:solidFill>
                    <a:schemeClr val="dk1"/>
                  </a:solidFill>
                  <a:latin typeface="+mn-lt"/>
                  <a:ea typeface="+mn-ea"/>
                  <a:cs typeface="+mn-cs"/>
                </a:rPr>
                <a:t>review and permission to act as</a:t>
              </a:r>
              <a:br>
                <a:rPr lang="en-US" sz="1500" dirty="0">
                  <a:solidFill>
                    <a:schemeClr val="dk1"/>
                  </a:solidFill>
                  <a:latin typeface="+mn-lt"/>
                  <a:ea typeface="+mn-ea"/>
                  <a:cs typeface="+mn-cs"/>
                </a:rPr>
              </a:br>
              <a:r>
                <a:rPr lang="en-US" sz="1500" dirty="0">
                  <a:solidFill>
                    <a:schemeClr val="dk1"/>
                  </a:solidFill>
                  <a:latin typeface="+mn-lt"/>
                  <a:ea typeface="+mn-ea"/>
                  <a:cs typeface="+mn-cs"/>
                </a:rPr>
                <a:t>separate events, with durable</a:t>
              </a:r>
              <a:br>
                <a:rPr lang="en-US" sz="1500" dirty="0">
                  <a:solidFill>
                    <a:schemeClr val="dk1"/>
                  </a:solidFill>
                  <a:latin typeface="+mn-lt"/>
                  <a:ea typeface="+mn-ea"/>
                  <a:cs typeface="+mn-cs"/>
                </a:rPr>
              </a:br>
              <a:r>
                <a:rPr lang="en-US" sz="1500" dirty="0">
                  <a:solidFill>
                    <a:schemeClr val="dk1"/>
                  </a:solidFill>
                  <a:latin typeface="+mn-lt"/>
                  <a:ea typeface="+mn-ea"/>
                  <a:cs typeface="+mn-cs"/>
                </a:rPr>
                <a:t>workflow state between them.</a:t>
              </a:r>
            </a:p>
          </p:txBody>
        </p:sp>
      </p:grpSp>
      <p:grpSp>
        <p:nvGrpSpPr>
          <p:cNvPr id="14" name="analysis-3"/>
          <p:cNvGrpSpPr/>
          <p:nvPr/>
        </p:nvGrpSpPr>
        <p:grpSpPr>
          <a:xfrm>
            <a:off x="8144256" y="1876425"/>
            <a:ext cx="3246158" cy="2722245"/>
            <a:chOff x="8144256" y="1876425"/>
            <a:chExt cx="3246158" cy="2722245"/>
          </a:xfrm>
        </p:grpSpPr>
        <p:sp>
          <p:nvSpPr>
            <p:cNvPr id="12" name="TextBox 12"/>
            <p:cNvSpPr txBox="1"/>
            <p:nvPr/>
          </p:nvSpPr>
          <p:spPr>
            <a:xfrm>
              <a:off x="8144256" y="1876425"/>
              <a:ext cx="306015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Make the next change a test</a:t>
              </a:r>
            </a:p>
          </p:txBody>
        </p:sp>
        <p:sp>
          <p:nvSpPr>
            <p:cNvPr id="13" name="TextBox 13"/>
            <p:cNvSpPr txBox="1"/>
            <p:nvPr/>
          </p:nvSpPr>
          <p:spPr>
            <a:xfrm>
              <a:off x="8145780" y="2505075"/>
              <a:ext cx="3244634"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Choose one failure mechanism and a</a:t>
              </a:r>
              <a:br>
                <a:rPr lang="en-US" sz="1500" dirty="0">
                  <a:solidFill>
                    <a:schemeClr val="dk1"/>
                  </a:solidFill>
                  <a:latin typeface="+mn-lt"/>
                  <a:ea typeface="+mn-ea"/>
                  <a:cs typeface="+mn-cs"/>
                </a:rPr>
              </a:br>
              <a:r>
                <a:rPr lang="en-US" sz="1500" dirty="0">
                  <a:solidFill>
                    <a:schemeClr val="dk1"/>
                  </a:solidFill>
                  <a:latin typeface="+mn-lt"/>
                  <a:ea typeface="+mn-ea"/>
                  <a:cs typeface="+mn-cs"/>
                </a:rPr>
                <a:t>bounded comparison. Score final</a:t>
              </a:r>
              <a:br>
                <a:rPr lang="en-US" sz="1500" dirty="0">
                  <a:solidFill>
                    <a:schemeClr val="dk1"/>
                  </a:solidFill>
                  <a:latin typeface="+mn-lt"/>
                  <a:ea typeface="+mn-ea"/>
                  <a:cs typeface="+mn-cs"/>
                </a:rPr>
              </a:br>
              <a:r>
                <a:rPr lang="en-US" sz="1500" dirty="0">
                  <a:solidFill>
                    <a:schemeClr val="dk1"/>
                  </a:solidFill>
                  <a:latin typeface="+mn-lt"/>
                  <a:ea typeface="+mn-ea"/>
                  <a:cs typeface="+mn-cs"/>
                </a:rPr>
                <a:t>output, consequential behavior and</a:t>
              </a:r>
              <a:br>
                <a:rPr lang="en-US" sz="1500" dirty="0">
                  <a:solidFill>
                    <a:schemeClr val="dk1"/>
                  </a:solidFill>
                  <a:latin typeface="+mn-lt"/>
                  <a:ea typeface="+mn-ea"/>
                  <a:cs typeface="+mn-cs"/>
                </a:rPr>
              </a:br>
              <a:r>
                <a:rPr lang="en-US" sz="1500" dirty="0">
                  <a:solidFill>
                    <a:schemeClr val="dk1"/>
                  </a:solidFill>
                  <a:latin typeface="+mn-lt"/>
                  <a:ea typeface="+mn-ea"/>
                  <a:cs typeface="+mn-cs"/>
                </a:rPr>
                <a:t>authority; inspect paired</a:t>
              </a:r>
              <a:br>
                <a:rPr lang="en-US" sz="1500" dirty="0">
                  <a:solidFill>
                    <a:schemeClr val="dk1"/>
                  </a:solidFill>
                  <a:latin typeface="+mn-lt"/>
                  <a:ea typeface="+mn-ea"/>
                  <a:cs typeface="+mn-cs"/>
                </a:rPr>
              </a:br>
              <a:r>
                <a:rPr lang="en-US" sz="1500" dirty="0">
                  <a:solidFill>
                    <a:schemeClr val="dk1"/>
                  </a:solidFill>
                  <a:latin typeface="+mn-lt"/>
                  <a:ea typeface="+mn-ea"/>
                  <a:cs typeface="+mn-cs"/>
                </a:rPr>
                <a:t>regressions. Preserve the case and</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correction so improvement becomes a</a:t>
              </a:r>
              <a:br>
                <a:rPr lang="en-US" sz="1500" dirty="0">
                  <a:solidFill>
                    <a:schemeClr val="dk1"/>
                  </a:solidFill>
                  <a:latin typeface="+mn-lt"/>
                  <a:ea typeface="+mn-ea"/>
                  <a:cs typeface="+mn-cs"/>
                </a:rPr>
              </a:br>
              <a:r>
                <a:rPr lang="en-US" sz="1500" dirty="0">
                  <a:solidFill>
                    <a:schemeClr val="dk1"/>
                  </a:solidFill>
                  <a:latin typeface="+mn-lt"/>
                  <a:ea typeface="+mn-ea"/>
                  <a:cs typeface="+mn-cs"/>
                </a:rPr>
                <a:t>team asset rather than a lesson one</a:t>
              </a:r>
              <a:br>
                <a:rPr lang="en-US" sz="1500" dirty="0">
                  <a:solidFill>
                    <a:schemeClr val="dk1"/>
                  </a:solidFill>
                  <a:latin typeface="+mn-lt"/>
                  <a:ea typeface="+mn-ea"/>
                  <a:cs typeface="+mn-cs"/>
                </a:rPr>
              </a:br>
              <a:r>
                <a:rPr lang="en-US" sz="1500" dirty="0">
                  <a:solidFill>
                    <a:schemeClr val="dk1"/>
                  </a:solidFill>
                  <a:latin typeface="+mn-lt"/>
                  <a:ea typeface="+mn-ea"/>
                  <a:cs typeface="+mn-cs"/>
                </a:rPr>
                <a:t>person must rediscover.</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5661615"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Range · Kepler · Basis · Blackstone / Norm.ai · Citadel Securities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28 / 37</a:t>
              </a:r>
            </a:p>
          </p:txBody>
        </p:sp>
      </p:grpSp>
    </p:spTree>
  </p:cSld>
  <p:clrMapOvr>
    <a:masterClrMapping/>
  </p:clrMapOvr>
  <p:transition xmlns:p14="http://schemas.microsoft.com/office/powerpoint/2010/main" p14:dur="400">
    <p:fad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6758863" cy="1110107"/>
            <a:chOff x="443484" y="371475"/>
            <a:chExt cx="6758863" cy="1110107"/>
          </a:xfrm>
        </p:grpSpPr>
        <p:sp>
          <p:nvSpPr>
            <p:cNvPr id="2" name="TextBox 2"/>
            <p:cNvSpPr txBox="1"/>
            <p:nvPr/>
          </p:nvSpPr>
          <p:spPr>
            <a:xfrm>
              <a:off x="451104" y="371475"/>
              <a:ext cx="1074418" cy="234696"/>
            </a:xfrm>
            <a:prstGeom prst="rect">
              <a:avLst/>
            </a:prstGeom>
            <a:noFill/>
            <a:ln>
              <a:noFill/>
            </a:ln>
          </p:spPr>
          <p:txBody>
            <a:bodyPr wrap="none" lIns="0" tIns="0" rIns="0" bIns="0" anchor="t" anchorCtr="0">
              <a:spAutoFit/>
            </a:bodyPr>
            <a:lstStyle/>
            <a:p>
              <a:pPr algn="l"/>
              <a:r>
                <a:rPr lang="en-US" sz="1200" dirty="0">
                  <a:solidFill>
                    <a:schemeClr val="accent3"/>
                  </a:solidFill>
                  <a:latin typeface="+mn-lt"/>
                  <a:ea typeface="+mn-ea"/>
                  <a:cs typeface="+mn-cs"/>
                </a:rPr>
                <a:t>DISCUSSION</a:t>
              </a:r>
            </a:p>
          </p:txBody>
        </p:sp>
        <p:sp>
          <p:nvSpPr>
            <p:cNvPr id="3" name="TextBox 3"/>
            <p:cNvSpPr txBox="1"/>
            <p:nvPr/>
          </p:nvSpPr>
          <p:spPr>
            <a:xfrm>
              <a:off x="443484" y="603250"/>
              <a:ext cx="6758863" cy="528066"/>
            </a:xfrm>
            <a:prstGeom prst="rect">
              <a:avLst/>
            </a:prstGeom>
            <a:noFill/>
            <a:ln>
              <a:noFill/>
            </a:ln>
          </p:spPr>
          <p:txBody>
            <a:bodyPr wrap="none" lIns="0" tIns="0" rIns="0" bIns="0" anchor="t" anchorCtr="0">
              <a:spAutoFit/>
            </a:bodyPr>
            <a:lstStyle/>
            <a:p>
              <a:pPr algn="l"/>
              <a:r>
                <a:rPr lang="en-US" sz="2700" dirty="0">
                  <a:solidFill>
                    <a:srgbClr val="FFFDF7"/>
                  </a:solidFill>
                  <a:latin typeface="+mj-lt"/>
                  <a:ea typeface="+mj-ea"/>
                  <a:cs typeface="+mj-cs"/>
                </a:rPr>
                <a:t>Use disagreement to choose the next test</a:t>
              </a:r>
            </a:p>
          </p:txBody>
        </p:sp>
        <p:sp>
          <p:nvSpPr>
            <p:cNvPr id="4" name="TextBox 4"/>
            <p:cNvSpPr txBox="1"/>
            <p:nvPr/>
          </p:nvSpPr>
          <p:spPr>
            <a:xfrm>
              <a:off x="448818" y="1158875"/>
              <a:ext cx="6481029" cy="322707"/>
            </a:xfrm>
            <a:prstGeom prst="rect">
              <a:avLst/>
            </a:prstGeom>
            <a:noFill/>
            <a:ln>
              <a:noFill/>
            </a:ln>
          </p:spPr>
          <p:txBody>
            <a:bodyPr wrap="none" lIns="0" tIns="0" rIns="0" bIns="0" anchor="t" anchorCtr="0">
              <a:spAutoFit/>
            </a:bodyPr>
            <a:lstStyle/>
            <a:p>
              <a:pPr algn="l"/>
              <a:r>
                <a:rPr lang="en-US" sz="1650" dirty="0">
                  <a:solidFill>
                    <a:srgbClr val="E7F0EA"/>
                  </a:solidFill>
                  <a:latin typeface="+mn-lt"/>
                  <a:ea typeface="+mn-ea"/>
                  <a:cs typeface="+mn-cs"/>
                </a:rPr>
                <a:t>Start with a concrete workflow and one consequential uncertainty.</a:t>
              </a:r>
            </a:p>
          </p:txBody>
        </p:sp>
      </p:grpSp>
      <p:grpSp>
        <p:nvGrpSpPr>
          <p:cNvPr id="9" name="value-prompt"/>
          <p:cNvGrpSpPr/>
          <p:nvPr/>
        </p:nvGrpSpPr>
        <p:grpSpPr>
          <a:xfrm>
            <a:off x="448056" y="1978025"/>
            <a:ext cx="7743711" cy="960120"/>
            <a:chOff x="448056" y="1978025"/>
            <a:chExt cx="7743711" cy="960120"/>
          </a:xfrm>
        </p:grpSpPr>
        <p:sp>
          <p:nvSpPr>
            <p:cNvPr id="6" name="TextBox 6"/>
            <p:cNvSpPr txBox="1"/>
            <p:nvPr/>
          </p:nvSpPr>
          <p:spPr>
            <a:xfrm>
              <a:off x="448056" y="2000250"/>
              <a:ext cx="660007"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Value</a:t>
              </a:r>
            </a:p>
          </p:txBody>
        </p:sp>
        <p:sp>
          <p:nvSpPr>
            <p:cNvPr id="7" name="TextBox 7"/>
            <p:cNvSpPr txBox="1"/>
            <p:nvPr/>
          </p:nvSpPr>
          <p:spPr>
            <a:xfrm>
              <a:off x="2563368" y="1978025"/>
              <a:ext cx="5493425" cy="322707"/>
            </a:xfrm>
            <a:prstGeom prst="rect">
              <a:avLst/>
            </a:prstGeom>
            <a:noFill/>
            <a:ln>
              <a:noFill/>
            </a:ln>
          </p:spPr>
          <p:txBody>
            <a:bodyPr wrap="none" lIns="0" tIns="0" rIns="0" bIns="0" anchor="t" anchorCtr="0">
              <a:spAutoFit/>
            </a:bodyPr>
            <a:lstStyle/>
            <a:p>
              <a:pPr algn="l"/>
              <a:r>
                <a:rPr lang="en-US" sz="1650" dirty="0">
                  <a:solidFill>
                    <a:srgbClr val="FFFDF7"/>
                  </a:solidFill>
                  <a:latin typeface="+mn-lt"/>
                  <a:ea typeface="+mn-ea"/>
                  <a:cs typeface="+mn-cs"/>
                </a:rPr>
                <a:t>Which accepted work product improves, and for whom?</a:t>
              </a:r>
            </a:p>
          </p:txBody>
        </p:sp>
        <p:sp>
          <p:nvSpPr>
            <p:cNvPr id="8" name="TextBox 8"/>
            <p:cNvSpPr txBox="1"/>
            <p:nvPr/>
          </p:nvSpPr>
          <p:spPr>
            <a:xfrm>
              <a:off x="2564130" y="2378075"/>
              <a:ext cx="5627637" cy="560070"/>
            </a:xfrm>
            <a:prstGeom prst="rect">
              <a:avLst/>
            </a:prstGeom>
            <a:noFill/>
            <a:ln>
              <a:noFill/>
            </a:ln>
          </p:spPr>
          <p:txBody>
            <a:bodyPr wrap="none" lIns="0" tIns="0" rIns="0" bIns="0" anchor="t" anchorCtr="0">
              <a:spAutoFit/>
            </a:bodyPr>
            <a:lstStyle/>
            <a:p>
              <a:pPr algn="l">
                <a:lnSpc>
                  <a:spcPts val="2100"/>
                </a:lnSpc>
              </a:pPr>
              <a:r>
                <a:rPr lang="en-US" sz="1500" dirty="0">
                  <a:solidFill>
                    <a:srgbClr val="E7F0EA"/>
                  </a:solidFill>
                  <a:latin typeface="+mn-lt"/>
                  <a:ea typeface="+mn-ea"/>
                  <a:cs typeface="+mn-cs"/>
                </a:rPr>
                <a:t>Challenge whether faster generation saves total effort after review.</a:t>
              </a:r>
              <a:br>
                <a:rPr lang="en-US" sz="1500" dirty="0">
                  <a:solidFill>
                    <a:srgbClr val="E7F0EA"/>
                  </a:solidFill>
                  <a:latin typeface="+mn-lt"/>
                  <a:ea typeface="+mn-ea"/>
                  <a:cs typeface="+mn-cs"/>
                </a:rPr>
              </a:br>
              <a:r>
                <a:rPr lang="en-US" sz="1500" dirty="0">
                  <a:solidFill>
                    <a:srgbClr val="E7F0EA"/>
                  </a:solidFill>
                  <a:latin typeface="+mn-lt"/>
                  <a:ea typeface="+mn-ea"/>
                  <a:cs typeface="+mn-cs"/>
                </a:rPr>
                <a:t>Name a measurable bottleneck rather than a favored tool.</a:t>
              </a:r>
            </a:p>
          </p:txBody>
        </p:sp>
      </p:grpSp>
      <p:grpSp>
        <p:nvGrpSpPr>
          <p:cNvPr id="14" name="risk-prompt"/>
          <p:cNvGrpSpPr/>
          <p:nvPr/>
        </p:nvGrpSpPr>
        <p:grpSpPr>
          <a:xfrm>
            <a:off x="448056" y="3219450"/>
            <a:ext cx="11286744" cy="1071245"/>
            <a:chOff x="448056" y="3219450"/>
            <a:chExt cx="11286744" cy="1071245"/>
          </a:xfrm>
        </p:grpSpPr>
        <p:sp>
          <p:nvSpPr>
            <p:cNvPr id="10" name="Line 10"/>
            <p:cNvSpPr/>
            <p:nvPr/>
          </p:nvSpPr>
          <p:spPr>
            <a:xfrm>
              <a:off x="457200" y="3219450"/>
              <a:ext cx="11277600" cy="9525"/>
            </a:xfrm>
            <a:custGeom>
              <a:avLst/>
              <a:gdLst/>
              <a:ahLst/>
              <a:cxnLst/>
              <a:rect l="l" t="t" r="r" b="b"/>
              <a:pathLst>
                <a:path w="11277600" h="9525">
                  <a:moveTo>
                    <a:pt x="0" y="0"/>
                  </a:moveTo>
                  <a:lnTo>
                    <a:pt x="11277600" y="0"/>
                  </a:lnTo>
                </a:path>
              </a:pathLst>
            </a:custGeom>
            <a:noFill/>
            <a:ln w="9525">
              <a:solidFill>
                <a:srgbClr val="50616A"/>
              </a:solidFill>
            </a:ln>
          </p:spPr>
        </p:sp>
        <p:sp>
          <p:nvSpPr>
            <p:cNvPr id="11" name="TextBox 11"/>
            <p:cNvSpPr txBox="1"/>
            <p:nvPr/>
          </p:nvSpPr>
          <p:spPr>
            <a:xfrm>
              <a:off x="448056" y="3352800"/>
              <a:ext cx="518131"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Risk</a:t>
              </a:r>
            </a:p>
          </p:txBody>
        </p:sp>
        <p:sp>
          <p:nvSpPr>
            <p:cNvPr id="12" name="TextBox 12"/>
            <p:cNvSpPr txBox="1"/>
            <p:nvPr/>
          </p:nvSpPr>
          <p:spPr>
            <a:xfrm>
              <a:off x="2563368" y="3330575"/>
              <a:ext cx="5542096" cy="322707"/>
            </a:xfrm>
            <a:prstGeom prst="rect">
              <a:avLst/>
            </a:prstGeom>
            <a:noFill/>
            <a:ln>
              <a:noFill/>
            </a:ln>
          </p:spPr>
          <p:txBody>
            <a:bodyPr wrap="none" lIns="0" tIns="0" rIns="0" bIns="0" anchor="t" anchorCtr="0">
              <a:spAutoFit/>
            </a:bodyPr>
            <a:lstStyle/>
            <a:p>
              <a:pPr algn="l"/>
              <a:r>
                <a:rPr lang="en-US" sz="1650" dirty="0">
                  <a:solidFill>
                    <a:srgbClr val="FFFDF7"/>
                  </a:solidFill>
                  <a:latin typeface="+mn-lt"/>
                  <a:ea typeface="+mn-ea"/>
                  <a:cs typeface="+mn-cs"/>
                </a:rPr>
                <a:t>Which consequential failure could ordinary review miss?</a:t>
              </a:r>
            </a:p>
          </p:txBody>
        </p:sp>
        <p:sp>
          <p:nvSpPr>
            <p:cNvPr id="13" name="TextBox 13"/>
            <p:cNvSpPr txBox="1"/>
            <p:nvPr/>
          </p:nvSpPr>
          <p:spPr>
            <a:xfrm>
              <a:off x="2564130" y="3730625"/>
              <a:ext cx="6401448" cy="560070"/>
            </a:xfrm>
            <a:prstGeom prst="rect">
              <a:avLst/>
            </a:prstGeom>
            <a:noFill/>
            <a:ln>
              <a:noFill/>
            </a:ln>
          </p:spPr>
          <p:txBody>
            <a:bodyPr wrap="none" lIns="0" tIns="0" rIns="0" bIns="0" anchor="t" anchorCtr="0">
              <a:spAutoFit/>
            </a:bodyPr>
            <a:lstStyle/>
            <a:p>
              <a:pPr algn="l">
                <a:lnSpc>
                  <a:spcPts val="2100"/>
                </a:lnSpc>
              </a:pPr>
              <a:r>
                <a:rPr lang="en-US" sz="1500" dirty="0">
                  <a:solidFill>
                    <a:srgbClr val="E7F0EA"/>
                  </a:solidFill>
                  <a:latin typeface="+mn-lt"/>
                  <a:ea typeface="+mn-ea"/>
                  <a:cs typeface="+mn-cs"/>
                </a:rPr>
                <a:t>An unsupported fact, wrong period, unauthorized action or bypassed denial.</a:t>
              </a:r>
              <a:br>
                <a:rPr lang="en-US" sz="1500" dirty="0">
                  <a:solidFill>
                    <a:srgbClr val="E7F0EA"/>
                  </a:solidFill>
                  <a:latin typeface="+mn-lt"/>
                  <a:ea typeface="+mn-ea"/>
                  <a:cs typeface="+mn-cs"/>
                </a:rPr>
              </a:br>
              <a:r>
                <a:rPr lang="en-US" sz="1500" dirty="0">
                  <a:solidFill>
                    <a:srgbClr val="E7F0EA"/>
                  </a:solidFill>
                  <a:latin typeface="+mn-lt"/>
                  <a:ea typeface="+mn-ea"/>
                  <a:cs typeface="+mn-cs"/>
                </a:rPr>
                <a:t>Correct refusal is a control success. Test the reviewer or judge as well.</a:t>
              </a:r>
            </a:p>
          </p:txBody>
        </p:sp>
      </p:grpSp>
      <p:grpSp>
        <p:nvGrpSpPr>
          <p:cNvPr id="19" name="test-prompt"/>
          <p:cNvGrpSpPr/>
          <p:nvPr/>
        </p:nvGrpSpPr>
        <p:grpSpPr>
          <a:xfrm>
            <a:off x="448056" y="4572000"/>
            <a:ext cx="11286744" cy="1337945"/>
            <a:chOff x="448056" y="4572000"/>
            <a:chExt cx="11286744" cy="1337945"/>
          </a:xfrm>
        </p:grpSpPr>
        <p:sp>
          <p:nvSpPr>
            <p:cNvPr id="15" name="Line 15"/>
            <p:cNvSpPr/>
            <p:nvPr/>
          </p:nvSpPr>
          <p:spPr>
            <a:xfrm>
              <a:off x="457200" y="4572000"/>
              <a:ext cx="11277600" cy="9525"/>
            </a:xfrm>
            <a:custGeom>
              <a:avLst/>
              <a:gdLst/>
              <a:ahLst/>
              <a:cxnLst/>
              <a:rect l="l" t="t" r="r" b="b"/>
              <a:pathLst>
                <a:path w="11277600" h="9525">
                  <a:moveTo>
                    <a:pt x="0" y="0"/>
                  </a:moveTo>
                  <a:lnTo>
                    <a:pt x="11277600" y="0"/>
                  </a:lnTo>
                </a:path>
              </a:pathLst>
            </a:custGeom>
            <a:noFill/>
            <a:ln w="9525">
              <a:solidFill>
                <a:srgbClr val="50616A"/>
              </a:solidFill>
            </a:ln>
          </p:spPr>
        </p:sp>
        <p:sp>
          <p:nvSpPr>
            <p:cNvPr id="16" name="TextBox 16"/>
            <p:cNvSpPr txBox="1"/>
            <p:nvPr/>
          </p:nvSpPr>
          <p:spPr>
            <a:xfrm>
              <a:off x="448056" y="4705350"/>
              <a:ext cx="516971"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Test</a:t>
              </a:r>
            </a:p>
          </p:txBody>
        </p:sp>
        <p:sp>
          <p:nvSpPr>
            <p:cNvPr id="17" name="TextBox 17"/>
            <p:cNvSpPr txBox="1"/>
            <p:nvPr/>
          </p:nvSpPr>
          <p:spPr>
            <a:xfrm>
              <a:off x="2563368" y="4683125"/>
              <a:ext cx="6543710" cy="322707"/>
            </a:xfrm>
            <a:prstGeom prst="rect">
              <a:avLst/>
            </a:prstGeom>
            <a:noFill/>
            <a:ln>
              <a:noFill/>
            </a:ln>
          </p:spPr>
          <p:txBody>
            <a:bodyPr wrap="none" lIns="0" tIns="0" rIns="0" bIns="0" anchor="t" anchorCtr="0">
              <a:spAutoFit/>
            </a:bodyPr>
            <a:lstStyle/>
            <a:p>
              <a:pPr algn="l"/>
              <a:r>
                <a:rPr lang="en-US" sz="1650" dirty="0">
                  <a:solidFill>
                    <a:srgbClr val="FFFDF7"/>
                  </a:solidFill>
                  <a:latin typeface="+mn-lt"/>
                  <a:ea typeface="+mn-ea"/>
                  <a:cs typeface="+mn-cs"/>
                </a:rPr>
                <a:t>What baseline, checks and cost evidence would change our view?</a:t>
              </a:r>
            </a:p>
          </p:txBody>
        </p:sp>
        <p:sp>
          <p:nvSpPr>
            <p:cNvPr id="18" name="TextBox 18"/>
            <p:cNvSpPr txBox="1"/>
            <p:nvPr/>
          </p:nvSpPr>
          <p:spPr>
            <a:xfrm>
              <a:off x="2564130" y="5083175"/>
              <a:ext cx="5744108" cy="826770"/>
            </a:xfrm>
            <a:prstGeom prst="rect">
              <a:avLst/>
            </a:prstGeom>
            <a:noFill/>
            <a:ln>
              <a:noFill/>
            </a:ln>
          </p:spPr>
          <p:txBody>
            <a:bodyPr wrap="none" lIns="0" tIns="0" rIns="0" bIns="0" anchor="t" anchorCtr="0">
              <a:spAutoFit/>
            </a:bodyPr>
            <a:lstStyle/>
            <a:p>
              <a:pPr algn="l">
                <a:lnSpc>
                  <a:spcPts val="2100"/>
                </a:lnSpc>
              </a:pPr>
              <a:r>
                <a:rPr lang="en-US" sz="1500" dirty="0">
                  <a:solidFill>
                    <a:srgbClr val="E7F0EA"/>
                  </a:solidFill>
                  <a:latin typeface="+mn-lt"/>
                  <a:ea typeface="+mn-ea"/>
                  <a:cs typeface="+mn-cs"/>
                </a:rPr>
                <a:t>Record one candidate experiment and one unresolved question.</a:t>
              </a:r>
              <a:br>
                <a:rPr lang="en-US" sz="1500" dirty="0">
                  <a:solidFill>
                    <a:srgbClr val="E7F0EA"/>
                  </a:solidFill>
                  <a:latin typeface="+mn-lt"/>
                  <a:ea typeface="+mn-ea"/>
                  <a:cs typeface="+mn-cs"/>
                </a:rPr>
              </a:br>
              <a:r>
                <a:rPr lang="en-US" sz="1500" dirty="0">
                  <a:solidFill>
                    <a:srgbClr val="E7F0EA"/>
                  </a:solidFill>
                  <a:latin typeface="+mn-lt"/>
                  <a:ea typeface="+mn-ea"/>
                  <a:cs typeface="+mn-cs"/>
                </a:rPr>
                <a:t>A missing prerequisite or “do not proceed” can be a useful outcome;</a:t>
              </a:r>
              <a:br>
                <a:rPr lang="en-US" sz="1500" dirty="0">
                  <a:solidFill>
                    <a:srgbClr val="E7F0EA"/>
                  </a:solidFill>
                  <a:latin typeface="+mn-lt"/>
                  <a:ea typeface="+mn-ea"/>
                  <a:cs typeface="+mn-cs"/>
                </a:rPr>
              </a:br>
              <a:r>
                <a:rPr lang="en-US" sz="1500" dirty="0">
                  <a:solidFill>
                    <a:srgbClr val="E7F0EA"/>
                  </a:solidFill>
                  <a:latin typeface="+mn-lt"/>
                  <a:ea typeface="+mn-ea"/>
                  <a:cs typeface="+mn-cs"/>
                </a:rPr>
                <a:t>avoid forcing consensus or an immediate project commitment.</a:t>
              </a:r>
            </a:p>
          </p:txBody>
        </p:sp>
      </p:grpSp>
      <p:grpSp>
        <p:nvGrpSpPr>
          <p:cNvPr id="22" name="footer"/>
          <p:cNvGrpSpPr/>
          <p:nvPr/>
        </p:nvGrpSpPr>
        <p:grpSpPr>
          <a:xfrm>
            <a:off x="452438" y="6438900"/>
            <a:ext cx="11287124" cy="176212"/>
            <a:chOff x="452438" y="6438900"/>
            <a:chExt cx="11287124" cy="176212"/>
          </a:xfrm>
        </p:grpSpPr>
        <p:sp>
          <p:nvSpPr>
            <p:cNvPr id="20" name="TextBox 20"/>
            <p:cNvSpPr txBox="1"/>
            <p:nvPr/>
          </p:nvSpPr>
          <p:spPr>
            <a:xfrm>
              <a:off x="452438" y="6438900"/>
              <a:ext cx="4599154" cy="176212"/>
            </a:xfrm>
            <a:prstGeom prst="rect">
              <a:avLst/>
            </a:prstGeom>
            <a:noFill/>
            <a:ln>
              <a:noFill/>
            </a:ln>
          </p:spPr>
          <p:txBody>
            <a:bodyPr wrap="none" lIns="0" tIns="0" rIns="0" bIns="0" anchor="t" anchorCtr="0">
              <a:spAutoFit/>
            </a:bodyPr>
            <a:lstStyle/>
            <a:p>
              <a:pPr algn="l"/>
              <a:r>
                <a:rPr lang="en-US" sz="900" dirty="0">
                  <a:solidFill>
                    <a:srgbClr val="E7F0EA"/>
                  </a:solidFill>
                  <a:latin typeface="+mn-lt"/>
                  <a:ea typeface="+mn-ea"/>
                  <a:cs typeface="+mn-cs"/>
                </a:rPr>
                <a:t>End of the 29-slide core briefing • Eight reference pages follow for independent study.</a:t>
              </a:r>
            </a:p>
          </p:txBody>
        </p:sp>
        <p:sp>
          <p:nvSpPr>
            <p:cNvPr id="21" name="TextBox 21"/>
            <p:cNvSpPr txBox="1"/>
            <p:nvPr/>
          </p:nvSpPr>
          <p:spPr>
            <a:xfrm>
              <a:off x="11359512" y="6438900"/>
              <a:ext cx="380050" cy="176212"/>
            </a:xfrm>
            <a:prstGeom prst="rect">
              <a:avLst/>
            </a:prstGeom>
            <a:noFill/>
            <a:ln>
              <a:noFill/>
            </a:ln>
          </p:spPr>
          <p:txBody>
            <a:bodyPr wrap="none" lIns="0" tIns="0" rIns="0" bIns="0" anchor="t" anchorCtr="0">
              <a:spAutoFit/>
            </a:bodyPr>
            <a:lstStyle/>
            <a:p>
              <a:pPr algn="r"/>
              <a:r>
                <a:rPr lang="en-US" sz="900" dirty="0">
                  <a:solidFill>
                    <a:srgbClr val="E7F0EA"/>
                  </a:solidFill>
                  <a:latin typeface="+mn-lt"/>
                  <a:ea typeface="+mn-ea"/>
                  <a:cs typeface="+mn-cs"/>
                </a:rPr>
                <a:t>29 / 37</a:t>
              </a:r>
            </a:p>
          </p:txBody>
        </p:sp>
      </p:grpSp>
    </p:spTree>
  </p:cSld>
  <p:clrMapOvr>
    <a:masterClrMapping/>
  </p:clrMapOvr>
  <p:transition xmlns:p14="http://schemas.microsoft.com/office/powerpoint/2010/main" p14:dur="400">
    <p:fade/>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746455" cy="1110107"/>
            <a:chOff x="443484" y="371475"/>
            <a:chExt cx="9746455" cy="1110107"/>
          </a:xfrm>
        </p:grpSpPr>
        <p:sp>
          <p:nvSpPr>
            <p:cNvPr id="2" name="TextBox 2"/>
            <p:cNvSpPr txBox="1"/>
            <p:nvPr/>
          </p:nvSpPr>
          <p:spPr>
            <a:xfrm>
              <a:off x="451104" y="371475"/>
              <a:ext cx="3606642"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APPENDIX / A SHARED REVIEW CONTRACT</a:t>
              </a:r>
            </a:p>
          </p:txBody>
        </p:sp>
        <p:sp>
          <p:nvSpPr>
            <p:cNvPr id="3" name="TextBox 3"/>
            <p:cNvSpPr txBox="1"/>
            <p:nvPr/>
          </p:nvSpPr>
          <p:spPr>
            <a:xfrm>
              <a:off x="443484" y="603250"/>
              <a:ext cx="866467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One checklist connects the complete agent workflow</a:t>
              </a:r>
            </a:p>
          </p:txBody>
        </p:sp>
        <p:sp>
          <p:nvSpPr>
            <p:cNvPr id="4" name="TextBox 4"/>
            <p:cNvSpPr txBox="1"/>
            <p:nvPr/>
          </p:nvSpPr>
          <p:spPr>
            <a:xfrm>
              <a:off x="448818" y="1158875"/>
              <a:ext cx="9741121"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Replace broad goals such as accuracy and safety with behavior a reviewer and test can recognize.</a:t>
              </a:r>
            </a:p>
          </p:txBody>
        </p:sp>
      </p:grpSp>
      <p:graphicFrame>
        <p:nvGraphicFramePr>
          <p:cNvPr id="6" name="implementation-checklist"/>
          <p:cNvGraphicFramePr>
            <a:graphicFrameLocks noGrp="1"/>
          </p:cNvGraphicFramePr>
          <p:nvPr/>
        </p:nvGraphicFramePr>
        <p:xfrm>
          <a:off x="457200" y="1752600"/>
          <a:ext cx="11277600" cy="3829050"/>
        </p:xfrm>
        <a:graphic>
          <a:graphicData uri="http://schemas.openxmlformats.org/drawingml/2006/table">
            <a:tbl>
              <a:tblPr firstRow="1" bandRow="0">
                <a:tableStyleId>{5C22544A-7EE6-4342-B048-85BDC9FD1C3A}</a:tableStyleId>
              </a:tblPr>
              <a:tblGrid>
                <a:gridCol w="1905000"/>
                <a:gridCol w="4572000"/>
                <a:gridCol w="4800600"/>
              </a:tblGrid>
              <a:tr h="495300">
                <a:tc>
                  <a:txBody>
                    <a:bodyPr/>
                    <a:lstStyle/>
                    <a:p>
                      <a:pPr/>
                      <a:r>
                        <a:rPr lang="en-US" sz="1350" b="1">
                          <a:solidFill>
                            <a:srgbClr val="FFFDF7"/>
                          </a:solidFill>
                          <a:latin typeface="Arial"/>
                          <a:ea typeface="Microsoft YaHei"/>
                          <a:cs typeface="Arial"/>
                        </a:rPr>
                        <a:t>Responsibility</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What to specify</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What to inspect</a:t>
                      </a:r>
                    </a:p>
                  </a:txBody>
                  <a:tcPr anchor="ctr" marL="152400" marR="152400" marT="76200" marB="76200">
                    <a:lnL>
                      <a:noFill/>
                    </a:lnL>
                    <a:lnR>
                      <a:noFill/>
                    </a:lnR>
                    <a:lnT>
                      <a:noFill/>
                    </a:lnT>
                    <a:lnB w="9525">
                      <a:solidFill>
                        <a:schemeClr val="accent6"/>
                      </a:solidFill>
                      <a:prstDash val="solid"/>
                    </a:lnB>
                    <a:solidFill>
                      <a:schemeClr val="accent1"/>
                    </a:solidFill>
                  </a:tcPr>
                </a:tc>
              </a:tr>
              <a:tr h="666750">
                <a:tc>
                  <a:txBody>
                    <a:bodyPr/>
                    <a:lstStyle/>
                    <a:p>
                      <a:pPr/>
                      <a:r>
                        <a:rPr lang="en-US" sz="1350" b="0">
                          <a:solidFill>
                            <a:schemeClr val="dk1"/>
                          </a:solidFill>
                          <a:latin typeface="Arial"/>
                          <a:ea typeface="Microsoft YaHei"/>
                          <a:cs typeface="Arial"/>
                        </a:rPr>
                        <a:t>Task</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User, accepted work, baseline and acceptance.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Can a reviewer recognize completed work?</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Evidence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Entity, period, units, source/version, cutoff and access.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Can each material claim be reproduced?</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Authority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Resources, proposals, approvals and execution.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Can a denied action bypass the boundary?</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Evaluation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Cases, rubric, critical failures and calibrated judges.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Which serious failure could still receive a pass?</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Operation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Versions, traces, release owner, stop and rollback.</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Can failure be diagnosed and repair verified?</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revisit-exposure"/>
          <p:cNvGrpSpPr/>
          <p:nvPr/>
        </p:nvGrpSpPr>
        <p:grpSpPr>
          <a:xfrm>
            <a:off x="450342" y="5813425"/>
            <a:ext cx="9029483" cy="492633"/>
            <a:chOff x="450342" y="5813425"/>
            <a:chExt cx="9029483" cy="492633"/>
          </a:xfrm>
        </p:grpSpPr>
        <p:sp>
          <p:nvSpPr>
            <p:cNvPr id="7" name="TextBox 7"/>
            <p:cNvSpPr txBox="1"/>
            <p:nvPr/>
          </p:nvSpPr>
          <p:spPr>
            <a:xfrm>
              <a:off x="450342" y="5813425"/>
              <a:ext cx="9029483" cy="492633"/>
            </a:xfrm>
            <a:prstGeom prst="rect">
              <a:avLst/>
            </a:prstGeom>
            <a:noFill/>
            <a:ln>
              <a:noFill/>
            </a:ln>
          </p:spPr>
          <p:txBody>
            <a:bodyPr wrap="none" lIns="0" tIns="0" rIns="0" bIns="0" anchor="t" anchorCtr="0">
              <a:spAutoFit/>
            </a:bodyPr>
            <a:lstStyle/>
            <a:p>
              <a:pPr algn="l">
                <a:lnSpc>
                  <a:spcPts val="1800"/>
                </a:lnSpc>
              </a:pPr>
              <a:r>
                <a:rPr lang="en-US" sz="1350" dirty="0">
                  <a:solidFill>
                    <a:schemeClr val="accent2"/>
                  </a:solidFill>
                  <a:latin typeface="+mn-lt"/>
                  <a:ea typeface="+mn-ea"/>
                  <a:cs typeface="+mn-cs"/>
                </a:rPr>
                <a:t>Retain versions, disagreement and accepted limits. A new source, user group, tool or permission can change exposure</a:t>
              </a:r>
              <a:br>
                <a:rPr lang="en-US" sz="1350" dirty="0">
                  <a:solidFill>
                    <a:schemeClr val="accent2"/>
                  </a:solidFill>
                  <a:latin typeface="+mn-lt"/>
                  <a:ea typeface="+mn-ea"/>
                  <a:cs typeface="+mn-cs"/>
                </a:rPr>
              </a:br>
              <a:r>
                <a:rPr lang="en-US" sz="1350" dirty="0">
                  <a:solidFill>
                    <a:schemeClr val="accent2"/>
                  </a:solidFill>
                  <a:latin typeface="+mn-lt"/>
                  <a:ea typeface="+mn-ea"/>
                  <a:cs typeface="+mn-cs"/>
                </a:rPr>
                <a:t>without changing the prompt; reassess when uncertainty could alter the decision.</a:t>
              </a:r>
            </a:p>
          </p:txBody>
        </p:sp>
      </p:grpSp>
      <p:grpSp>
        <p:nvGrpSpPr>
          <p:cNvPr id="11" name="footer"/>
          <p:cNvGrpSpPr/>
          <p:nvPr/>
        </p:nvGrpSpPr>
        <p:grpSpPr>
          <a:xfrm>
            <a:off x="452438" y="6496050"/>
            <a:ext cx="11287124" cy="176212"/>
            <a:chOff x="452438" y="6496050"/>
            <a:chExt cx="11287124" cy="176212"/>
          </a:xfrm>
        </p:grpSpPr>
        <p:sp>
          <p:nvSpPr>
            <p:cNvPr id="9" name="TextBox 9"/>
            <p:cNvSpPr txBox="1"/>
            <p:nvPr/>
          </p:nvSpPr>
          <p:spPr>
            <a:xfrm>
              <a:off x="452438" y="6496050"/>
              <a:ext cx="609510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Proposed synthesis connecting the conference’s task, evidence, authority, evaluation and operation mechanisms.</a:t>
              </a:r>
            </a:p>
          </p:txBody>
        </p:sp>
        <p:sp>
          <p:nvSpPr>
            <p:cNvPr id="10" name="TextBox 10"/>
            <p:cNvSpPr txBox="1"/>
            <p:nvPr/>
          </p:nvSpPr>
          <p:spPr>
            <a:xfrm>
              <a:off x="11359512" y="649605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30 / 37</a:t>
              </a:r>
            </a:p>
          </p:txBody>
        </p:sp>
      </p:grpSp>
    </p:spTree>
  </p:cSld>
  <p:clrMapOvr>
    <a:masterClrMapping/>
  </p:clrMapOvr>
  <p:transition xmlns:p14="http://schemas.microsoft.com/office/powerpoint/2010/main" p14:dur="400">
    <p:fade/>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055562" cy="1100582"/>
            <a:chOff x="443484" y="361950"/>
            <a:chExt cx="9055562" cy="1100582"/>
          </a:xfrm>
        </p:grpSpPr>
        <p:sp>
          <p:nvSpPr>
            <p:cNvPr id="2" name="TextBox 2"/>
            <p:cNvSpPr txBox="1"/>
            <p:nvPr/>
          </p:nvSpPr>
          <p:spPr>
            <a:xfrm>
              <a:off x="451104" y="361950"/>
              <a:ext cx="297106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REFERENCE / RECORDING REVIEW</a:t>
              </a:r>
            </a:p>
          </p:txBody>
        </p:sp>
        <p:sp>
          <p:nvSpPr>
            <p:cNvPr id="3" name="TextBox 3"/>
            <p:cNvSpPr txBox="1"/>
            <p:nvPr/>
          </p:nvSpPr>
          <p:spPr>
            <a:xfrm>
              <a:off x="443484" y="593725"/>
              <a:ext cx="8869104"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Company cases teach different operating mechanisms</a:t>
              </a:r>
            </a:p>
          </p:txBody>
        </p:sp>
        <p:sp>
          <p:nvSpPr>
            <p:cNvPr id="4" name="TextBox 4"/>
            <p:cNvSpPr txBox="1"/>
            <p:nvPr/>
          </p:nvSpPr>
          <p:spPr>
            <a:xfrm>
              <a:off x="448818" y="1139825"/>
              <a:ext cx="9050228"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The reading edition expands these themes into 37 later-source company and method briefs.</a:t>
              </a:r>
            </a:p>
          </p:txBody>
        </p:sp>
      </p:grpSp>
      <p:graphicFrame>
        <p:nvGraphicFramePr>
          <p:cNvPr id="6" name="company-mechanisms"/>
          <p:cNvGraphicFramePr>
            <a:graphicFrameLocks noGrp="1"/>
          </p:cNvGraphicFramePr>
          <p:nvPr/>
        </p:nvGraphicFramePr>
        <p:xfrm>
          <a:off x="457200" y="1752600"/>
          <a:ext cx="11277600" cy="3829050"/>
        </p:xfrm>
        <a:graphic>
          <a:graphicData uri="http://schemas.openxmlformats.org/drawingml/2006/table">
            <a:tbl>
              <a:tblPr firstRow="1" bandRow="0">
                <a:tableStyleId>{5C22544A-7EE6-4342-B048-85BDC9FD1C3A}</a:tableStyleId>
              </a:tblPr>
              <a:tblGrid>
                <a:gridCol w="2343150"/>
                <a:gridCol w="4476750"/>
                <a:gridCol w="4457700"/>
              </a:tblGrid>
              <a:tr h="495300">
                <a:tc>
                  <a:txBody>
                    <a:bodyPr/>
                    <a:lstStyle/>
                    <a:p>
                      <a:pPr/>
                      <a:r>
                        <a:rPr lang="en-US" sz="1350" b="1">
                          <a:solidFill>
                            <a:srgbClr val="FFFDF7"/>
                          </a:solidFill>
                          <a:latin typeface="Arial"/>
                          <a:ea typeface="Microsoft YaHei"/>
                          <a:cs typeface="Arial"/>
                        </a:rPr>
                        <a:t>Problem</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Selected later sources</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Transferable mechanism</a:t>
                      </a:r>
                    </a:p>
                  </a:txBody>
                  <a:tcPr anchor="ctr" marL="152400" marR="152400" marT="76200" marB="76200">
                    <a:lnL>
                      <a:noFill/>
                    </a:lnL>
                    <a:lnR>
                      <a:noFill/>
                    </a:lnR>
                    <a:lnT>
                      <a:noFill/>
                    </a:lnT>
                    <a:lnB w="9525">
                      <a:solidFill>
                        <a:schemeClr val="accent6"/>
                      </a:solidFill>
                      <a:prstDash val="solid"/>
                    </a:lnB>
                    <a:solidFill>
                      <a:schemeClr val="accent1"/>
                    </a:solidFill>
                  </a:tcPr>
                </a:tc>
              </a:tr>
              <a:tr h="666750">
                <a:tc>
                  <a:txBody>
                    <a:bodyPr/>
                    <a:lstStyle/>
                    <a:p>
                      <a:pPr/>
                      <a:r>
                        <a:rPr lang="en-US" sz="1350" b="0">
                          <a:solidFill>
                            <a:schemeClr val="dk1"/>
                          </a:solidFill>
                          <a:latin typeface="Arial"/>
                          <a:ea typeface="Microsoft YaHei"/>
                          <a:cs typeface="Arial"/>
                        </a:rPr>
                        <a:t>Grounding / memory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Bridgewater · Kepler · Citadel Securities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Time-scoped evidence; fact resolution; aged beliefs.</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Professional workflows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Range · Arca · Perpetual · Apollo</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Expert method; handoffs; compiled plans; QA.</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Evaluation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Basis · Ramp / Ryan · Vals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Behavior specs; roll-forward worlds; accepted work.</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Authority / platform</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Two Sigma · Bloomberg · Credit Karma</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Identity, scope, runtime checks, state and traces.</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Engineering growth</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Arize · Sonar · Capital One · Monzo</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Durable learning; cheap checks; supported delivery.</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case-boundary"/>
          <p:cNvGrpSpPr/>
          <p:nvPr/>
        </p:nvGrpSpPr>
        <p:grpSpPr>
          <a:xfrm>
            <a:off x="450342" y="5842000"/>
            <a:ext cx="9600308" cy="492633"/>
            <a:chOff x="450342" y="5842000"/>
            <a:chExt cx="9600308" cy="492633"/>
          </a:xfrm>
        </p:grpSpPr>
        <p:sp>
          <p:nvSpPr>
            <p:cNvPr id="7" name="TextBox 7"/>
            <p:cNvSpPr txBox="1"/>
            <p:nvPr/>
          </p:nvSpPr>
          <p:spPr>
            <a:xfrm>
              <a:off x="450342" y="5842000"/>
              <a:ext cx="9600308" cy="492633"/>
            </a:xfrm>
            <a:prstGeom prst="rect">
              <a:avLst/>
            </a:prstGeom>
            <a:noFill/>
            <a:ln>
              <a:noFill/>
            </a:ln>
          </p:spPr>
          <p:txBody>
            <a:bodyPr wrap="none" lIns="0" tIns="0" rIns="0" bIns="0" anchor="t" anchorCtr="0">
              <a:spAutoFit/>
            </a:bodyPr>
            <a:lstStyle/>
            <a:p>
              <a:pPr algn="l">
                <a:lnSpc>
                  <a:spcPts val="1800"/>
                </a:lnSpc>
              </a:pPr>
              <a:r>
                <a:rPr lang="en-US" sz="1350" dirty="0">
                  <a:solidFill>
                    <a:schemeClr val="accent5"/>
                  </a:solidFill>
                  <a:latin typeface="+mn-lt"/>
                  <a:ea typeface="+mn-ea"/>
                  <a:cs typeface="+mn-cs"/>
                </a:rPr>
                <a:t>The HTML reading atlas and recording supplement preserve 37 briefs, timestamp links, source classes and limits. Mechanism,</a:t>
              </a:r>
              <a:br>
                <a:rPr lang="en-US" sz="1350" dirty="0">
                  <a:solidFill>
                    <a:schemeClr val="accent5"/>
                  </a:solidFill>
                  <a:latin typeface="+mn-lt"/>
                  <a:ea typeface="+mn-ea"/>
                  <a:cs typeface="+mn-cs"/>
                </a:rPr>
              </a:br>
              <a:r>
                <a:rPr lang="en-US" sz="1350" dirty="0">
                  <a:solidFill>
                    <a:schemeClr val="accent5"/>
                  </a:solidFill>
                  <a:latin typeface="+mn-lt"/>
                  <a:ea typeface="+mn-ea"/>
                  <a:cs typeface="+mn-cs"/>
                </a:rPr>
                <a:t>adoption and measured effectiveness remain distinct.</a:t>
              </a:r>
            </a:p>
          </p:txBody>
        </p:sp>
      </p:grpSp>
      <p:grpSp>
        <p:nvGrpSpPr>
          <p:cNvPr id="11" name="footer"/>
          <p:cNvGrpSpPr/>
          <p:nvPr/>
        </p:nvGrpSpPr>
        <p:grpSpPr>
          <a:xfrm>
            <a:off x="452438" y="6477000"/>
            <a:ext cx="11287124" cy="176212"/>
            <a:chOff x="452438" y="6477000"/>
            <a:chExt cx="11287124" cy="176212"/>
          </a:xfrm>
        </p:grpSpPr>
        <p:sp>
          <p:nvSpPr>
            <p:cNvPr id="9" name="TextBox 9"/>
            <p:cNvSpPr txBox="1"/>
            <p:nvPr/>
          </p:nvSpPr>
          <p:spPr>
            <a:xfrm>
              <a:off x="452438" y="6477000"/>
              <a:ext cx="662337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AIE NYC recordings, original notes, primary written follow-up and dated disclosures | Reviewed October 25, 2026</a:t>
              </a:r>
            </a:p>
          </p:txBody>
        </p:sp>
        <p:sp>
          <p:nvSpPr>
            <p:cNvPr id="10" name="TextBox 10"/>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31 / 37</a:t>
              </a:r>
            </a:p>
          </p:txBody>
        </p:sp>
      </p:grpSp>
    </p:spTree>
  </p:cSld>
  <p:clrMapOvr>
    <a:masterClrMapping/>
  </p:clrMapOvr>
  <p:transition xmlns:p14="http://schemas.microsoft.com/office/powerpoint/2010/main" p14:dur="400">
    <p:fade/>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8524995" cy="1110107"/>
            <a:chOff x="443484" y="371475"/>
            <a:chExt cx="8524995" cy="1110107"/>
          </a:xfrm>
        </p:grpSpPr>
        <p:sp>
          <p:nvSpPr>
            <p:cNvPr id="2" name="TextBox 2"/>
            <p:cNvSpPr txBox="1"/>
            <p:nvPr/>
          </p:nvSpPr>
          <p:spPr>
            <a:xfrm>
              <a:off x="451104" y="371475"/>
              <a:ext cx="435596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APPENDIX / COMPACT EVALUATION SPECIFICATION</a:t>
              </a:r>
            </a:p>
          </p:txBody>
        </p:sp>
        <p:sp>
          <p:nvSpPr>
            <p:cNvPr id="3" name="TextBox 3"/>
            <p:cNvSpPr txBox="1"/>
            <p:nvPr/>
          </p:nvSpPr>
          <p:spPr>
            <a:xfrm>
              <a:off x="443484" y="603250"/>
              <a:ext cx="810372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Version the evaluation contract with the decision</a:t>
              </a:r>
            </a:p>
          </p:txBody>
        </p:sp>
        <p:sp>
          <p:nvSpPr>
            <p:cNvPr id="4" name="TextBox 4"/>
            <p:cNvSpPr txBox="1"/>
            <p:nvPr/>
          </p:nvSpPr>
          <p:spPr>
            <a:xfrm>
              <a:off x="448818" y="1158875"/>
              <a:ext cx="8519661"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 judge or rubric change can alter reported quality even when the agent is unchanged.</a:t>
              </a:r>
            </a:p>
          </p:txBody>
        </p:sp>
      </p:grpSp>
      <p:grpSp>
        <p:nvGrpSpPr>
          <p:cNvPr id="9" name="illustrative-schema"/>
          <p:cNvGrpSpPr/>
          <p:nvPr/>
        </p:nvGrpSpPr>
        <p:grpSpPr>
          <a:xfrm>
            <a:off x="457200" y="1752600"/>
            <a:ext cx="5334000" cy="4286250"/>
            <a:chOff x="457200" y="1752600"/>
            <a:chExt cx="5334000" cy="4286250"/>
          </a:xfrm>
        </p:grpSpPr>
        <p:sp>
          <p:nvSpPr>
            <p:cNvPr id="6" name="Rectangle 6"/>
            <p:cNvSpPr/>
            <p:nvPr/>
          </p:nvSpPr>
          <p:spPr>
            <a:xfrm>
              <a:off x="457200" y="1752600"/>
              <a:ext cx="5334000" cy="4286250"/>
            </a:xfrm>
            <a:prstGeom prst="rect">
              <a:avLst/>
            </a:prstGeom>
            <a:solidFill>
              <a:schemeClr val="accent1"/>
            </a:solidFill>
            <a:ln>
              <a:noFill/>
            </a:ln>
          </p:spPr>
        </p:sp>
        <p:sp>
          <p:nvSpPr>
            <p:cNvPr id="7" name="TextBox 7"/>
            <p:cNvSpPr txBox="1"/>
            <p:nvPr/>
          </p:nvSpPr>
          <p:spPr>
            <a:xfrm>
              <a:off x="679704" y="1962150"/>
              <a:ext cx="4801629" cy="234696"/>
            </a:xfrm>
            <a:prstGeom prst="rect">
              <a:avLst/>
            </a:prstGeom>
            <a:noFill/>
            <a:ln>
              <a:noFill/>
            </a:ln>
          </p:spPr>
          <p:txBody>
            <a:bodyPr wrap="none" lIns="0" tIns="0" rIns="0" bIns="0" anchor="t" anchorCtr="0">
              <a:spAutoFit/>
            </a:bodyPr>
            <a:lstStyle/>
            <a:p>
              <a:pPr algn="l"/>
              <a:r>
                <a:rPr lang="en-US" sz="1200" dirty="0">
                  <a:solidFill>
                    <a:schemeClr val="accent3"/>
                  </a:solidFill>
                  <a:latin typeface="+mn-lt"/>
                  <a:ea typeface="+mn-ea"/>
                  <a:cs typeface="+mn-cs"/>
                </a:rPr>
                <a:t>ILLUSTRATIVE SCHEMA / NOT A RUNNABLE FRAMEWORK</a:t>
              </a:r>
            </a:p>
          </p:txBody>
        </p:sp>
        <p:sp>
          <p:nvSpPr>
            <p:cNvPr id="8" name="TextBox 8"/>
            <p:cNvSpPr txBox="1"/>
            <p:nvPr/>
          </p:nvSpPr>
          <p:spPr>
            <a:xfrm>
              <a:off x="679704" y="2425700"/>
              <a:ext cx="3784092" cy="2768346"/>
            </a:xfrm>
            <a:prstGeom prst="rect">
              <a:avLst/>
            </a:prstGeom>
            <a:noFill/>
            <a:ln>
              <a:noFill/>
            </a:ln>
          </p:spPr>
          <p:txBody>
            <a:bodyPr wrap="none" lIns="0" tIns="0" rIns="0" bIns="0" anchor="t" anchorCtr="0">
              <a:spAutoFit/>
            </a:bodyPr>
            <a:lstStyle/>
            <a:p>
              <a:pPr algn="l">
                <a:lnSpc>
                  <a:spcPts val="2100"/>
                </a:lnSpc>
              </a:pPr>
              <a:r>
                <a:rPr lang="en-US" sz="1200" dirty="0">
                  <a:solidFill>
                    <a:srgbClr val="FFFDF7"/>
                  </a:solidFill>
                  <a:latin typeface="Consolas"/>
                  <a:ea typeface="Consolas"/>
                  <a:cs typeface="Consolas"/>
                </a:rPr>
                <a:t>task: draft_review_packet</a:t>
              </a:r>
            </a:p>
            <a:p>
              <a:pPr algn="l">
                <a:lnSpc>
                  <a:spcPts val="2100"/>
                </a:lnSpc>
                <a:spcBef>
                  <a:spcPts val="450"/>
                </a:spcBef>
              </a:pPr>
              <a:r>
                <a:rPr lang="en-US" sz="1200" dirty="0">
                  <a:solidFill>
                    <a:srgbClr val="FFFDF7"/>
                  </a:solidFill>
                  <a:latin typeface="Consolas"/>
                  <a:ea typeface="Consolas"/>
                  <a:cs typeface="Consolas"/>
                </a:rPr>
                <a:t>snapshot: approved_inputs_v1</a:t>
              </a:r>
            </a:p>
            <a:p>
              <a:pPr algn="l">
                <a:lnSpc>
                  <a:spcPts val="2100"/>
                </a:lnSpc>
                <a:spcBef>
                  <a:spcPts val="450"/>
                </a:spcBef>
              </a:pPr>
              <a:r>
                <a:rPr lang="en-US" sz="1200" dirty="0">
                  <a:solidFill>
                    <a:srgbClr val="FFFDF7"/>
                  </a:solidFill>
                  <a:latin typeface="Consolas"/>
                  <a:ea typeface="Consolas"/>
                  <a:cs typeface="Consolas"/>
                </a:rPr>
                <a:t>acceptance: reviewed_complete_output</a:t>
              </a:r>
            </a:p>
            <a:p>
              <a:pPr algn="l">
                <a:lnSpc>
                  <a:spcPts val="2100"/>
                </a:lnSpc>
                <a:spcBef>
                  <a:spcPts val="450"/>
                </a:spcBef>
              </a:pPr>
              <a:r>
                <a:rPr lang="en-US" sz="1200" dirty="0">
                  <a:solidFill>
                    <a:srgbClr val="FFFDF7"/>
                  </a:solidFill>
                  <a:latin typeface="Consolas"/>
                  <a:ea typeface="Consolas"/>
                  <a:cs typeface="Consolas"/>
                </a:rPr>
                <a:t>critical: unauthorized_access,</a:t>
              </a:r>
              <a:br>
                <a:rPr lang="en-US" sz="1200" dirty="0">
                  <a:solidFill>
                    <a:srgbClr val="FFFDF7"/>
                  </a:solidFill>
                  <a:latin typeface="Consolas"/>
                  <a:ea typeface="Consolas"/>
                  <a:cs typeface="Consolas"/>
                </a:rPr>
              </a:br>
              <a:r>
                <a:rPr lang="en-US" sz="1200" dirty="0">
                  <a:solidFill>
                    <a:srgbClr val="FFFDF7"/>
                  </a:solidFill>
                  <a:latin typeface="Consolas"/>
                  <a:ea typeface="Consolas"/>
                  <a:cs typeface="Consolas"/>
                </a:rPr>
                <a:t>unsupported_number</a:t>
              </a:r>
            </a:p>
            <a:p>
              <a:pPr algn="l">
                <a:lnSpc>
                  <a:spcPts val="2100"/>
                </a:lnSpc>
                <a:spcBef>
                  <a:spcPts val="450"/>
                </a:spcBef>
              </a:pPr>
              <a:r>
                <a:rPr lang="en-US" sz="1200" dirty="0">
                  <a:solidFill>
                    <a:srgbClr val="FFFDF7"/>
                  </a:solidFill>
                  <a:latin typeface="Consolas"/>
                  <a:ea typeface="Consolas"/>
                  <a:cs typeface="Consolas"/>
                </a:rPr>
                <a:t>cases: common, missing, difficult, regression</a:t>
              </a:r>
            </a:p>
            <a:p>
              <a:pPr algn="l">
                <a:lnSpc>
                  <a:spcPts val="2100"/>
                </a:lnSpc>
                <a:spcBef>
                  <a:spcPts val="450"/>
                </a:spcBef>
              </a:pPr>
              <a:r>
                <a:rPr lang="en-US" sz="1200" dirty="0">
                  <a:solidFill>
                    <a:srgbClr val="FFFDF7"/>
                  </a:solidFill>
                  <a:latin typeface="Consolas"/>
                  <a:ea typeface="Consolas"/>
                  <a:cs typeface="Consolas"/>
                </a:rPr>
                <a:t>judge: model + rubric + threshold + version</a:t>
              </a:r>
            </a:p>
            <a:p>
              <a:pPr algn="l">
                <a:lnSpc>
                  <a:spcPts val="2100"/>
                </a:lnSpc>
                <a:spcBef>
                  <a:spcPts val="450"/>
                </a:spcBef>
              </a:pPr>
              <a:r>
                <a:rPr lang="en-US" sz="1200" dirty="0">
                  <a:solidFill>
                    <a:srgbClr val="FFFDF7"/>
                  </a:solidFill>
                  <a:latin typeface="Consolas"/>
                  <a:ea typeface="Consolas"/>
                  <a:cs typeface="Consolas"/>
                </a:rPr>
                <a:t>compare: baseline_vs_candidate</a:t>
              </a:r>
            </a:p>
            <a:p>
              <a:pPr algn="l">
                <a:lnSpc>
                  <a:spcPts val="2100"/>
                </a:lnSpc>
                <a:spcBef>
                  <a:spcPts val="450"/>
                </a:spcBef>
              </a:pPr>
              <a:r>
                <a:rPr lang="en-US" sz="1200" dirty="0">
                  <a:solidFill>
                    <a:srgbClr val="FFFDF7"/>
                  </a:solidFill>
                  <a:latin typeface="Consolas"/>
                  <a:ea typeface="Consolas"/>
                  <a:cs typeface="Consolas"/>
                </a:rPr>
                <a:t>decision: accountable_owner</a:t>
              </a:r>
            </a:p>
          </p:txBody>
        </p:sp>
      </p:grpSp>
      <p:grpSp>
        <p:nvGrpSpPr>
          <p:cNvPr id="12" name="permitted-completion"/>
          <p:cNvGrpSpPr/>
          <p:nvPr/>
        </p:nvGrpSpPr>
        <p:grpSpPr>
          <a:xfrm>
            <a:off x="6086856" y="1838325"/>
            <a:ext cx="4675784" cy="985520"/>
            <a:chOff x="6086856" y="1838325"/>
            <a:chExt cx="4675784" cy="985520"/>
          </a:xfrm>
        </p:grpSpPr>
        <p:sp>
          <p:nvSpPr>
            <p:cNvPr id="10" name="TextBox 10"/>
            <p:cNvSpPr txBox="1"/>
            <p:nvPr/>
          </p:nvSpPr>
          <p:spPr>
            <a:xfrm>
              <a:off x="6086856" y="1838325"/>
              <a:ext cx="361092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Define the permitted completion</a:t>
              </a:r>
            </a:p>
          </p:txBody>
        </p:sp>
        <p:sp>
          <p:nvSpPr>
            <p:cNvPr id="11" name="TextBox 11"/>
            <p:cNvSpPr txBox="1"/>
            <p:nvPr/>
          </p:nvSpPr>
          <p:spPr>
            <a:xfrm>
              <a:off x="6088380" y="2263775"/>
              <a:ext cx="4674260"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Outputs, action limits and clarification/abstention.</a:t>
              </a:r>
              <a:br>
                <a:rPr lang="en-US" sz="1500" dirty="0">
                  <a:solidFill>
                    <a:schemeClr val="dk1"/>
                  </a:solidFill>
                  <a:latin typeface="+mn-lt"/>
                  <a:ea typeface="+mn-ea"/>
                  <a:cs typeface="+mn-cs"/>
                </a:rPr>
              </a:br>
              <a:r>
                <a:rPr lang="en-US" sz="1500" dirty="0">
                  <a:solidFill>
                    <a:schemeClr val="dk1"/>
                  </a:solidFill>
                  <a:latin typeface="+mn-lt"/>
                  <a:ea typeface="+mn-ea"/>
                  <a:cs typeface="+mn-cs"/>
                </a:rPr>
                <a:t>Unauthorized access fails; correct refusal can succeed.</a:t>
              </a:r>
            </a:p>
          </p:txBody>
        </p:sp>
      </p:grpSp>
      <p:grpSp>
        <p:nvGrpSpPr>
          <p:cNvPr id="16" name="version-evaluator"/>
          <p:cNvGrpSpPr/>
          <p:nvPr/>
        </p:nvGrpSpPr>
        <p:grpSpPr>
          <a:xfrm>
            <a:off x="6086856" y="3248025"/>
            <a:ext cx="5647944" cy="1090295"/>
            <a:chOff x="6086856" y="3248025"/>
            <a:chExt cx="5647944" cy="1090295"/>
          </a:xfrm>
        </p:grpSpPr>
        <p:sp>
          <p:nvSpPr>
            <p:cNvPr id="13" name="Line 13"/>
            <p:cNvSpPr/>
            <p:nvPr/>
          </p:nvSpPr>
          <p:spPr>
            <a:xfrm>
              <a:off x="6096000" y="3248025"/>
              <a:ext cx="5638800" cy="9525"/>
            </a:xfrm>
            <a:custGeom>
              <a:avLst/>
              <a:gdLst/>
              <a:ahLst/>
              <a:cxnLst/>
              <a:rect l="l" t="t" r="r" b="b"/>
              <a:pathLst>
                <a:path w="5638800" h="9525">
                  <a:moveTo>
                    <a:pt x="0" y="0"/>
                  </a:moveTo>
                  <a:lnTo>
                    <a:pt x="5638800" y="0"/>
                  </a:lnTo>
                </a:path>
              </a:pathLst>
            </a:custGeom>
            <a:noFill/>
            <a:ln w="9525">
              <a:solidFill>
                <a:schemeClr val="accent6"/>
              </a:solidFill>
            </a:ln>
          </p:spPr>
        </p:sp>
        <p:sp>
          <p:nvSpPr>
            <p:cNvPr id="14" name="TextBox 14"/>
            <p:cNvSpPr txBox="1"/>
            <p:nvPr/>
          </p:nvSpPr>
          <p:spPr>
            <a:xfrm>
              <a:off x="6086856" y="3352800"/>
              <a:ext cx="464776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Version the evaluator, not only the system</a:t>
              </a:r>
            </a:p>
          </p:txBody>
        </p:sp>
        <p:sp>
          <p:nvSpPr>
            <p:cNvPr id="15" name="TextBox 15"/>
            <p:cNvSpPr txBox="1"/>
            <p:nvPr/>
          </p:nvSpPr>
          <p:spPr>
            <a:xfrm>
              <a:off x="6088380" y="3778250"/>
              <a:ext cx="5002949"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Retain judge model, prompt, rubric and threshold.</a:t>
              </a:r>
              <a:br>
                <a:rPr lang="en-US" sz="1500" dirty="0">
                  <a:solidFill>
                    <a:schemeClr val="dk1"/>
                  </a:solidFill>
                  <a:latin typeface="+mn-lt"/>
                  <a:ea typeface="+mn-ea"/>
                  <a:cs typeface="+mn-cs"/>
                </a:rPr>
              </a:br>
              <a:r>
                <a:rPr lang="en-US" sz="1500" dirty="0">
                  <a:solidFill>
                    <a:schemeClr val="dk1"/>
                  </a:solidFill>
                  <a:latin typeface="+mn-lt"/>
                  <a:ea typeface="+mn-ea"/>
                  <a:cs typeface="+mn-cs"/>
                </a:rPr>
                <a:t>Recalibrate on reviewed cases when they or users change.</a:t>
              </a:r>
            </a:p>
          </p:txBody>
        </p:sp>
      </p:grpSp>
      <p:grpSp>
        <p:nvGrpSpPr>
          <p:cNvPr id="20" name="decision-specific-evidence"/>
          <p:cNvGrpSpPr/>
          <p:nvPr/>
        </p:nvGrpSpPr>
        <p:grpSpPr>
          <a:xfrm>
            <a:off x="6086856" y="4733925"/>
            <a:ext cx="5647944" cy="1356995"/>
            <a:chOff x="6086856" y="4733925"/>
            <a:chExt cx="5647944" cy="1356995"/>
          </a:xfrm>
        </p:grpSpPr>
        <p:sp>
          <p:nvSpPr>
            <p:cNvPr id="17" name="Line 17"/>
            <p:cNvSpPr/>
            <p:nvPr/>
          </p:nvSpPr>
          <p:spPr>
            <a:xfrm>
              <a:off x="6096000" y="4733925"/>
              <a:ext cx="5638800" cy="9525"/>
            </a:xfrm>
            <a:custGeom>
              <a:avLst/>
              <a:gdLst/>
              <a:ahLst/>
              <a:cxnLst/>
              <a:rect l="l" t="t" r="r" b="b"/>
              <a:pathLst>
                <a:path w="5638800" h="9525">
                  <a:moveTo>
                    <a:pt x="0" y="0"/>
                  </a:moveTo>
                  <a:lnTo>
                    <a:pt x="5638800" y="0"/>
                  </a:lnTo>
                </a:path>
              </a:pathLst>
            </a:custGeom>
            <a:noFill/>
            <a:ln w="9525">
              <a:solidFill>
                <a:schemeClr val="accent6"/>
              </a:solidFill>
            </a:ln>
          </p:spPr>
        </p:sp>
        <p:sp>
          <p:nvSpPr>
            <p:cNvPr id="18" name="TextBox 18"/>
            <p:cNvSpPr txBox="1"/>
            <p:nvPr/>
          </p:nvSpPr>
          <p:spPr>
            <a:xfrm>
              <a:off x="6086856" y="4838700"/>
              <a:ext cx="34714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Select evidence for the decision</a:t>
              </a:r>
            </a:p>
          </p:txBody>
        </p:sp>
        <p:sp>
          <p:nvSpPr>
            <p:cNvPr id="19" name="TextBox 19"/>
            <p:cNvSpPr txBox="1"/>
            <p:nvPr/>
          </p:nvSpPr>
          <p:spPr>
            <a:xfrm>
              <a:off x="6088380" y="5264150"/>
              <a:ext cx="4865180" cy="8267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Model choice, less review and greater execution authority</a:t>
              </a:r>
              <a:br>
                <a:rPr lang="en-US" sz="1500" dirty="0">
                  <a:solidFill>
                    <a:schemeClr val="dk1"/>
                  </a:solidFill>
                  <a:latin typeface="+mn-lt"/>
                  <a:ea typeface="+mn-ea"/>
                  <a:cs typeface="+mn-cs"/>
                </a:rPr>
              </a:br>
              <a:r>
                <a:rPr lang="en-US" sz="1500" dirty="0">
                  <a:solidFill>
                    <a:schemeClr val="dk1"/>
                  </a:solidFill>
                  <a:latin typeface="+mn-lt"/>
                  <a:ea typeface="+mn-ea"/>
                  <a:cs typeface="+mn-cs"/>
                </a:rPr>
                <a:t>require different evidence. Finite tests support a scoped</a:t>
              </a:r>
              <a:br>
                <a:rPr lang="en-US" sz="1500" dirty="0">
                  <a:solidFill>
                    <a:schemeClr val="dk1"/>
                  </a:solidFill>
                  <a:latin typeface="+mn-lt"/>
                  <a:ea typeface="+mn-ea"/>
                  <a:cs typeface="+mn-cs"/>
                </a:rPr>
              </a:br>
              <a:r>
                <a:rPr lang="en-US" sz="1500" dirty="0">
                  <a:solidFill>
                    <a:schemeClr val="dk1"/>
                  </a:solidFill>
                  <a:latin typeface="+mn-lt"/>
                  <a:ea typeface="+mn-ea"/>
                  <a:cs typeface="+mn-cs"/>
                </a:rPr>
                <a:t>judgment with known limits, not proof of zero failure.</a:t>
              </a:r>
            </a:p>
          </p:txBody>
        </p:sp>
      </p:grpSp>
      <p:grpSp>
        <p:nvGrpSpPr>
          <p:cNvPr id="23" name="footer"/>
          <p:cNvGrpSpPr/>
          <p:nvPr/>
        </p:nvGrpSpPr>
        <p:grpSpPr>
          <a:xfrm>
            <a:off x="452438" y="6410325"/>
            <a:ext cx="11287124" cy="176212"/>
            <a:chOff x="452438" y="6410325"/>
            <a:chExt cx="11287124" cy="176212"/>
          </a:xfrm>
        </p:grpSpPr>
        <p:sp>
          <p:nvSpPr>
            <p:cNvPr id="21" name="TextBox 21"/>
            <p:cNvSpPr txBox="1"/>
            <p:nvPr/>
          </p:nvSpPr>
          <p:spPr>
            <a:xfrm>
              <a:off x="452438" y="6410325"/>
              <a:ext cx="6870353"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Proposed schema informed by Ramp and the system-failure discussion. Adapt the contract to the actual task and consequence.</a:t>
              </a:r>
            </a:p>
          </p:txBody>
        </p:sp>
        <p:sp>
          <p:nvSpPr>
            <p:cNvPr id="22" name="TextBox 22"/>
            <p:cNvSpPr txBox="1"/>
            <p:nvPr/>
          </p:nvSpPr>
          <p:spPr>
            <a:xfrm>
              <a:off x="11359512" y="641032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32 / 37</a:t>
              </a:r>
            </a:p>
          </p:txBody>
        </p:sp>
      </p:grpSp>
    </p:spTree>
  </p:cSld>
  <p:clrMapOvr>
    <a:masterClrMapping/>
  </p:clrMapOvr>
  <p:transition xmlns:p14="http://schemas.microsoft.com/office/powerpoint/2010/main" p14:dur="400">
    <p:fad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7698188" cy="1110107"/>
            <a:chOff x="443484" y="371475"/>
            <a:chExt cx="7698188" cy="1110107"/>
          </a:xfrm>
        </p:grpSpPr>
        <p:sp>
          <p:nvSpPr>
            <p:cNvPr id="2" name="TextBox 2"/>
            <p:cNvSpPr txBox="1"/>
            <p:nvPr/>
          </p:nvSpPr>
          <p:spPr>
            <a:xfrm>
              <a:off x="451104" y="371475"/>
              <a:ext cx="3170500" cy="234696"/>
            </a:xfrm>
            <a:prstGeom prst="rect">
              <a:avLst/>
            </a:prstGeom>
            <a:noFill/>
            <a:ln>
              <a:noFill/>
            </a:ln>
          </p:spPr>
          <p:txBody>
            <a:bodyPr wrap="none" lIns="0" tIns="0" rIns="0" bIns="0" anchor="t" anchorCtr="0">
              <a:spAutoFit/>
            </a:bodyPr>
            <a:lstStyle/>
            <a:p>
              <a:pPr algn="l"/>
              <a:r>
                <a:rPr lang="en-US" sz="1200" dirty="0">
                  <a:solidFill>
                    <a:srgbClr val="8B411C"/>
                  </a:solidFill>
                  <a:latin typeface="+mn-lt"/>
                  <a:ea typeface="+mn-ea"/>
                  <a:cs typeface="+mn-cs"/>
                </a:rPr>
                <a:t>APPENDIX / SYNTHETIC TYPED CLAIM</a:t>
              </a:r>
            </a:p>
          </p:txBody>
        </p:sp>
        <p:sp>
          <p:nvSpPr>
            <p:cNvPr id="3" name="TextBox 3"/>
            <p:cNvSpPr txBox="1"/>
            <p:nvPr/>
          </p:nvSpPr>
          <p:spPr>
            <a:xfrm>
              <a:off x="443484" y="603250"/>
              <a:ext cx="7698188"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Keep the typed claim attached to its derivation</a:t>
              </a:r>
            </a:p>
          </p:txBody>
        </p:sp>
        <p:sp>
          <p:nvSpPr>
            <p:cNvPr id="4" name="TextBox 4"/>
            <p:cNvSpPr txBox="1"/>
            <p:nvPr/>
          </p:nvSpPr>
          <p:spPr>
            <a:xfrm>
              <a:off x="448818" y="1158875"/>
              <a:ext cx="6877790"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AsterCo’s growth value is a ratio; its revenue inputs are USD millions.</a:t>
              </a:r>
            </a:p>
          </p:txBody>
        </p:sp>
      </p:grpSp>
      <p:grpSp>
        <p:nvGrpSpPr>
          <p:cNvPr id="9" name="typed-claim"/>
          <p:cNvGrpSpPr/>
          <p:nvPr/>
        </p:nvGrpSpPr>
        <p:grpSpPr>
          <a:xfrm>
            <a:off x="457200" y="1752600"/>
            <a:ext cx="5334000" cy="4286250"/>
            <a:chOff x="457200" y="1752600"/>
            <a:chExt cx="5334000" cy="4286250"/>
          </a:xfrm>
        </p:grpSpPr>
        <p:sp>
          <p:nvSpPr>
            <p:cNvPr id="6" name="Freeform 6"/>
            <p:cNvSpPr/>
            <p:nvPr/>
          </p:nvSpPr>
          <p:spPr>
            <a:xfrm>
              <a:off x="457200" y="1752600"/>
              <a:ext cx="5334000" cy="4286250"/>
            </a:xfrm>
            <a:prstGeom prst="foldedCorner">
              <a:avLst/>
            </a:prstGeom>
            <a:solidFill>
              <a:schemeClr val="lt2"/>
            </a:solidFill>
            <a:ln>
              <a:noFill/>
            </a:ln>
          </p:spPr>
        </p:sp>
        <p:sp>
          <p:nvSpPr>
            <p:cNvPr id="7" name="TextBox 7"/>
            <p:cNvSpPr txBox="1"/>
            <p:nvPr/>
          </p:nvSpPr>
          <p:spPr>
            <a:xfrm>
              <a:off x="679704" y="1962150"/>
              <a:ext cx="436558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ALL ENTITIES, VALUES AND DOCUMENTS INVENTED</a:t>
              </a:r>
            </a:p>
          </p:txBody>
        </p:sp>
        <p:sp>
          <p:nvSpPr>
            <p:cNvPr id="8" name="TextBox 8"/>
            <p:cNvSpPr txBox="1"/>
            <p:nvPr/>
          </p:nvSpPr>
          <p:spPr>
            <a:xfrm>
              <a:off x="679704" y="2413000"/>
              <a:ext cx="2526792" cy="2501646"/>
            </a:xfrm>
            <a:prstGeom prst="rect">
              <a:avLst/>
            </a:prstGeom>
            <a:noFill/>
            <a:ln>
              <a:noFill/>
            </a:ln>
          </p:spPr>
          <p:txBody>
            <a:bodyPr wrap="none" lIns="0" tIns="0" rIns="0" bIns="0" anchor="t" anchorCtr="0">
              <a:spAutoFit/>
            </a:bodyPr>
            <a:lstStyle/>
            <a:p>
              <a:pPr algn="l">
                <a:lnSpc>
                  <a:spcPts val="2550"/>
                </a:lnSpc>
              </a:pPr>
              <a:r>
                <a:rPr lang="en-US" sz="1200" dirty="0">
                  <a:solidFill>
                    <a:schemeClr val="dk1"/>
                  </a:solidFill>
                  <a:latin typeface="Consolas"/>
                  <a:ea typeface="Consolas"/>
                  <a:cs typeface="Consolas"/>
                </a:rPr>
                <a:t>entity: AsterCo</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metric: annual_revenue_growth</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period: FY2025</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unit: ratio</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value: 0.20</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inputs: D1=100; D3=120 # USD_m</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as_of: 2026-03-01</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calculation: (120 - 100) / 100</a:t>
              </a:r>
            </a:p>
          </p:txBody>
        </p:sp>
      </p:grpSp>
      <p:grpSp>
        <p:nvGrpSpPr>
          <p:cNvPr id="12" name="metric-unit"/>
          <p:cNvGrpSpPr/>
          <p:nvPr/>
        </p:nvGrpSpPr>
        <p:grpSpPr>
          <a:xfrm>
            <a:off x="6086856" y="1838325"/>
            <a:ext cx="4729010" cy="985520"/>
            <a:chOff x="6086856" y="1838325"/>
            <a:chExt cx="4729010" cy="985520"/>
          </a:xfrm>
        </p:grpSpPr>
        <p:sp>
          <p:nvSpPr>
            <p:cNvPr id="10" name="TextBox 10"/>
            <p:cNvSpPr txBox="1"/>
            <p:nvPr/>
          </p:nvSpPr>
          <p:spPr>
            <a:xfrm>
              <a:off x="6086856" y="1838325"/>
              <a:ext cx="378980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0.20 growth ≠ USD120m revenue</a:t>
              </a:r>
            </a:p>
          </p:txBody>
        </p:sp>
        <p:sp>
          <p:nvSpPr>
            <p:cNvPr id="11" name="TextBox 11"/>
            <p:cNvSpPr txBox="1"/>
            <p:nvPr/>
          </p:nvSpPr>
          <p:spPr>
            <a:xfrm>
              <a:off x="6088380" y="2263775"/>
              <a:ext cx="4727486"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Preserve entity, metric definition, period and unit.</a:t>
              </a:r>
              <a:br>
                <a:rPr lang="en-US" sz="1500" dirty="0">
                  <a:solidFill>
                    <a:schemeClr val="dk1"/>
                  </a:solidFill>
                  <a:latin typeface="+mn-lt"/>
                  <a:ea typeface="+mn-ea"/>
                  <a:cs typeface="+mn-cs"/>
                </a:rPr>
              </a:br>
              <a:r>
                <a:rPr lang="en-US" sz="1500" dirty="0">
                  <a:solidFill>
                    <a:schemeClr val="dk1"/>
                  </a:solidFill>
                  <a:latin typeface="+mn-lt"/>
                  <a:ea typeface="+mn-ea"/>
                  <a:cs typeface="+mn-cs"/>
                </a:rPr>
                <a:t>A document match cannot establish a valid comparison.</a:t>
              </a:r>
            </a:p>
          </p:txBody>
        </p:sp>
      </p:grpSp>
      <p:grpSp>
        <p:nvGrpSpPr>
          <p:cNvPr id="16" name="source-identity"/>
          <p:cNvGrpSpPr/>
          <p:nvPr/>
        </p:nvGrpSpPr>
        <p:grpSpPr>
          <a:xfrm>
            <a:off x="6086856" y="3248025"/>
            <a:ext cx="5647944" cy="1090295"/>
            <a:chOff x="6086856" y="3248025"/>
            <a:chExt cx="5647944" cy="1090295"/>
          </a:xfrm>
        </p:grpSpPr>
        <p:sp>
          <p:nvSpPr>
            <p:cNvPr id="13" name="Line 13"/>
            <p:cNvSpPr/>
            <p:nvPr/>
          </p:nvSpPr>
          <p:spPr>
            <a:xfrm>
              <a:off x="6096000" y="3248025"/>
              <a:ext cx="5638800" cy="9525"/>
            </a:xfrm>
            <a:custGeom>
              <a:avLst/>
              <a:gdLst/>
              <a:ahLst/>
              <a:cxnLst/>
              <a:rect l="l" t="t" r="r" b="b"/>
              <a:pathLst>
                <a:path w="5638800" h="9525">
                  <a:moveTo>
                    <a:pt x="0" y="0"/>
                  </a:moveTo>
                  <a:lnTo>
                    <a:pt x="5638800" y="0"/>
                  </a:lnTo>
                </a:path>
              </a:pathLst>
            </a:custGeom>
            <a:noFill/>
            <a:ln w="9525">
              <a:solidFill>
                <a:schemeClr val="accent6"/>
              </a:solidFill>
            </a:ln>
          </p:spPr>
        </p:sp>
        <p:sp>
          <p:nvSpPr>
            <p:cNvPr id="14" name="TextBox 14"/>
            <p:cNvSpPr txBox="1"/>
            <p:nvPr/>
          </p:nvSpPr>
          <p:spPr>
            <a:xfrm>
              <a:off x="6086856" y="3352800"/>
              <a:ext cx="400437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Retain source identity and eligibility</a:t>
              </a:r>
            </a:p>
          </p:txBody>
        </p:sp>
        <p:sp>
          <p:nvSpPr>
            <p:cNvPr id="15" name="TextBox 15"/>
            <p:cNvSpPr txBox="1"/>
            <p:nvPr/>
          </p:nvSpPr>
          <p:spPr>
            <a:xfrm>
              <a:off x="6088380" y="3778250"/>
              <a:ext cx="4558017"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Document, passage, version and available-as-of time.</a:t>
              </a:r>
              <a:br>
                <a:rPr lang="en-US" sz="1500" dirty="0">
                  <a:solidFill>
                    <a:schemeClr val="dk1"/>
                  </a:solidFill>
                  <a:latin typeface="+mn-lt"/>
                  <a:ea typeface="+mn-ea"/>
                  <a:cs typeface="+mn-cs"/>
                </a:rPr>
              </a:br>
              <a:r>
                <a:rPr lang="en-US" sz="1500" dirty="0">
                  <a:solidFill>
                    <a:schemeClr val="dk1"/>
                  </a:solidFill>
                  <a:latin typeface="+mn-lt"/>
                  <a:ea typeface="+mn-ea"/>
                  <a:cs typeface="+mn-cs"/>
                </a:rPr>
                <a:t>Publication, reporting period and access are distinct.</a:t>
              </a:r>
            </a:p>
          </p:txBody>
        </p:sp>
      </p:grpSp>
      <p:grpSp>
        <p:nvGrpSpPr>
          <p:cNvPr id="20" name="correction-propagation"/>
          <p:cNvGrpSpPr/>
          <p:nvPr/>
        </p:nvGrpSpPr>
        <p:grpSpPr>
          <a:xfrm>
            <a:off x="6086856" y="4733925"/>
            <a:ext cx="5647944" cy="1356995"/>
            <a:chOff x="6086856" y="4733925"/>
            <a:chExt cx="5647944" cy="1356995"/>
          </a:xfrm>
        </p:grpSpPr>
        <p:sp>
          <p:nvSpPr>
            <p:cNvPr id="17" name="Line 17"/>
            <p:cNvSpPr/>
            <p:nvPr/>
          </p:nvSpPr>
          <p:spPr>
            <a:xfrm>
              <a:off x="6096000" y="4733925"/>
              <a:ext cx="5638800" cy="9525"/>
            </a:xfrm>
            <a:custGeom>
              <a:avLst/>
              <a:gdLst/>
              <a:ahLst/>
              <a:cxnLst/>
              <a:rect l="l" t="t" r="r" b="b"/>
              <a:pathLst>
                <a:path w="5638800" h="9525">
                  <a:moveTo>
                    <a:pt x="0" y="0"/>
                  </a:moveTo>
                  <a:lnTo>
                    <a:pt x="5638800" y="0"/>
                  </a:lnTo>
                </a:path>
              </a:pathLst>
            </a:custGeom>
            <a:noFill/>
            <a:ln w="9525">
              <a:solidFill>
                <a:schemeClr val="accent6"/>
              </a:solidFill>
            </a:ln>
          </p:spPr>
        </p:sp>
        <p:sp>
          <p:nvSpPr>
            <p:cNvPr id="18" name="TextBox 18"/>
            <p:cNvSpPr txBox="1"/>
            <p:nvPr/>
          </p:nvSpPr>
          <p:spPr>
            <a:xfrm>
              <a:off x="6086856" y="4838700"/>
              <a:ext cx="435535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Propagate corrections through artifacts</a:t>
              </a:r>
            </a:p>
          </p:txBody>
        </p:sp>
        <p:sp>
          <p:nvSpPr>
            <p:cNvPr id="19" name="TextBox 19"/>
            <p:cNvSpPr txBox="1"/>
            <p:nvPr/>
          </p:nvSpPr>
          <p:spPr>
            <a:xfrm>
              <a:off x="6088380" y="5264150"/>
              <a:ext cx="4632350" cy="8267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Recompute dependent claims, charts and tables;</a:t>
              </a:r>
              <a:br>
                <a:rPr lang="en-US" sz="1500" dirty="0">
                  <a:solidFill>
                    <a:schemeClr val="dk1"/>
                  </a:solidFill>
                  <a:latin typeface="+mn-lt"/>
                  <a:ea typeface="+mn-ea"/>
                  <a:cs typeface="+mn-cs"/>
                </a:rPr>
              </a:br>
              <a:r>
                <a:rPr lang="en-US" sz="1500" dirty="0">
                  <a:solidFill>
                    <a:schemeClr val="dk1"/>
                  </a:solidFill>
                  <a:latin typeface="+mn-lt"/>
                  <a:ea typeface="+mn-ea"/>
                  <a:cs typeface="+mn-cs"/>
                </a:rPr>
                <a:t>retain earlier values and change reasons. Verify export</a:t>
              </a:r>
              <a:br>
                <a:rPr lang="en-US" sz="1500" dirty="0">
                  <a:solidFill>
                    <a:schemeClr val="dk1"/>
                  </a:solidFill>
                  <a:latin typeface="+mn-lt"/>
                  <a:ea typeface="+mn-ea"/>
                  <a:cs typeface="+mn-cs"/>
                </a:rPr>
              </a:br>
              <a:r>
                <a:rPr lang="en-US" sz="1500" dirty="0">
                  <a:solidFill>
                    <a:schemeClr val="dk1"/>
                  </a:solidFill>
                  <a:latin typeface="+mn-lt"/>
                  <a:ea typeface="+mn-ea"/>
                  <a:cs typeface="+mn-cs"/>
                </a:rPr>
                <a:t>has preserved units, periods and evidence links.</a:t>
              </a:r>
            </a:p>
          </p:txBody>
        </p:sp>
      </p:grpSp>
      <p:grpSp>
        <p:nvGrpSpPr>
          <p:cNvPr id="23" name="footer"/>
          <p:cNvGrpSpPr/>
          <p:nvPr/>
        </p:nvGrpSpPr>
        <p:grpSpPr>
          <a:xfrm>
            <a:off x="452438" y="6410325"/>
            <a:ext cx="11287124" cy="176212"/>
            <a:chOff x="452438" y="6410325"/>
            <a:chExt cx="11287124" cy="176212"/>
          </a:xfrm>
        </p:grpSpPr>
        <p:sp>
          <p:nvSpPr>
            <p:cNvPr id="21" name="TextBox 21"/>
            <p:cNvSpPr txBox="1"/>
            <p:nvPr/>
          </p:nvSpPr>
          <p:spPr>
            <a:xfrm>
              <a:off x="452438" y="6410325"/>
              <a:ext cx="7109136"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Proposed contract informed by Kepler and Bridgewater, not verified coverage of either implementation. All AsterCo data is synthetic.</a:t>
              </a:r>
            </a:p>
          </p:txBody>
        </p:sp>
        <p:sp>
          <p:nvSpPr>
            <p:cNvPr id="22" name="TextBox 22"/>
            <p:cNvSpPr txBox="1"/>
            <p:nvPr/>
          </p:nvSpPr>
          <p:spPr>
            <a:xfrm>
              <a:off x="11359512" y="641032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33 / 37</a:t>
              </a:r>
            </a:p>
          </p:txBody>
        </p:sp>
      </p:grpSp>
    </p:spTree>
  </p:cSld>
  <p:clrMapOvr>
    <a:masterClrMapping/>
  </p:clrMapOvr>
  <p:transition xmlns:p14="http://schemas.microsoft.com/office/powerpoint/2010/main" p14:dur="400">
    <p:fade/>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104716" cy="1110107"/>
            <a:chOff x="443484" y="371475"/>
            <a:chExt cx="9104716" cy="1110107"/>
          </a:xfrm>
        </p:grpSpPr>
        <p:sp>
          <p:nvSpPr>
            <p:cNvPr id="2" name="TextBox 2"/>
            <p:cNvSpPr txBox="1"/>
            <p:nvPr/>
          </p:nvSpPr>
          <p:spPr>
            <a:xfrm>
              <a:off x="451104" y="371475"/>
              <a:ext cx="492476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APPENDIX / GENERATION IS DIFFERENT FROM SELECTION</a:t>
              </a:r>
            </a:p>
          </p:txBody>
        </p:sp>
        <p:sp>
          <p:nvSpPr>
            <p:cNvPr id="3" name="TextBox 3"/>
            <p:cNvSpPr txBox="1"/>
            <p:nvPr/>
          </p:nvSpPr>
          <p:spPr>
            <a:xfrm>
              <a:off x="443484" y="603250"/>
              <a:ext cx="7122834"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pass@k is not deployed selection reliability</a:t>
              </a:r>
            </a:p>
          </p:txBody>
        </p:sp>
        <p:sp>
          <p:nvSpPr>
            <p:cNvPr id="4" name="TextBox 4"/>
            <p:cNvSpPr txBox="1"/>
            <p:nvPr/>
          </p:nvSpPr>
          <p:spPr>
            <a:xfrm>
              <a:off x="448818" y="1158875"/>
              <a:ext cx="9099382"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 benchmark can recognize a passing candidate that an operational selector fails to choose.</a:t>
              </a:r>
            </a:p>
          </p:txBody>
        </p:sp>
      </p:grpSp>
      <p:grpSp>
        <p:nvGrpSpPr>
          <p:cNvPr id="10" name="benchmark-question"/>
          <p:cNvGrpSpPr/>
          <p:nvPr/>
        </p:nvGrpSpPr>
        <p:grpSpPr>
          <a:xfrm>
            <a:off x="457200" y="1752600"/>
            <a:ext cx="5334000" cy="2419350"/>
            <a:chOff x="457200" y="1752600"/>
            <a:chExt cx="5334000" cy="2419350"/>
          </a:xfrm>
        </p:grpSpPr>
        <p:sp>
          <p:nvSpPr>
            <p:cNvPr id="6" name="Rectangle 6"/>
            <p:cNvSpPr/>
            <p:nvPr/>
          </p:nvSpPr>
          <p:spPr>
            <a:xfrm>
              <a:off x="457200" y="1752600"/>
              <a:ext cx="5334000" cy="2419350"/>
            </a:xfrm>
            <a:prstGeom prst="rect">
              <a:avLst/>
            </a:prstGeom>
            <a:solidFill>
              <a:schemeClr val="lt2"/>
            </a:solidFill>
            <a:ln>
              <a:noFill/>
            </a:ln>
          </p:spPr>
        </p:sp>
        <p:sp>
          <p:nvSpPr>
            <p:cNvPr id="7" name="TextBox 7"/>
            <p:cNvSpPr txBox="1"/>
            <p:nvPr/>
          </p:nvSpPr>
          <p:spPr>
            <a:xfrm>
              <a:off x="676656" y="1905000"/>
              <a:ext cx="47188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Benchmark: was any candidate successful?</a:t>
              </a:r>
            </a:p>
          </p:txBody>
        </p:sp>
        <p:sp>
          <p:nvSpPr>
            <p:cNvPr id="8" name="TextBox 8"/>
            <p:cNvSpPr txBox="1"/>
            <p:nvPr/>
          </p:nvSpPr>
          <p:spPr>
            <a:xfrm>
              <a:off x="678180" y="2435225"/>
              <a:ext cx="4018178" cy="8267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At least one of k sampled candidates meets the</a:t>
              </a:r>
              <a:br>
                <a:rPr lang="en-US" sz="1500" dirty="0">
                  <a:solidFill>
                    <a:schemeClr val="dk1"/>
                  </a:solidFill>
                  <a:latin typeface="+mn-lt"/>
                  <a:ea typeface="+mn-ea"/>
                  <a:cs typeface="+mn-cs"/>
                </a:rPr>
              </a:br>
              <a:r>
                <a:rPr lang="en-US" sz="1500" dirty="0">
                  <a:solidFill>
                    <a:schemeClr val="dk1"/>
                  </a:solidFill>
                  <a:latin typeface="+mn-lt"/>
                  <a:ea typeface="+mn-ea"/>
                  <a:cs typeface="+mn-cs"/>
                </a:rPr>
                <a:t>specified test; summarize the result over tasks.</a:t>
              </a:r>
              <a:br>
                <a:rPr lang="en-US" sz="1500" dirty="0">
                  <a:solidFill>
                    <a:schemeClr val="dk1"/>
                  </a:solidFill>
                  <a:latin typeface="+mn-lt"/>
                  <a:ea typeface="+mn-ea"/>
                  <a:cs typeface="+mn-cs"/>
                </a:rPr>
              </a:br>
              <a:r>
                <a:rPr lang="en-US" sz="1500" dirty="0">
                  <a:solidFill>
                    <a:schemeClr val="dk1"/>
                  </a:solidFill>
                  <a:latin typeface="+mn-lt"/>
                  <a:ea typeface="+mn-ea"/>
                  <a:cs typeface="+mn-cs"/>
                </a:rPr>
                <a:t>State k, task distribution and the test.</a:t>
              </a:r>
            </a:p>
          </p:txBody>
        </p:sp>
        <p:sp>
          <p:nvSpPr>
            <p:cNvPr id="9" name="TextBox 9"/>
            <p:cNvSpPr txBox="1"/>
            <p:nvPr/>
          </p:nvSpPr>
          <p:spPr>
            <a:xfrm>
              <a:off x="678942" y="3616325"/>
              <a:ext cx="4151273"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Ground-truth recognition can behave like an oracle.</a:t>
              </a:r>
            </a:p>
          </p:txBody>
        </p:sp>
      </p:grpSp>
      <p:grpSp>
        <p:nvGrpSpPr>
          <p:cNvPr id="15" name="deployment-question"/>
          <p:cNvGrpSpPr/>
          <p:nvPr/>
        </p:nvGrpSpPr>
        <p:grpSpPr>
          <a:xfrm>
            <a:off x="6096000" y="1752600"/>
            <a:ext cx="5638800" cy="2419350"/>
            <a:chOff x="6096000" y="1752600"/>
            <a:chExt cx="5638800" cy="2419350"/>
          </a:xfrm>
        </p:grpSpPr>
        <p:sp>
          <p:nvSpPr>
            <p:cNvPr id="11" name="Rectangle 11"/>
            <p:cNvSpPr/>
            <p:nvPr/>
          </p:nvSpPr>
          <p:spPr>
            <a:xfrm>
              <a:off x="6096000" y="1752600"/>
              <a:ext cx="5638800" cy="2419350"/>
            </a:xfrm>
            <a:prstGeom prst="rect">
              <a:avLst/>
            </a:prstGeom>
            <a:solidFill>
              <a:schemeClr val="accent1"/>
            </a:solidFill>
            <a:ln>
              <a:noFill/>
            </a:ln>
          </p:spPr>
        </p:sp>
        <p:sp>
          <p:nvSpPr>
            <p:cNvPr id="12" name="TextBox 12"/>
            <p:cNvSpPr txBox="1"/>
            <p:nvPr/>
          </p:nvSpPr>
          <p:spPr>
            <a:xfrm>
              <a:off x="6315456" y="1905000"/>
              <a:ext cx="5095244"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Deployment: can the system choose correctly?</a:t>
              </a:r>
            </a:p>
          </p:txBody>
        </p:sp>
        <p:sp>
          <p:nvSpPr>
            <p:cNvPr id="13" name="TextBox 13"/>
            <p:cNvSpPr txBox="1"/>
            <p:nvPr/>
          </p:nvSpPr>
          <p:spPr>
            <a:xfrm>
              <a:off x="6316980" y="2435225"/>
              <a:ext cx="4758728" cy="826770"/>
            </a:xfrm>
            <a:prstGeom prst="rect">
              <a:avLst/>
            </a:prstGeom>
            <a:noFill/>
            <a:ln>
              <a:noFill/>
            </a:ln>
          </p:spPr>
          <p:txBody>
            <a:bodyPr wrap="none" lIns="0" tIns="0" rIns="0" bIns="0" anchor="t" anchorCtr="0">
              <a:spAutoFit/>
            </a:bodyPr>
            <a:lstStyle/>
            <a:p>
              <a:pPr algn="l">
                <a:lnSpc>
                  <a:spcPts val="2100"/>
                </a:lnSpc>
              </a:pPr>
              <a:r>
                <a:rPr lang="en-US" sz="1500" dirty="0">
                  <a:solidFill>
                    <a:srgbClr val="FFFDF7"/>
                  </a:solidFill>
                  <a:latin typeface="+mn-lt"/>
                  <a:ea typeface="+mn-ea"/>
                  <a:cs typeface="+mn-cs"/>
                </a:rPr>
                <a:t>Run the actual verifier, ranker or human-review process.</a:t>
              </a:r>
              <a:br>
                <a:rPr lang="en-US" sz="1500" dirty="0">
                  <a:solidFill>
                    <a:srgbClr val="FFFDF7"/>
                  </a:solidFill>
                  <a:latin typeface="+mn-lt"/>
                  <a:ea typeface="+mn-ea"/>
                  <a:cs typeface="+mn-cs"/>
                </a:rPr>
              </a:br>
              <a:r>
                <a:rPr lang="en-US" sz="1500" dirty="0">
                  <a:solidFill>
                    <a:srgbClr val="FFFDF7"/>
                  </a:solidFill>
                  <a:latin typeface="+mn-lt"/>
                  <a:ea typeface="+mn-ea"/>
                  <a:cs typeface="+mn-cs"/>
                </a:rPr>
                <a:t>Measure chosen-output acceptance, missed defects,</a:t>
              </a:r>
              <a:br>
                <a:rPr lang="en-US" sz="1500" dirty="0">
                  <a:solidFill>
                    <a:srgbClr val="FFFDF7"/>
                  </a:solidFill>
                  <a:latin typeface="+mn-lt"/>
                  <a:ea typeface="+mn-ea"/>
                  <a:cs typeface="+mn-cs"/>
                </a:rPr>
              </a:br>
              <a:r>
                <a:rPr lang="en-US" sz="1500" dirty="0">
                  <a:solidFill>
                    <a:srgbClr val="FFFDF7"/>
                  </a:solidFill>
                  <a:latin typeface="+mn-lt"/>
                  <a:ea typeface="+mn-ea"/>
                  <a:cs typeface="+mn-cs"/>
                </a:rPr>
                <a:t>rejected useful candidates and first-attempt behavior.</a:t>
              </a:r>
            </a:p>
          </p:txBody>
        </p:sp>
        <p:sp>
          <p:nvSpPr>
            <p:cNvPr id="14" name="TextBox 14"/>
            <p:cNvSpPr txBox="1"/>
            <p:nvPr/>
          </p:nvSpPr>
          <p:spPr>
            <a:xfrm>
              <a:off x="6317742" y="3616325"/>
              <a:ext cx="3604729" cy="264033"/>
            </a:xfrm>
            <a:prstGeom prst="rect">
              <a:avLst/>
            </a:prstGeom>
            <a:noFill/>
            <a:ln>
              <a:noFill/>
            </a:ln>
          </p:spPr>
          <p:txBody>
            <a:bodyPr wrap="none" lIns="0" tIns="0" rIns="0" bIns="0" anchor="t" anchorCtr="0">
              <a:spAutoFit/>
            </a:bodyPr>
            <a:lstStyle/>
            <a:p>
              <a:pPr algn="l"/>
              <a:r>
                <a:rPr lang="en-US" sz="1350" dirty="0">
                  <a:solidFill>
                    <a:srgbClr val="E7F0EA"/>
                  </a:solidFill>
                  <a:latin typeface="+mn-lt"/>
                  <a:ea typeface="+mn-ea"/>
                  <a:cs typeface="+mn-cs"/>
                </a:rPr>
                <a:t>Critical action/evidence conditions still apply.</a:t>
              </a:r>
            </a:p>
          </p:txBody>
        </p:sp>
      </p:grpSp>
      <p:grpSp>
        <p:nvGrpSpPr>
          <p:cNvPr id="17" name="attempt-costs"/>
          <p:cNvGrpSpPr/>
          <p:nvPr/>
        </p:nvGrpSpPr>
        <p:grpSpPr>
          <a:xfrm>
            <a:off x="449580" y="4578350"/>
            <a:ext cx="8942299" cy="560070"/>
            <a:chOff x="449580" y="4578350"/>
            <a:chExt cx="8942299" cy="560070"/>
          </a:xfrm>
        </p:grpSpPr>
        <p:sp>
          <p:nvSpPr>
            <p:cNvPr id="16" name="TextBox 16"/>
            <p:cNvSpPr txBox="1"/>
            <p:nvPr/>
          </p:nvSpPr>
          <p:spPr>
            <a:xfrm>
              <a:off x="449580" y="4578350"/>
              <a:ext cx="8942299"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Count all candidates, tool calls, verification, review and latency. Compare explicit budgets and acceptance</a:t>
              </a:r>
              <a:br>
                <a:rPr lang="en-US" sz="1500" dirty="0">
                  <a:solidFill>
                    <a:schemeClr val="dk1"/>
                  </a:solidFill>
                  <a:latin typeface="+mn-lt"/>
                  <a:ea typeface="+mn-ea"/>
                  <a:cs typeface="+mn-cs"/>
                </a:rPr>
              </a:br>
              <a:r>
                <a:rPr lang="en-US" sz="1500" dirty="0">
                  <a:solidFill>
                    <a:schemeClr val="dk1"/>
                  </a:solidFill>
                  <a:latin typeface="+mn-lt"/>
                  <a:ea typeface="+mn-ea"/>
                  <a:cs typeface="+mn-cs"/>
                </a:rPr>
                <a:t>standards. More attempts can increase success opportunity while also increasing cost and exposure.</a:t>
              </a:r>
            </a:p>
          </p:txBody>
        </p:sp>
      </p:grpSp>
      <p:grpSp>
        <p:nvGrpSpPr>
          <p:cNvPr id="19" name="metric-boundary"/>
          <p:cNvGrpSpPr/>
          <p:nvPr/>
        </p:nvGrpSpPr>
        <p:grpSpPr>
          <a:xfrm>
            <a:off x="450342" y="5619750"/>
            <a:ext cx="8838590" cy="511683"/>
            <a:chOff x="450342" y="5619750"/>
            <a:chExt cx="8838590" cy="511683"/>
          </a:xfrm>
        </p:grpSpPr>
        <p:sp>
          <p:nvSpPr>
            <p:cNvPr id="18" name="TextBox 18"/>
            <p:cNvSpPr txBox="1"/>
            <p:nvPr/>
          </p:nvSpPr>
          <p:spPr>
            <a:xfrm>
              <a:off x="450342" y="5619750"/>
              <a:ext cx="8838590" cy="511683"/>
            </a:xfrm>
            <a:prstGeom prst="rect">
              <a:avLst/>
            </a:prstGeom>
            <a:noFill/>
            <a:ln>
              <a:noFill/>
            </a:ln>
          </p:spPr>
          <p:txBody>
            <a:bodyPr wrap="none" lIns="0" tIns="0" rIns="0" bIns="0" anchor="t" anchorCtr="0">
              <a:spAutoFit/>
            </a:bodyPr>
            <a:lstStyle/>
            <a:p>
              <a:pPr algn="l">
                <a:lnSpc>
                  <a:spcPts val="1950"/>
                </a:lnSpc>
              </a:pPr>
              <a:r>
                <a:rPr lang="en-US" sz="1350" dirty="0">
                  <a:solidFill>
                    <a:schemeClr val="accent2"/>
                  </a:solidFill>
                  <a:latin typeface="+mn-lt"/>
                  <a:ea typeface="+mn-ea"/>
                  <a:cs typeface="+mn-cs"/>
                </a:rPr>
                <a:t>Keep partial-credit quality, pass@k, first-attempt success and selected-output reliability distinct. Chen et al.’s</a:t>
              </a:r>
              <a:br>
                <a:rPr lang="en-US" sz="1350" dirty="0">
                  <a:solidFill>
                    <a:schemeClr val="accent2"/>
                  </a:solidFill>
                  <a:latin typeface="+mn-lt"/>
                  <a:ea typeface="+mn-ea"/>
                  <a:cs typeface="+mn-cs"/>
                </a:rPr>
              </a:br>
              <a:r>
                <a:rPr lang="en-US" sz="1350" dirty="0">
                  <a:solidFill>
                    <a:schemeClr val="accent2"/>
                  </a:solidFill>
                  <a:latin typeface="+mn-lt"/>
                  <a:ea typeface="+mn-ea"/>
                  <a:cs typeface="+mn-cs"/>
                </a:rPr>
                <a:t>HumanEval paper supplies the metric/selection distinction, not a finance performance result or a general retry policy.</a:t>
              </a:r>
            </a:p>
          </p:txBody>
        </p:sp>
      </p:grpSp>
      <p:grpSp>
        <p:nvGrpSpPr>
          <p:cNvPr id="22" name="footer"/>
          <p:cNvGrpSpPr/>
          <p:nvPr/>
        </p:nvGrpSpPr>
        <p:grpSpPr>
          <a:xfrm>
            <a:off x="452438" y="6477000"/>
            <a:ext cx="11287124" cy="176212"/>
            <a:chOff x="452438" y="6477000"/>
            <a:chExt cx="11287124" cy="176212"/>
          </a:xfrm>
        </p:grpSpPr>
        <p:sp>
          <p:nvSpPr>
            <p:cNvPr id="20" name="TextBox 20"/>
            <p:cNvSpPr txBox="1"/>
            <p:nvPr/>
          </p:nvSpPr>
          <p:spPr>
            <a:xfrm>
              <a:off x="452438" y="6477000"/>
              <a:ext cx="6570600"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Primary reference: Chen et al., Evaluating Large Language Models Trained on Code (2021); link on page 37 and in notes.</a:t>
              </a:r>
            </a:p>
          </p:txBody>
        </p:sp>
        <p:sp>
          <p:nvSpPr>
            <p:cNvPr id="21" name="TextBox 21"/>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34 / 37</a:t>
              </a:r>
            </a:p>
          </p:txBody>
        </p:sp>
      </p:grpSp>
    </p:spTree>
  </p:cSld>
  <p:clrMapOvr>
    <a:masterClrMapping/>
  </p:clrMapOvr>
  <p:transition xmlns:p14="http://schemas.microsoft.com/office/powerpoint/2010/main" p14:dur="400">
    <p:fade/>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300925" cy="1110107"/>
            <a:chOff x="443484" y="371475"/>
            <a:chExt cx="9300925" cy="1110107"/>
          </a:xfrm>
        </p:grpSpPr>
        <p:sp>
          <p:nvSpPr>
            <p:cNvPr id="2" name="TextBox 2"/>
            <p:cNvSpPr txBox="1"/>
            <p:nvPr/>
          </p:nvSpPr>
          <p:spPr>
            <a:xfrm>
              <a:off x="451104" y="371475"/>
              <a:ext cx="4033362"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APPENDIX / DENOMINATORS AND COMPARISON</a:t>
              </a:r>
            </a:p>
          </p:txBody>
        </p:sp>
        <p:sp>
          <p:nvSpPr>
            <p:cNvPr id="3" name="TextBox 3"/>
            <p:cNvSpPr txBox="1"/>
            <p:nvPr/>
          </p:nvSpPr>
          <p:spPr>
            <a:xfrm>
              <a:off x="443484" y="603250"/>
              <a:ext cx="6045052"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Pair accepted-task rate with full cost</a:t>
              </a:r>
            </a:p>
          </p:txBody>
        </p:sp>
        <p:sp>
          <p:nvSpPr>
            <p:cNvPr id="4" name="TextBox 4"/>
            <p:cNvSpPr txBox="1"/>
            <p:nvPr/>
          </p:nvSpPr>
          <p:spPr>
            <a:xfrm>
              <a:off x="448818" y="1158875"/>
              <a:ext cx="9295591"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Agree eligibility, completion, exclusions, quality and task mix before reporting an improvement.</a:t>
              </a:r>
            </a:p>
          </p:txBody>
        </p:sp>
      </p:grpSp>
      <p:graphicFrame>
        <p:nvGraphicFramePr>
          <p:cNvPr id="6" name="measurement-contract"/>
          <p:cNvGraphicFramePr>
            <a:graphicFrameLocks noGrp="1"/>
          </p:cNvGraphicFramePr>
          <p:nvPr/>
        </p:nvGraphicFramePr>
        <p:xfrm>
          <a:off x="457200" y="1752600"/>
          <a:ext cx="11277600" cy="3619500"/>
        </p:xfrm>
        <a:graphic>
          <a:graphicData uri="http://schemas.openxmlformats.org/drawingml/2006/table">
            <a:tbl>
              <a:tblPr firstRow="1" bandRow="0">
                <a:tableStyleId>{5C22544A-7EE6-4342-B048-85BDC9FD1C3A}</a:tableStyleId>
              </a:tblPr>
              <a:tblGrid>
                <a:gridCol w="2476500"/>
                <a:gridCol w="4381500"/>
                <a:gridCol w="4419600"/>
              </a:tblGrid>
              <a:tr h="495300">
                <a:tc>
                  <a:txBody>
                    <a:bodyPr/>
                    <a:lstStyle/>
                    <a:p>
                      <a:pPr/>
                      <a:r>
                        <a:rPr lang="en-US" sz="1350" b="1">
                          <a:solidFill>
                            <a:srgbClr val="FFFDF7"/>
                          </a:solidFill>
                          <a:latin typeface="Arial"/>
                          <a:ea typeface="Microsoft YaHei"/>
                          <a:cs typeface="Arial"/>
                        </a:rPr>
                        <a:t>Measure</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Definition to agree</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Interpretation boundary</a:t>
                      </a:r>
                    </a:p>
                  </a:txBody>
                  <a:tcPr anchor="ctr" marL="152400" marR="152400" marT="76200" marB="76200">
                    <a:lnL>
                      <a:noFill/>
                    </a:lnL>
                    <a:lnR>
                      <a:noFill/>
                    </a:lnR>
                    <a:lnT>
                      <a:noFill/>
                    </a:lnT>
                    <a:lnB w="9525">
                      <a:solidFill>
                        <a:schemeClr val="accent6"/>
                      </a:solidFill>
                      <a:prstDash val="solid"/>
                    </a:lnB>
                    <a:solidFill>
                      <a:schemeClr val="accent1"/>
                    </a:solidFill>
                  </a:tcPr>
                </a:tc>
              </a:tr>
              <a:tr h="781050">
                <a:tc>
                  <a:txBody>
                    <a:bodyPr/>
                    <a:lstStyle/>
                    <a:p>
                      <a:pPr/>
                      <a:r>
                        <a:rPr lang="en-US" sz="1350" b="0">
                          <a:solidFill>
                            <a:schemeClr val="dk1"/>
                          </a:solidFill>
                          <a:latin typeface="Arial"/>
                          <a:ea typeface="Microsoft YaHei"/>
                          <a:cs typeface="Arial"/>
                        </a:rPr>
                        <a:t>Accepted-task rate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Accepted / eligible assigned tasks.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Show excluded, rejected and abandoned outcomes.</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Cost per accepted task</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Total workflow cost / accepted tasks.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Include failed attempts, retries, verification, review and rework.</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Capacity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Accepted outputs / human effort or period.</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Compare equivalent work, quality and task mix.</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Business impact</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Outcome against a credible alternative.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Account for selection and other drivers; process speed is not causal revenue or returns.</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effort-and-attribution"/>
          <p:cNvGrpSpPr/>
          <p:nvPr/>
        </p:nvGrpSpPr>
        <p:grpSpPr>
          <a:xfrm>
            <a:off x="450342" y="5591175"/>
            <a:ext cx="9296739" cy="759333"/>
            <a:chOff x="450342" y="5591175"/>
            <a:chExt cx="9296739" cy="759333"/>
          </a:xfrm>
        </p:grpSpPr>
        <p:sp>
          <p:nvSpPr>
            <p:cNvPr id="7" name="TextBox 7"/>
            <p:cNvSpPr txBox="1"/>
            <p:nvPr/>
          </p:nvSpPr>
          <p:spPr>
            <a:xfrm>
              <a:off x="450342" y="5591175"/>
              <a:ext cx="9296739" cy="759333"/>
            </a:xfrm>
            <a:prstGeom prst="rect">
              <a:avLst/>
            </a:prstGeom>
            <a:noFill/>
            <a:ln>
              <a:noFill/>
            </a:ln>
          </p:spPr>
          <p:txBody>
            <a:bodyPr wrap="none" lIns="0" tIns="0" rIns="0" bIns="0" anchor="t" anchorCtr="0">
              <a:spAutoFit/>
            </a:bodyPr>
            <a:lstStyle/>
            <a:p>
              <a:pPr algn="l">
                <a:lnSpc>
                  <a:spcPts val="1950"/>
                </a:lnSpc>
              </a:pPr>
              <a:r>
                <a:rPr lang="en-US" sz="1350" dirty="0">
                  <a:solidFill>
                    <a:schemeClr val="dk1"/>
                  </a:solidFill>
                  <a:latin typeface="+mn-lt"/>
                  <a:ea typeface="+mn-ea"/>
                  <a:cs typeface="+mn-cs"/>
                </a:rPr>
                <a:t>Count preparation, correction, evidence checking, approval and follow-up alongside system costs. Report both acceptance</a:t>
              </a:r>
              <a:br>
                <a:rPr lang="en-US" sz="1350" dirty="0">
                  <a:solidFill>
                    <a:schemeClr val="dk1"/>
                  </a:solidFill>
                  <a:latin typeface="+mn-lt"/>
                  <a:ea typeface="+mn-ea"/>
                  <a:cs typeface="+mn-cs"/>
                </a:rPr>
              </a:br>
              <a:r>
                <a:rPr lang="en-US" sz="1350" dirty="0">
                  <a:solidFill>
                    <a:schemeClr val="dk1"/>
                  </a:solidFill>
                  <a:latin typeface="+mn-lt"/>
                  <a:ea typeface="+mn-ea"/>
                  <a:cs typeface="+mn-cs"/>
                </a:rPr>
                <a:t>rate and unit cost: low cost can coexist with poor coverage. Contour’s roughly three-month tracking account contains no</a:t>
              </a:r>
              <a:br>
                <a:rPr lang="en-US" sz="1350" dirty="0">
                  <a:solidFill>
                    <a:schemeClr val="dk1"/>
                  </a:solidFill>
                  <a:latin typeface="+mn-lt"/>
                  <a:ea typeface="+mn-ea"/>
                  <a:cs typeface="+mn-cs"/>
                </a:rPr>
              </a:br>
              <a:r>
                <a:rPr lang="en-US" sz="1350" dirty="0">
                  <a:solidFill>
                    <a:schemeClr val="dk1"/>
                  </a:solidFill>
                  <a:latin typeface="+mn-lt"/>
                  <a:ea typeface="+mn-ea"/>
                  <a:cs typeface="+mn-cs"/>
                </a:rPr>
                <a:t>captured sample, assignment, controls or causal estimate; it motivates a comparison, not a universal validation window.</a:t>
              </a:r>
            </a:p>
          </p:txBody>
        </p:sp>
      </p:grpSp>
      <p:grpSp>
        <p:nvGrpSpPr>
          <p:cNvPr id="11" name="footer"/>
          <p:cNvGrpSpPr/>
          <p:nvPr/>
        </p:nvGrpSpPr>
        <p:grpSpPr>
          <a:xfrm>
            <a:off x="452438" y="6505575"/>
            <a:ext cx="11287124" cy="176212"/>
            <a:chOff x="452438" y="6505575"/>
            <a:chExt cx="11287124" cy="176212"/>
          </a:xfrm>
        </p:grpSpPr>
        <p:sp>
          <p:nvSpPr>
            <p:cNvPr id="9" name="TextBox 9"/>
            <p:cNvSpPr txBox="1"/>
            <p:nvPr/>
          </p:nvSpPr>
          <p:spPr>
            <a:xfrm>
              <a:off x="452438" y="6505575"/>
              <a:ext cx="6071986"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Proposed measurement definitions informed by Contour. No ROI, capacity or causal financial effect is fabricated.</a:t>
              </a:r>
            </a:p>
          </p:txBody>
        </p:sp>
        <p:sp>
          <p:nvSpPr>
            <p:cNvPr id="10" name="TextBox 10"/>
            <p:cNvSpPr txBox="1"/>
            <p:nvPr/>
          </p:nvSpPr>
          <p:spPr>
            <a:xfrm>
              <a:off x="11359512" y="650557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35 / 37</a:t>
              </a:r>
            </a:p>
          </p:txBody>
        </p:sp>
      </p:grpSp>
    </p:spTree>
  </p:cSld>
  <p:clrMapOvr>
    <a:masterClrMapping/>
  </p:clrMapOvr>
  <p:transition xmlns:p14="http://schemas.microsoft.com/office/powerpoint/2010/main" p14:dur="400">
    <p:fade/>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693763" cy="1100582"/>
            <a:chOff x="443484" y="361950"/>
            <a:chExt cx="9693763" cy="1100582"/>
          </a:xfrm>
        </p:grpSpPr>
        <p:sp>
          <p:nvSpPr>
            <p:cNvPr id="2" name="TextBox 2"/>
            <p:cNvSpPr txBox="1"/>
            <p:nvPr/>
          </p:nvSpPr>
          <p:spPr>
            <a:xfrm>
              <a:off x="451104" y="361950"/>
              <a:ext cx="297106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REFERENCE / RECORDING REVIEW</a:t>
              </a:r>
            </a:p>
          </p:txBody>
        </p:sp>
        <p:sp>
          <p:nvSpPr>
            <p:cNvPr id="3" name="TextBox 3"/>
            <p:cNvSpPr txBox="1"/>
            <p:nvPr/>
          </p:nvSpPr>
          <p:spPr>
            <a:xfrm>
              <a:off x="443484" y="593725"/>
              <a:ext cx="969376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The recordings clarify methods and expose open questions</a:t>
              </a:r>
            </a:p>
          </p:txBody>
        </p:sp>
        <p:sp>
          <p:nvSpPr>
            <p:cNvPr id="4" name="TextBox 4"/>
            <p:cNvSpPr txBox="1"/>
            <p:nvPr/>
          </p:nvSpPr>
          <p:spPr>
            <a:xfrm>
              <a:off x="448818" y="1139825"/>
              <a:ext cx="9160258"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Keep clarified mechanisms, separate talk editions and specific unanswered questions visible.</a:t>
              </a:r>
            </a:p>
          </p:txBody>
        </p:sp>
      </p:grpSp>
      <p:grpSp>
        <p:nvGrpSpPr>
          <p:cNvPr id="8" name="analysis-1"/>
          <p:cNvGrpSpPr/>
          <p:nvPr/>
        </p:nvGrpSpPr>
        <p:grpSpPr>
          <a:xfrm>
            <a:off x="448056" y="1895475"/>
            <a:ext cx="3130106" cy="3236595"/>
            <a:chOff x="448056" y="1895475"/>
            <a:chExt cx="3130106" cy="3236595"/>
          </a:xfrm>
        </p:grpSpPr>
        <p:sp>
          <p:nvSpPr>
            <p:cNvPr id="6" name="TextBox 6"/>
            <p:cNvSpPr txBox="1"/>
            <p:nvPr/>
          </p:nvSpPr>
          <p:spPr>
            <a:xfrm>
              <a:off x="448056" y="1895475"/>
              <a:ext cx="97156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Clarified</a:t>
              </a:r>
            </a:p>
          </p:txBody>
        </p:sp>
        <p:sp>
          <p:nvSpPr>
            <p:cNvPr id="7" name="TextBox 7"/>
            <p:cNvSpPr txBox="1"/>
            <p:nvPr/>
          </p:nvSpPr>
          <p:spPr>
            <a:xfrm>
              <a:off x="449580" y="2524125"/>
              <a:ext cx="312858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Bridgewater’s metric is</a:t>
              </a:r>
              <a:br>
                <a:rPr lang="en-US" sz="1500" dirty="0">
                  <a:solidFill>
                    <a:schemeClr val="dk1"/>
                  </a:solidFill>
                  <a:latin typeface="+mn-lt"/>
                  <a:ea typeface="+mn-ea"/>
                  <a:cs typeface="+mn-cs"/>
                </a:rPr>
              </a:br>
              <a:r>
                <a:rPr lang="en-US" sz="1500" dirty="0">
                  <a:solidFill>
                    <a:schemeClr val="dk1"/>
                  </a:solidFill>
                  <a:latin typeface="+mn-lt"/>
                  <a:ea typeface="+mn-ea"/>
                  <a:cs typeface="+mn-cs"/>
                </a:rPr>
                <a:t>precision@10 and its product</a:t>
              </a:r>
              <a:br>
                <a:rPr lang="en-US" sz="1500" dirty="0">
                  <a:solidFill>
                    <a:schemeClr val="dk1"/>
                  </a:solidFill>
                  <a:latin typeface="+mn-lt"/>
                  <a:ea typeface="+mn-ea"/>
                  <a:cs typeface="+mn-cs"/>
                </a:rPr>
              </a:br>
              <a:r>
                <a:rPr lang="en-US" sz="1500" dirty="0">
                  <a:solidFill>
                    <a:schemeClr val="dk1"/>
                  </a:solidFill>
                  <a:latin typeface="+mn-lt"/>
                  <a:ea typeface="+mn-ea"/>
                  <a:cs typeface="+mn-cs"/>
                </a:rPr>
                <a:t>direction is proactive</a:t>
              </a:r>
              <a:br>
                <a:rPr lang="en-US" sz="1500" dirty="0">
                  <a:solidFill>
                    <a:schemeClr val="dk1"/>
                  </a:solidFill>
                  <a:latin typeface="+mn-lt"/>
                  <a:ea typeface="+mn-ea"/>
                  <a:cs typeface="+mn-cs"/>
                </a:rPr>
              </a:br>
              <a:r>
                <a:rPr lang="en-US" sz="1500" dirty="0">
                  <a:solidFill>
                    <a:schemeClr val="dk1"/>
                  </a:solidFill>
                  <a:latin typeface="+mn-lt"/>
                  <a:ea typeface="+mn-ea"/>
                  <a:cs typeface="+mn-cs"/>
                </a:rPr>
                <a:t>participation. Range confirms an</a:t>
              </a:r>
              <a:br>
                <a:rPr lang="en-US" sz="1500" dirty="0">
                  <a:solidFill>
                    <a:schemeClr val="dk1"/>
                  </a:solidFill>
                  <a:latin typeface="+mn-lt"/>
                  <a:ea typeface="+mn-ea"/>
                  <a:cs typeface="+mn-cs"/>
                </a:rPr>
              </a:br>
              <a:r>
                <a:rPr lang="en-US" sz="1500" dirty="0">
                  <a:solidFill>
                    <a:schemeClr val="dk1"/>
                  </a:solidFill>
                  <a:latin typeface="+mn-lt"/>
                  <a:ea typeface="+mn-ea"/>
                  <a:cs typeface="+mn-cs"/>
                </a:rPr>
                <a:t>owner and separate reviewer. Kepler</a:t>
              </a:r>
              <a:br>
                <a:rPr lang="en-US" sz="1500" dirty="0">
                  <a:solidFill>
                    <a:schemeClr val="dk1"/>
                  </a:solidFill>
                  <a:latin typeface="+mn-lt"/>
                  <a:ea typeface="+mn-ea"/>
                  <a:cs typeface="+mn-cs"/>
                </a:rPr>
              </a:br>
              <a:r>
                <a:rPr lang="en-US" sz="1500" dirty="0">
                  <a:solidFill>
                    <a:schemeClr val="dk1"/>
                  </a:solidFill>
                  <a:latin typeface="+mn-lt"/>
                  <a:ea typeface="+mn-ea"/>
                  <a:cs typeface="+mn-cs"/>
                </a:rPr>
                <a:t>retains final post-processing.</a:t>
              </a:r>
              <a:br>
                <a:rPr lang="en-US" sz="1500" dirty="0">
                  <a:solidFill>
                    <a:schemeClr val="dk1"/>
                  </a:solidFill>
                  <a:latin typeface="+mn-lt"/>
                  <a:ea typeface="+mn-ea"/>
                  <a:cs typeface="+mn-cs"/>
                </a:rPr>
              </a:br>
              <a:r>
                <a:rPr lang="en-US" sz="1500" dirty="0">
                  <a:solidFill>
                    <a:schemeClr val="dk1"/>
                  </a:solidFill>
                  <a:latin typeface="+mn-lt"/>
                  <a:ea typeface="+mn-ea"/>
                  <a:cs typeface="+mn-cs"/>
                </a:rPr>
                <a:t>Vanguard’s</a:t>
              </a:r>
              <a:br>
                <a:rPr lang="en-US" sz="1500" dirty="0">
                  <a:solidFill>
                    <a:schemeClr val="dk1"/>
                  </a:solidFill>
                  <a:latin typeface="+mn-lt"/>
                  <a:ea typeface="+mn-ea"/>
                  <a:cs typeface="+mn-cs"/>
                </a:rPr>
              </a:br>
              <a:r>
                <a:rPr lang="en-US" sz="1500" dirty="0">
                  <a:solidFill>
                    <a:schemeClr val="dk1"/>
                  </a:solidFill>
                  <a:latin typeface="+mn-lt"/>
                  <a:ea typeface="+mn-ea"/>
                  <a:cs typeface="+mn-cs"/>
                </a:rPr>
                <a:t>seven-days-to-fifteen-minutes title</a:t>
              </a:r>
              <a:br>
                <a:rPr lang="en-US" sz="1500" dirty="0">
                  <a:solidFill>
                    <a:schemeClr val="dk1"/>
                  </a:solidFill>
                  <a:latin typeface="+mn-lt"/>
                  <a:ea typeface="+mn-ea"/>
                  <a:cs typeface="+mn-cs"/>
                </a:rPr>
              </a:br>
              <a:r>
                <a:rPr lang="en-US" sz="1500" dirty="0">
                  <a:solidFill>
                    <a:schemeClr val="dk1"/>
                  </a:solidFill>
                  <a:latin typeface="+mn-lt"/>
                  <a:ea typeface="+mn-ea"/>
                  <a:cs typeface="+mn-cs"/>
                </a:rPr>
                <a:t>concerns mainframe-code research,</a:t>
              </a:r>
              <a:br>
                <a:rPr lang="en-US" sz="1500" dirty="0">
                  <a:solidFill>
                    <a:schemeClr val="dk1"/>
                  </a:solidFill>
                  <a:latin typeface="+mn-lt"/>
                  <a:ea typeface="+mn-ea"/>
                  <a:cs typeface="+mn-cs"/>
                </a:rPr>
              </a:br>
              <a:r>
                <a:rPr lang="en-US" sz="1500" dirty="0">
                  <a:solidFill>
                    <a:schemeClr val="dk1"/>
                  </a:solidFill>
                  <a:latin typeface="+mn-lt"/>
                  <a:ea typeface="+mn-ea"/>
                  <a:cs typeface="+mn-cs"/>
                </a:rPr>
                <a:t>not investment research.</a:t>
              </a:r>
            </a:p>
          </p:txBody>
        </p:sp>
      </p:grpSp>
      <p:grpSp>
        <p:nvGrpSpPr>
          <p:cNvPr id="11" name="analysis-2"/>
          <p:cNvGrpSpPr/>
          <p:nvPr/>
        </p:nvGrpSpPr>
        <p:grpSpPr>
          <a:xfrm>
            <a:off x="4296156" y="1895475"/>
            <a:ext cx="2971571" cy="2979420"/>
            <a:chOff x="4296156" y="1895475"/>
            <a:chExt cx="2971571" cy="2979420"/>
          </a:xfrm>
        </p:grpSpPr>
        <p:sp>
          <p:nvSpPr>
            <p:cNvPr id="9" name="TextBox 9"/>
            <p:cNvSpPr txBox="1"/>
            <p:nvPr/>
          </p:nvSpPr>
          <p:spPr>
            <a:xfrm>
              <a:off x="4296156" y="1895475"/>
              <a:ext cx="254051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Keep editions separate</a:t>
              </a:r>
            </a:p>
          </p:txBody>
        </p:sp>
        <p:sp>
          <p:nvSpPr>
            <p:cNvPr id="10" name="TextBox 10"/>
            <p:cNvSpPr txBox="1"/>
            <p:nvPr/>
          </p:nvSpPr>
          <p:spPr>
            <a:xfrm>
              <a:off x="4297680" y="2524125"/>
              <a:ext cx="2970047"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Ryan Stevens’s written Ramp</a:t>
              </a:r>
              <a:br>
                <a:rPr lang="en-US" sz="1500" dirty="0">
                  <a:solidFill>
                    <a:schemeClr val="dk1"/>
                  </a:solidFill>
                  <a:latin typeface="+mn-lt"/>
                  <a:ea typeface="+mn-ea"/>
                  <a:cs typeface="+mn-cs"/>
                </a:rPr>
              </a:br>
              <a:r>
                <a:rPr lang="en-US" sz="1500" dirty="0">
                  <a:solidFill>
                    <a:schemeClr val="dk1"/>
                  </a:solidFill>
                  <a:latin typeface="+mn-lt"/>
                  <a:ea typeface="+mn-ea"/>
                  <a:cs typeface="+mn-cs"/>
                </a:rPr>
                <a:t>evaluation account differs from</a:t>
              </a:r>
              <a:br>
                <a:rPr lang="en-US" sz="1500" dirty="0">
                  <a:solidFill>
                    <a:schemeClr val="dk1"/>
                  </a:solidFill>
                  <a:latin typeface="+mn-lt"/>
                  <a:ea typeface="+mn-ea"/>
                  <a:cs typeface="+mn-cs"/>
                </a:rPr>
              </a:br>
              <a:r>
                <a:rPr lang="en-US" sz="1500" dirty="0">
                  <a:solidFill>
                    <a:schemeClr val="dk1"/>
                  </a:solidFill>
                  <a:latin typeface="+mn-lt"/>
                  <a:ea typeface="+mn-ea"/>
                  <a:cs typeface="+mn-cs"/>
                </a:rPr>
                <a:t>Alexander Shevchenko’s keynote.</a:t>
              </a:r>
              <a:br>
                <a:rPr lang="en-US" sz="1500" dirty="0">
                  <a:solidFill>
                    <a:schemeClr val="dk1"/>
                  </a:solidFill>
                  <a:latin typeface="+mn-lt"/>
                  <a:ea typeface="+mn-ea"/>
                  <a:cs typeface="+mn-cs"/>
                </a:rPr>
              </a:br>
              <a:r>
                <a:rPr lang="en-US" sz="1500" dirty="0">
                  <a:solidFill>
                    <a:schemeClr val="dk1"/>
                  </a:solidFill>
                  <a:latin typeface="+mn-lt"/>
                  <a:ea typeface="+mn-ea"/>
                  <a:cs typeface="+mn-cs"/>
                </a:rPr>
                <a:t>Kepler’s attended breakout and</a:t>
              </a:r>
              <a:br>
                <a:rPr lang="en-US" sz="1500" dirty="0">
                  <a:solidFill>
                    <a:schemeClr val="dk1"/>
                  </a:solidFill>
                  <a:latin typeface="+mn-lt"/>
                  <a:ea typeface="+mn-ea"/>
                  <a:cs typeface="+mn-cs"/>
                </a:rPr>
              </a:br>
              <a:r>
                <a:rPr lang="en-US" sz="1500" dirty="0">
                  <a:solidFill>
                    <a:schemeClr val="dk1"/>
                  </a:solidFill>
                  <a:latin typeface="+mn-lt"/>
                  <a:ea typeface="+mn-ea"/>
                  <a:cs typeface="+mn-cs"/>
                </a:rPr>
                <a:t>next-day follow-up are different</a:t>
              </a:r>
              <a:br>
                <a:rPr lang="en-US" sz="1500" dirty="0">
                  <a:solidFill>
                    <a:schemeClr val="dk1"/>
                  </a:solidFill>
                  <a:latin typeface="+mn-lt"/>
                  <a:ea typeface="+mn-ea"/>
                  <a:cs typeface="+mn-cs"/>
                </a:rPr>
              </a:br>
              <a:r>
                <a:rPr lang="en-US" sz="1500" dirty="0">
                  <a:solidFill>
                    <a:schemeClr val="dk1"/>
                  </a:solidFill>
                  <a:latin typeface="+mn-lt"/>
                  <a:ea typeface="+mn-ea"/>
                  <a:cs typeface="+mn-cs"/>
                </a:rPr>
                <a:t>editions. Range’s online index</a:t>
              </a:r>
              <a:br>
                <a:rPr lang="en-US" sz="1500" dirty="0">
                  <a:solidFill>
                    <a:schemeClr val="dk1"/>
                  </a:solidFill>
                  <a:latin typeface="+mn-lt"/>
                  <a:ea typeface="+mn-ea"/>
                  <a:cs typeface="+mn-cs"/>
                </a:rPr>
              </a:br>
              <a:r>
                <a:rPr lang="en-US" sz="1500" dirty="0">
                  <a:solidFill>
                    <a:schemeClr val="dk1"/>
                  </a:solidFill>
                  <a:latin typeface="+mn-lt"/>
                  <a:ea typeface="+mn-ea"/>
                  <a:cs typeface="+mn-cs"/>
                </a:rPr>
                <a:t>label is October 13; attended notes</a:t>
              </a:r>
              <a:br>
                <a:rPr lang="en-US" sz="1500" dirty="0">
                  <a:solidFill>
                    <a:schemeClr val="dk1"/>
                  </a:solidFill>
                  <a:latin typeface="+mn-lt"/>
                  <a:ea typeface="+mn-ea"/>
                  <a:cs typeface="+mn-cs"/>
                </a:rPr>
              </a:br>
              <a:r>
                <a:rPr lang="en-US" sz="1500" dirty="0">
                  <a:solidFill>
                    <a:schemeClr val="dk1"/>
                  </a:solidFill>
                  <a:latin typeface="+mn-lt"/>
                  <a:ea typeface="+mn-ea"/>
                  <a:cs typeface="+mn-cs"/>
                </a:rPr>
                <a:t>remain Day 2. An index label is not</a:t>
              </a:r>
              <a:br>
                <a:rPr lang="en-US" sz="1500" dirty="0">
                  <a:solidFill>
                    <a:schemeClr val="dk1"/>
                  </a:solidFill>
                  <a:latin typeface="+mn-lt"/>
                  <a:ea typeface="+mn-ea"/>
                  <a:cs typeface="+mn-cs"/>
                </a:rPr>
              </a:br>
              <a:r>
                <a:rPr lang="en-US" sz="1500" dirty="0">
                  <a:solidFill>
                    <a:schemeClr val="dk1"/>
                  </a:solidFill>
                  <a:latin typeface="+mn-lt"/>
                  <a:ea typeface="+mn-ea"/>
                  <a:cs typeface="+mn-cs"/>
                </a:rPr>
                <a:t>a filming date.</a:t>
              </a:r>
            </a:p>
          </p:txBody>
        </p:sp>
      </p:grpSp>
      <p:grpSp>
        <p:nvGrpSpPr>
          <p:cNvPr id="14" name="analysis-3"/>
          <p:cNvGrpSpPr/>
          <p:nvPr/>
        </p:nvGrpSpPr>
        <p:grpSpPr>
          <a:xfrm>
            <a:off x="8144256" y="1895475"/>
            <a:ext cx="2950083" cy="3236595"/>
            <a:chOff x="8144256" y="1895475"/>
            <a:chExt cx="2950083" cy="3236595"/>
          </a:xfrm>
        </p:grpSpPr>
        <p:sp>
          <p:nvSpPr>
            <p:cNvPr id="12" name="TextBox 12"/>
            <p:cNvSpPr txBox="1"/>
            <p:nvPr/>
          </p:nvSpPr>
          <p:spPr>
            <a:xfrm>
              <a:off x="8144256" y="1895475"/>
              <a:ext cx="106900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Still open</a:t>
              </a:r>
            </a:p>
          </p:txBody>
        </p:sp>
        <p:sp>
          <p:nvSpPr>
            <p:cNvPr id="13" name="TextBox 13"/>
            <p:cNvSpPr txBox="1"/>
            <p:nvPr/>
          </p:nvSpPr>
          <p:spPr>
            <a:xfrm>
              <a:off x="8145780" y="2524125"/>
              <a:ext cx="2948559"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Banking affiliation and</a:t>
              </a:r>
              <a:br>
                <a:rPr lang="en-US" sz="1500" dirty="0">
                  <a:solidFill>
                    <a:schemeClr val="dk1"/>
                  </a:solidFill>
                  <a:latin typeface="+mn-lt"/>
                  <a:ea typeface="+mn-ea"/>
                  <a:cs typeface="+mn-cs"/>
                </a:rPr>
              </a:br>
              <a:r>
                <a:rPr lang="en-US" sz="1500" dirty="0">
                  <a:solidFill>
                    <a:schemeClr val="dk1"/>
                  </a:solidFill>
                  <a:latin typeface="+mn-lt"/>
                  <a:ea typeface="+mn-ea"/>
                  <a:cs typeface="+mn-cs"/>
                </a:rPr>
                <a:t>“roundedness,” provider spelling,</a:t>
              </a:r>
              <a:br>
                <a:rPr lang="en-US" sz="1500" dirty="0">
                  <a:solidFill>
                    <a:schemeClr val="dk1"/>
                  </a:solidFill>
                  <a:latin typeface="+mn-lt"/>
                  <a:ea typeface="+mn-ea"/>
                  <a:cs typeface="+mn-cs"/>
                </a:rPr>
              </a:br>
              <a:r>
                <a:rPr lang="en-US" sz="1500" dirty="0">
                  <a:solidFill>
                    <a:schemeClr val="dk1"/>
                  </a:solidFill>
                  <a:latin typeface="+mn-lt"/>
                  <a:ea typeface="+mn-ea"/>
                  <a:cs typeface="+mn-cs"/>
                </a:rPr>
                <a:t>exact breakout retrieval defaults</a:t>
              </a:r>
              <a:br>
                <a:rPr lang="en-US" sz="1500" dirty="0">
                  <a:solidFill>
                    <a:schemeClr val="dk1"/>
                  </a:solidFill>
                  <a:latin typeface="+mn-lt"/>
                  <a:ea typeface="+mn-ea"/>
                  <a:cs typeface="+mn-cs"/>
                </a:rPr>
              </a:br>
              <a:r>
                <a:rPr lang="en-US" sz="1500" dirty="0">
                  <a:solidFill>
                    <a:schemeClr val="dk1"/>
                  </a:solidFill>
                  <a:latin typeface="+mn-lt"/>
                  <a:ea typeface="+mn-ea"/>
                  <a:cs typeface="+mn-cs"/>
                </a:rPr>
                <a:t>and several result denominators</a:t>
              </a:r>
              <a:br>
                <a:rPr lang="en-US" sz="1500" dirty="0">
                  <a:solidFill>
                    <a:schemeClr val="dk1"/>
                  </a:solidFill>
                  <a:latin typeface="+mn-lt"/>
                  <a:ea typeface="+mn-ea"/>
                  <a:cs typeface="+mn-cs"/>
                </a:rPr>
              </a:br>
              <a:r>
                <a:rPr lang="en-US" sz="1500" dirty="0">
                  <a:solidFill>
                    <a:schemeClr val="dk1"/>
                  </a:solidFill>
                  <a:latin typeface="+mn-lt"/>
                  <a:ea typeface="+mn-ea"/>
                  <a:cs typeface="+mn-cs"/>
                </a:rPr>
                <a:t>remain unresolved. Do not turn the</a:t>
              </a:r>
              <a:br>
                <a:rPr lang="en-US" sz="1500" dirty="0">
                  <a:solidFill>
                    <a:schemeClr val="dk1"/>
                  </a:solidFill>
                  <a:latin typeface="+mn-lt"/>
                  <a:ea typeface="+mn-ea"/>
                  <a:cs typeface="+mn-cs"/>
                </a:rPr>
              </a:br>
              <a:r>
                <a:rPr lang="en-US" sz="1500" dirty="0">
                  <a:solidFill>
                    <a:schemeClr val="dk1"/>
                  </a:solidFill>
                  <a:latin typeface="+mn-lt"/>
                  <a:ea typeface="+mn-ea"/>
                  <a:cs typeface="+mn-cs"/>
                </a:rPr>
                <a:t>confidence metaphor or incident</a:t>
              </a:r>
              <a:br>
                <a:rPr lang="en-US" sz="1500" dirty="0">
                  <a:solidFill>
                    <a:schemeClr val="dk1"/>
                  </a:solidFill>
                  <a:latin typeface="+mn-lt"/>
                  <a:ea typeface="+mn-ea"/>
                  <a:cs typeface="+mn-cs"/>
                </a:rPr>
              </a:br>
              <a:r>
                <a:rPr lang="en-US" sz="1500" dirty="0">
                  <a:solidFill>
                    <a:schemeClr val="dk1"/>
                  </a:solidFill>
                  <a:latin typeface="+mn-lt"/>
                  <a:ea typeface="+mn-ea"/>
                  <a:cs typeface="+mn-cs"/>
                </a:rPr>
                <a:t>coverage into a calibrated</a:t>
              </a:r>
              <a:br>
                <a:rPr lang="en-US" sz="1500" dirty="0">
                  <a:solidFill>
                    <a:schemeClr val="dk1"/>
                  </a:solidFill>
                  <a:latin typeface="+mn-lt"/>
                  <a:ea typeface="+mn-ea"/>
                  <a:cs typeface="+mn-cs"/>
                </a:rPr>
              </a:br>
              <a:r>
                <a:rPr lang="en-US" sz="1500" dirty="0">
                  <a:solidFill>
                    <a:schemeClr val="dk1"/>
                  </a:solidFill>
                  <a:latin typeface="+mn-lt"/>
                  <a:ea typeface="+mn-ea"/>
                  <a:cs typeface="+mn-cs"/>
                </a:rPr>
                <a:t>assurance or incidence estimate.</a:t>
              </a:r>
              <a:br>
                <a:rPr lang="en-US" sz="1500" dirty="0">
                  <a:solidFill>
                    <a:schemeClr val="dk1"/>
                  </a:solidFill>
                  <a:latin typeface="+mn-lt"/>
                  <a:ea typeface="+mn-ea"/>
                  <a:cs typeface="+mn-cs"/>
                </a:rPr>
              </a:br>
              <a:r>
                <a:rPr lang="en-US" sz="1500" dirty="0">
                  <a:solidFill>
                    <a:schemeClr val="dk1"/>
                  </a:solidFill>
                  <a:latin typeface="+mn-lt"/>
                  <a:ea typeface="+mn-ea"/>
                  <a:cs typeface="+mn-cs"/>
                </a:rPr>
                <a:t>Ask for the workload, population</a:t>
              </a:r>
              <a:br>
                <a:rPr lang="en-US" sz="1500" dirty="0">
                  <a:solidFill>
                    <a:schemeClr val="dk1"/>
                  </a:solidFill>
                  <a:latin typeface="+mn-lt"/>
                  <a:ea typeface="+mn-ea"/>
                  <a:cs typeface="+mn-cs"/>
                </a:rPr>
              </a:br>
              <a:r>
                <a:rPr lang="en-US" sz="1500" dirty="0">
                  <a:solidFill>
                    <a:schemeClr val="dk1"/>
                  </a:solidFill>
                  <a:latin typeface="+mn-lt"/>
                  <a:ea typeface="+mn-ea"/>
                  <a:cs typeface="+mn-cs"/>
                </a:rPr>
                <a:t>and comparison needed.</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662337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AIE NYC recordings, original notes, primary written follow-up and dated disclosures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36 / 37</a:t>
              </a:r>
            </a:p>
          </p:txBody>
        </p:sp>
      </p:grpSp>
    </p:spTree>
  </p:cSld>
  <p:clrMapOvr>
    <a:masterClrMapping/>
  </p:clrMapOvr>
  <p:transition xmlns:p14="http://schemas.microsoft.com/office/powerpoint/2010/main" p14:dur="400">
    <p:fade/>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026545" cy="1364107"/>
            <a:chOff x="443484" y="361950"/>
            <a:chExt cx="9026545" cy="1364107"/>
          </a:xfrm>
        </p:grpSpPr>
        <p:sp>
          <p:nvSpPr>
            <p:cNvPr id="2" name="TextBox 2"/>
            <p:cNvSpPr txBox="1"/>
            <p:nvPr/>
          </p:nvSpPr>
          <p:spPr>
            <a:xfrm>
              <a:off x="451104" y="361950"/>
              <a:ext cx="297106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REFERENCE / RECORDING REVIEW</a:t>
              </a:r>
            </a:p>
          </p:txBody>
        </p:sp>
        <p:sp>
          <p:nvSpPr>
            <p:cNvPr id="3" name="TextBox 3"/>
            <p:cNvSpPr txBox="1"/>
            <p:nvPr/>
          </p:nvSpPr>
          <p:spPr>
            <a:xfrm>
              <a:off x="443484" y="593725"/>
              <a:ext cx="8758989"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Follow the source, its date and its evidence boundary</a:t>
              </a:r>
            </a:p>
          </p:txBody>
        </p:sp>
        <p:sp>
          <p:nvSpPr>
            <p:cNvPr id="4" name="TextBox 4"/>
            <p:cNvSpPr txBox="1"/>
            <p:nvPr/>
          </p:nvSpPr>
          <p:spPr>
            <a:xfrm>
              <a:off x="448818" y="1127125"/>
              <a:ext cx="9021211"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Screened 90 uploads; inspected 50 official descriptions and selected transcripts from 52 archived</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sessions.</a:t>
              </a:r>
            </a:p>
          </p:txBody>
        </p:sp>
      </p:grpSp>
      <p:grpSp>
        <p:nvGrpSpPr>
          <p:cNvPr id="21" name="source-links-0"/>
          <p:cNvGrpSpPr/>
          <p:nvPr/>
        </p:nvGrpSpPr>
        <p:grpSpPr>
          <a:xfrm>
            <a:off x="450342" y="1739900"/>
            <a:ext cx="2897737" cy="3864483"/>
            <a:chOff x="450342" y="1739900"/>
            <a:chExt cx="2897737" cy="3864483"/>
          </a:xfrm>
        </p:grpSpPr>
        <p:sp>
          <p:nvSpPr>
            <p:cNvPr id="6" name="TextBox 6">
              <a:hlinkClick r:id="rId2"/>
            </p:cNvPr>
            <p:cNvSpPr txBox="1"/>
            <p:nvPr/>
          </p:nvSpPr>
          <p:spPr>
            <a:xfrm>
              <a:off x="450342" y="1739900"/>
              <a:ext cx="988491"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Bridgewater</a:t>
              </a:r>
            </a:p>
          </p:txBody>
        </p:sp>
        <p:sp>
          <p:nvSpPr>
            <p:cNvPr id="7" name="TextBox 7">
              <a:hlinkClick r:id="rId3"/>
            </p:cNvPr>
            <p:cNvSpPr txBox="1"/>
            <p:nvPr/>
          </p:nvSpPr>
          <p:spPr>
            <a:xfrm>
              <a:off x="450342" y="1997075"/>
              <a:ext cx="55535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Range</a:t>
              </a:r>
            </a:p>
          </p:txBody>
        </p:sp>
        <p:sp>
          <p:nvSpPr>
            <p:cNvPr id="8" name="TextBox 8">
              <a:hlinkClick r:id="rId4"/>
            </p:cNvPr>
            <p:cNvSpPr txBox="1"/>
            <p:nvPr/>
          </p:nvSpPr>
          <p:spPr>
            <a:xfrm>
              <a:off x="450342" y="2254250"/>
              <a:ext cx="392692"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Arca</a:t>
              </a:r>
            </a:p>
          </p:txBody>
        </p:sp>
        <p:sp>
          <p:nvSpPr>
            <p:cNvPr id="9" name="TextBox 9">
              <a:hlinkClick r:id="rId5"/>
            </p:cNvPr>
            <p:cNvSpPr txBox="1"/>
            <p:nvPr/>
          </p:nvSpPr>
          <p:spPr>
            <a:xfrm>
              <a:off x="450342" y="2511425"/>
              <a:ext cx="796625"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Perpetual</a:t>
              </a:r>
            </a:p>
          </p:txBody>
        </p:sp>
        <p:sp>
          <p:nvSpPr>
            <p:cNvPr id="10" name="TextBox 10">
              <a:hlinkClick r:id="rId6"/>
            </p:cNvPr>
            <p:cNvSpPr txBox="1"/>
            <p:nvPr/>
          </p:nvSpPr>
          <p:spPr>
            <a:xfrm>
              <a:off x="450342" y="2768600"/>
              <a:ext cx="605310"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Coatue</a:t>
              </a:r>
            </a:p>
          </p:txBody>
        </p:sp>
        <p:sp>
          <p:nvSpPr>
            <p:cNvPr id="11" name="TextBox 11">
              <a:hlinkClick r:id="rId7"/>
            </p:cNvPr>
            <p:cNvSpPr txBox="1"/>
            <p:nvPr/>
          </p:nvSpPr>
          <p:spPr>
            <a:xfrm>
              <a:off x="450342" y="3025775"/>
              <a:ext cx="170224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Blackstone / Norm.ai</a:t>
              </a:r>
            </a:p>
          </p:txBody>
        </p:sp>
        <p:sp>
          <p:nvSpPr>
            <p:cNvPr id="12" name="TextBox 12">
              <a:hlinkClick r:id="rId8"/>
            </p:cNvPr>
            <p:cNvSpPr txBox="1"/>
            <p:nvPr/>
          </p:nvSpPr>
          <p:spPr>
            <a:xfrm>
              <a:off x="450342" y="3282950"/>
              <a:ext cx="2897737"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Apollo / Redding Ridge / Rowspace</a:t>
              </a:r>
            </a:p>
          </p:txBody>
        </p:sp>
        <p:sp>
          <p:nvSpPr>
            <p:cNvPr id="13" name="TextBox 13">
              <a:hlinkClick r:id="rId9"/>
            </p:cNvPr>
            <p:cNvSpPr txBox="1"/>
            <p:nvPr/>
          </p:nvSpPr>
          <p:spPr>
            <a:xfrm>
              <a:off x="450342" y="3540125"/>
              <a:ext cx="994186"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Wells Fargo</a:t>
              </a:r>
            </a:p>
          </p:txBody>
        </p:sp>
        <p:sp>
          <p:nvSpPr>
            <p:cNvPr id="14" name="TextBox 14">
              <a:hlinkClick r:id="rId10"/>
            </p:cNvPr>
            <p:cNvSpPr txBox="1"/>
            <p:nvPr/>
          </p:nvSpPr>
          <p:spPr>
            <a:xfrm>
              <a:off x="450342" y="3797300"/>
              <a:ext cx="2390276"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Kepler · October 14 follow-up</a:t>
              </a:r>
            </a:p>
          </p:txBody>
        </p:sp>
        <p:sp>
          <p:nvSpPr>
            <p:cNvPr id="15" name="TextBox 15">
              <a:hlinkClick r:id="rId11"/>
            </p:cNvPr>
            <p:cNvSpPr txBox="1"/>
            <p:nvPr/>
          </p:nvSpPr>
          <p:spPr>
            <a:xfrm>
              <a:off x="450342" y="4054475"/>
              <a:ext cx="2817856"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Kepler · attended breakout release</a:t>
              </a:r>
            </a:p>
          </p:txBody>
        </p:sp>
        <p:sp>
          <p:nvSpPr>
            <p:cNvPr id="16" name="TextBox 16">
              <a:hlinkClick r:id="rId12"/>
            </p:cNvPr>
            <p:cNvSpPr txBox="1"/>
            <p:nvPr/>
          </p:nvSpPr>
          <p:spPr>
            <a:xfrm>
              <a:off x="450342" y="4311650"/>
              <a:ext cx="998940"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Southbridge</a:t>
              </a:r>
            </a:p>
          </p:txBody>
        </p:sp>
        <p:sp>
          <p:nvSpPr>
            <p:cNvPr id="17" name="TextBox 17">
              <a:hlinkClick r:id="rId13"/>
            </p:cNvPr>
            <p:cNvSpPr txBox="1"/>
            <p:nvPr/>
          </p:nvSpPr>
          <p:spPr>
            <a:xfrm>
              <a:off x="450342" y="4568825"/>
              <a:ext cx="143733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Citadel Securities</a:t>
              </a:r>
            </a:p>
          </p:txBody>
        </p:sp>
        <p:sp>
          <p:nvSpPr>
            <p:cNvPr id="18" name="TextBox 18">
              <a:hlinkClick r:id="rId14"/>
            </p:cNvPr>
            <p:cNvSpPr txBox="1"/>
            <p:nvPr/>
          </p:nvSpPr>
          <p:spPr>
            <a:xfrm>
              <a:off x="450342" y="4826000"/>
              <a:ext cx="647465"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OpenAI</a:t>
              </a:r>
            </a:p>
          </p:txBody>
        </p:sp>
        <p:sp>
          <p:nvSpPr>
            <p:cNvPr id="19" name="TextBox 19">
              <a:hlinkClick r:id="rId15"/>
            </p:cNvPr>
            <p:cNvSpPr txBox="1"/>
            <p:nvPr/>
          </p:nvSpPr>
          <p:spPr>
            <a:xfrm>
              <a:off x="450342" y="5083175"/>
              <a:ext cx="1143909"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Compound AI</a:t>
              </a:r>
            </a:p>
          </p:txBody>
        </p:sp>
        <p:sp>
          <p:nvSpPr>
            <p:cNvPr id="20" name="TextBox 20">
              <a:hlinkClick r:id="rId16"/>
            </p:cNvPr>
            <p:cNvSpPr txBox="1"/>
            <p:nvPr/>
          </p:nvSpPr>
          <p:spPr>
            <a:xfrm>
              <a:off x="450342" y="5340350"/>
              <a:ext cx="463167"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Basis</a:t>
              </a:r>
            </a:p>
          </p:txBody>
        </p:sp>
      </p:grpSp>
      <p:grpSp>
        <p:nvGrpSpPr>
          <p:cNvPr id="37" name="source-links-1"/>
          <p:cNvGrpSpPr/>
          <p:nvPr/>
        </p:nvGrpSpPr>
        <p:grpSpPr>
          <a:xfrm>
            <a:off x="6203442" y="1739900"/>
            <a:ext cx="3234377" cy="3864483"/>
            <a:chOff x="6203442" y="1739900"/>
            <a:chExt cx="3234377" cy="3864483"/>
          </a:xfrm>
        </p:grpSpPr>
        <p:sp>
          <p:nvSpPr>
            <p:cNvPr id="22" name="TextBox 22">
              <a:hlinkClick r:id="rId17"/>
            </p:cNvPr>
            <p:cNvSpPr txBox="1"/>
            <p:nvPr/>
          </p:nvSpPr>
          <p:spPr>
            <a:xfrm>
              <a:off x="6203442" y="1739900"/>
              <a:ext cx="317285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Ramp · Ryan Stevens written follow-up</a:t>
              </a:r>
            </a:p>
          </p:txBody>
        </p:sp>
        <p:sp>
          <p:nvSpPr>
            <p:cNvPr id="23" name="TextBox 23">
              <a:hlinkClick r:id="rId18"/>
            </p:cNvPr>
            <p:cNvSpPr txBox="1"/>
            <p:nvPr/>
          </p:nvSpPr>
          <p:spPr>
            <a:xfrm>
              <a:off x="6203442" y="1997075"/>
              <a:ext cx="3234377"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Ramp · Alexander Shevchenko keynote</a:t>
              </a:r>
            </a:p>
          </p:txBody>
        </p:sp>
        <p:sp>
          <p:nvSpPr>
            <p:cNvPr id="24" name="TextBox 24">
              <a:hlinkClick r:id="rId19"/>
            </p:cNvPr>
            <p:cNvSpPr txBox="1"/>
            <p:nvPr/>
          </p:nvSpPr>
          <p:spPr>
            <a:xfrm>
              <a:off x="6203442" y="2254250"/>
              <a:ext cx="605753"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Vals AI</a:t>
              </a:r>
            </a:p>
          </p:txBody>
        </p:sp>
        <p:sp>
          <p:nvSpPr>
            <p:cNvPr id="25" name="TextBox 25">
              <a:hlinkClick r:id="rId20"/>
            </p:cNvPr>
            <p:cNvSpPr txBox="1"/>
            <p:nvPr/>
          </p:nvSpPr>
          <p:spPr>
            <a:xfrm>
              <a:off x="6203442" y="2511425"/>
              <a:ext cx="1959234"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Arize · Sofia Jakovcevic</a:t>
              </a:r>
            </a:p>
          </p:txBody>
        </p:sp>
        <p:sp>
          <p:nvSpPr>
            <p:cNvPr id="26" name="TextBox 26">
              <a:hlinkClick r:id="rId21"/>
            </p:cNvPr>
            <p:cNvSpPr txBox="1"/>
            <p:nvPr/>
          </p:nvSpPr>
          <p:spPr>
            <a:xfrm>
              <a:off x="6203442" y="2768600"/>
              <a:ext cx="2380394"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Air Canada · Nathanael Weill</a:t>
              </a:r>
            </a:p>
          </p:txBody>
        </p:sp>
        <p:sp>
          <p:nvSpPr>
            <p:cNvPr id="27" name="TextBox 27">
              <a:hlinkClick r:id="rId22"/>
            </p:cNvPr>
            <p:cNvSpPr txBox="1"/>
            <p:nvPr/>
          </p:nvSpPr>
          <p:spPr>
            <a:xfrm>
              <a:off x="6203442" y="3025775"/>
              <a:ext cx="787061"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Coinbase</a:t>
              </a:r>
            </a:p>
          </p:txBody>
        </p:sp>
        <p:sp>
          <p:nvSpPr>
            <p:cNvPr id="28" name="TextBox 28">
              <a:hlinkClick r:id="rId23"/>
            </p:cNvPr>
            <p:cNvSpPr txBox="1"/>
            <p:nvPr/>
          </p:nvSpPr>
          <p:spPr>
            <a:xfrm>
              <a:off x="6203442" y="3282950"/>
              <a:ext cx="935555"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Two Sigma</a:t>
              </a:r>
            </a:p>
          </p:txBody>
        </p:sp>
        <p:sp>
          <p:nvSpPr>
            <p:cNvPr id="29" name="TextBox 29">
              <a:hlinkClick r:id="rId24"/>
            </p:cNvPr>
            <p:cNvSpPr txBox="1"/>
            <p:nvPr/>
          </p:nvSpPr>
          <p:spPr>
            <a:xfrm>
              <a:off x="6203442" y="3540125"/>
              <a:ext cx="1543919"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Intuit Credit Karma</a:t>
              </a:r>
            </a:p>
          </p:txBody>
        </p:sp>
        <p:sp>
          <p:nvSpPr>
            <p:cNvPr id="30" name="TextBox 30">
              <a:hlinkClick r:id="rId25"/>
            </p:cNvPr>
            <p:cNvSpPr txBox="1"/>
            <p:nvPr/>
          </p:nvSpPr>
          <p:spPr>
            <a:xfrm>
              <a:off x="6203442" y="3797300"/>
              <a:ext cx="898160"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Bloomberg</a:t>
              </a:r>
            </a:p>
          </p:txBody>
        </p:sp>
        <p:sp>
          <p:nvSpPr>
            <p:cNvPr id="31" name="TextBox 31">
              <a:hlinkClick r:id="rId26"/>
            </p:cNvPr>
            <p:cNvSpPr txBox="1"/>
            <p:nvPr/>
          </p:nvSpPr>
          <p:spPr>
            <a:xfrm>
              <a:off x="6203442" y="4054475"/>
              <a:ext cx="2172659"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Arize · Aparna Dhinakaran</a:t>
              </a:r>
            </a:p>
          </p:txBody>
        </p:sp>
        <p:sp>
          <p:nvSpPr>
            <p:cNvPr id="32" name="TextBox 32">
              <a:hlinkClick r:id="rId27"/>
            </p:cNvPr>
            <p:cNvSpPr txBox="1"/>
            <p:nvPr/>
          </p:nvSpPr>
          <p:spPr>
            <a:xfrm>
              <a:off x="6203442" y="4311650"/>
              <a:ext cx="504190"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Sonar</a:t>
              </a:r>
            </a:p>
          </p:txBody>
        </p:sp>
        <p:sp>
          <p:nvSpPr>
            <p:cNvPr id="33" name="TextBox 33">
              <a:hlinkClick r:id="rId28"/>
            </p:cNvPr>
            <p:cNvSpPr txBox="1"/>
            <p:nvPr/>
          </p:nvSpPr>
          <p:spPr>
            <a:xfrm>
              <a:off x="6203442" y="4568825"/>
              <a:ext cx="984334"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Capital One</a:t>
              </a:r>
            </a:p>
          </p:txBody>
        </p:sp>
        <p:sp>
          <p:nvSpPr>
            <p:cNvPr id="34" name="TextBox 34">
              <a:hlinkClick r:id="rId29"/>
            </p:cNvPr>
            <p:cNvSpPr txBox="1"/>
            <p:nvPr/>
          </p:nvSpPr>
          <p:spPr>
            <a:xfrm>
              <a:off x="6203442" y="4826000"/>
              <a:ext cx="1566411"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Arize · Laurie Voss</a:t>
              </a:r>
            </a:p>
          </p:txBody>
        </p:sp>
        <p:sp>
          <p:nvSpPr>
            <p:cNvPr id="35" name="TextBox 35">
              <a:hlinkClick r:id="rId30"/>
            </p:cNvPr>
            <p:cNvSpPr txBox="1"/>
            <p:nvPr/>
          </p:nvSpPr>
          <p:spPr>
            <a:xfrm>
              <a:off x="6203442" y="5083175"/>
              <a:ext cx="664184"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Jellyfish</a:t>
              </a:r>
            </a:p>
          </p:txBody>
        </p:sp>
        <p:sp>
          <p:nvSpPr>
            <p:cNvPr id="36" name="TextBox 36">
              <a:hlinkClick r:id="rId31"/>
            </p:cNvPr>
            <p:cNvSpPr txBox="1"/>
            <p:nvPr/>
          </p:nvSpPr>
          <p:spPr>
            <a:xfrm>
              <a:off x="6203442" y="5340350"/>
              <a:ext cx="2550303"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DeepMind / Kaggle / LinqAlpha</a:t>
              </a:r>
            </a:p>
          </p:txBody>
        </p:sp>
      </p:grpSp>
      <p:grpSp>
        <p:nvGrpSpPr>
          <p:cNvPr id="39" name="evidence-scope"/>
          <p:cNvGrpSpPr/>
          <p:nvPr/>
        </p:nvGrpSpPr>
        <p:grpSpPr>
          <a:xfrm>
            <a:off x="451104" y="5905500"/>
            <a:ext cx="9016807" cy="434721"/>
            <a:chOff x="451104" y="5905500"/>
            <a:chExt cx="9016807" cy="434721"/>
          </a:xfrm>
        </p:grpSpPr>
        <p:sp>
          <p:nvSpPr>
            <p:cNvPr id="38" name="TextBox 38"/>
            <p:cNvSpPr txBox="1"/>
            <p:nvPr/>
          </p:nvSpPr>
          <p:spPr>
            <a:xfrm>
              <a:off x="451104" y="5905500"/>
              <a:ext cx="9016807" cy="434721"/>
            </a:xfrm>
            <a:prstGeom prst="rect">
              <a:avLst/>
            </a:prstGeom>
            <a:noFill/>
            <a:ln>
              <a:noFill/>
            </a:ln>
          </p:spPr>
          <p:txBody>
            <a:bodyPr wrap="none" lIns="0" tIns="0" rIns="0" bIns="0" anchor="t" anchorCtr="0">
              <a:spAutoFit/>
            </a:bodyPr>
            <a:lstStyle/>
            <a:p>
              <a:pPr algn="l">
                <a:lnSpc>
                  <a:spcPts val="1575"/>
                </a:lnSpc>
              </a:pPr>
              <a:r>
                <a:rPr lang="en-US" sz="1200" dirty="0">
                  <a:solidFill>
                    <a:schemeClr val="accent5"/>
                  </a:solidFill>
                  <a:latin typeface="+mn-lt"/>
                  <a:ea typeface="+mn-ea"/>
                  <a:cs typeface="+mn-cs"/>
                </a:rPr>
                <a:t>Links lead to original sources. Descriptions are not transcripts; company results are attributed accounts. Historical disclosures and the</a:t>
              </a:r>
              <a:br>
                <a:rPr lang="en-US" sz="1200" dirty="0">
                  <a:solidFill>
                    <a:schemeClr val="accent5"/>
                  </a:solidFill>
                  <a:latin typeface="+mn-lt"/>
                  <a:ea typeface="+mn-ea"/>
                  <a:cs typeface="+mn-cs"/>
                </a:rPr>
              </a:br>
              <a:r>
                <a:rPr lang="en-US" sz="1200" dirty="0">
                  <a:solidFill>
                    <a:schemeClr val="accent5"/>
                  </a:solidFill>
                  <a:latin typeface="+mn-lt"/>
                  <a:ea typeface="+mn-ea"/>
                  <a:cs typeface="+mn-cs"/>
                </a:rPr>
                <a:t>metric paper remain linked in the reading edition and notes.</a:t>
              </a:r>
            </a:p>
          </p:txBody>
        </p:sp>
      </p:grpSp>
      <p:grpSp>
        <p:nvGrpSpPr>
          <p:cNvPr id="42" name="footer"/>
          <p:cNvGrpSpPr/>
          <p:nvPr/>
        </p:nvGrpSpPr>
        <p:grpSpPr>
          <a:xfrm>
            <a:off x="452438" y="6477000"/>
            <a:ext cx="11287124" cy="176212"/>
            <a:chOff x="452438" y="6477000"/>
            <a:chExt cx="11287124" cy="176212"/>
          </a:xfrm>
        </p:grpSpPr>
        <p:sp>
          <p:nvSpPr>
            <p:cNvPr id="40" name="TextBox 40"/>
            <p:cNvSpPr txBox="1"/>
            <p:nvPr/>
          </p:nvSpPr>
          <p:spPr>
            <a:xfrm>
              <a:off x="452438" y="6477000"/>
              <a:ext cx="662337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AIE NYC recordings, original notes, primary written follow-up and dated disclosures | Reviewed October 25, 2026</a:t>
              </a:r>
            </a:p>
          </p:txBody>
        </p:sp>
        <p:sp>
          <p:nvSpPr>
            <p:cNvPr id="41" name="TextBox 41"/>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37 / 37</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ai-engineer-conference-takeaways">
  <a:themeElements>
    <a:clrScheme name="ai-engineer-conference-takeaways">
      <a:dk1>
        <a:srgbClr val="132F3B"/>
      </a:dk1>
      <a:lt1>
        <a:srgbClr val="FFFDF7"/>
      </a:lt1>
      <a:dk2>
        <a:srgbClr val="1F497D"/>
      </a:dk2>
      <a:lt2>
        <a:srgbClr val="E7F0EA"/>
      </a:lt2>
      <a:accent1>
        <a:srgbClr val="102E3A"/>
      </a:accent1>
      <a:accent2>
        <a:srgbClr val="075E52"/>
      </a:accent2>
      <a:accent3>
        <a:srgbClr val="D5EF8C"/>
      </a:accent3>
      <a:accent4>
        <a:srgbClr val="102E3A"/>
      </a:accent4>
      <a:accent5>
        <a:srgbClr val="50616A"/>
      </a:accent5>
      <a:accent6>
        <a:srgbClr val="CBD4D1"/>
      </a:accent6>
      <a:hlink>
        <a:srgbClr val="075E52"/>
      </a:hlink>
      <a:folHlink>
        <a:srgbClr val="D5EF8C"/>
      </a:folHlink>
    </a:clrScheme>
    <a:fontScheme name="ai-engineer-conference-takeaways">
      <a:majorFont>
        <a:latin typeface="Cambria"/>
        <a:ea typeface="SimSun"/>
        <a:cs typeface="Cambr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i-engineer-conference-takeaway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ai-engineer-conference-takeaways">
  <a:themeElements>
    <a:clrScheme name="ai-engineer-conference-takeaways">
      <a:dk1>
        <a:srgbClr val="132F3B"/>
      </a:dk1>
      <a:lt1>
        <a:srgbClr val="FFFDF7"/>
      </a:lt1>
      <a:dk2>
        <a:srgbClr val="1F497D"/>
      </a:dk2>
      <a:lt2>
        <a:srgbClr val="E7F0EA"/>
      </a:lt2>
      <a:accent1>
        <a:srgbClr val="102E3A"/>
      </a:accent1>
      <a:accent2>
        <a:srgbClr val="075E52"/>
      </a:accent2>
      <a:accent3>
        <a:srgbClr val="D5EF8C"/>
      </a:accent3>
      <a:accent4>
        <a:srgbClr val="102E3A"/>
      </a:accent4>
      <a:accent5>
        <a:srgbClr val="50616A"/>
      </a:accent5>
      <a:accent6>
        <a:srgbClr val="CBD4D1"/>
      </a:accent6>
      <a:hlink>
        <a:srgbClr val="075E52"/>
      </a:hlink>
      <a:folHlink>
        <a:srgbClr val="D5EF8C"/>
      </a:folHlink>
    </a:clrScheme>
    <a:fontScheme name="ai-engineer-conference-takeaways">
      <a:majorFont>
        <a:latin typeface="Cambria"/>
        <a:ea typeface="SimSun"/>
        <a:cs typeface="Cambr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i-engineer-conference-takeaway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37</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en-US</dc:language>
  <cp:lastModifiedBy/>
  <cp:revision>1</cp:revision>
  <dcterms:created xsi:type="dcterms:W3CDTF">2026-10-25T18:16:38Z</dcterms:created>
  <dcterms:modified xsi:type="dcterms:W3CDTF">2026-10-25T18:16:38Z</dcterms:modified>
  <cp:category/>
  <cp:contentStatus/>
</cp:coreProperties>
</file>