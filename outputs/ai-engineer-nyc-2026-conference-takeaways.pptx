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44"/>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2000" cy="6858000" type="screen16x9"/>
  <p:notesSz cx="6858000" cy="9144000"/>
  <p:defaultTextStyle>
    <a:defPPr>
      <a:defRPr lang="en-US"/>
    </a:defPPr>
    <a:lvl1pPr marL="0" algn="l" defTabSz="457200" rtl="0" eaLnBrk="1" latinLnBrk="0" hangingPunct="1">
      <a:defRPr sz="1800" kern="1200" lang="en-US">
        <a:solidFill>
          <a:schemeClr val="tx1"/>
        </a:solidFill>
        <a:latin typeface="+mn-lt"/>
        <a:ea typeface="+mn-ea"/>
        <a:cs typeface="+mn-cs"/>
      </a:defRPr>
    </a:lvl1pPr>
    <a:lvl2pPr marL="457200" algn="l" defTabSz="457200" rtl="0" eaLnBrk="1" latinLnBrk="0" hangingPunct="1">
      <a:defRPr sz="1800" kern="1200" lang="en-US">
        <a:solidFill>
          <a:schemeClr val="tx1"/>
        </a:solidFill>
        <a:latin typeface="+mn-lt"/>
        <a:ea typeface="+mn-ea"/>
        <a:cs typeface="+mn-cs"/>
      </a:defRPr>
    </a:lvl2pPr>
    <a:lvl3pPr marL="914400" algn="l" defTabSz="457200" rtl="0" eaLnBrk="1" latinLnBrk="0" hangingPunct="1">
      <a:defRPr sz="1800" kern="1200" lang="en-US">
        <a:solidFill>
          <a:schemeClr val="tx1"/>
        </a:solidFill>
        <a:latin typeface="+mn-lt"/>
        <a:ea typeface="+mn-ea"/>
        <a:cs typeface="+mn-cs"/>
      </a:defRPr>
    </a:lvl3pPr>
    <a:lvl4pPr marL="1371600" algn="l" defTabSz="457200" rtl="0" eaLnBrk="1" latinLnBrk="0" hangingPunct="1">
      <a:defRPr sz="1800" kern="1200" lang="en-US">
        <a:solidFill>
          <a:schemeClr val="tx1"/>
        </a:solidFill>
        <a:latin typeface="+mn-lt"/>
        <a:ea typeface="+mn-ea"/>
        <a:cs typeface="+mn-cs"/>
      </a:defRPr>
    </a:lvl4pPr>
    <a:lvl5pPr marL="1828800" algn="l" defTabSz="457200" rtl="0" eaLnBrk="1" latinLnBrk="0" hangingPunct="1">
      <a:defRPr sz="1800" kern="1200" lang="en-US">
        <a:solidFill>
          <a:schemeClr val="tx1"/>
        </a:solidFill>
        <a:latin typeface="+mn-lt"/>
        <a:ea typeface="+mn-ea"/>
        <a:cs typeface="+mn-cs"/>
      </a:defRPr>
    </a:lvl5pPr>
    <a:lvl6pPr marL="2286000" algn="l" defTabSz="457200" rtl="0" eaLnBrk="1" latinLnBrk="0" hangingPunct="1">
      <a:defRPr sz="1800" kern="1200" lang="en-US">
        <a:solidFill>
          <a:schemeClr val="tx1"/>
        </a:solidFill>
        <a:latin typeface="+mn-lt"/>
        <a:ea typeface="+mn-ea"/>
        <a:cs typeface="+mn-cs"/>
      </a:defRPr>
    </a:lvl6pPr>
    <a:lvl7pPr marL="2743200" algn="l" defTabSz="457200" rtl="0" eaLnBrk="1" latinLnBrk="0" hangingPunct="1">
      <a:defRPr sz="1800" kern="1200" lang="en-US">
        <a:solidFill>
          <a:schemeClr val="tx1"/>
        </a:solidFill>
        <a:latin typeface="+mn-lt"/>
        <a:ea typeface="+mn-ea"/>
        <a:cs typeface="+mn-cs"/>
      </a:defRPr>
    </a:lvl7pPr>
    <a:lvl8pPr marL="3200400" algn="l" defTabSz="457200" rtl="0" eaLnBrk="1" latinLnBrk="0" hangingPunct="1">
      <a:defRPr sz="1800" kern="1200" lang="en-US">
        <a:solidFill>
          <a:schemeClr val="tx1"/>
        </a:solidFill>
        <a:latin typeface="+mn-lt"/>
        <a:ea typeface="+mn-ea"/>
        <a:cs typeface="+mn-cs"/>
      </a:defRPr>
    </a:lvl8pPr>
    <a:lvl9pPr marL="3657600" algn="l" defTabSz="457200" rtl="0" eaLnBrk="1" latinLnBrk="0" hangingPunct="1">
      <a:defRPr sz="1800" kern="1200" lang="en-US">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  <Relationship Id="rId44"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central question is what must surround a model for a professional to accept useful financial work. This briefing consolidates research and twelve identified attendee-note sets from AI Engineer NYC on October thirteenth and fourteenth, twenty twenty-six. The five chapters connect strategy, grounded evidence, evaluation, reliable workflows and engineer growth into one operating argument. The company stories provide mechanisms to examine, not a ranking of firms or independently verified benefits. Attendee accounts, agenda-only context, dated public disclosures and our proposed methods retain different evidence boundaries. The core presentation is designed for forty minutes plus discussion, with detailed slides and notes for later independent review.</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Dependable financial AI is a complete job, not a model in isolation. Begin by defining valuable accepted work and credible economics. Ground that work in sources, meaning, time, versions and access; evaluate the task, judge, answer selection and release; then encode expert methods and enforce authority through reliable workflows. The engineer owns the improvement loop across all five responsibilities. Bridgewater’s information problem, Range’s planning method and wealth preparation illustrate distinct bottlenecks. Name the accepted output and scarce resource before choosing a tool. Trace definitions, actions and corrections through the final artifact, and use Ramp’s ablations and Arize’s diagnosis ideas to make one bounded, reviewable comparison.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useful completion unit is a financial work product someone can inspect and accept. Contour’s research comparison asks whether an insight is useful against the alternative workflow; an accepted idea does not establish investment alpha. Range describes an agent preparing another client’s analysis while a planner serves someone else, then the planner reviews and adjusts. Include missing facts and corrections in completion, and keep the capacity gain as a hypothesis because no measured net gain was captured. The OpenAI finance discussion connects passages, calculations, tables, charts and shared artifacts. Follow a consequential claim through those layers. A polished document is insufficient if the reviewer cannot establish the financial meaning and evidence behind its conclusion.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Compare systems by the scarce resource they address. Bridgewater’s evidence foundation should be assessed on required-source coverage and relevance of the final brief. Range’s parallel preparation should be assessed on accepted analysis after correction and total professional effort. Two Sigma’s registry, access declarations, risk scores and active controls suggest testing useful permitted tasks alongside denied actions; registration provides visibility but does not establish effective protection. Monzo’s shared runtime and Slack distribution and Optiver’s task qualification and model routing are official-program context here. Their relevant measures include discovery, access, review and support. These uneven selected cases are not an industry survey and establish neither autonomous trading nor causal firmwide savings.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wealth cases augment recognizable professional work while retaining review. Range’s October twenty twenty-six example packages a planning method and drafts work in parallel, with planners reviewing and adjusting. Morgan Stanley’s June twenty-sixth, twenty twenty-four disclosure describes consent-based Debrief notes, action items, advisor-edited follow-up and CRM capture; its separate Assistant adoption claim does not establish Debrief productivity. UBS’s February fourth, twenty twenty-five disclosure describes institutional knowledge access through Red, including products, research and CIO information. RBC’s March twenty-seventh investor materials describe client-context preparation, while US-pilot conversion and survey adoption or satisfaction have distinct scopes and measures. Keep the dates and evidence populations visible. Drafting, rollout and adoption do not establish better advice, universal current availability, net capacity or causal client outcomes.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ladder separates four increasingly strong claims. Adoption describes who uses a system and for what tasks. Accepted work adds output quality, critical failures and reviewer effort. Process improvement adds time, throughput, capacity and reliability. Attributable value needs a credible alternative, full cost and uncertainty. Contour described roughly three months of AI and non-AI workflow tracking, but random assignment, controls and causal alpha estimates were not captured. That window is an account of the case, not a universal validation period. Preserve point-in-time information, reasoning, reviewer responses and decisions so later market success cannot be reconstructed with hindsight. Report process changes separately from returns influenced by markets, selection and other drivers. Usage can remain high while rework is substantial.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Evaluate the cost of completed accepted work rather than the price of one generated response. The proposed numerator includes inference, data, tool calls, retries, candidate selection, human review, rework and operational support. Failed and abandoned attempts still consume resources. Compare equivalent workloads at the same acceptance standard and critical limits, because a cheaper model can impose more correction effort. Optiver’s agenda-based task certification suggests quality qualification before price optimization, but qualification on one workload does not establish readiness for another. Predeclare eligible tasks, acceptance and exclusions, and report accepted-task rate beside cost per accepted task. Otherwise narrowing the supported population can create an apparent economic improvement. Neither the sources nor this formula establishes savings or an optimal routing policy.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Grounding starts before synthesis. Resolve the request’s entity, task and information cutoff, then restrict evidence by authorized source and effective time. Carry ontology, metric definition and source version into context, with conflicts and gaps explicit. Vault’s account combines internal and external research, news and transcripts around market, country, concept and time; a large corpus alone does not define relevance. The separate Bridgewater and turbopuffer permissions session is agenda-only context and motivates retrieval-time user permissions and revocation checks. Credentials alone do not establish appropriate resource access. The proposed path combines these ideas; it is not a disclosed complete company architecture. Vault and PAT production use is reported, not an independently measured quality result.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Vault’s human and agent retrieval contrast is a useful workload heuristic. People often need compact, high-signal results because attention is scarce, while agents may require broader recall to avoid missing decisive evidence. Both still need relevance, permissions, meaning and freshness. Measure whether the required evidence is found before assessing whether compression preserves it. More context or more retrieved documents do not establish better answers. The reported investor workbench includes activity feeds, evidence-backed summaries and a what-am-I-missing surface. Evaluate relevance, omissions, timeliness and review time against the existing information flow. The notes establish no optimal retrieval setting, changed habits, predictive accuracy or investment returns, and agents cannot simply ignore precision.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Kepler’s account separates source retrieval, code-based calculation, typed facts, citation metadata and support repair or filtering. Code can make arithmetic reproducible, but cannot establish that an input represents the intended entity, period or definition. The proposed typed-fact contract therefore carries entity, metric, period, value, unit and currency, document version and passage, and calculation inputs and transformations. These extended semantic checks were not confirmed as Kepler coverage, and the slide does not claim to reproduce a complete ordered architecture. Citation repair can find a formatting match while leaving the financial interpretation wrong. If support still fails, remove the claim, abstain or escalate. Removing a citation while keeping an unsupported sentence is not a trustworthy repair. Rough retrieval settings in the notes are not defaults.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Every entity, document, publication date and value in the AsterCo example is invented teaching data. The question asks for fiscal twenty twenty-five revenue growth as of March first, twenty twenty-six, with inputs in millions of US dollars. The fiscal twenty twenty-four final value is one hundred, published February first, twenty twenty-five. The next-year preliminary value is one hundred eighteen, published January fifteenth, twenty twenty-six. The final value is one hundred twenty, published February first, and is eligible by the cutoff while superseding the preliminary document. Eighteen percent is correct arithmetic on the preliminary inputs; twenty percent follows from the final inputs required by this question. Preserve rejected versions and the reason for replacement, and update dependent prose, tables and charts. Also test missing, conflicting, restated and unauthorized sources.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Evidence needs to survive the transformation into what a person actually consumes. A relevant passage and its version should connect to the typed table, then to a chart whose measurement and transformations remain visible, and finally to a reusable artifact with provenance and unresolved limits. A correct intermediate value can become misleading if export drops a unit, period or source. Test whether a reviewer can locate evidence, understand transformations, detect a planted mistake and correct the artifact without rebuilding the workflow. Inspectability makes review possible; it does not prove entailment or reviewer effectiveness. The OpenAI finance discussion described these interface capabilities, but maturity, availability versus roadmap and entitlements were unclear in the notes. No uncertain provider, partnership or licensing claim is added.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An evaluation begins with the complete permitted job. Specify the request, input snapshot, sources, tools and actions, required output and evidence, clarification or abstention conditions, and critical blockers. Ramp’s task-success framing motivates this focus on accepted completion. Build ordinary and difficult cases, ambiguity, missing evidence, denied actions and known regressions, recording which failure each one tests. A correct-looking final answer can conceal an unacceptable trajectory, and open-ended work may admit several correct outputs. Score usefulness, evidence, safety, experience, latency, full cost and review effort separately. Predeclare blockers, version cases and evaluators, preserve expert disagreement and separate tuning from assessment. The banking account’s Comet versus NatWest metadata remains unresolved; no institution-specific production architecture is inferred.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entire cash-flow task and rubric are synthetic. The authorized task is to draft a monthly snapshot from current approved records, without recommending or sending. Income is eight thousand dollars, current expenses are six thousand and superseded expenses are fifty-five hundred; insurance details are missing. Subtracting the old expense value correctly yields twenty-five hundred on the stated operands, but fails source validity for the complete task. Current inputs yield two thousand. Do not count the source-selection error again as an arithmetic defect. The illustrative zero-to-two arithmetic scale distinguishes wrong, correct but incompletely derived, and reconstructable calculations. Grade source period, version, access and provenance separately; disclose missing insurance facts. A recommendation or outbound send blocks acceptance regardless of diagnostic scores. A real rubric needs domain review and calibration.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grader and deployed answer selector are separate evaluated systems. Compare judge decisions with independently reviewed and adjudicated examples, retaining serious false passes even when average agreement is high. A false failure loses useful work and creates review burden, so a stricter judge is not automatically better. The synthetic fail, pass, fail strip contains a usable second candidate, but it is one teaching case rather than an empirical pass-at-three estimate. Someone still has to recognize and select that answer. Pass-at-k asks whether at least one of k candidates meets the specified test; state workload, test, k and first-attempt behavior, then evaluate the actual verifier or selector under that budget. Count retries, tools, verification, latency and human review. Upstart calibration is program context, and its self-improvement loops remained under development.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Ablations hold the work and assessment conditions fixed while changing one component. Replay matched tasks with the same snapshots, permissions, rubric and evaluator versions, and attempt policy. Compare task and evidence quality, critical defects, human effort, cost and latency rather than only one average score. Repeat stochastic assessments enough to examine uncertainty and important paired failures. Ramp’s notes described reducing eight skills to four, shrinking an Excel skill and trajectory-distilled memory derived from prior runs. No effect sizes, repeated-run results or reproducible construction details were captured, so those choices are examples rather than defaults. Convert observed failures into regression cases while retaining separate ordinary and difficult assessment cases. A component earns its place through agreed tradeoffs, not an intuition that more memory or less context must help.</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Release logic should separate noncompensating blockers from graded usefulness. Depending on the domain, blockers may include unauthorized access or actions, unsupported consequential numbers or omitted approvals; define them before looking at candidate scores. Review acceptance, paired regressions, judge validity, uncertainty and total effort and cost together. The evidence packet retains intended scope, system and evaluator versions, results by slice, traces, regressions, expert disagreements, known limits and accepted exceptions. A named owner decides whether to investigate or promote within that scope. Monitor with explicit pause, rollback and renewed-review conditions, broadening assessment when uncertainty could change the judgment. A clean finite suite does not prove zero risk. This is our proposed gate, not an implemented bank threshold or rollback policy captured at the conference.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failure becomes useful when it can be reproduced and turned into a reviewed experiment. Capture the request, available sources and permissions, tool interactions, output, human correction and relevant versions under existing trace-access rules. Adjudicate whether the defect concerns evidence, reasoning, runtime behavior or the evaluator. Create a versioned case, propose a specific repair, and test it against regressions plus separately retained assessment cases. Diagnosis is a hypothesis; accountable review authorizes a scoped release. Monitor escaped failures, corrections, drift and operating costs afterward. Arize’s account described trace-based issue discovery without measured diagnostic accuracy or demonstrated autonomous remediation. Upstart’s announced improvement loops were being built. More telemetry is not permission to expose sensitive trace content or automatically change production behavior.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Range’s method treats a skill as a maintained professional instruction. Pick repeated work with recognizable expert success. Teach a representative case and why decisions are made, distinguishing general planning knowledge from the firm’s method. Pack required inputs, authorized information sources, clarification questions, limits, exceptions and handoffs; missing facts must change the workflow. Test ordinary, difficult, incomplete and conflicting-instruction cases, then ship with ownership, review, change history and retested revisions. The five steps are in the attendee notes; planner ownership, maintenance and peer review add official-agenda detail supporting reported operational use. No measured net gain was captured. The attendee confirmed Range, and the session record identifies Matt Ragone; its UUID referred to an NVIDIA reranker session in the earlier snapshot, so identity must remain versioned.</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fictional annual review packet separates arithmetic, professional judgment and execution authority. Every amount is invented: income of one hundred twenty thousand dollars minus recorded expenses of eighty-four thousand gives an arithmetic difference of thirty-six thousand. That is neither disposable capacity nor an insurance need or suitability conclusion. The agent should expose facts, calculations, assumptions, gaps and proposed conclusions for the professional to review. Range’s parallel-drafting vignette motivates measuring accepted work after correction rather than draft volume. Wise’s agenda separates model proposals from authority to act. Accepting or editing a draft does not authorize a send or transaction; a separate service checks user, case and action permission and records approval. This is a proposed workflow, not Range’s disclosed architecture or financial advice.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Make the authority path explicit outside the model’s proposal. The agent supplies a requested action and context; policy checks the user, case, resource and action before an authorized executor proceeds, denying or routing required exceptions otherwise. Two Sigma’s registry includes owners, products, tools, evaluations, access declarations and risk factors, giving visibility without proving that controls work. Challenge the boundary with revocation, cross-user access, retries and duplicate requests, because a valid credential is not proof of an appropriate business action. The independent approval-triage classifier’s type, accuracy and enforcement power were unspecified. Evaluate missed consequential cases and unnecessary interruptions; independence alone cannot waive required approval. Wise’s LOOP and versioned-policy description is agenda-only context, and the combined diagram is our synthesis.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Sonar’s three verification loops catch different defects. Creation guides goals, standards and constraints and inspects generated work for local issues; another model’s agreement or a quick human approval is not independent correctness evidence. Release tests interfaces, permissions, financial invariants and broader regressions while retaining reproducible evidence of what the checker detects. Operation reproduces escaped failures and verifies repairs against other work, preserving rollback conditions. Prevention remains a priority alongside detection and response. Intent, guardrails, verification and evidence form a useful checklist; their conceptual product has no captured calibrated scale or probabilistic interpretation. The three loops come from the official abstract and the four factors from notes. The code-size example lacks benchmark conditions, so neither a universal fifty-thousand-line limit nor autonomous self-healing is established.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Vanguard’s agenda-only ledger-modernization story keeps financial invariants central. The advertised structure separates producer onboarding and migration, replicated gold-copy state with change-data-capture synchronization, and decoupled consumer access and migration using GraphQL. Observe no missing or duplicate transactions, consistent state, database idempotency, controlled retries and recovery, and reviewable reconciliation at the relevant boundaries. Faster code generation cannot demonstrate those properties. The abstract says AI helped maintain two codebases, but it does not isolate the incremental productivity, quality or risk effect. Compare equivalent changes, correctness, review and rework, and operating cost before attributing the modernization outcome to AI. The case is neither an autonomous financial agent nor a prescription to introduce dual systems into another product.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An AI engineer’s responsibility continues after the first working feature. Frame accepted work, build one complete slice, learn from traces, cases and failures, then verify, release and observe. Capture request, context, intermediate actions, result, evaluation and versions so a trace can explain why a workflow failed. Arize’s diagnosis account and Ramp’s task-level ablations motivate this habit rather than validating autonomous repair. Build a portfolio of reproducible failures, baseline comparisons, specific repairs, release decisions and observed tradeoffs. Keep issue discovery, a proposed fix, validation and release authority separate. Stronger engineering judgment becomes visible through reviewable decisions; the number of frameworks or tools someone knows does not establish diagnostic accuracy or a reliable improvement loop.</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five responsibilities reinforce one another on a real workflow. Domain translation turns professional judgment into required inputs, questions and acceptance conditions. Data reasoning connects that judgment to entities, time, units, definitions and transformations. System design draws ownership, allowed actions, state and exceptions; evaluation challenges the workflow and its judge using critical failures, task success and full cost. Evidence communication explains task, mechanism, comparison, result and uncertainty together, distinguishing deployment from effectiveness and useful output from causal value. Develop complementary fluency through shared work rather than requiring every person to become the sole expert in every area. This is our proposed competency framework, not a hiring survey or a validated career model attributed to a conference company.</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Expected lifespan and failure consequence are independent design questions. Short-lived work with bounded consequence can be simple and removable with clear scope, ownership and a retirement condition. Long-lived work adds stable interfaces, documentation and regression responsibilities. A short-lived high-consequence tool still needs access, numerical and execution checks, while a durable high-consequence system needs operated controls, recovery and continuing validation. Capital One’s conceptual durability discussion does not establish deployed disposable software or zero replacement cost. Cheap regeneration changes maintenance economics without removing the consequences of a wrong result. When an experiment gains users or dependencies, make an explicit maintenance decision about support, recovery and coverage rather than quietly allowing it to become infrastructure.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small complete experiment can develop the full discipline. Choose a research brief, analytical result or preparation draft with clear users, acceptance and approved or synthetic inputs. Record the current quality, time, cost and human effort before selecting a preferred model. Change one skill bundle, memory rule or model while holding snapshots and assessment cases fixed; separate tuning and include ordinary, ambiguous and consequential-failure cases. The deliverable is an evidence card covering task, baseline, deliberate change, failures, quality, effort, cost, limits and the next decision. Share one reproducible case with a peer and state what would change the conclusion. A deterministic solution, inadequate data or retiring the approach can all be useful outcomes. This exercise is not production approval or sufficient statistical validation.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practical return from the conference is three explicit decisions and a bounded comparison. Work identifies the person whose accepted output matters and the bottleneck to improve before discussing tools. Boundary defines sources, information cutoff, calculations, permitted actions, retained human judgment, blockers and the response to missing evidence. Evidence specifies a comparison with the existing process on equivalent work and agreed acceptance, including critical failures, every attempt, review effort and full cost. Agree in advance what supports continuing, revising or retiring. The value of a report-back is a judgment peers can assess with its uncertainty visible. Conference mechanisms alone do not establish internal readiness, and this briefing makes no Fidelity project commitment; ownership, scope and timing remain explicit discussion decisions.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Use discussion to identify a concrete workflow and an uncertainty that matters. First ask whose accepted work improves and whether faster generation actually saves total effort after review. Next name an unsupported fact, wrong period, unauthorized action or bypassed denial that could escape ordinary review. Correct refusal is a control success, and the judge or reviewer also needs testing. Finally agree which baseline, output checks, cost records or missing prerequisite could change the decision. Record one candidate experiment and one unresolved evidence question. A useful discussion can conclude that prerequisites are missing or that the team should not proceed. Avoid turning the conversation into a tool preference debate or forcing consensus and an immediate commitment.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shared contract connects responsibilities that are often evaluated separately. Task specifies the user, accepted work, baseline and acceptance decision. Evidence keeps entity, period, units, source version, cutoff and access reproducible. Authority distinguishes resources, proposals, approvals and execution. Evaluation names cases, rubric, blockers and calibrated judges. Operation preserves versions, traces, accountable ownership and stop or rollback conditions. The inspection questions make compliance observable: can someone recognize completion, reproduce a claim, challenge a denial boundary, detect a severe false pass, diagnose a failure and verify a repair? Retain disagreement and accepted limits. A new source, user group, tool or permission can change exposure without a prompt change, so reassess when uncertainty could alter the decision. The checklist is a proposed synthesis.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a selected mechanism map rather than a universal architecture or maturity ranking. Bridgewater, Kepler and Contour illuminate evidence and research; Range and the dated Morgan Stanley, UBS and RBC cases illuminate wealth work. Two Sigma and Wise illuminate authority, Monzo, Optiver and Vanguard engineering platforms, and Ramp, Arize, Sonar and Capital One improvement and maintenance. Compare equivalent work before interpreting time, cost or adoption. Architecture describes intended operation and production use describes adoption; neither alone proves effectiveness or causal value. The source HTML contains the expanded twenty-five-firm atlas, while this PowerPoint deliberately shows the selected case map. The examples are uneven self-reports, and company affiliation or a panel appearance does not establish deployment of every discussed technique.</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illustrative evaluation schema links the draft-review-packet task, approved input snapshot, accepted output, critical unauthorized-access and unsupported-number failures, case slices, evaluator, baseline comparison and accountable owner. It is a compact discussion specification rather than a runnable framework. Define output and action limits and when to clarify or abstain; correctly refusing access can succeed while unauthorized access fails. Version the evaluator’s model, prompt, rubric and threshold as well as the agent, because reported quality can move without a system change. Recalibrate important decisions on reviewed cases when the evaluator or users change. Model selection, reducing human review and expanding execution authority require different evidence. Finite tests support a scoped judgment with known limits, not proof of zero failure.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synthetic AsterCo contract preserves a growth ratio rather than a floating number. It identifies the entity, annual-revenue-growth metric, fiscal twenty twenty-five period, ratio unit, value of zero point two, hundred and hundred-twenty inputs in millions of US dollars, March first cutoff and calculation. A revenue value of one hundred twenty million and a growth value of twenty percent have different meanings and units. Retain document, passage, version and available-as-of identity for each input; publication, reporting period and access answer different questions. When an input is superseded, update dependent claims, tables and charts while preserving earlier values and reasons. Check that export keeps units, periods and links. These exact fields are proposed requirements, not verified Kepler or Bridgewater coverage, and all AsterCo data is invented.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Pass-at-k asks a benchmark question: did at least one of k sampled candidates meet the specified test, summarized over tasks? State the workload, test and attempt budget. Ground-truth recognition can behave like an oracle and does not demonstrate that the first candidate succeeds or the operational selector finds the usable one. Run the actual verifier, ranker or human-review process and measure chosen-output acceptance, missed defects, rejected useful candidates and first-attempt behavior while enforcing critical conditions. Include all candidates, tool calls, verification, review and latency when comparing budgets. More attempts can create opportunity while increasing cost and exposure. Keep partial-credit task quality, pass-at-k and selected-output reliability distinct. Chen and colleagues supply this metric and selection distinction, not a finance performance result or a general retry policy.</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Use acceptance rate and full cost per accepted task together. Acceptance rate divides accepted outputs by eligible assigned tasks and shows rejected, excluded and abandoned outcomes. Unit cost divides total workflow cost, including failed attempts, verification, retries, review and rework, by accepted tasks. Capacity compares accepted work per professional effort or time at equivalent quality and task mix, including preparation, correction, evidence checking, approval and follow-up. Business impact needs an additional credible alternative and attention to selection and other drivers; faster accepted work is a process result rather than automatically causal revenue or investment return. Contour’s roughly three-month tracking account lacks captured sample, assignment, controls and causal estimates. It motivates the comparison but does not define a universal validation window or a verified benefit.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Treat uncertainty as a guide to the next engineering question. For citation checkers, judges and approval triage, ask which serious errors pass, what happens when support fails, and how failures are adjudicated; independent components can share blind spots. For benefits, ask about baseline, task population, exclusions, sample, uncertainty and full human effort, distinguishing adoption, pilot, estimated opportunity and realized outcome with disclosure dates intact. Clarify demonstrated production scope, entitlements, versions and stop conditions. Keep the rough terms crunchable and roundedness, reversed reactive and proactive wording, and Comet versus NatWest metadata unresolved. Sonar’s code-size example and confidence product, Kepler’s retrieval settings and the failure study’s expected-loss, incident-ranking and growth claims lack definitions or benchmark methods needed to become thresholds or estimates.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complete corpus contains thirty-nine references, with selected primary links on the slide and the full catalog below. Attendee notes capture the live accounts; official session pages identify speakers and advertised topics, while program-only cases remain context. Historical Morgan Stanley, UBS and RBC materials establish what firms described at their publication dates, not the latest state or independently verified causal outcomes. The HumanEval paper supplies the metric and candidate-selection distinction. Rubrics, contracts, release gates and learning exercises translate mechanisms into proposed methods, and AsterCo and the review packets use invented teaching values. Adapt acceptance and failure definitions with domain reviewers before interpreting a method as production readiness. Source-scope counts do not measure evidence strength.</a:t>
            </a:r>
          </a:p>
          <a:p>
            <a:pPr/>
            <a:endParaRPr lang="en-US" dirty="0"/>
          </a:p>
          <a:p>
            <a:pPr/>
            <a:r>
              <a:rPr lang="en-US" dirty="0"/>
              <a:t>Reference S01: Proving Alpha: Showcasing AI's Value in Fundamental Investing. Day1 metadata from the October 10 snapshot; Hari Kumar · Contour Asset Management. The program identifies the talk; the attendee notes supply the claims. No outcome was independently verified. Source link: https://ai.engineer/nyc/2026/schedule?session=ae273f0b-db0f-4638-8ae3-05874bebf9ca</a:t>
            </a:r>
          </a:p>
          <a:p>
            <a:pPr/>
            <a:endParaRPr lang="en-US" dirty="0"/>
          </a:p>
          <a:p>
            <a:pPr/>
            <a:r>
              <a:rPr lang="en-US" dirty="0"/>
              <a:t>Reference S02: We Let Our Financial Planners Write the Agents. Day2 metadata checked October 14; Matt Ragone · Range. The program identifies the talk; the attendee notes supply the claims. No outcome was independently verified. Source link: https://ai.engineer/nyc/2026/schedule?session=9b002687-09cf-42e2-9282-532ed9d0c184</a:t>
            </a:r>
          </a:p>
          <a:p>
            <a:pPr/>
            <a:endParaRPr lang="en-US" dirty="0"/>
          </a:p>
          <a:p>
            <a:pPr/>
            <a:r>
              <a:rPr lang="en-US" dirty="0"/>
              <a:t>Reference S03: Building the Next Chapter of AI in Finance. Day2 metadata checked October 14; Joseph Kim · OpenAI. The program identifies the talk; the attendee notes supply the claims. No outcome was independently verified. Source link: https://ai.engineer/nyc/2026/schedule?session=02f94835-c29d-4cf5-b77a-c5a491b747b8</a:t>
            </a:r>
          </a:p>
          <a:p>
            <a:pPr/>
            <a:endParaRPr lang="en-US" dirty="0"/>
          </a:p>
          <a:p>
            <a:pPr/>
            <a:r>
              <a:rPr lang="en-US" dirty="0"/>
              <a:t>Reference S04: Vault: Making Unstructured Data Work for Investing. Day1 metadata from the October 10 snapshot; Aaron Linsky · Bridgewater; Sam Green · Bridgewater. The program identifies the talk; the attendee notes supply the claims. No outcome was independently verified. Source link: https://ai.engineer/nyc/2026/schedule?session=a84ca3a8-cc2f-4b50-a635-fc380f6f04f6</a:t>
            </a:r>
          </a:p>
          <a:p>
            <a:pPr/>
            <a:endParaRPr lang="en-US" dirty="0"/>
          </a:p>
          <a:p>
            <a:pPr/>
            <a:r>
              <a:rPr lang="en-US" dirty="0"/>
              <a:t>Reference S05: Balancing Acceleration and Safety for AI Agents. Day1 metadata from the October 10 snapshot; John Feminella · Two Sigma. The program identifies the talk; the attendee notes supply the claims. No outcome was independently verified. Source link: https://ai.engineer/nyc/2026/schedule?session=73badd10-6f8c-4c95-b5e7-55fc3d7bafc1</a:t>
            </a:r>
          </a:p>
          <a:p>
            <a:pPr/>
            <a:endParaRPr lang="en-US" dirty="0"/>
          </a:p>
          <a:p>
            <a:pPr/>
            <a:r>
              <a:rPr lang="en-US" dirty="0"/>
              <a:t>Reference S06: Compound value from building Monzo’s in-house agent using LLMs*. October 10 program snapshot; Francesco Galletta · Monzo; Felippe Felisola Caso · Monzo. This is advertised content, not a claim of attendance, independent verification, or current universal deployment. Source link: https://ai.engineer/nyc/2026/schedule?session=58fe4b11-571e-4afd-bd89-8ad63e6cfe11</a:t>
            </a:r>
          </a:p>
          <a:p>
            <a:pPr/>
            <a:endParaRPr lang="en-US" dirty="0"/>
          </a:p>
          <a:p>
            <a:pPr/>
            <a:r>
              <a:rPr lang="en-US" dirty="0"/>
              <a:t>Reference S07: Scaling AI with P&amp;L on the line. October 10 program snapshot; Noyan Tokgozoglu · Optiver. This is advertised content, not a claim of attendance, independent verification, or current universal deployment. Source link: https://ai.engineer/nyc/2026/schedule?session=272a7ef0-4b78-41a3-813d-a67361fcd2d3</a:t>
            </a:r>
          </a:p>
          <a:p>
            <a:pPr/>
            <a:endParaRPr lang="en-US" dirty="0"/>
          </a:p>
          <a:p>
            <a:pPr/>
            <a:r>
              <a:rPr lang="en-US" dirty="0"/>
              <a:t>Reference E01: Morgan Stanley Wealth Management · Debrief launch. Historical company release: Assistant adoption and Debrief features. Adoption does not establish Debrief-wide effectiveness or causal ROI. Source link: https://www.morganstanley.com/press-releases/ai-at-morgan-stanley-debrief-launch</a:t>
            </a:r>
          </a:p>
          <a:p>
            <a:pPr/>
            <a:endParaRPr lang="en-US" dirty="0"/>
          </a:p>
          <a:p>
            <a:pPr/>
            <a:r>
              <a:rPr lang="en-US" dirty="0"/>
              <a:t>Reference E02: UBS · fourth-quarter/full-year 2024 results. Historical advisor rollout of Red; scale does not establish quality or client outcomes. Results media release page6 supports the described knowledge use case. Source link: https://www.ubs.com/global/en/media/display-page-ndp/en-20250204-4q24-quarterly-result.html</a:t>
            </a:r>
          </a:p>
          <a:p>
            <a:pPr/>
            <a:endParaRPr lang="en-US" dirty="0"/>
          </a:p>
          <a:p>
            <a:pPr/>
            <a:r>
              <a:rPr lang="en-US" dirty="0"/>
              <a:t>Reference E03: RBC · 2025 Investor Day presentation. Slide95: Advisor Assist, survey use/satisfaction, and a separately footnoted US pilot conversion measure. Endnote slide226. These are not causal firm-wide revenue estimates. Source link: https://www.rbc.com/investor-relations/_assets-custom/pdf/investorday2025_presentation.pdf#page=95</a:t>
            </a:r>
          </a:p>
          <a:p>
            <a:pPr/>
            <a:endParaRPr lang="en-US" dirty="0"/>
          </a:p>
          <a:p>
            <a:pPr/>
            <a:r>
              <a:rPr lang="en-US" dirty="0"/>
              <a:t>Reference E04: RBC · 2025 Investor Day transcript. Page20: executive account of early US advisor meeting-preparation assistance. No independent performance validation. Source link: https://www.rbc.com/investor-relations/_assets-custom/pdf/investorday2025_transcript.pdf#page=20</a:t>
            </a:r>
          </a:p>
          <a:p>
            <a:pPr/>
            <a:endParaRPr lang="en-US" dirty="0"/>
          </a:p>
          <a:p>
            <a:pPr/>
            <a:r>
              <a:rPr lang="en-US" dirty="0"/>
              <a:t>Reference S08: Can Your AI Analyst Keep a Secret?. October 10 program snapshot; Aaron Linsky · Bridgewater; Nikhil Benesch · turbopuffer. This is advertised content, not a claim of attendance, independent verification, or current universal deployment. Source link: https://ai.engineer/nyc/2026/schedule?session=88f71c9f-f0a9-4f42-96c0-0e1492bad1c2</a:t>
            </a:r>
          </a:p>
          <a:p>
            <a:pPr/>
            <a:endParaRPr lang="en-US" dirty="0"/>
          </a:p>
          <a:p>
            <a:pPr/>
            <a:r>
              <a:rPr lang="en-US" dirty="0"/>
              <a:t>Reference S09: Do Not Let Models Invent Numbers. Day1 metadata from the October 10 snapshot; Vinoo Ganesh · Kepler. The program identifies the talk; the attendee notes supply the claims. No outcome was independently verified. Source link: https://ai.engineer/nyc/2026/schedule?session=2d29f925-f16b-41b3-8086-de0524829cbe</a:t>
            </a:r>
          </a:p>
          <a:p>
            <a:pPr/>
            <a:endParaRPr lang="en-US" dirty="0"/>
          </a:p>
          <a:p>
            <a:pPr/>
            <a:r>
              <a:rPr lang="en-US" dirty="0"/>
              <a:t>Reference S10: Building Better Agents Through End-to-End Evals. Day2 metadata checked October 14; Ryan Stevens · Ramp. The program identifies the talk; the attendee notes supply the claims. No outcome was independently verified. Source link: https://ai.engineer/nyc/2026/schedule?session=4607dbbe-8f94-4b0e-91ce-257d1cfb5448</a:t>
            </a:r>
          </a:p>
          <a:p>
            <a:pPr/>
            <a:endParaRPr lang="en-US" dirty="0"/>
          </a:p>
          <a:p>
            <a:pPr/>
            <a:r>
              <a:rPr lang="en-US" dirty="0"/>
              <a:t>Reference S11: 1,368 AI Failures: What They Teach Us About System Evals. Day1 metadata from the October 10 snapshot; Vishal Srivastava · New York Life Insurance; Tanmay Sah · . The program identifies the talk; the attendee notes supply the claims. No outcome was independently verified. Source link: https://ai.engineer/nyc/2026/schedule?session=9d72d7ac-a2a2-42cf-b880-5859316d840c</a:t>
            </a:r>
          </a:p>
          <a:p>
            <a:pPr/>
            <a:endParaRPr lang="en-US" dirty="0"/>
          </a:p>
          <a:p>
            <a:pPr/>
            <a:r>
              <a:rPr lang="en-US" dirty="0"/>
              <a:t>Reference S12: From Agent Prototype to Production in Regulated Banking. Day2 metadata checked October 14; Jonathan Osborne · NatWest. The program identifies the talk; the attendee notes supply the claims. No outcome was independently verified. Notes/October 10 say Comet; October 14 schedule says NatWest. The discrepancy is unresolved. Source link: https://ai.engineer/nyc/2026/schedule?session=e4ca10c6-c8b4-427b-a337-8d2a28e2a7aa</a:t>
            </a:r>
          </a:p>
          <a:p>
            <a:pPr/>
            <a:endParaRPr lang="en-US" dirty="0"/>
          </a:p>
          <a:p>
            <a:pPr/>
            <a:r>
              <a:rPr lang="en-US" dirty="0"/>
              <a:t>Reference S13: From Human Review to Self-Healing Agents: How Upstart Evaluates Voice AI at Regulated-Lending Scale. October 10 program snapshot; Shiv Indap · Upstart; Brooke Hopkins · Coval. This is advertised content, not a claim of attendance, independent verification, or current universal deployment. Source link: https://ai.engineer/nyc/2026/schedule?session=ece6925c-c979-483f-bd40-51eacdbbe11b</a:t>
            </a:r>
          </a:p>
          <a:p>
            <a:pPr/>
            <a:endParaRPr lang="en-US" dirty="0"/>
          </a:p>
          <a:p>
            <a:pPr/>
            <a:r>
              <a:rPr lang="en-US" dirty="0"/>
              <a:t>Reference E05: Chen et al. · Evaluating Large Language Models Trained on Code. Primary reference for pass@k and candidate-selection distinctions. No numerical model result from the paper is transferred to financial workflows here. Source link: https://arxiv.org/html/2107.03374v2</a:t>
            </a:r>
          </a:p>
          <a:p>
            <a:pPr/>
            <a:endParaRPr lang="en-US" dirty="0"/>
          </a:p>
          <a:p>
            <a:pPr/>
            <a:r>
              <a:rPr lang="en-US" dirty="0"/>
              <a:t>Reference S14: What does an AI engineer do?. Day1 metadata from the October 10 snapshot; Aparna Dhinakaran · Arize AI. The program identifies the talk; the attendee notes supply the claims. No outcome was independently verified. Source link: https://ai.engineer/nyc/2026/schedule?session=b2ed4456-5671-4e8e-83fd-684c012fef8c</a:t>
            </a:r>
          </a:p>
          <a:p>
            <a:pPr/>
            <a:endParaRPr lang="en-US" dirty="0"/>
          </a:p>
          <a:p>
            <a:pPr/>
            <a:r>
              <a:rPr lang="en-US" dirty="0"/>
              <a:t>Reference S15: Stop turning your Humans Into APIs for your Agents. October 10 program snapshot; Emil Chetty · Wise. This is advertised content, not a claim of attendance, independent verification, or current universal deployment. Source link: https://ai.engineer/nyc/2026/schedule?session=ac709f86-ce51-4582-a680-70449c32d29c</a:t>
            </a:r>
          </a:p>
          <a:p>
            <a:pPr/>
            <a:endParaRPr lang="en-US" dirty="0"/>
          </a:p>
          <a:p>
            <a:pPr/>
            <a:r>
              <a:rPr lang="en-US" dirty="0"/>
              <a:t>Reference S16: The Machine that Changed the World, vAI. Day2 metadata checked October 14; Tariq Shaukat · Sonar. The program identifies the talk; the attendee notes supply the claims. No outcome was independently verified. Source link: https://ai.engineer/nyc/2026/schedule?session=4add802c-6a68-4e9c-93fb-9c1e017193bc</a:t>
            </a:r>
          </a:p>
          <a:p>
            <a:pPr/>
            <a:endParaRPr lang="en-US" dirty="0"/>
          </a:p>
          <a:p>
            <a:pPr/>
            <a:r>
              <a:rPr lang="en-US" dirty="0"/>
              <a:t>Reference S17: No Cash Left Behind: Vanguard's Ledger Modernization Journey. October 10 program snapshot; Gareth Yoder · Vanguard. This is advertised content, not a claim of attendance, independent verification, or current universal deployment. Source link: https://ai.engineer/nyc/2026/schedule?session=1779b934-d67b-45e9-ba11-0b19efac4b7e</a:t>
            </a:r>
          </a:p>
          <a:p>
            <a:pPr/>
            <a:endParaRPr lang="en-US" dirty="0"/>
          </a:p>
          <a:p>
            <a:pPr/>
            <a:r>
              <a:rPr lang="en-US" dirty="0"/>
              <a:t>Reference S18: Does Code Quality Even Matter?. Day1 metadata from the October 10 snapshot; Max Kanat-Alexander · Capital One. The program identifies the talk; the attendee notes supply the claims. No outcome was independently verified. Source link: https://ai.engineer/nyc/2026/schedule?session=5191589c-a70e-4806-99dc-86f7794f46b9</a:t>
            </a:r>
          </a:p>
          <a:p>
            <a:pPr/>
            <a:endParaRPr lang="en-US" dirty="0"/>
          </a:p>
          <a:p>
            <a:pPr/>
            <a:r>
              <a:rPr lang="en-US" dirty="0"/>
              <a:t>Reference S19: Chasing capabilities while waiting for the frontier. October 10 program snapshot; Alexander Shevchenko · Ramp. This is advertised content, not a claim of attendance, independent verification, or current universal deployment. Source link: https://ai.engineer/nyc/2026/schedule?session=caecd5f6-b352-4868-a995-f0f71679caf0</a:t>
            </a:r>
          </a:p>
          <a:p>
            <a:pPr/>
            <a:endParaRPr lang="en-US" dirty="0"/>
          </a:p>
          <a:p>
            <a:pPr/>
            <a:r>
              <a:rPr lang="en-US" dirty="0"/>
              <a:t>Reference S20: Turning AI Into Operating Margin: A Field Report from Private Equity. October 10 program snapshot; Adam Nahari · Apollo Global Management. This is advertised content, not a claim of attendance, independent verification, or current universal deployment. Source link: https://ai.engineer/nyc/2026/schedule?session=5049757d-8a2e-46fd-9d7b-c8c1f3d7b72a</a:t>
            </a:r>
          </a:p>
          <a:p>
            <a:pPr/>
            <a:endParaRPr lang="en-US" dirty="0"/>
          </a:p>
          <a:p>
            <a:pPr/>
            <a:r>
              <a:rPr lang="en-US" dirty="0"/>
              <a:t>Reference S21: AI in Practice: An Inside Look at Apollo's Approach. October 10 program snapshot; Michael Manapat · Rowspace; Jack McDonald · Apollo Global Management. This is advertised content, not a claim of attendance, independent verification, or current universal deployment. Source link: https://ai.engineer/nyc/2026/schedule?session=44e9d04a-e8b4-418c-8a85-02fbb9263dd0</a:t>
            </a:r>
          </a:p>
          <a:p>
            <a:pPr/>
            <a:endParaRPr lang="en-US" dirty="0"/>
          </a:p>
          <a:p>
            <a:pPr/>
            <a:r>
              <a:rPr lang="en-US" dirty="0"/>
              <a:t>Reference S22: Wells Fargo Foundation Model: Application to Fraud Detection at Scale. October 10 program snapshot; Freddy Lecue · Wells Fargo. This is advertised content, not a claim of attendance, independent verification, or current universal deployment. Source link: https://ai.engineer/nyc/2026/schedule?session=1c25f303-f38f-450b-862d-669fdbab5f82</a:t>
            </a:r>
          </a:p>
          <a:p>
            <a:pPr/>
            <a:endParaRPr lang="en-US" dirty="0"/>
          </a:p>
          <a:p>
            <a:pPr/>
            <a:r>
              <a:rPr lang="en-US" dirty="0"/>
              <a:t>Reference S23: Intent Based Auth. October 10 program snapshot; Allie Howe · Keycard; Ian Livingstone · Keycard; Michael Davis · JPMC; Dick Hardt · AAuth. This is advertised content, not a claim of attendance, independent verification, or current universal deployment. Source link: https://ai.engineer/nyc/2026/schedule?session=e65f74f9-2174-406d-bd32-2d7073eb677d</a:t>
            </a:r>
          </a:p>
          <a:p>
            <a:pPr/>
            <a:endParaRPr lang="en-US" dirty="0"/>
          </a:p>
          <a:p>
            <a:pPr/>
            <a:r>
              <a:rPr lang="en-US" dirty="0"/>
              <a:t>Reference S24: Your Company Has No Model of Itself: Bootstrapping a World Model from Slack, Decks and Meetings. October 10 program snapshot; Joao Wenzel · Citadel Securities. This is advertised content, not a claim of attendance, independent verification, or current universal deployment. Source link: https://ai.engineer/nyc/2026/schedule?session=bf371da6-6ef6-42ec-865f-5de4974a9114</a:t>
            </a:r>
          </a:p>
          <a:p>
            <a:pPr/>
            <a:endParaRPr lang="en-US" dirty="0"/>
          </a:p>
          <a:p>
            <a:pPr/>
            <a:r>
              <a:rPr lang="en-US" dirty="0"/>
              <a:t>Reference S25: Inside the Fable War Room. October 10 program snapshot; Ford Prior · GEICO. This is advertised content, not a claim of attendance, independent verification, or current universal deployment. Source link: https://ai.engineer/nyc/2026/schedule?session=6b92fb75-064e-4cb5-8aa3-7c7f211e7420</a:t>
            </a:r>
          </a:p>
          <a:p>
            <a:pPr/>
            <a:endParaRPr lang="en-US" dirty="0"/>
          </a:p>
          <a:p>
            <a:pPr/>
            <a:r>
              <a:rPr lang="en-US" dirty="0"/>
              <a:t>Reference S26: Trusting Agents in Policy-Driven Workflows. October 10 program snapshot; Evan Kormos · Coinbase. This is advertised content, not a claim of attendance, independent verification, or current universal deployment. Source link: https://ai.engineer/nyc/2026/schedule?session=ee927042-2ba1-44c3-b304-d001ae247839</a:t>
            </a:r>
          </a:p>
          <a:p>
            <a:pPr/>
            <a:endParaRPr lang="en-US" dirty="0"/>
          </a:p>
          <a:p>
            <a:pPr/>
            <a:r>
              <a:rPr lang="en-US" dirty="0"/>
              <a:t>Reference S27: Developer Docs as Knowledge Infrastructure for Fintech. October 10 program snapshot; Hahnbee Lee · Mintlify; Lincoln Murr · Coinbase. This is advertised content, not a claim of attendance, independent verification, or current universal deployment. Source link: https://ai.engineer/nyc/2026/schedule?session=d3d8c80e-84b7-4106-b8b5-ca63bc508480</a:t>
            </a:r>
          </a:p>
          <a:p>
            <a:pPr/>
            <a:endParaRPr lang="en-US" dirty="0"/>
          </a:p>
          <a:p>
            <a:pPr/>
            <a:r>
              <a:rPr lang="en-US" dirty="0"/>
              <a:t>Reference S28: Building the Financial Account for Agents. October 10 program snapshot; Lincoln Murr · Coinbase. This is advertised content, not a claim of attendance, independent verification, or current universal deployment. Source link: https://ai.engineer/nyc/2026/schedule?session=bc4b6b4a-cf07-4326-8276-fcf845da0284</a:t>
            </a:r>
          </a:p>
          <a:p>
            <a:pPr/>
            <a:endParaRPr lang="en-US" dirty="0"/>
          </a:p>
          <a:p>
            <a:pPr/>
            <a:r>
              <a:rPr lang="en-US" dirty="0"/>
              <a:t>Reference S29: Security in the Age of AI: Recent Attacks, Incidents &amp; Defenses. October 10 program snapshot; Andrey Rybka · Bloomberg. This is advertised content, not a claim of attendance, independent verification, or current universal deployment. Source link: https://ai.engineer/nyc/2026/schedule?session=01982251-7fdc-4828-8520-fb34b9bc7564</a:t>
            </a:r>
          </a:p>
          <a:p>
            <a:pPr/>
            <a:endParaRPr lang="en-US" dirty="0"/>
          </a:p>
          <a:p>
            <a:pPr/>
            <a:r>
              <a:rPr lang="en-US" dirty="0"/>
              <a:t>Reference S30: CTO, Blackstone. October 10 program snapshot; John Stecher · Blackstone; Scott Worland · Norm.ai. This is advertised content, not a claim of attendance, independent verification, or current universal deployment. Source link: https://ai.engineer/nyc/2026/schedule?session=4cf641ef-436a-4e59-bd73-8a1988d8214c</a:t>
            </a:r>
          </a:p>
          <a:p>
            <a:pPr/>
            <a:endParaRPr lang="en-US" dirty="0"/>
          </a:p>
          <a:p>
            <a:pPr/>
            <a:r>
              <a:rPr lang="en-US" dirty="0"/>
              <a:t>Reference S31: Head of AI &amp; AI Engineer, Coatue. October 10 program snapshot; Frank Long · Coatue. This is advertised content, not a claim of attendance, independent verification, or current universal deployment. Source link: https://ai.engineer/nyc/2026/schedule?session=9a9dfcd0-459f-43eb-b3f8-004864b4ad2a</a:t>
            </a:r>
          </a:p>
          <a:p>
            <a:pPr/>
            <a:endParaRPr lang="en-US" dirty="0"/>
          </a:p>
          <a:p>
            <a:pPr/>
            <a:r>
              <a:rPr lang="en-US" dirty="0"/>
              <a:t>Reference S32: Arca’s agent runtime for long horizon financial services work. October 10 program snapshot; Aman Singh · Arca. This is advertised content, not a claim of attendance, independent verification, or current universal deployment. Source link: https://ai.engineer/nyc/2026/schedule?session=75bd85ed-b49d-41f6-98e1-7a22853c18ab</a:t>
            </a:r>
          </a:p>
          <a:p>
            <a:pPr/>
            <a:endParaRPr lang="en-US" dirty="0"/>
          </a:p>
          <a:p>
            <a:pPr/>
            <a:r>
              <a:rPr lang="en-US" dirty="0"/>
              <a:t>Reference S33: Shipping like a startup, regulated like a bank. October 10 program snapshot; David Abitbol · Revolut. This is advertised content, not a claim of attendance, independent verification, or current universal deployment. Source link: https://ai.engineer/nyc/2026/schedule?session=2a07765d-fe3a-48df-be0f-75c111dbee6a</a:t>
            </a:r>
          </a:p>
          <a:p>
            <a:pPr/>
            <a:endParaRPr lang="en-US" dirty="0"/>
          </a:p>
          <a:p>
            <a:pPr/>
            <a:r>
              <a:rPr lang="en-US" dirty="0"/>
              <a:t>Reference E06: UBS · Innovation and AI. Corporate descriptions of Red and STAAT Insights. Publication date is unknown; employee and advisor populations differ. Preparation savings are estimates and identified opportunities are not completed sales. Source link: https://www.ubs.com/global/en/our-firm/what-we-do/technology/innovation-and-ai.html</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ai-engineer-conference-takeaway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ai-engineer-conference-takeaway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en-US">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en-US">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en-US">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700" kern="1200" lang="en-US">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500" kern="1200" lang="en-US">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400" kern="1200" lang="en-US">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300" kern="1200" lang="en-US">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lang="en-US">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100" kern="1200" lang="en-US">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50" kern="1200" lang="en-US">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50" kern="1200" lang="en-US">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50" kern="1200" lang="en-US">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lang="en-US">
          <a:solidFill>
            <a:schemeClr val="tx1"/>
          </a:solidFill>
          <a:latin typeface="+mn-lt"/>
          <a:ea typeface="+mn-ea"/>
          <a:cs typeface="+mn-cs"/>
        </a:defRPr>
      </a:lvl9pPr>
    </p:bodyStyle>
    <p:otherStyle>
      <a:defPPr>
        <a:defRPr lang="en-US"/>
      </a:defPPr>
      <a:lvl1pPr marL="0" algn="l" defTabSz="457200" rtl="0" eaLnBrk="1" latinLnBrk="0" hangingPunct="1">
        <a:defRPr sz="1500" kern="1200" lang="en-US">
          <a:solidFill>
            <a:schemeClr val="tx1"/>
          </a:solidFill>
          <a:latin typeface="+mn-lt"/>
          <a:ea typeface="+mn-ea"/>
          <a:cs typeface="+mn-cs"/>
        </a:defRPr>
      </a:lvl1pPr>
      <a:lvl2pPr marL="457200" algn="l" defTabSz="457200" rtl="0" eaLnBrk="1" latinLnBrk="0" hangingPunct="1">
        <a:defRPr sz="1400" kern="1200" lang="en-US">
          <a:solidFill>
            <a:schemeClr val="tx1"/>
          </a:solidFill>
          <a:latin typeface="+mn-lt"/>
          <a:ea typeface="+mn-ea"/>
          <a:cs typeface="+mn-cs"/>
        </a:defRPr>
      </a:lvl2pPr>
      <a:lvl3pPr marL="914400" algn="l" defTabSz="457200" rtl="0" eaLnBrk="1" latinLnBrk="0" hangingPunct="1">
        <a:defRPr sz="1300" kern="1200" lang="en-US">
          <a:solidFill>
            <a:schemeClr val="tx1"/>
          </a:solidFill>
          <a:latin typeface="+mn-lt"/>
          <a:ea typeface="+mn-ea"/>
          <a:cs typeface="+mn-cs"/>
        </a:defRPr>
      </a:lvl3pPr>
      <a:lvl4pPr marL="1371600" algn="l" defTabSz="457200" rtl="0" eaLnBrk="1" latinLnBrk="0" hangingPunct="1">
        <a:defRPr sz="1200" kern="1200" lang="en-US">
          <a:solidFill>
            <a:schemeClr val="tx1"/>
          </a:solidFill>
          <a:latin typeface="+mn-lt"/>
          <a:ea typeface="+mn-ea"/>
          <a:cs typeface="+mn-cs"/>
        </a:defRPr>
      </a:lvl4pPr>
      <a:lvl5pPr marL="1828800" algn="l" defTabSz="457200" rtl="0" eaLnBrk="1" latinLnBrk="0" hangingPunct="1">
        <a:defRPr sz="1100" kern="1200" lang="en-US">
          <a:solidFill>
            <a:schemeClr val="tx1"/>
          </a:solidFill>
          <a:latin typeface="+mn-lt"/>
          <a:ea typeface="+mn-ea"/>
          <a:cs typeface="+mn-cs"/>
        </a:defRPr>
      </a:lvl5pPr>
      <a:lvl6pPr marL="2286000" algn="l" defTabSz="457200" rtl="0" eaLnBrk="1" latinLnBrk="0" hangingPunct="1">
        <a:defRPr sz="1050" kern="1200" lang="en-US">
          <a:solidFill>
            <a:schemeClr val="tx1"/>
          </a:solidFill>
          <a:latin typeface="+mn-lt"/>
          <a:ea typeface="+mn-ea"/>
          <a:cs typeface="+mn-cs"/>
        </a:defRPr>
      </a:lvl6pPr>
      <a:lvl7pPr marL="2743200" algn="l" defTabSz="457200" rtl="0" eaLnBrk="1" latinLnBrk="0" hangingPunct="1">
        <a:defRPr sz="950" kern="1200" lang="en-US">
          <a:solidFill>
            <a:schemeClr val="tx1"/>
          </a:solidFill>
          <a:latin typeface="+mn-lt"/>
          <a:ea typeface="+mn-ea"/>
          <a:cs typeface="+mn-cs"/>
        </a:defRPr>
      </a:lvl7pPr>
      <a:lvl8pPr marL="3200400" algn="l" defTabSz="457200" rtl="0" eaLnBrk="1" latinLnBrk="0" hangingPunct="1">
        <a:defRPr sz="850" kern="1200" lang="en-US">
          <a:solidFill>
            <a:schemeClr val="tx1"/>
          </a:solidFill>
          <a:latin typeface="+mn-lt"/>
          <a:ea typeface="+mn-ea"/>
          <a:cs typeface="+mn-cs"/>
        </a:defRPr>
      </a:lvl8pPr>
      <a:lvl9pPr marL="3657600" algn="l" defTabSz="457200" rtl="0" eaLnBrk="1" latinLnBrk="0" hangingPunct="1">
        <a:defRPr sz="800" kern="1200" lang="en-US">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hyperlink" Target="https://ai.engineer/nyc/2026/schedule?session=a84ca3a8-cc2f-4b50-a635-fc380f6f04f6" TargetMode="External"/>
  <Relationship Id="rId3" Type="http://schemas.openxmlformats.org/officeDocument/2006/relationships/hyperlink" Target="https://ai.engineer/nyc/2026/schedule?session=2d29f925-f16b-41b3-8086-de0524829cbe" TargetMode="External"/>
  <Relationship Id="rId4" Type="http://schemas.openxmlformats.org/officeDocument/2006/relationships/hyperlink" Target="https://ai.engineer/nyc/2026/schedule?session=4607dbbe-8f94-4b0e-91ce-257d1cfb5448" TargetMode="External"/>
  <Relationship Id="rId5" Type="http://schemas.openxmlformats.org/officeDocument/2006/relationships/hyperlink" Target="https://ai.engineer/nyc/2026/schedule?session=9b002687-09cf-42e2-9282-532ed9d0c184" TargetMode="External"/>
  <Relationship Id="rId6" Type="http://schemas.openxmlformats.org/officeDocument/2006/relationships/hyperlink" Target="https://ai.engineer/nyc/2026/schedule?session=73badd10-6f8c-4c95-b5e7-55fc3d7bafc1" TargetMode="External"/>
  <Relationship Id="rId7" Type="http://schemas.openxmlformats.org/officeDocument/2006/relationships/hyperlink" Target="https://ai.engineer/nyc/2026/schedule?session=ae273f0b-db0f-4638-8ae3-05874bebf9ca" TargetMode="External"/>
  <Relationship Id="rId8" Type="http://schemas.openxmlformats.org/officeDocument/2006/relationships/hyperlink" Target="https://ai.engineer/nyc/2026/schedule?session=b2ed4456-5671-4e8e-83fd-684c012fef8c" TargetMode="External"/>
  <Relationship Id="rId9" Type="http://schemas.openxmlformats.org/officeDocument/2006/relationships/hyperlink" Target="https://ai.engineer/nyc/2026/schedule?session=ac709f86-ce51-4582-a680-70449c32d29c" TargetMode="External"/>
  <Relationship Id="rId10" Type="http://schemas.openxmlformats.org/officeDocument/2006/relationships/hyperlink" Target="https://ai.engineer/nyc/2026/schedule?session=4add802c-6a68-4e9c-93fb-9c1e017193bc" TargetMode="External"/>
  <Relationship Id="rId11" Type="http://schemas.openxmlformats.org/officeDocument/2006/relationships/hyperlink" Target="https://www.morganstanley.com/press-releases/ai-at-morgan-stanley-debrief-launch" TargetMode="External"/>
  <Relationship Id="rId12" Type="http://schemas.openxmlformats.org/officeDocument/2006/relationships/hyperlink" Target="https://www.ubs.com/global/en/media/display-page-ndp/en-20250204-4q24-quarterly-result.html" TargetMode="External"/>
  <Relationship Id="rId13" Type="http://schemas.openxmlformats.org/officeDocument/2006/relationships/hyperlink" Target="https://www.rbc.com/investor-relations/_assets-custom/pdf/investorday2025_presentation.pdf#page=95" TargetMode="External"/>
  <Relationship Id="rId14" Type="http://schemas.openxmlformats.org/officeDocument/2006/relationships/hyperlink" Target="https://arxiv.org/html/2107.03374v2" TargetMode="External"/>
  <Relationship Id="rId15" Type="http://schemas.openxmlformats.org/officeDocument/2006/relationships/notesSlide" Target="../notesSlides/notesSlide3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cover"/>
          <p:cNvGrpSpPr/>
          <p:nvPr/>
        </p:nvGrpSpPr>
        <p:grpSpPr>
          <a:xfrm>
            <a:off x="438150" y="419100"/>
            <a:ext cx="6398362" cy="3288919"/>
            <a:chOff x="438150" y="419100"/>
            <a:chExt cx="6398362" cy="3288919"/>
          </a:xfrm>
        </p:grpSpPr>
        <p:sp>
          <p:nvSpPr>
            <p:cNvPr id="2" name="TextBox 2"/>
            <p:cNvSpPr txBox="1"/>
            <p:nvPr/>
          </p:nvSpPr>
          <p:spPr>
            <a:xfrm>
              <a:off x="451104" y="419100"/>
              <a:ext cx="4394265"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AI ENGINEER NYC 2026 / CONFERENCE TAKEAWAYS</a:t>
              </a:r>
            </a:p>
          </p:txBody>
        </p:sp>
        <p:sp>
          <p:nvSpPr>
            <p:cNvPr id="3" name="TextBox 3"/>
            <p:cNvSpPr txBox="1"/>
            <p:nvPr/>
          </p:nvSpPr>
          <p:spPr>
            <a:xfrm>
              <a:off x="438150" y="1212850"/>
              <a:ext cx="5359298" cy="1676400"/>
            </a:xfrm>
            <a:prstGeom prst="rect">
              <a:avLst/>
            </a:prstGeom>
            <a:noFill/>
            <a:ln>
              <a:noFill/>
            </a:ln>
          </p:spPr>
          <p:txBody>
            <a:bodyPr wrap="none" lIns="0" tIns="0" rIns="0" bIns="0" anchor="t" anchorCtr="0">
              <a:spAutoFit/>
            </a:bodyPr>
            <a:lstStyle/>
            <a:p>
              <a:pPr algn="l">
                <a:lnSpc>
                  <a:spcPts val="5850"/>
                </a:lnSpc>
              </a:pPr>
              <a:r>
                <a:rPr lang="en-US" sz="4800" dirty="0">
                  <a:solidFill>
                    <a:srgbClr val="FFFDF7"/>
                  </a:solidFill>
                  <a:latin typeface="+mn-lt"/>
                  <a:ea typeface="+mn-ea"/>
                  <a:cs typeface="+mn-cs"/>
                </a:rPr>
                <a:t>From AI capability</a:t>
              </a:r>
              <a:br>
                <a:rPr lang="en-US" sz="4800" dirty="0">
                  <a:solidFill>
                    <a:srgbClr val="FFFDF7"/>
                  </a:solidFill>
                  <a:latin typeface="+mn-lt"/>
                  <a:ea typeface="+mn-ea"/>
                  <a:cs typeface="+mn-cs"/>
                </a:rPr>
              </a:br>
              <a:r>
                <a:rPr lang="en-US" sz="4800" dirty="0">
                  <a:solidFill>
                    <a:schemeClr val="accent3"/>
                  </a:solidFill>
                  <a:latin typeface="+mn-lt"/>
                  <a:ea typeface="+mn-ea"/>
                  <a:cs typeface="+mn-cs"/>
                </a:rPr>
                <a:t>to dependable work</a:t>
              </a:r>
            </a:p>
          </p:txBody>
        </p:sp>
        <p:sp>
          <p:nvSpPr>
            <p:cNvPr id="4" name="TextBox 4"/>
            <p:cNvSpPr txBox="1"/>
            <p:nvPr/>
          </p:nvSpPr>
          <p:spPr>
            <a:xfrm>
              <a:off x="448056" y="3032125"/>
              <a:ext cx="6388456" cy="675894"/>
            </a:xfrm>
            <a:prstGeom prst="rect">
              <a:avLst/>
            </a:prstGeom>
            <a:noFill/>
            <a:ln>
              <a:noFill/>
            </a:ln>
          </p:spPr>
          <p:txBody>
            <a:bodyPr wrap="none" lIns="0" tIns="0" rIns="0" bIns="0" anchor="t" anchorCtr="0">
              <a:spAutoFit/>
            </a:bodyPr>
            <a:lstStyle/>
            <a:p>
              <a:pPr algn="l">
                <a:lnSpc>
                  <a:spcPts val="2550"/>
                </a:lnSpc>
              </a:pPr>
              <a:r>
                <a:rPr lang="en-US" sz="1800" dirty="0">
                  <a:solidFill>
                    <a:srgbClr val="E7F0EA"/>
                  </a:solidFill>
                  <a:latin typeface="+mj-lt"/>
                  <a:ea typeface="+mj-ea"/>
                  <a:cs typeface="+mj-cs"/>
                </a:rPr>
                <a:t>Financial-services AI through company stories, practical methods</a:t>
              </a:r>
              <a:br>
                <a:rPr lang="en-US" sz="1800" dirty="0">
                  <a:solidFill>
                    <a:srgbClr val="E7F0EA"/>
                  </a:solidFill>
                  <a:latin typeface="+mj-lt"/>
                  <a:ea typeface="+mj-ea"/>
                  <a:cs typeface="+mj-cs"/>
                </a:rPr>
              </a:br>
              <a:r>
                <a:rPr lang="en-US" sz="1800" dirty="0">
                  <a:solidFill>
                    <a:srgbClr val="E7F0EA"/>
                  </a:solidFill>
                  <a:latin typeface="+mj-lt"/>
                  <a:ea typeface="+mj-ea"/>
                  <a:cs typeface="+mj-cs"/>
                </a:rPr>
                <a:t>and evidence worth questioning.</a:t>
              </a:r>
            </a:p>
          </p:txBody>
        </p:sp>
      </p:grpSp>
      <p:grpSp>
        <p:nvGrpSpPr>
          <p:cNvPr id="9" name="chapter-rail"/>
          <p:cNvGrpSpPr/>
          <p:nvPr/>
        </p:nvGrpSpPr>
        <p:grpSpPr>
          <a:xfrm>
            <a:off x="448818" y="4438650"/>
            <a:ext cx="11285982" cy="902970"/>
            <a:chOff x="448818" y="4438650"/>
            <a:chExt cx="11285982" cy="902970"/>
          </a:xfrm>
        </p:grpSpPr>
        <p:sp>
          <p:nvSpPr>
            <p:cNvPr id="6" name="Line 6"/>
            <p:cNvSpPr/>
            <p:nvPr/>
          </p:nvSpPr>
          <p:spPr>
            <a:xfrm>
              <a:off x="457200" y="4438650"/>
              <a:ext cx="11277600" cy="9525"/>
            </a:xfrm>
            <a:custGeom>
              <a:avLst/>
              <a:gdLst/>
              <a:ahLst/>
              <a:cxnLst/>
              <a:rect l="l" t="t" r="r" b="b"/>
              <a:pathLst>
                <a:path w="11277600" h="9525">
                  <a:moveTo>
                    <a:pt x="0" y="0"/>
                  </a:moveTo>
                  <a:lnTo>
                    <a:pt x="11277600" y="0"/>
                  </a:lnTo>
                </a:path>
              </a:pathLst>
            </a:custGeom>
            <a:noFill/>
            <a:ln w="9525">
              <a:solidFill>
                <a:srgbClr val="50616A"/>
              </a:solidFill>
            </a:ln>
          </p:spPr>
        </p:sp>
        <p:sp>
          <p:nvSpPr>
            <p:cNvPr id="7" name="TextBox 7"/>
            <p:cNvSpPr txBox="1"/>
            <p:nvPr/>
          </p:nvSpPr>
          <p:spPr>
            <a:xfrm>
              <a:off x="448818" y="4625975"/>
              <a:ext cx="7795702" cy="322707"/>
            </a:xfrm>
            <a:prstGeom prst="rect">
              <a:avLst/>
            </a:prstGeom>
            <a:noFill/>
            <a:ln>
              <a:noFill/>
            </a:ln>
          </p:spPr>
          <p:txBody>
            <a:bodyPr wrap="none" lIns="0" tIns="0" rIns="0" bIns="0" anchor="t" anchorCtr="0">
              <a:spAutoFit/>
            </a:bodyPr>
            <a:lstStyle/>
            <a:p>
              <a:pPr algn="l"/>
              <a:r>
                <a:rPr lang="en-US" sz="1650" dirty="0">
                  <a:solidFill>
                    <a:srgbClr val="FFFDF7"/>
                  </a:solidFill>
                  <a:latin typeface="+mn-lt"/>
                  <a:ea typeface="+mn-ea"/>
                  <a:cs typeface="+mn-cs"/>
                </a:rPr>
                <a:t>Strategy → Grounding → Evaluation → Reliable workflows → Engineer growth</a:t>
              </a:r>
            </a:p>
          </p:txBody>
        </p:sp>
        <p:sp>
          <p:nvSpPr>
            <p:cNvPr id="8" name="TextBox 8"/>
            <p:cNvSpPr txBox="1"/>
            <p:nvPr/>
          </p:nvSpPr>
          <p:spPr>
            <a:xfrm>
              <a:off x="449580" y="5048250"/>
              <a:ext cx="7530766" cy="293370"/>
            </a:xfrm>
            <a:prstGeom prst="rect">
              <a:avLst/>
            </a:prstGeom>
            <a:noFill/>
            <a:ln>
              <a:noFill/>
            </a:ln>
          </p:spPr>
          <p:txBody>
            <a:bodyPr wrap="none" lIns="0" tIns="0" rIns="0" bIns="0" anchor="t" anchorCtr="0">
              <a:spAutoFit/>
            </a:bodyPr>
            <a:lstStyle/>
            <a:p>
              <a:pPr algn="l"/>
              <a:r>
                <a:rPr lang="en-US" sz="1500" dirty="0">
                  <a:solidFill>
                    <a:srgbClr val="E7F0EA"/>
                  </a:solidFill>
                  <a:latin typeface="+mn-lt"/>
                  <a:ea typeface="+mn-ea"/>
                  <a:cs typeface="+mn-cs"/>
                </a:rPr>
                <a:t>One operating story: useful work, inspectable evidence and controlled improvement.</a:t>
              </a:r>
            </a:p>
          </p:txBody>
        </p:sp>
      </p:grpSp>
      <p:grpSp>
        <p:nvGrpSpPr>
          <p:cNvPr id="11" name="evidence-scope"/>
          <p:cNvGrpSpPr/>
          <p:nvPr/>
        </p:nvGrpSpPr>
        <p:grpSpPr>
          <a:xfrm>
            <a:off x="450342" y="5743575"/>
            <a:ext cx="7885603" cy="511683"/>
            <a:chOff x="450342" y="5743575"/>
            <a:chExt cx="7885603" cy="511683"/>
          </a:xfrm>
        </p:grpSpPr>
        <p:sp>
          <p:nvSpPr>
            <p:cNvPr id="10" name="TextBox 10"/>
            <p:cNvSpPr txBox="1"/>
            <p:nvPr/>
          </p:nvSpPr>
          <p:spPr>
            <a:xfrm>
              <a:off x="450342" y="5743575"/>
              <a:ext cx="7885603"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E7F0EA"/>
                  </a:solidFill>
                  <a:latin typeface="+mn-lt"/>
                  <a:ea typeface="+mn-ea"/>
                  <a:cs typeface="+mn-cs"/>
                </a:rPr>
                <a:t>Research + twelve identified attendee-note sets • October 13–14, 2026</a:t>
              </a:r>
              <a:br>
                <a:rPr lang="en-US" sz="1350" dirty="0">
                  <a:solidFill>
                    <a:srgbClr val="E7F0EA"/>
                  </a:solidFill>
                  <a:latin typeface="+mn-lt"/>
                  <a:ea typeface="+mn-ea"/>
                  <a:cs typeface="+mn-cs"/>
                </a:rPr>
              </a:br>
              <a:r>
                <a:rPr lang="en-US" sz="1350" dirty="0">
                  <a:solidFill>
                    <a:srgbClr val="E7F0EA"/>
                  </a:solidFill>
                  <a:latin typeface="+mn-lt"/>
                  <a:ea typeface="+mn-ea"/>
                  <a:cs typeface="+mn-cs"/>
                </a:rPr>
                <a:t>Company accounts, program context, dated disclosures and our proposed methods retain distinct limits.</a:t>
              </a:r>
            </a:p>
          </p:txBody>
        </p:sp>
      </p:grpSp>
      <p:grpSp>
        <p:nvGrpSpPr>
          <p:cNvPr id="14" name="footer"/>
          <p:cNvGrpSpPr/>
          <p:nvPr/>
        </p:nvGrpSpPr>
        <p:grpSpPr>
          <a:xfrm>
            <a:off x="452438" y="6477000"/>
            <a:ext cx="11287124" cy="176212"/>
            <a:chOff x="452438" y="6477000"/>
            <a:chExt cx="11287124" cy="176212"/>
          </a:xfrm>
        </p:grpSpPr>
        <p:sp>
          <p:nvSpPr>
            <p:cNvPr id="12" name="TextBox 12"/>
            <p:cNvSpPr txBox="1"/>
            <p:nvPr/>
          </p:nvSpPr>
          <p:spPr>
            <a:xfrm>
              <a:off x="452438" y="6477000"/>
              <a:ext cx="6110504"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For data scientists, AI engineers and technical leads • 40 minutes + discussion • Detailed slides + presenter notes</a:t>
              </a:r>
            </a:p>
          </p:txBody>
        </p:sp>
        <p:sp>
          <p:nvSpPr>
            <p:cNvPr id="13" name="TextBox 13"/>
            <p:cNvSpPr txBox="1"/>
            <p:nvPr/>
          </p:nvSpPr>
          <p:spPr>
            <a:xfrm>
              <a:off x="11359512" y="6477000"/>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01 / 37</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7600279" cy="1110107"/>
            <a:chOff x="443484" y="371475"/>
            <a:chExt cx="7600279" cy="1110107"/>
          </a:xfrm>
        </p:grpSpPr>
        <p:sp>
          <p:nvSpPr>
            <p:cNvPr id="2" name="TextBox 2"/>
            <p:cNvSpPr txBox="1"/>
            <p:nvPr/>
          </p:nvSpPr>
          <p:spPr>
            <a:xfrm>
              <a:off x="451104" y="371475"/>
              <a:ext cx="2430397"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THE OPERATING ARGUMENT</a:t>
              </a:r>
            </a:p>
          </p:txBody>
        </p:sp>
        <p:sp>
          <p:nvSpPr>
            <p:cNvPr id="3" name="TextBox 3"/>
            <p:cNvSpPr txBox="1"/>
            <p:nvPr/>
          </p:nvSpPr>
          <p:spPr>
            <a:xfrm>
              <a:off x="443484" y="603250"/>
              <a:ext cx="7600279"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Five disciplines make financial AI dependable</a:t>
              </a:r>
            </a:p>
          </p:txBody>
        </p:sp>
        <p:sp>
          <p:nvSpPr>
            <p:cNvPr id="4" name="TextBox 4"/>
            <p:cNvSpPr txBox="1"/>
            <p:nvPr/>
          </p:nvSpPr>
          <p:spPr>
            <a:xfrm>
              <a:off x="448818" y="1158875"/>
              <a:ext cx="5889095"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The model is one component of a complete, reviewable job.</a:t>
              </a:r>
            </a:p>
          </p:txBody>
        </p:sp>
      </p:grpSp>
      <p:grpSp>
        <p:nvGrpSpPr>
          <p:cNvPr id="26" name="five-chapters"/>
          <p:cNvGrpSpPr/>
          <p:nvPr/>
        </p:nvGrpSpPr>
        <p:grpSpPr>
          <a:xfrm>
            <a:off x="457200" y="1809750"/>
            <a:ext cx="11277600" cy="2152650"/>
            <a:chOff x="457200" y="1809750"/>
            <a:chExt cx="11277600" cy="2152650"/>
          </a:xfrm>
        </p:grpSpPr>
        <p:grpSp>
          <p:nvGrpSpPr>
            <p:cNvPr id="9" name="Group 9"/>
            <p:cNvGrpSpPr/>
            <p:nvPr/>
          </p:nvGrpSpPr>
          <p:grpSpPr>
            <a:xfrm>
              <a:off x="457200" y="1809750"/>
              <a:ext cx="2009775" cy="2152650"/>
              <a:chOff x="457200" y="1809750"/>
              <a:chExt cx="2009775" cy="2152650"/>
            </a:xfrm>
          </p:grpSpPr>
          <p:sp>
            <p:nvSpPr>
              <p:cNvPr id="6" name="Rectangle 6"/>
              <p:cNvSpPr/>
              <p:nvPr/>
            </p:nvSpPr>
            <p:spPr>
              <a:xfrm>
                <a:off x="457200" y="1809750"/>
                <a:ext cx="2009775" cy="2152650"/>
              </a:xfrm>
              <a:prstGeom prst="rect">
                <a:avLst/>
              </a:prstGeom>
              <a:solidFill>
                <a:schemeClr val="lt2"/>
              </a:solidFill>
              <a:ln>
                <a:noFill/>
              </a:ln>
            </p:spPr>
          </p:sp>
          <p:sp>
            <p:nvSpPr>
              <p:cNvPr id="7" name="TextBox 7"/>
              <p:cNvSpPr txBox="1"/>
              <p:nvPr/>
            </p:nvSpPr>
            <p:spPr>
              <a:xfrm>
                <a:off x="638556" y="1962150"/>
                <a:ext cx="149010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01 / Strategy</a:t>
                </a:r>
              </a:p>
            </p:txBody>
          </p:sp>
          <p:sp>
            <p:nvSpPr>
              <p:cNvPr id="8" name="TextBox 8"/>
              <p:cNvSpPr txBox="1"/>
              <p:nvPr/>
            </p:nvSpPr>
            <p:spPr>
              <a:xfrm>
                <a:off x="640080" y="2482850"/>
                <a:ext cx="1328547"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Define valuable</a:t>
                </a:r>
                <a:br>
                  <a:rPr lang="en-US" sz="1500" dirty="0">
                    <a:solidFill>
                      <a:schemeClr val="dk1"/>
                    </a:solidFill>
                    <a:latin typeface="+mn-lt"/>
                    <a:ea typeface="+mn-ea"/>
                    <a:cs typeface="+mn-cs"/>
                  </a:rPr>
                </a:br>
                <a:r>
                  <a:rPr lang="en-US" sz="1500" dirty="0">
                    <a:solidFill>
                      <a:schemeClr val="dk1"/>
                    </a:solidFill>
                    <a:latin typeface="+mn-lt"/>
                    <a:ea typeface="+mn-ea"/>
                    <a:cs typeface="+mn-cs"/>
                  </a:rPr>
                  <a:t>accepted work</a:t>
                </a:r>
                <a:br>
                  <a:rPr lang="en-US" sz="1500" dirty="0">
                    <a:solidFill>
                      <a:schemeClr val="dk1"/>
                    </a:solidFill>
                    <a:latin typeface="+mn-lt"/>
                    <a:ea typeface="+mn-ea"/>
                    <a:cs typeface="+mn-cs"/>
                  </a:rPr>
                </a:br>
                <a:r>
                  <a:rPr lang="en-US" sz="1500" dirty="0">
                    <a:solidFill>
                      <a:schemeClr val="dk1"/>
                    </a:solidFill>
                    <a:latin typeface="+mn-lt"/>
                    <a:ea typeface="+mn-ea"/>
                    <a:cs typeface="+mn-cs"/>
                  </a:rPr>
                  <a:t>and credible</a:t>
                </a:r>
                <a:br>
                  <a:rPr lang="en-US" sz="1500" dirty="0">
                    <a:solidFill>
                      <a:schemeClr val="dk1"/>
                    </a:solidFill>
                    <a:latin typeface="+mn-lt"/>
                    <a:ea typeface="+mn-ea"/>
                    <a:cs typeface="+mn-cs"/>
                  </a:rPr>
                </a:br>
                <a:r>
                  <a:rPr lang="en-US" sz="1500" dirty="0">
                    <a:solidFill>
                      <a:schemeClr val="dk1"/>
                    </a:solidFill>
                    <a:latin typeface="+mn-lt"/>
                    <a:ea typeface="+mn-ea"/>
                    <a:cs typeface="+mn-cs"/>
                  </a:rPr>
                  <a:t>economics.</a:t>
                </a:r>
              </a:p>
            </p:txBody>
          </p:sp>
        </p:grpSp>
        <p:grpSp>
          <p:nvGrpSpPr>
            <p:cNvPr id="13" name="Group 13"/>
            <p:cNvGrpSpPr/>
            <p:nvPr/>
          </p:nvGrpSpPr>
          <p:grpSpPr>
            <a:xfrm>
              <a:off x="2771775" y="1809750"/>
              <a:ext cx="2009775" cy="2152650"/>
              <a:chOff x="2771775" y="1809750"/>
              <a:chExt cx="2009775" cy="2152650"/>
            </a:xfrm>
          </p:grpSpPr>
          <p:sp>
            <p:nvSpPr>
              <p:cNvPr id="10" name="Rectangle 10"/>
              <p:cNvSpPr/>
              <p:nvPr/>
            </p:nvSpPr>
            <p:spPr>
              <a:xfrm>
                <a:off x="2771775" y="1809750"/>
                <a:ext cx="2009775" cy="2152650"/>
              </a:xfrm>
              <a:prstGeom prst="rect">
                <a:avLst/>
              </a:prstGeom>
              <a:solidFill>
                <a:schemeClr val="lt2"/>
              </a:solidFill>
              <a:ln>
                <a:noFill/>
              </a:ln>
            </p:spPr>
          </p:sp>
          <p:sp>
            <p:nvSpPr>
              <p:cNvPr id="11" name="TextBox 11"/>
              <p:cNvSpPr txBox="1"/>
              <p:nvPr/>
            </p:nvSpPr>
            <p:spPr>
              <a:xfrm>
                <a:off x="2953131" y="1962150"/>
                <a:ext cx="174526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02 / Grounding</a:t>
                </a:r>
              </a:p>
            </p:txBody>
          </p:sp>
          <p:sp>
            <p:nvSpPr>
              <p:cNvPr id="12" name="TextBox 12"/>
              <p:cNvSpPr txBox="1"/>
              <p:nvPr/>
            </p:nvSpPr>
            <p:spPr>
              <a:xfrm>
                <a:off x="2954655" y="2482850"/>
                <a:ext cx="1645996"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Preserve evidence,</a:t>
                </a:r>
                <a:br>
                  <a:rPr lang="en-US" sz="1500" dirty="0">
                    <a:solidFill>
                      <a:schemeClr val="dk1"/>
                    </a:solidFill>
                    <a:latin typeface="+mn-lt"/>
                    <a:ea typeface="+mn-ea"/>
                    <a:cs typeface="+mn-cs"/>
                  </a:rPr>
                </a:br>
                <a:r>
                  <a:rPr lang="en-US" sz="1500" dirty="0">
                    <a:solidFill>
                      <a:schemeClr val="dk1"/>
                    </a:solidFill>
                    <a:latin typeface="+mn-lt"/>
                    <a:ea typeface="+mn-ea"/>
                    <a:cs typeface="+mn-cs"/>
                  </a:rPr>
                  <a:t>meaning, time,</a:t>
                </a:r>
                <a:br>
                  <a:rPr lang="en-US" sz="1500" dirty="0">
                    <a:solidFill>
                      <a:schemeClr val="dk1"/>
                    </a:solidFill>
                    <a:latin typeface="+mn-lt"/>
                    <a:ea typeface="+mn-ea"/>
                    <a:cs typeface="+mn-cs"/>
                  </a:rPr>
                </a:br>
                <a:r>
                  <a:rPr lang="en-US" sz="1500" dirty="0">
                    <a:solidFill>
                      <a:schemeClr val="dk1"/>
                    </a:solidFill>
                    <a:latin typeface="+mn-lt"/>
                    <a:ea typeface="+mn-ea"/>
                    <a:cs typeface="+mn-cs"/>
                  </a:rPr>
                  <a:t>source versions</a:t>
                </a:r>
                <a:br>
                  <a:rPr lang="en-US" sz="1500" dirty="0">
                    <a:solidFill>
                      <a:schemeClr val="dk1"/>
                    </a:solidFill>
                    <a:latin typeface="+mn-lt"/>
                    <a:ea typeface="+mn-ea"/>
                    <a:cs typeface="+mn-cs"/>
                  </a:rPr>
                </a:br>
                <a:r>
                  <a:rPr lang="en-US" sz="1500" dirty="0">
                    <a:solidFill>
                      <a:schemeClr val="dk1"/>
                    </a:solidFill>
                    <a:latin typeface="+mn-lt"/>
                    <a:ea typeface="+mn-ea"/>
                    <a:cs typeface="+mn-cs"/>
                  </a:rPr>
                  <a:t>and access.</a:t>
                </a:r>
              </a:p>
            </p:txBody>
          </p:sp>
        </p:grpSp>
        <p:grpSp>
          <p:nvGrpSpPr>
            <p:cNvPr id="17" name="Group 17"/>
            <p:cNvGrpSpPr/>
            <p:nvPr/>
          </p:nvGrpSpPr>
          <p:grpSpPr>
            <a:xfrm>
              <a:off x="5086350" y="1809750"/>
              <a:ext cx="2009775" cy="2152650"/>
              <a:chOff x="5086350" y="1809750"/>
              <a:chExt cx="2009775" cy="2152650"/>
            </a:xfrm>
          </p:grpSpPr>
          <p:sp>
            <p:nvSpPr>
              <p:cNvPr id="14" name="Rectangle 14"/>
              <p:cNvSpPr/>
              <p:nvPr/>
            </p:nvSpPr>
            <p:spPr>
              <a:xfrm>
                <a:off x="5086350" y="1809750"/>
                <a:ext cx="2009775" cy="2152650"/>
              </a:xfrm>
              <a:prstGeom prst="rect">
                <a:avLst/>
              </a:prstGeom>
              <a:solidFill>
                <a:schemeClr val="lt2"/>
              </a:solidFill>
              <a:ln>
                <a:noFill/>
              </a:ln>
            </p:spPr>
          </p:sp>
          <p:sp>
            <p:nvSpPr>
              <p:cNvPr id="15" name="TextBox 15"/>
              <p:cNvSpPr txBox="1"/>
              <p:nvPr/>
            </p:nvSpPr>
            <p:spPr>
              <a:xfrm>
                <a:off x="5267706" y="1962150"/>
                <a:ext cx="175022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03 / Evaluation</a:t>
                </a:r>
              </a:p>
            </p:txBody>
          </p:sp>
          <p:sp>
            <p:nvSpPr>
              <p:cNvPr id="16" name="TextBox 16"/>
              <p:cNvSpPr txBox="1"/>
              <p:nvPr/>
            </p:nvSpPr>
            <p:spPr>
              <a:xfrm>
                <a:off x="5269230" y="2482850"/>
                <a:ext cx="1529410"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Test the complete</a:t>
                </a:r>
                <a:br>
                  <a:rPr lang="en-US" sz="1500" dirty="0">
                    <a:solidFill>
                      <a:schemeClr val="dk1"/>
                    </a:solidFill>
                    <a:latin typeface="+mn-lt"/>
                    <a:ea typeface="+mn-ea"/>
                    <a:cs typeface="+mn-cs"/>
                  </a:rPr>
                </a:br>
                <a:r>
                  <a:rPr lang="en-US" sz="1500" dirty="0">
                    <a:solidFill>
                      <a:schemeClr val="dk1"/>
                    </a:solidFill>
                    <a:latin typeface="+mn-lt"/>
                    <a:ea typeface="+mn-ea"/>
                    <a:cs typeface="+mn-cs"/>
                  </a:rPr>
                  <a:t>task, judge,</a:t>
                </a:r>
                <a:br>
                  <a:rPr lang="en-US" sz="1500" dirty="0">
                    <a:solidFill>
                      <a:schemeClr val="dk1"/>
                    </a:solidFill>
                    <a:latin typeface="+mn-lt"/>
                    <a:ea typeface="+mn-ea"/>
                    <a:cs typeface="+mn-cs"/>
                  </a:rPr>
                </a:br>
                <a:r>
                  <a:rPr lang="en-US" sz="1500" dirty="0">
                    <a:solidFill>
                      <a:schemeClr val="dk1"/>
                    </a:solidFill>
                    <a:latin typeface="+mn-lt"/>
                    <a:ea typeface="+mn-ea"/>
                    <a:cs typeface="+mn-cs"/>
                  </a:rPr>
                  <a:t>selection policy</a:t>
                </a:r>
                <a:br>
                  <a:rPr lang="en-US" sz="1500" dirty="0">
                    <a:solidFill>
                      <a:schemeClr val="dk1"/>
                    </a:solidFill>
                    <a:latin typeface="+mn-lt"/>
                    <a:ea typeface="+mn-ea"/>
                    <a:cs typeface="+mn-cs"/>
                  </a:rPr>
                </a:br>
                <a:r>
                  <a:rPr lang="en-US" sz="1500" dirty="0">
                    <a:solidFill>
                      <a:schemeClr val="dk1"/>
                    </a:solidFill>
                    <a:latin typeface="+mn-lt"/>
                    <a:ea typeface="+mn-ea"/>
                    <a:cs typeface="+mn-cs"/>
                  </a:rPr>
                  <a:t>and release.</a:t>
                </a:r>
              </a:p>
            </p:txBody>
          </p:sp>
        </p:grpSp>
        <p:grpSp>
          <p:nvGrpSpPr>
            <p:cNvPr id="21" name="Group 21"/>
            <p:cNvGrpSpPr/>
            <p:nvPr/>
          </p:nvGrpSpPr>
          <p:grpSpPr>
            <a:xfrm>
              <a:off x="7400925" y="1809750"/>
              <a:ext cx="2009775" cy="2152650"/>
              <a:chOff x="7400925" y="1809750"/>
              <a:chExt cx="2009775" cy="2152650"/>
            </a:xfrm>
          </p:grpSpPr>
          <p:sp>
            <p:nvSpPr>
              <p:cNvPr id="18" name="Rectangle 18"/>
              <p:cNvSpPr/>
              <p:nvPr/>
            </p:nvSpPr>
            <p:spPr>
              <a:xfrm>
                <a:off x="7400925" y="1809750"/>
                <a:ext cx="2009775" cy="2152650"/>
              </a:xfrm>
              <a:prstGeom prst="rect">
                <a:avLst/>
              </a:prstGeom>
              <a:solidFill>
                <a:schemeClr val="lt2"/>
              </a:solidFill>
              <a:ln>
                <a:noFill/>
              </a:ln>
            </p:spPr>
          </p:sp>
          <p:sp>
            <p:nvSpPr>
              <p:cNvPr id="19" name="TextBox 19"/>
              <p:cNvSpPr txBox="1"/>
              <p:nvPr/>
            </p:nvSpPr>
            <p:spPr>
              <a:xfrm>
                <a:off x="7582281" y="1962150"/>
                <a:ext cx="178432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04 / Workflows</a:t>
                </a:r>
              </a:p>
            </p:txBody>
          </p:sp>
          <p:sp>
            <p:nvSpPr>
              <p:cNvPr id="20" name="TextBox 20"/>
              <p:cNvSpPr txBox="1"/>
              <p:nvPr/>
            </p:nvSpPr>
            <p:spPr>
              <a:xfrm>
                <a:off x="7583805" y="2482850"/>
                <a:ext cx="1677924"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Encode methods,</a:t>
                </a:r>
                <a:br>
                  <a:rPr lang="en-US" sz="1500" dirty="0">
                    <a:solidFill>
                      <a:schemeClr val="dk1"/>
                    </a:solidFill>
                    <a:latin typeface="+mn-lt"/>
                    <a:ea typeface="+mn-ea"/>
                    <a:cs typeface="+mn-cs"/>
                  </a:rPr>
                </a:br>
                <a:r>
                  <a:rPr lang="en-US" sz="1500" dirty="0">
                    <a:solidFill>
                      <a:schemeClr val="dk1"/>
                    </a:solidFill>
                    <a:latin typeface="+mn-lt"/>
                    <a:ea typeface="+mn-ea"/>
                    <a:cs typeface="+mn-cs"/>
                  </a:rPr>
                  <a:t>enforce authority</a:t>
                </a:r>
                <a:br>
                  <a:rPr lang="en-US" sz="1500" dirty="0">
                    <a:solidFill>
                      <a:schemeClr val="dk1"/>
                    </a:solidFill>
                    <a:latin typeface="+mn-lt"/>
                    <a:ea typeface="+mn-ea"/>
                    <a:cs typeface="+mn-cs"/>
                  </a:rPr>
                </a:br>
                <a:r>
                  <a:rPr lang="en-US" sz="1500" dirty="0">
                    <a:solidFill>
                      <a:schemeClr val="dk1"/>
                    </a:solidFill>
                    <a:latin typeface="+mn-lt"/>
                    <a:ea typeface="+mn-ea"/>
                    <a:cs typeface="+mn-cs"/>
                  </a:rPr>
                  <a:t>and verify at</a:t>
                </a:r>
                <a:br>
                  <a:rPr lang="en-US" sz="1500" dirty="0">
                    <a:solidFill>
                      <a:schemeClr val="dk1"/>
                    </a:solidFill>
                    <a:latin typeface="+mn-lt"/>
                    <a:ea typeface="+mn-ea"/>
                    <a:cs typeface="+mn-cs"/>
                  </a:rPr>
                </a:br>
                <a:r>
                  <a:rPr lang="en-US" sz="1500" dirty="0">
                    <a:solidFill>
                      <a:schemeClr val="dk1"/>
                    </a:solidFill>
                    <a:latin typeface="+mn-lt"/>
                    <a:ea typeface="+mn-ea"/>
                    <a:cs typeface="+mn-cs"/>
                  </a:rPr>
                  <a:t>several boundaries.</a:t>
                </a:r>
              </a:p>
            </p:txBody>
          </p:sp>
        </p:grpSp>
        <p:grpSp>
          <p:nvGrpSpPr>
            <p:cNvPr id="25" name="Group 25"/>
            <p:cNvGrpSpPr/>
            <p:nvPr/>
          </p:nvGrpSpPr>
          <p:grpSpPr>
            <a:xfrm>
              <a:off x="9715500" y="1809750"/>
              <a:ext cx="2019300" cy="2152650"/>
              <a:chOff x="9715500" y="1809750"/>
              <a:chExt cx="2019300" cy="2152650"/>
            </a:xfrm>
          </p:grpSpPr>
          <p:sp>
            <p:nvSpPr>
              <p:cNvPr id="22" name="Rectangle 22"/>
              <p:cNvSpPr/>
              <p:nvPr/>
            </p:nvSpPr>
            <p:spPr>
              <a:xfrm>
                <a:off x="9715500" y="1809750"/>
                <a:ext cx="2019300" cy="2152650"/>
              </a:xfrm>
              <a:prstGeom prst="rect">
                <a:avLst/>
              </a:prstGeom>
              <a:solidFill>
                <a:schemeClr val="accent1"/>
              </a:solidFill>
              <a:ln>
                <a:noFill/>
              </a:ln>
            </p:spPr>
          </p:sp>
          <p:sp>
            <p:nvSpPr>
              <p:cNvPr id="23" name="TextBox 23"/>
              <p:cNvSpPr txBox="1"/>
              <p:nvPr/>
            </p:nvSpPr>
            <p:spPr>
              <a:xfrm>
                <a:off x="9896856" y="1962150"/>
                <a:ext cx="1412530"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05 / Growth</a:t>
                </a:r>
              </a:p>
            </p:txBody>
          </p:sp>
          <p:sp>
            <p:nvSpPr>
              <p:cNvPr id="24" name="TextBox 24"/>
              <p:cNvSpPr txBox="1"/>
              <p:nvPr/>
            </p:nvSpPr>
            <p:spPr>
              <a:xfrm>
                <a:off x="9898380" y="2482850"/>
                <a:ext cx="1296505" cy="10934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Own the loop</a:t>
                </a:r>
                <a:br>
                  <a:rPr lang="en-US" sz="1500" dirty="0">
                    <a:solidFill>
                      <a:srgbClr val="FFFDF7"/>
                    </a:solidFill>
                    <a:latin typeface="+mn-lt"/>
                    <a:ea typeface="+mn-ea"/>
                    <a:cs typeface="+mn-cs"/>
                  </a:rPr>
                </a:br>
                <a:r>
                  <a:rPr lang="en-US" sz="1500" dirty="0">
                    <a:solidFill>
                      <a:srgbClr val="FFFDF7"/>
                    </a:solidFill>
                    <a:latin typeface="+mn-lt"/>
                    <a:ea typeface="+mn-ea"/>
                    <a:cs typeface="+mn-cs"/>
                  </a:rPr>
                  <a:t>from user need</a:t>
                </a:r>
                <a:br>
                  <a:rPr lang="en-US" sz="1500" dirty="0">
                    <a:solidFill>
                      <a:srgbClr val="FFFDF7"/>
                    </a:solidFill>
                    <a:latin typeface="+mn-lt"/>
                    <a:ea typeface="+mn-ea"/>
                    <a:cs typeface="+mn-cs"/>
                  </a:rPr>
                </a:br>
                <a:r>
                  <a:rPr lang="en-US" sz="1500" dirty="0">
                    <a:solidFill>
                      <a:srgbClr val="FFFDF7"/>
                    </a:solidFill>
                    <a:latin typeface="+mn-lt"/>
                    <a:ea typeface="+mn-ea"/>
                    <a:cs typeface="+mn-cs"/>
                  </a:rPr>
                  <a:t>to verified</a:t>
                </a:r>
                <a:br>
                  <a:rPr lang="en-US" sz="1500" dirty="0">
                    <a:solidFill>
                      <a:srgbClr val="FFFDF7"/>
                    </a:solidFill>
                    <a:latin typeface="+mn-lt"/>
                    <a:ea typeface="+mn-ea"/>
                    <a:cs typeface="+mn-cs"/>
                  </a:rPr>
                </a:br>
                <a:r>
                  <a:rPr lang="en-US" sz="1500" dirty="0">
                    <a:solidFill>
                      <a:srgbClr val="FFFDF7"/>
                    </a:solidFill>
                    <a:latin typeface="+mn-lt"/>
                    <a:ea typeface="+mn-ea"/>
                    <a:cs typeface="+mn-cs"/>
                  </a:rPr>
                  <a:t>improvement.</a:t>
                </a:r>
              </a:p>
            </p:txBody>
          </p:sp>
        </p:grpSp>
      </p:grpSp>
      <p:grpSp>
        <p:nvGrpSpPr>
          <p:cNvPr id="29" name="connected-method"/>
          <p:cNvGrpSpPr/>
          <p:nvPr/>
        </p:nvGrpSpPr>
        <p:grpSpPr>
          <a:xfrm>
            <a:off x="449580" y="4368800"/>
            <a:ext cx="9133103" cy="1360170"/>
            <a:chOff x="449580" y="4368800"/>
            <a:chExt cx="9133103" cy="1360170"/>
          </a:xfrm>
        </p:grpSpPr>
        <p:sp>
          <p:nvSpPr>
            <p:cNvPr id="27" name="TextBox 27"/>
            <p:cNvSpPr txBox="1"/>
            <p:nvPr/>
          </p:nvSpPr>
          <p:spPr>
            <a:xfrm>
              <a:off x="449580" y="4368800"/>
              <a:ext cx="8857755"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Start with the bottleneck: Bridgewater’s relevant evidence, Range’s expert planning or wealth preparation</a:t>
              </a:r>
              <a:br>
                <a:rPr lang="en-US" sz="1500" dirty="0">
                  <a:solidFill>
                    <a:schemeClr val="dk1"/>
                  </a:solidFill>
                  <a:latin typeface="+mn-lt"/>
                  <a:ea typeface="+mn-ea"/>
                  <a:cs typeface="+mn-cs"/>
                </a:rPr>
              </a:br>
              <a:r>
                <a:rPr lang="en-US" sz="1500" dirty="0">
                  <a:solidFill>
                    <a:schemeClr val="dk1"/>
                  </a:solidFill>
                  <a:latin typeface="+mn-lt"/>
                  <a:ea typeface="+mn-ea"/>
                  <a:cs typeface="+mn-cs"/>
                </a:rPr>
                <a:t>and follow-through. Name the accepted output and scarce resource before choosing tools.</a:t>
              </a:r>
            </a:p>
          </p:txBody>
        </p:sp>
        <p:sp>
          <p:nvSpPr>
            <p:cNvPr id="28" name="TextBox 28"/>
            <p:cNvSpPr txBox="1"/>
            <p:nvPr/>
          </p:nvSpPr>
          <p:spPr>
            <a:xfrm>
              <a:off x="449580" y="5168900"/>
              <a:ext cx="9133103"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Then trace sources, definitions, access, actions and corrections through the delivered artifact.</a:t>
              </a:r>
              <a:br>
                <a:rPr lang="en-US" sz="1500" dirty="0">
                  <a:solidFill>
                    <a:schemeClr val="dk1"/>
                  </a:solidFill>
                  <a:latin typeface="+mn-lt"/>
                  <a:ea typeface="+mn-ea"/>
                  <a:cs typeface="+mn-cs"/>
                </a:rPr>
              </a:br>
              <a:r>
                <a:rPr lang="en-US" sz="1500" dirty="0">
                  <a:solidFill>
                    <a:schemeClr val="dk1"/>
                  </a:solidFill>
                  <a:latin typeface="+mn-lt"/>
                  <a:ea typeface="+mn-ea"/>
                  <a:cs typeface="+mn-cs"/>
                </a:rPr>
                <a:t>Ramp’s ablations and Arize’s trace analysis motivate one bounded comparison: change, assess and decide.</a:t>
              </a:r>
            </a:p>
          </p:txBody>
        </p:sp>
      </p:grpSp>
      <p:grpSp>
        <p:nvGrpSpPr>
          <p:cNvPr id="32" name="footer"/>
          <p:cNvGrpSpPr/>
          <p:nvPr/>
        </p:nvGrpSpPr>
        <p:grpSpPr>
          <a:xfrm>
            <a:off x="452438" y="6429375"/>
            <a:ext cx="11287124" cy="176212"/>
            <a:chOff x="452438" y="6429375"/>
            <a:chExt cx="11287124" cy="176212"/>
          </a:xfrm>
        </p:grpSpPr>
        <p:sp>
          <p:nvSpPr>
            <p:cNvPr id="30" name="TextBox 30"/>
            <p:cNvSpPr txBox="1"/>
            <p:nvPr/>
          </p:nvSpPr>
          <p:spPr>
            <a:xfrm>
              <a:off x="452438" y="6429375"/>
              <a:ext cx="5923251"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Our synthesis of conference mechanisms. A model choice or benchmark does not resolve the whole workflow.</a:t>
              </a:r>
            </a:p>
          </p:txBody>
        </p:sp>
        <p:sp>
          <p:nvSpPr>
            <p:cNvPr id="31" name="TextBox 31"/>
            <p:cNvSpPr txBox="1"/>
            <p:nvPr/>
          </p:nvSpPr>
          <p:spPr>
            <a:xfrm>
              <a:off x="11359512" y="64293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02 / 37</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7498866" cy="1110107"/>
            <a:chOff x="443484" y="371475"/>
            <a:chExt cx="7498866" cy="1110107"/>
          </a:xfrm>
        </p:grpSpPr>
        <p:sp>
          <p:nvSpPr>
            <p:cNvPr id="2" name="TextBox 2"/>
            <p:cNvSpPr txBox="1"/>
            <p:nvPr/>
          </p:nvSpPr>
          <p:spPr>
            <a:xfrm>
              <a:off x="451104" y="371475"/>
              <a:ext cx="282929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01 / FINANCE STRATEGY &amp; VALUE</a:t>
              </a:r>
            </a:p>
          </p:txBody>
        </p:sp>
        <p:sp>
          <p:nvSpPr>
            <p:cNvPr id="3" name="TextBox 3"/>
            <p:cNvSpPr txBox="1"/>
            <p:nvPr/>
          </p:nvSpPr>
          <p:spPr>
            <a:xfrm>
              <a:off x="443484" y="603250"/>
              <a:ext cx="7460925"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Design for a reviewed financial work product</a:t>
              </a:r>
            </a:p>
          </p:txBody>
        </p:sp>
        <p:sp>
          <p:nvSpPr>
            <p:cNvPr id="4" name="TextBox 4"/>
            <p:cNvSpPr txBox="1"/>
            <p:nvPr/>
          </p:nvSpPr>
          <p:spPr>
            <a:xfrm>
              <a:off x="448818" y="1158875"/>
              <a:ext cx="749353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Completion includes evidence, correction, constraints and the next decision.</a:t>
              </a:r>
            </a:p>
          </p:txBody>
        </p:sp>
      </p:grpSp>
      <p:grpSp>
        <p:nvGrpSpPr>
          <p:cNvPr id="10" name="research"/>
          <p:cNvGrpSpPr/>
          <p:nvPr/>
        </p:nvGrpSpPr>
        <p:grpSpPr>
          <a:xfrm>
            <a:off x="457200" y="1838325"/>
            <a:ext cx="8801519" cy="1200150"/>
            <a:chOff x="457200" y="1838325"/>
            <a:chExt cx="8801519" cy="1200150"/>
          </a:xfrm>
        </p:grpSpPr>
        <p:sp>
          <p:nvSpPr>
            <p:cNvPr id="6" name="Rectangle 6"/>
            <p:cNvSpPr/>
            <p:nvPr/>
          </p:nvSpPr>
          <p:spPr>
            <a:xfrm>
              <a:off x="457200" y="1838325"/>
              <a:ext cx="2686050" cy="1200150"/>
            </a:xfrm>
            <a:prstGeom prst="rect">
              <a:avLst/>
            </a:prstGeom>
            <a:solidFill>
              <a:schemeClr val="lt2"/>
            </a:solidFill>
            <a:ln>
              <a:noFill/>
            </a:ln>
          </p:spPr>
        </p:sp>
        <p:sp>
          <p:nvSpPr>
            <p:cNvPr id="7" name="TextBox 7"/>
            <p:cNvSpPr txBox="1"/>
            <p:nvPr/>
          </p:nvSpPr>
          <p:spPr>
            <a:xfrm>
              <a:off x="638556" y="1962150"/>
              <a:ext cx="185400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Research insight</a:t>
              </a:r>
            </a:p>
          </p:txBody>
        </p:sp>
        <p:sp>
          <p:nvSpPr>
            <p:cNvPr id="8" name="TextBox 8"/>
            <p:cNvSpPr txBox="1"/>
            <p:nvPr/>
          </p:nvSpPr>
          <p:spPr>
            <a:xfrm>
              <a:off x="640842" y="2425700"/>
              <a:ext cx="66552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Contour</a:t>
              </a:r>
            </a:p>
          </p:txBody>
        </p:sp>
        <p:sp>
          <p:nvSpPr>
            <p:cNvPr id="9" name="TextBox 9"/>
            <p:cNvSpPr txBox="1"/>
            <p:nvPr/>
          </p:nvSpPr>
          <p:spPr>
            <a:xfrm>
              <a:off x="3440430" y="1892300"/>
              <a:ext cx="5818289"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Define what a reviewer would accept before measuring productivity.</a:t>
              </a:r>
              <a:br>
                <a:rPr lang="en-US" sz="1500" dirty="0">
                  <a:solidFill>
                    <a:schemeClr val="dk1"/>
                  </a:solidFill>
                  <a:latin typeface="+mn-lt"/>
                  <a:ea typeface="+mn-ea"/>
                  <a:cs typeface="+mn-cs"/>
                </a:rPr>
              </a:br>
              <a:r>
                <a:rPr lang="en-US" sz="1500" dirty="0">
                  <a:solidFill>
                    <a:schemeClr val="dk1"/>
                  </a:solidFill>
                  <a:latin typeface="+mn-lt"/>
                  <a:ea typeface="+mn-ea"/>
                  <a:cs typeface="+mn-cs"/>
                </a:rPr>
                <a:t>Contour described comparing research with and without AI, including</a:t>
              </a:r>
              <a:br>
                <a:rPr lang="en-US" sz="1500" dirty="0">
                  <a:solidFill>
                    <a:schemeClr val="dk1"/>
                  </a:solidFill>
                  <a:latin typeface="+mn-lt"/>
                  <a:ea typeface="+mn-ea"/>
                  <a:cs typeface="+mn-cs"/>
                </a:rPr>
              </a:br>
              <a:r>
                <a:rPr lang="en-US" sz="1500" dirty="0">
                  <a:solidFill>
                    <a:schemeClr val="dk1"/>
                  </a:solidFill>
                  <a:latin typeface="+mn-lt"/>
                  <a:ea typeface="+mn-ea"/>
                  <a:cs typeface="+mn-cs"/>
                </a:rPr>
                <a:t>sources and conclusions. A useful idea does not demonstrate alpha.</a:t>
              </a:r>
            </a:p>
          </p:txBody>
        </p:sp>
      </p:grpSp>
      <p:grpSp>
        <p:nvGrpSpPr>
          <p:cNvPr id="15" name="planning"/>
          <p:cNvGrpSpPr/>
          <p:nvPr/>
        </p:nvGrpSpPr>
        <p:grpSpPr>
          <a:xfrm>
            <a:off x="457200" y="3267075"/>
            <a:ext cx="9828619" cy="1200150"/>
            <a:chOff x="457200" y="3267075"/>
            <a:chExt cx="9828619" cy="1200150"/>
          </a:xfrm>
        </p:grpSpPr>
        <p:sp>
          <p:nvSpPr>
            <p:cNvPr id="11" name="Rectangle 11"/>
            <p:cNvSpPr/>
            <p:nvPr/>
          </p:nvSpPr>
          <p:spPr>
            <a:xfrm>
              <a:off x="457200" y="3267075"/>
              <a:ext cx="2686050" cy="1200150"/>
            </a:xfrm>
            <a:prstGeom prst="rect">
              <a:avLst/>
            </a:prstGeom>
            <a:solidFill>
              <a:schemeClr val="lt2"/>
            </a:solidFill>
            <a:ln>
              <a:noFill/>
            </a:ln>
          </p:spPr>
        </p:sp>
        <p:sp>
          <p:nvSpPr>
            <p:cNvPr id="12" name="TextBox 12"/>
            <p:cNvSpPr txBox="1"/>
            <p:nvPr/>
          </p:nvSpPr>
          <p:spPr>
            <a:xfrm>
              <a:off x="638556" y="3390900"/>
              <a:ext cx="205837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Reviewed analysis</a:t>
              </a:r>
            </a:p>
          </p:txBody>
        </p:sp>
        <p:sp>
          <p:nvSpPr>
            <p:cNvPr id="13" name="TextBox 13"/>
            <p:cNvSpPr txBox="1"/>
            <p:nvPr/>
          </p:nvSpPr>
          <p:spPr>
            <a:xfrm>
              <a:off x="640842" y="3854450"/>
              <a:ext cx="55535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Range</a:t>
              </a:r>
            </a:p>
          </p:txBody>
        </p:sp>
        <p:sp>
          <p:nvSpPr>
            <p:cNvPr id="14" name="TextBox 14"/>
            <p:cNvSpPr txBox="1"/>
            <p:nvPr/>
          </p:nvSpPr>
          <p:spPr>
            <a:xfrm>
              <a:off x="3440430" y="3321050"/>
              <a:ext cx="6845389"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An agent drafts while a planner serves another client; the planner then</a:t>
              </a:r>
              <a:br>
                <a:rPr lang="en-US" sz="1500" dirty="0">
                  <a:solidFill>
                    <a:schemeClr val="dk1"/>
                  </a:solidFill>
                  <a:latin typeface="+mn-lt"/>
                  <a:ea typeface="+mn-ea"/>
                  <a:cs typeface="+mn-cs"/>
                </a:rPr>
              </a:br>
              <a:r>
                <a:rPr lang="en-US" sz="1500" dirty="0">
                  <a:solidFill>
                    <a:schemeClr val="dk1"/>
                  </a:solidFill>
                  <a:latin typeface="+mn-lt"/>
                  <a:ea typeface="+mn-ea"/>
                  <a:cs typeface="+mn-cs"/>
                </a:rPr>
                <a:t>reviews and adjusts. Include missing facts and corrections in completion.</a:t>
              </a:r>
              <a:br>
                <a:rPr lang="en-US" sz="1500" dirty="0">
                  <a:solidFill>
                    <a:schemeClr val="dk1"/>
                  </a:solidFill>
                  <a:latin typeface="+mn-lt"/>
                  <a:ea typeface="+mn-ea"/>
                  <a:cs typeface="+mn-cs"/>
                </a:rPr>
              </a:br>
              <a:r>
                <a:rPr lang="en-US" sz="1500" dirty="0">
                  <a:solidFill>
                    <a:schemeClr val="dk1"/>
                  </a:solidFill>
                  <a:latin typeface="+mn-lt"/>
                  <a:ea typeface="+mn-ea"/>
                  <a:cs typeface="+mn-cs"/>
                </a:rPr>
                <a:t>Parallel work creates a capacity hypothesis; no measured net gain was captured.</a:t>
              </a:r>
            </a:p>
          </p:txBody>
        </p:sp>
      </p:grpSp>
      <p:grpSp>
        <p:nvGrpSpPr>
          <p:cNvPr id="20" name="communication"/>
          <p:cNvGrpSpPr/>
          <p:nvPr/>
        </p:nvGrpSpPr>
        <p:grpSpPr>
          <a:xfrm>
            <a:off x="457200" y="4695825"/>
            <a:ext cx="9055532" cy="1200150"/>
            <a:chOff x="457200" y="4695825"/>
            <a:chExt cx="9055532" cy="1200150"/>
          </a:xfrm>
        </p:grpSpPr>
        <p:sp>
          <p:nvSpPr>
            <p:cNvPr id="16" name="Rectangle 16"/>
            <p:cNvSpPr/>
            <p:nvPr/>
          </p:nvSpPr>
          <p:spPr>
            <a:xfrm>
              <a:off x="457200" y="4695825"/>
              <a:ext cx="2686050" cy="1200150"/>
            </a:xfrm>
            <a:prstGeom prst="rect">
              <a:avLst/>
            </a:prstGeom>
            <a:solidFill>
              <a:schemeClr val="accent1"/>
            </a:solidFill>
            <a:ln>
              <a:noFill/>
            </a:ln>
          </p:spPr>
        </p:sp>
        <p:sp>
          <p:nvSpPr>
            <p:cNvPr id="17" name="TextBox 17"/>
            <p:cNvSpPr txBox="1"/>
            <p:nvPr/>
          </p:nvSpPr>
          <p:spPr>
            <a:xfrm>
              <a:off x="638556" y="4819650"/>
              <a:ext cx="215150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Inspectable artifact</a:t>
              </a:r>
            </a:p>
          </p:txBody>
        </p:sp>
        <p:sp>
          <p:nvSpPr>
            <p:cNvPr id="18" name="TextBox 18"/>
            <p:cNvSpPr txBox="1"/>
            <p:nvPr/>
          </p:nvSpPr>
          <p:spPr>
            <a:xfrm>
              <a:off x="640842" y="5283200"/>
              <a:ext cx="2181515" cy="264033"/>
            </a:xfrm>
            <a:prstGeom prst="rect">
              <a:avLst/>
            </a:prstGeom>
            <a:noFill/>
            <a:ln>
              <a:noFill/>
            </a:ln>
          </p:spPr>
          <p:txBody>
            <a:bodyPr wrap="none" lIns="0" tIns="0" rIns="0" bIns="0" anchor="t" anchorCtr="0">
              <a:spAutoFit/>
            </a:bodyPr>
            <a:lstStyle/>
            <a:p>
              <a:pPr algn="l"/>
              <a:r>
                <a:rPr lang="en-US" sz="1350" dirty="0">
                  <a:solidFill>
                    <a:srgbClr val="FFFDF7"/>
                  </a:solidFill>
                  <a:latin typeface="+mn-lt"/>
                  <a:ea typeface="+mn-ea"/>
                  <a:cs typeface="+mn-cs"/>
                </a:rPr>
                <a:t>OpenAI finance discussion</a:t>
              </a:r>
            </a:p>
          </p:txBody>
        </p:sp>
        <p:sp>
          <p:nvSpPr>
            <p:cNvPr id="19" name="TextBox 19"/>
            <p:cNvSpPr txBox="1"/>
            <p:nvPr/>
          </p:nvSpPr>
          <p:spPr>
            <a:xfrm>
              <a:off x="3440430" y="4749800"/>
              <a:ext cx="6072302"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Follow a claim through source passages, calculations, tables and charts</a:t>
              </a:r>
              <a:br>
                <a:rPr lang="en-US" sz="1500" dirty="0">
                  <a:solidFill>
                    <a:schemeClr val="dk1"/>
                  </a:solidFill>
                  <a:latin typeface="+mn-lt"/>
                  <a:ea typeface="+mn-ea"/>
                  <a:cs typeface="+mn-cs"/>
                </a:rPr>
              </a:br>
              <a:r>
                <a:rPr lang="en-US" sz="1500" dirty="0">
                  <a:solidFill>
                    <a:schemeClr val="dk1"/>
                  </a:solidFill>
                  <a:latin typeface="+mn-lt"/>
                  <a:ea typeface="+mn-ea"/>
                  <a:cs typeface="+mn-cs"/>
                </a:rPr>
                <a:t>into the document people share. Polished formatting does not establish</a:t>
              </a:r>
              <a:br>
                <a:rPr lang="en-US" sz="1500" dirty="0">
                  <a:solidFill>
                    <a:schemeClr val="dk1"/>
                  </a:solidFill>
                  <a:latin typeface="+mn-lt"/>
                  <a:ea typeface="+mn-ea"/>
                  <a:cs typeface="+mn-cs"/>
                </a:rPr>
              </a:br>
              <a:r>
                <a:rPr lang="en-US" sz="1500" dirty="0">
                  <a:solidFill>
                    <a:schemeClr val="dk1"/>
                  </a:solidFill>
                  <a:latin typeface="+mn-lt"/>
                  <a:ea typeface="+mn-ea"/>
                  <a:cs typeface="+mn-cs"/>
                </a:rPr>
                <a:t>that the financial interpretation or underlying evidence is correct.</a:t>
              </a:r>
            </a:p>
          </p:txBody>
        </p:sp>
      </p:grpSp>
      <p:grpSp>
        <p:nvGrpSpPr>
          <p:cNvPr id="23" name="footer"/>
          <p:cNvGrpSpPr/>
          <p:nvPr/>
        </p:nvGrpSpPr>
        <p:grpSpPr>
          <a:xfrm>
            <a:off x="452438" y="6381750"/>
            <a:ext cx="11287124" cy="176212"/>
            <a:chOff x="452438" y="6381750"/>
            <a:chExt cx="11287124" cy="176212"/>
          </a:xfrm>
        </p:grpSpPr>
        <p:sp>
          <p:nvSpPr>
            <p:cNvPr id="21" name="TextBox 21"/>
            <p:cNvSpPr txBox="1"/>
            <p:nvPr/>
          </p:nvSpPr>
          <p:spPr>
            <a:xfrm>
              <a:off x="452438" y="6381750"/>
              <a:ext cx="7290092"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Contour, Range and OpenAI attendee accounts. “Reviewed work product” is our common framing, not a verified benefit claim.</a:t>
              </a:r>
            </a:p>
          </p:txBody>
        </p:sp>
        <p:sp>
          <p:nvSpPr>
            <p:cNvPr id="22" name="TextBox 22"/>
            <p:cNvSpPr txBox="1"/>
            <p:nvPr/>
          </p:nvSpPr>
          <p:spPr>
            <a:xfrm>
              <a:off x="11359512" y="63817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03 / 37</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845010" cy="1110107"/>
            <a:chOff x="443484" y="371475"/>
            <a:chExt cx="8845010" cy="1110107"/>
          </a:xfrm>
        </p:grpSpPr>
        <p:sp>
          <p:nvSpPr>
            <p:cNvPr id="2" name="TextBox 2"/>
            <p:cNvSpPr txBox="1"/>
            <p:nvPr/>
          </p:nvSpPr>
          <p:spPr>
            <a:xfrm>
              <a:off x="451104" y="371475"/>
              <a:ext cx="3483098"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01 / MATCH THE MEASURE TO THE WORK</a:t>
              </a:r>
            </a:p>
          </p:txBody>
        </p:sp>
        <p:sp>
          <p:nvSpPr>
            <p:cNvPr id="3" name="TextBox 3"/>
            <p:cNvSpPr txBox="1"/>
            <p:nvPr/>
          </p:nvSpPr>
          <p:spPr>
            <a:xfrm>
              <a:off x="443484" y="603250"/>
              <a:ext cx="8411277"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Match success measures to the financial bottleneck</a:t>
              </a:r>
            </a:p>
          </p:txBody>
        </p:sp>
        <p:sp>
          <p:nvSpPr>
            <p:cNvPr id="4" name="TextBox 4"/>
            <p:cNvSpPr txBox="1"/>
            <p:nvPr/>
          </p:nvSpPr>
          <p:spPr>
            <a:xfrm>
              <a:off x="448818" y="1158875"/>
              <a:ext cx="8839676"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Evidence, professional attention, authority and engineering support impose different tests.</a:t>
              </a:r>
            </a:p>
          </p:txBody>
        </p:sp>
      </p:grpSp>
      <p:graphicFrame>
        <p:nvGraphicFramePr>
          <p:cNvPr id="6" name="bottleneck-map"/>
          <p:cNvGraphicFramePr>
            <a:graphicFrameLocks noGrp="1"/>
          </p:cNvGraphicFramePr>
          <p:nvPr/>
        </p:nvGraphicFramePr>
        <p:xfrm>
          <a:off x="457200" y="1752600"/>
          <a:ext cx="11277600" cy="3619500"/>
        </p:xfrm>
        <a:graphic>
          <a:graphicData uri="http://schemas.openxmlformats.org/drawingml/2006/table">
            <a:tbl>
              <a:tblPr firstRow="1" bandRow="0">
                <a:tableStyleId>{5C22544A-7EE6-4342-B048-85BDC9FD1C3A}</a:tableStyleId>
              </a:tblPr>
              <a:tblGrid>
                <a:gridCol w="2381250"/>
                <a:gridCol w="4381500"/>
                <a:gridCol w="4514850"/>
              </a:tblGrid>
              <a:tr h="495300">
                <a:tc>
                  <a:txBody>
                    <a:bodyPr/>
                    <a:lstStyle/>
                    <a:p>
                      <a:pPr/>
                      <a:r>
                        <a:rPr lang="en-US" sz="1350" b="1">
                          <a:solidFill>
                            <a:srgbClr val="FFFDF7"/>
                          </a:solidFill>
                          <a:latin typeface="Arial"/>
                          <a:ea typeface="Microsoft YaHei"/>
                          <a:cs typeface="Arial"/>
                        </a:rPr>
                        <a:t>Company / work</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Mechanism</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Useful acceptance question</a:t>
                      </a:r>
                    </a:p>
                  </a:txBody>
                  <a:tcPr anchor="ctr" marL="152400" marR="152400" marT="76200" marB="76200">
                    <a:lnL>
                      <a:noFill/>
                    </a:lnL>
                    <a:lnR>
                      <a:noFill/>
                    </a:lnR>
                    <a:lnT>
                      <a:noFill/>
                    </a:lnT>
                    <a:lnB w="9525">
                      <a:solidFill>
                        <a:schemeClr val="accent6"/>
                      </a:solidFill>
                      <a:prstDash val="solid"/>
                    </a:lnB>
                    <a:solidFill>
                      <a:schemeClr val="accent1"/>
                    </a:solidFill>
                  </a:tcPr>
                </a:tc>
              </a:tr>
              <a:tr h="781050">
                <a:tc>
                  <a:txBody>
                    <a:bodyPr/>
                    <a:lstStyle/>
                    <a:p>
                      <a:pPr/>
                      <a:r>
                        <a:rPr lang="en-US" sz="1350" b="0">
                          <a:solidFill>
                            <a:schemeClr val="dk1"/>
                          </a:solidFill>
                          <a:latin typeface="Arial"/>
                          <a:ea typeface="Microsoft YaHei"/>
                          <a:cs typeface="Arial"/>
                        </a:rPr>
                        <a:t>Bridgewater / research</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Time-scoped retrieval and evidence-backed summaries.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Are important sources covered and the final brief relevant?</a:t>
                      </a:r>
                    </a:p>
                  </a:txBody>
                  <a:tcPr anchor="ctr" marL="152400" marR="152400" marT="76200" marB="76200">
                    <a:lnL>
                      <a:noFill/>
                    </a:lnL>
                    <a:lnR>
                      <a:noFill/>
                    </a:lnR>
                    <a:lnT>
                      <a:noFill/>
                    </a:lnT>
                    <a:lnB w="9525">
                      <a:solidFill>
                        <a:schemeClr val="accent6"/>
                      </a:solidFill>
                      <a:prstDash val="solid"/>
                    </a:lnB>
                    <a:noFill/>
                  </a:tcPr>
                </a:tc>
              </a:tr>
              <a:tr h="781050">
                <a:tc>
                  <a:txBody>
                    <a:bodyPr/>
                    <a:lstStyle/>
                    <a:p>
                      <a:pPr/>
                      <a:r>
                        <a:rPr lang="en-US" sz="1350" b="0">
                          <a:solidFill>
                            <a:schemeClr val="dk1"/>
                          </a:solidFill>
                          <a:latin typeface="Arial"/>
                          <a:ea typeface="Microsoft YaHei"/>
                          <a:cs typeface="Arial"/>
                        </a:rPr>
                        <a:t>Range / planning</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Expert-authored methods; parallel preparation and planner review.</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Is the analysis accepted after correction and total professional effort?</a:t>
                      </a:r>
                    </a:p>
                  </a:txBody>
                  <a:tcPr anchor="ctr" marL="152400" marR="152400" marT="76200" marB="76200">
                    <a:lnL>
                      <a:noFill/>
                    </a:lnL>
                    <a:lnR>
                      <a:noFill/>
                    </a:lnR>
                    <a:lnT>
                      <a:noFill/>
                    </a:lnT>
                    <a:lnB w="9525">
                      <a:solidFill>
                        <a:schemeClr val="accent6"/>
                      </a:solidFill>
                      <a:prstDash val="solid"/>
                    </a:lnB>
                    <a:noFill/>
                  </a:tcPr>
                </a:tc>
              </a:tr>
              <a:tr h="781050">
                <a:tc>
                  <a:txBody>
                    <a:bodyPr/>
                    <a:lstStyle/>
                    <a:p>
                      <a:pPr/>
                      <a:r>
                        <a:rPr lang="en-US" sz="1350" b="0">
                          <a:solidFill>
                            <a:schemeClr val="dk1"/>
                          </a:solidFill>
                          <a:latin typeface="Arial"/>
                          <a:ea typeface="Microsoft YaHei"/>
                          <a:cs typeface="Arial"/>
                        </a:rPr>
                        <a:t>Two Sigma / agents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Registry, declared resources, risk scoring and active controls.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Do useful permitted tasks work while denied actions stay blocked?</a:t>
                      </a:r>
                    </a:p>
                  </a:txBody>
                  <a:tcPr anchor="ctr" marL="152400" marR="152400" marT="76200" marB="76200">
                    <a:lnL>
                      <a:noFill/>
                    </a:lnL>
                    <a:lnR>
                      <a:noFill/>
                    </a:lnR>
                    <a:lnT>
                      <a:noFill/>
                    </a:lnT>
                    <a:lnB w="9525">
                      <a:solidFill>
                        <a:schemeClr val="accent6"/>
                      </a:solidFill>
                      <a:prstDash val="solid"/>
                    </a:lnB>
                    <a:noFill/>
                  </a:tcPr>
                </a:tc>
              </a:tr>
              <a:tr h="781050">
                <a:tc>
                  <a:txBody>
                    <a:bodyPr/>
                    <a:lstStyle/>
                    <a:p>
                      <a:pPr/>
                      <a:r>
                        <a:rPr lang="en-US" sz="1350" b="0">
                          <a:solidFill>
                            <a:schemeClr val="dk1"/>
                          </a:solidFill>
                          <a:latin typeface="Arial"/>
                          <a:ea typeface="Microsoft YaHei"/>
                          <a:cs typeface="Arial"/>
                        </a:rPr>
                        <a:t>Monzo / Optiver</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Program context: shared runtime/Slack; task qualification and model routing.</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Do discovery, access, review and support improve alongside model quality?</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8" name="case-limit"/>
          <p:cNvGrpSpPr/>
          <p:nvPr/>
        </p:nvGrpSpPr>
        <p:grpSpPr>
          <a:xfrm>
            <a:off x="450342" y="5648325"/>
            <a:ext cx="8190132" cy="511683"/>
            <a:chOff x="450342" y="5648325"/>
            <a:chExt cx="8190132" cy="511683"/>
          </a:xfrm>
        </p:grpSpPr>
        <p:sp>
          <p:nvSpPr>
            <p:cNvPr id="7" name="TextBox 7"/>
            <p:cNvSpPr txBox="1"/>
            <p:nvPr/>
          </p:nvSpPr>
          <p:spPr>
            <a:xfrm>
              <a:off x="450342" y="5648325"/>
              <a:ext cx="8190132"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2"/>
                  </a:solidFill>
                  <a:latin typeface="+mn-lt"/>
                  <a:ea typeface="+mn-ea"/>
                  <a:cs typeface="+mn-cs"/>
                </a:rPr>
                <a:t>Registration is visibility, not demonstrated protection. These selected cases are not a survey or firm ranking.</a:t>
              </a:r>
              <a:br>
                <a:rPr lang="en-US" sz="1350" dirty="0">
                  <a:solidFill>
                    <a:schemeClr val="accent2"/>
                  </a:solidFill>
                  <a:latin typeface="+mn-lt"/>
                  <a:ea typeface="+mn-ea"/>
                  <a:cs typeface="+mn-cs"/>
                </a:rPr>
              </a:br>
              <a:r>
                <a:rPr lang="en-US" sz="1350" dirty="0">
                  <a:solidFill>
                    <a:schemeClr val="accent2"/>
                  </a:solidFill>
                  <a:latin typeface="+mn-lt"/>
                  <a:ea typeface="+mn-ea"/>
                  <a:cs typeface="+mn-cs"/>
                </a:rPr>
                <a:t>Monzo and Optiver program descriptions establish neither autonomous trading nor causal firmwide savings.</a:t>
              </a:r>
            </a:p>
          </p:txBody>
        </p:sp>
      </p:grpSp>
      <p:grpSp>
        <p:nvGrpSpPr>
          <p:cNvPr id="11" name="footer"/>
          <p:cNvGrpSpPr/>
          <p:nvPr/>
        </p:nvGrpSpPr>
        <p:grpSpPr>
          <a:xfrm>
            <a:off x="452438" y="6419850"/>
            <a:ext cx="11287124" cy="176212"/>
            <a:chOff x="452438" y="6419850"/>
            <a:chExt cx="11287124" cy="176212"/>
          </a:xfrm>
        </p:grpSpPr>
        <p:sp>
          <p:nvSpPr>
            <p:cNvPr id="9" name="TextBox 9"/>
            <p:cNvSpPr txBox="1"/>
            <p:nvPr/>
          </p:nvSpPr>
          <p:spPr>
            <a:xfrm>
              <a:off x="452438" y="6419850"/>
              <a:ext cx="5491130"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Bridgewater, Range, Two Sigma attendee accounts; Monzo/Optiver official program context.</a:t>
              </a:r>
            </a:p>
          </p:txBody>
        </p:sp>
        <p:sp>
          <p:nvSpPr>
            <p:cNvPr id="10" name="TextBox 10"/>
            <p:cNvSpPr txBox="1"/>
            <p:nvPr/>
          </p:nvSpPr>
          <p:spPr>
            <a:xfrm>
              <a:off x="11359512" y="64198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04 / 37</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228402" cy="1169416"/>
            <a:chOff x="443484" y="371475"/>
            <a:chExt cx="5228402" cy="1169416"/>
          </a:xfrm>
        </p:grpSpPr>
        <p:sp>
          <p:nvSpPr>
            <p:cNvPr id="2" name="TextBox 2"/>
            <p:cNvSpPr txBox="1"/>
            <p:nvPr/>
          </p:nvSpPr>
          <p:spPr>
            <a:xfrm>
              <a:off x="451104" y="371475"/>
              <a:ext cx="3284179"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01 / WEALTH MANAGEMENT PATTERNS</a:t>
              </a:r>
            </a:p>
          </p:txBody>
        </p:sp>
        <p:sp>
          <p:nvSpPr>
            <p:cNvPr id="3" name="TextBox 3"/>
            <p:cNvSpPr txBox="1"/>
            <p:nvPr/>
          </p:nvSpPr>
          <p:spPr>
            <a:xfrm>
              <a:off x="443484" y="603250"/>
              <a:ext cx="5228402" cy="937641"/>
            </a:xfrm>
            <a:prstGeom prst="rect">
              <a:avLst/>
            </a:prstGeom>
            <a:noFill/>
            <a:ln>
              <a:noFill/>
            </a:ln>
          </p:spPr>
          <p:txBody>
            <a:bodyPr wrap="none" lIns="0" tIns="0" rIns="0" bIns="0" anchor="t" anchorCtr="0">
              <a:spAutoFit/>
            </a:bodyPr>
            <a:lstStyle/>
            <a:p>
              <a:pPr algn="l">
                <a:lnSpc>
                  <a:spcPts val="3225"/>
                </a:lnSpc>
              </a:pPr>
              <a:r>
                <a:rPr lang="en-US" sz="2700" dirty="0">
                  <a:solidFill>
                    <a:schemeClr val="accent1"/>
                  </a:solidFill>
                  <a:latin typeface="+mj-lt"/>
                  <a:ea typeface="+mj-ea"/>
                  <a:cs typeface="+mj-cs"/>
                </a:rPr>
                <a:t>Wealth AI augments preparation,</a:t>
              </a:r>
              <a:br>
                <a:rPr lang="en-US" sz="2700" dirty="0">
                  <a:solidFill>
                    <a:schemeClr val="accent1"/>
                  </a:solidFill>
                  <a:latin typeface="+mj-lt"/>
                  <a:ea typeface="+mj-ea"/>
                  <a:cs typeface="+mj-cs"/>
                </a:rPr>
              </a:br>
              <a:r>
                <a:rPr lang="en-US" sz="2700" dirty="0">
                  <a:solidFill>
                    <a:schemeClr val="accent1"/>
                  </a:solidFill>
                  <a:latin typeface="+mj-lt"/>
                  <a:ea typeface="+mj-ea"/>
                  <a:cs typeface="+mj-cs"/>
                </a:rPr>
                <a:t>knowledge and professional review</a:t>
              </a:r>
            </a:p>
          </p:txBody>
        </p:sp>
      </p:grpSp>
      <p:grpSp>
        <p:nvGrpSpPr>
          <p:cNvPr id="9" name="range"/>
          <p:cNvGrpSpPr/>
          <p:nvPr/>
        </p:nvGrpSpPr>
        <p:grpSpPr>
          <a:xfrm>
            <a:off x="457200" y="1752600"/>
            <a:ext cx="5334000" cy="1714500"/>
            <a:chOff x="457200" y="1752600"/>
            <a:chExt cx="5334000" cy="1714500"/>
          </a:xfrm>
        </p:grpSpPr>
        <p:sp>
          <p:nvSpPr>
            <p:cNvPr id="5" name="Rectangle 5"/>
            <p:cNvSpPr/>
            <p:nvPr/>
          </p:nvSpPr>
          <p:spPr>
            <a:xfrm>
              <a:off x="457200" y="1752600"/>
              <a:ext cx="5334000" cy="1714500"/>
            </a:xfrm>
            <a:prstGeom prst="rect">
              <a:avLst/>
            </a:prstGeom>
            <a:solidFill>
              <a:schemeClr val="lt2"/>
            </a:solidFill>
            <a:ln>
              <a:noFill/>
            </a:ln>
          </p:spPr>
        </p:sp>
        <p:sp>
          <p:nvSpPr>
            <p:cNvPr id="6" name="TextBox 6"/>
            <p:cNvSpPr txBox="1"/>
            <p:nvPr/>
          </p:nvSpPr>
          <p:spPr>
            <a:xfrm>
              <a:off x="657606" y="1838325"/>
              <a:ext cx="378068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Range / expert-authored planning</a:t>
              </a:r>
            </a:p>
          </p:txBody>
        </p:sp>
        <p:sp>
          <p:nvSpPr>
            <p:cNvPr id="7" name="TextBox 7"/>
            <p:cNvSpPr txBox="1"/>
            <p:nvPr/>
          </p:nvSpPr>
          <p:spPr>
            <a:xfrm>
              <a:off x="660654" y="2200275"/>
              <a:ext cx="3417076"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OCTOBER 2026 CONFERENCE ACCOUNT</a:t>
              </a:r>
            </a:p>
          </p:txBody>
        </p:sp>
        <p:sp>
          <p:nvSpPr>
            <p:cNvPr id="8" name="TextBox 8"/>
            <p:cNvSpPr txBox="1"/>
            <p:nvPr/>
          </p:nvSpPr>
          <p:spPr>
            <a:xfrm>
              <a:off x="659130" y="2492375"/>
              <a:ext cx="4590212"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Planners encode their method; agents draft in parallel.</a:t>
              </a:r>
              <a:br>
                <a:rPr lang="en-US" sz="1500" dirty="0">
                  <a:solidFill>
                    <a:schemeClr val="dk1"/>
                  </a:solidFill>
                  <a:latin typeface="+mn-lt"/>
                  <a:ea typeface="+mn-ea"/>
                  <a:cs typeface="+mn-cs"/>
                </a:rPr>
              </a:br>
              <a:r>
                <a:rPr lang="en-US" sz="1500" dirty="0">
                  <a:solidFill>
                    <a:schemeClr val="dk1"/>
                  </a:solidFill>
                  <a:latin typeface="+mn-lt"/>
                  <a:ea typeface="+mn-ea"/>
                  <a:cs typeface="+mn-cs"/>
                </a:rPr>
                <a:t>Planners review and adjust. Measure accepted work</a:t>
              </a:r>
              <a:br>
                <a:rPr lang="en-US" sz="1500" dirty="0">
                  <a:solidFill>
                    <a:schemeClr val="dk1"/>
                  </a:solidFill>
                  <a:latin typeface="+mn-lt"/>
                  <a:ea typeface="+mn-ea"/>
                  <a:cs typeface="+mn-cs"/>
                </a:rPr>
              </a:br>
              <a:r>
                <a:rPr lang="en-US" sz="1500" dirty="0">
                  <a:solidFill>
                    <a:schemeClr val="dk1"/>
                  </a:solidFill>
                  <a:latin typeface="+mn-lt"/>
                  <a:ea typeface="+mn-ea"/>
                  <a:cs typeface="+mn-cs"/>
                </a:rPr>
                <a:t>after correction before claiming added capacity.</a:t>
              </a:r>
            </a:p>
          </p:txBody>
        </p:sp>
      </p:grpSp>
      <p:grpSp>
        <p:nvGrpSpPr>
          <p:cNvPr id="14" name="morgan-stanley"/>
          <p:cNvGrpSpPr/>
          <p:nvPr/>
        </p:nvGrpSpPr>
        <p:grpSpPr>
          <a:xfrm>
            <a:off x="6096000" y="1752600"/>
            <a:ext cx="5638800" cy="1714500"/>
            <a:chOff x="6096000" y="1752600"/>
            <a:chExt cx="5638800" cy="1714500"/>
          </a:xfrm>
        </p:grpSpPr>
        <p:sp>
          <p:nvSpPr>
            <p:cNvPr id="10" name="Rectangle 10"/>
            <p:cNvSpPr/>
            <p:nvPr/>
          </p:nvSpPr>
          <p:spPr>
            <a:xfrm>
              <a:off x="6096000" y="1752600"/>
              <a:ext cx="5638800" cy="1714500"/>
            </a:xfrm>
            <a:prstGeom prst="rect">
              <a:avLst/>
            </a:prstGeom>
            <a:solidFill>
              <a:srgbClr val="F1F4EE"/>
            </a:solidFill>
            <a:ln>
              <a:noFill/>
            </a:ln>
          </p:spPr>
        </p:sp>
        <p:sp>
          <p:nvSpPr>
            <p:cNvPr id="11" name="TextBox 11"/>
            <p:cNvSpPr txBox="1"/>
            <p:nvPr/>
          </p:nvSpPr>
          <p:spPr>
            <a:xfrm>
              <a:off x="6296406" y="1838325"/>
              <a:ext cx="430394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Morgan Stanley / meeting to follow-up</a:t>
              </a:r>
            </a:p>
          </p:txBody>
        </p:sp>
        <p:sp>
          <p:nvSpPr>
            <p:cNvPr id="12" name="TextBox 12"/>
            <p:cNvSpPr txBox="1"/>
            <p:nvPr/>
          </p:nvSpPr>
          <p:spPr>
            <a:xfrm>
              <a:off x="6299454" y="2200275"/>
              <a:ext cx="2326960"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JUNE 26, 2024 DISCLOSURE</a:t>
              </a:r>
            </a:p>
          </p:txBody>
        </p:sp>
        <p:sp>
          <p:nvSpPr>
            <p:cNvPr id="13" name="TextBox 13"/>
            <p:cNvSpPr txBox="1"/>
            <p:nvPr/>
          </p:nvSpPr>
          <p:spPr>
            <a:xfrm>
              <a:off x="6297930" y="2492375"/>
              <a:ext cx="4600423"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Consent-based Debrief notes, action items, advisor-</a:t>
              </a:r>
              <a:br>
                <a:rPr lang="en-US" sz="1500" dirty="0">
                  <a:solidFill>
                    <a:schemeClr val="dk1"/>
                  </a:solidFill>
                  <a:latin typeface="+mn-lt"/>
                  <a:ea typeface="+mn-ea"/>
                  <a:cs typeface="+mn-cs"/>
                </a:rPr>
              </a:br>
              <a:r>
                <a:rPr lang="en-US" sz="1500" dirty="0">
                  <a:solidFill>
                    <a:schemeClr val="dk1"/>
                  </a:solidFill>
                  <a:latin typeface="+mn-lt"/>
                  <a:ea typeface="+mn-ea"/>
                  <a:cs typeface="+mn-cs"/>
                </a:rPr>
                <a:t>edited follow-up and CRM capture. Separate Assistant</a:t>
              </a:r>
              <a:br>
                <a:rPr lang="en-US" sz="1500" dirty="0">
                  <a:solidFill>
                    <a:schemeClr val="dk1"/>
                  </a:solidFill>
                  <a:latin typeface="+mn-lt"/>
                  <a:ea typeface="+mn-ea"/>
                  <a:cs typeface="+mn-cs"/>
                </a:rPr>
              </a:br>
              <a:r>
                <a:rPr lang="en-US" sz="1500" dirty="0">
                  <a:solidFill>
                    <a:schemeClr val="dk1"/>
                  </a:solidFill>
                  <a:latin typeface="+mn-lt"/>
                  <a:ea typeface="+mn-ea"/>
                  <a:cs typeface="+mn-cs"/>
                </a:rPr>
                <a:t>adoption from measured Debrief productivity.</a:t>
              </a:r>
            </a:p>
          </p:txBody>
        </p:sp>
      </p:grpSp>
      <p:grpSp>
        <p:nvGrpSpPr>
          <p:cNvPr id="19" name="ubs"/>
          <p:cNvGrpSpPr/>
          <p:nvPr/>
        </p:nvGrpSpPr>
        <p:grpSpPr>
          <a:xfrm>
            <a:off x="457200" y="3695700"/>
            <a:ext cx="5334000" cy="1714500"/>
            <a:chOff x="457200" y="3695700"/>
            <a:chExt cx="5334000" cy="1714500"/>
          </a:xfrm>
        </p:grpSpPr>
        <p:sp>
          <p:nvSpPr>
            <p:cNvPr id="15" name="Rectangle 15"/>
            <p:cNvSpPr/>
            <p:nvPr/>
          </p:nvSpPr>
          <p:spPr>
            <a:xfrm>
              <a:off x="457200" y="3695700"/>
              <a:ext cx="5334000" cy="1714500"/>
            </a:xfrm>
            <a:prstGeom prst="rect">
              <a:avLst/>
            </a:prstGeom>
            <a:solidFill>
              <a:srgbClr val="F1F4EE"/>
            </a:solidFill>
            <a:ln>
              <a:noFill/>
            </a:ln>
          </p:spPr>
        </p:sp>
        <p:sp>
          <p:nvSpPr>
            <p:cNvPr id="16" name="TextBox 16"/>
            <p:cNvSpPr txBox="1"/>
            <p:nvPr/>
          </p:nvSpPr>
          <p:spPr>
            <a:xfrm>
              <a:off x="657606" y="3781425"/>
              <a:ext cx="338691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UBS / institutional knowledge</a:t>
              </a:r>
            </a:p>
          </p:txBody>
        </p:sp>
        <p:sp>
          <p:nvSpPr>
            <p:cNvPr id="17" name="TextBox 17"/>
            <p:cNvSpPr txBox="1"/>
            <p:nvPr/>
          </p:nvSpPr>
          <p:spPr>
            <a:xfrm>
              <a:off x="660654" y="4143375"/>
              <a:ext cx="2715753"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FEBRUARY 4, 2025 DISCLOSURE</a:t>
              </a:r>
            </a:p>
          </p:txBody>
        </p:sp>
        <p:sp>
          <p:nvSpPr>
            <p:cNvPr id="18" name="TextBox 18"/>
            <p:cNvSpPr txBox="1"/>
            <p:nvPr/>
          </p:nvSpPr>
          <p:spPr>
            <a:xfrm>
              <a:off x="659130" y="4435475"/>
              <a:ext cx="4409618"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Red supports advisor access to product information,</a:t>
              </a:r>
              <a:br>
                <a:rPr lang="en-US" sz="1500" dirty="0">
                  <a:solidFill>
                    <a:schemeClr val="dk1"/>
                  </a:solidFill>
                  <a:latin typeface="+mn-lt"/>
                  <a:ea typeface="+mn-ea"/>
                  <a:cs typeface="+mn-cs"/>
                </a:rPr>
              </a:br>
              <a:r>
                <a:rPr lang="en-US" sz="1500" dirty="0">
                  <a:solidFill>
                    <a:schemeClr val="dk1"/>
                  </a:solidFill>
                  <a:latin typeface="+mn-lt"/>
                  <a:ea typeface="+mn-ea"/>
                  <a:cs typeface="+mn-cs"/>
                </a:rPr>
                <a:t>research and CIO knowledge. Access is a workflow</a:t>
              </a:r>
              <a:br>
                <a:rPr lang="en-US" sz="1500" dirty="0">
                  <a:solidFill>
                    <a:schemeClr val="dk1"/>
                  </a:solidFill>
                  <a:latin typeface="+mn-lt"/>
                  <a:ea typeface="+mn-ea"/>
                  <a:cs typeface="+mn-cs"/>
                </a:rPr>
              </a:br>
              <a:r>
                <a:rPr lang="en-US" sz="1500" dirty="0">
                  <a:solidFill>
                    <a:schemeClr val="dk1"/>
                  </a:solidFill>
                  <a:latin typeface="+mn-lt"/>
                  <a:ea typeface="+mn-ea"/>
                  <a:cs typeface="+mn-cs"/>
                </a:rPr>
                <a:t>mechanism; rollout alone does not prove outcomes.</a:t>
              </a:r>
            </a:p>
          </p:txBody>
        </p:sp>
      </p:grpSp>
      <p:grpSp>
        <p:nvGrpSpPr>
          <p:cNvPr id="24" name="rbc"/>
          <p:cNvGrpSpPr/>
          <p:nvPr/>
        </p:nvGrpSpPr>
        <p:grpSpPr>
          <a:xfrm>
            <a:off x="6096000" y="3695700"/>
            <a:ext cx="5638800" cy="1714500"/>
            <a:chOff x="6096000" y="3695700"/>
            <a:chExt cx="5638800" cy="1714500"/>
          </a:xfrm>
        </p:grpSpPr>
        <p:sp>
          <p:nvSpPr>
            <p:cNvPr id="20" name="Rectangle 20"/>
            <p:cNvSpPr/>
            <p:nvPr/>
          </p:nvSpPr>
          <p:spPr>
            <a:xfrm>
              <a:off x="6096000" y="3695700"/>
              <a:ext cx="5638800" cy="1714500"/>
            </a:xfrm>
            <a:prstGeom prst="rect">
              <a:avLst/>
            </a:prstGeom>
            <a:solidFill>
              <a:schemeClr val="lt2"/>
            </a:solidFill>
            <a:ln>
              <a:noFill/>
            </a:ln>
          </p:spPr>
        </p:sp>
        <p:sp>
          <p:nvSpPr>
            <p:cNvPr id="21" name="TextBox 21"/>
            <p:cNvSpPr txBox="1"/>
            <p:nvPr/>
          </p:nvSpPr>
          <p:spPr>
            <a:xfrm>
              <a:off x="6296406" y="3781425"/>
              <a:ext cx="367211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RBC / client-context preparation</a:t>
              </a:r>
            </a:p>
          </p:txBody>
        </p:sp>
        <p:sp>
          <p:nvSpPr>
            <p:cNvPr id="22" name="TextBox 22"/>
            <p:cNvSpPr txBox="1"/>
            <p:nvPr/>
          </p:nvSpPr>
          <p:spPr>
            <a:xfrm>
              <a:off x="6299454" y="4143375"/>
              <a:ext cx="3284725" cy="234696"/>
            </a:xfrm>
            <a:prstGeom prst="rect">
              <a:avLst/>
            </a:prstGeom>
            <a:noFill/>
            <a:ln>
              <a:noFill/>
            </a:ln>
          </p:spPr>
          <p:txBody>
            <a:bodyPr wrap="none" lIns="0" tIns="0" rIns="0" bIns="0" anchor="t" anchorCtr="0">
              <a:spAutoFit/>
            </a:bodyPr>
            <a:lstStyle/>
            <a:p>
              <a:pPr algn="l"/>
              <a:r>
                <a:rPr lang="en-US" sz="1200" dirty="0">
                  <a:solidFill>
                    <a:schemeClr val="accent5"/>
                  </a:solidFill>
                  <a:latin typeface="+mn-lt"/>
                  <a:ea typeface="+mn-ea"/>
                  <a:cs typeface="+mn-cs"/>
                </a:rPr>
                <a:t>MARCH 27, 2025 INVESTOR MATERIALS</a:t>
              </a:r>
            </a:p>
          </p:txBody>
        </p:sp>
        <p:sp>
          <p:nvSpPr>
            <p:cNvPr id="23" name="TextBox 23"/>
            <p:cNvSpPr txBox="1"/>
            <p:nvPr/>
          </p:nvSpPr>
          <p:spPr>
            <a:xfrm>
              <a:off x="6297930" y="4435475"/>
              <a:ext cx="465326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Use relevant client information for meeting preparation.</a:t>
              </a:r>
              <a:br>
                <a:rPr lang="en-US" sz="1500" dirty="0">
                  <a:solidFill>
                    <a:schemeClr val="dk1"/>
                  </a:solidFill>
                  <a:latin typeface="+mn-lt"/>
                  <a:ea typeface="+mn-ea"/>
                  <a:cs typeface="+mn-cs"/>
                </a:rPr>
              </a:br>
              <a:r>
                <a:rPr lang="en-US" sz="1500" dirty="0">
                  <a:solidFill>
                    <a:schemeClr val="dk1"/>
                  </a:solidFill>
                  <a:latin typeface="+mn-lt"/>
                  <a:ea typeface="+mn-ea"/>
                  <a:cs typeface="+mn-cs"/>
                </a:rPr>
                <a:t>US-pilot conversion and survey adoption/satisfaction</a:t>
              </a:r>
              <a:br>
                <a:rPr lang="en-US" sz="1500" dirty="0">
                  <a:solidFill>
                    <a:schemeClr val="dk1"/>
                  </a:solidFill>
                  <a:latin typeface="+mn-lt"/>
                  <a:ea typeface="+mn-ea"/>
                  <a:cs typeface="+mn-cs"/>
                </a:rPr>
              </a:br>
              <a:r>
                <a:rPr lang="en-US" sz="1500" dirty="0">
                  <a:solidFill>
                    <a:schemeClr val="dk1"/>
                  </a:solidFill>
                  <a:latin typeface="+mn-lt"/>
                  <a:ea typeface="+mn-ea"/>
                  <a:cs typeface="+mn-cs"/>
                </a:rPr>
                <a:t>have different evidence scopes and measures.</a:t>
              </a:r>
            </a:p>
          </p:txBody>
        </p:sp>
      </p:grpSp>
      <p:grpSp>
        <p:nvGrpSpPr>
          <p:cNvPr id="26" name="historical-boundary"/>
          <p:cNvGrpSpPr/>
          <p:nvPr/>
        </p:nvGrpSpPr>
        <p:grpSpPr>
          <a:xfrm>
            <a:off x="450342" y="5695950"/>
            <a:ext cx="8057396" cy="511683"/>
            <a:chOff x="450342" y="5695950"/>
            <a:chExt cx="8057396" cy="511683"/>
          </a:xfrm>
        </p:grpSpPr>
        <p:sp>
          <p:nvSpPr>
            <p:cNvPr id="25" name="TextBox 25"/>
            <p:cNvSpPr txBox="1"/>
            <p:nvPr/>
          </p:nvSpPr>
          <p:spPr>
            <a:xfrm>
              <a:off x="450342" y="5695950"/>
              <a:ext cx="8057396"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8B411C"/>
                  </a:solidFill>
                  <a:latin typeface="+mn-lt"/>
                  <a:ea typeface="+mn-ea"/>
                  <a:cs typeface="+mn-cs"/>
                </a:rPr>
                <a:t>These are dated workflow examples. Drafting, reported deployment and adoption differ from better advice,</a:t>
              </a:r>
              <a:br>
                <a:rPr lang="en-US" sz="1350" dirty="0">
                  <a:solidFill>
                    <a:srgbClr val="8B411C"/>
                  </a:solidFill>
                  <a:latin typeface="+mn-lt"/>
                  <a:ea typeface="+mn-ea"/>
                  <a:cs typeface="+mn-cs"/>
                </a:rPr>
              </a:br>
              <a:r>
                <a:rPr lang="en-US" sz="1350" dirty="0">
                  <a:solidFill>
                    <a:srgbClr val="8B411C"/>
                  </a:solidFill>
                  <a:latin typeface="+mn-lt"/>
                  <a:ea typeface="+mn-ea"/>
                  <a:cs typeface="+mn-cs"/>
                </a:rPr>
                <a:t>universal current availability, measured net capacity or causal client and revenue outcomes.</a:t>
              </a:r>
            </a:p>
          </p:txBody>
        </p:sp>
      </p:grpSp>
      <p:grpSp>
        <p:nvGrpSpPr>
          <p:cNvPr id="29" name="footer"/>
          <p:cNvGrpSpPr/>
          <p:nvPr/>
        </p:nvGrpSpPr>
        <p:grpSpPr>
          <a:xfrm>
            <a:off x="452438" y="6438900"/>
            <a:ext cx="11287124" cy="176212"/>
            <a:chOff x="452438" y="6438900"/>
            <a:chExt cx="11287124" cy="176212"/>
          </a:xfrm>
        </p:grpSpPr>
        <p:sp>
          <p:nvSpPr>
            <p:cNvPr id="27" name="TextBox 27"/>
            <p:cNvSpPr txBox="1"/>
            <p:nvPr/>
          </p:nvSpPr>
          <p:spPr>
            <a:xfrm>
              <a:off x="452438" y="6438900"/>
              <a:ext cx="638504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Range notes/session; Morgan Stanley press release; UBS results; RBC Investor Day presentation/transcript.</a:t>
              </a:r>
            </a:p>
          </p:txBody>
        </p:sp>
        <p:sp>
          <p:nvSpPr>
            <p:cNvPr id="28" name="TextBox 28"/>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05 / 37</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7868715" cy="1110107"/>
            <a:chOff x="443484" y="371475"/>
            <a:chExt cx="7868715" cy="1110107"/>
          </a:xfrm>
        </p:grpSpPr>
        <p:sp>
          <p:nvSpPr>
            <p:cNvPr id="2" name="TextBox 2"/>
            <p:cNvSpPr txBox="1"/>
            <p:nvPr/>
          </p:nvSpPr>
          <p:spPr>
            <a:xfrm>
              <a:off x="451104" y="371475"/>
              <a:ext cx="2165387"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01 / A LADDER OF CLAIMS</a:t>
              </a:r>
            </a:p>
          </p:txBody>
        </p:sp>
        <p:sp>
          <p:nvSpPr>
            <p:cNvPr id="3" name="TextBox 3"/>
            <p:cNvSpPr txBox="1"/>
            <p:nvPr/>
          </p:nvSpPr>
          <p:spPr>
            <a:xfrm>
              <a:off x="443484" y="603250"/>
              <a:ext cx="7868715"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Adoption is only the first rung of business value</a:t>
              </a:r>
            </a:p>
          </p:txBody>
        </p:sp>
        <p:sp>
          <p:nvSpPr>
            <p:cNvPr id="4" name="TextBox 4"/>
            <p:cNvSpPr txBox="1"/>
            <p:nvPr/>
          </p:nvSpPr>
          <p:spPr>
            <a:xfrm>
              <a:off x="448818" y="1158875"/>
              <a:ext cx="7567598"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Each stronger claim requires a different comparison and additional evidence.</a:t>
              </a:r>
            </a:p>
          </p:txBody>
        </p:sp>
      </p:grpSp>
      <p:grpSp>
        <p:nvGrpSpPr>
          <p:cNvPr id="25" name="value-ladder"/>
          <p:cNvGrpSpPr/>
          <p:nvPr/>
        </p:nvGrpSpPr>
        <p:grpSpPr>
          <a:xfrm>
            <a:off x="457200" y="1809750"/>
            <a:ext cx="11277600" cy="1800225"/>
            <a:chOff x="457200" y="1809750"/>
            <a:chExt cx="11277600" cy="1800225"/>
          </a:xfrm>
        </p:grpSpPr>
        <p:grpSp>
          <p:nvGrpSpPr>
            <p:cNvPr id="9" name="Group 9"/>
            <p:cNvGrpSpPr/>
            <p:nvPr/>
          </p:nvGrpSpPr>
          <p:grpSpPr>
            <a:xfrm>
              <a:off x="457200" y="1809750"/>
              <a:ext cx="2476500" cy="1800225"/>
              <a:chOff x="457200" y="1809750"/>
              <a:chExt cx="2476500" cy="1800225"/>
            </a:xfrm>
          </p:grpSpPr>
          <p:sp>
            <p:nvSpPr>
              <p:cNvPr id="6" name="Rectangle 6"/>
              <p:cNvSpPr/>
              <p:nvPr/>
            </p:nvSpPr>
            <p:spPr>
              <a:xfrm>
                <a:off x="457200" y="1809750"/>
                <a:ext cx="2476500" cy="1800225"/>
              </a:xfrm>
              <a:prstGeom prst="rect">
                <a:avLst/>
              </a:prstGeom>
              <a:solidFill>
                <a:schemeClr val="lt2"/>
              </a:solidFill>
              <a:ln>
                <a:noFill/>
              </a:ln>
            </p:spPr>
          </p:sp>
          <p:sp>
            <p:nvSpPr>
              <p:cNvPr id="7" name="TextBox 7"/>
              <p:cNvSpPr txBox="1"/>
              <p:nvPr/>
            </p:nvSpPr>
            <p:spPr>
              <a:xfrm>
                <a:off x="638556" y="1952625"/>
                <a:ext cx="145211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Adoption</a:t>
                </a:r>
              </a:p>
            </p:txBody>
          </p:sp>
          <p:sp>
            <p:nvSpPr>
              <p:cNvPr id="8" name="TextBox 8"/>
              <p:cNvSpPr txBox="1"/>
              <p:nvPr/>
            </p:nvSpPr>
            <p:spPr>
              <a:xfrm>
                <a:off x="640080" y="2473325"/>
                <a:ext cx="187859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Who uses it, for which</a:t>
                </a:r>
                <a:br>
                  <a:rPr lang="en-US" sz="1500" dirty="0">
                    <a:solidFill>
                      <a:schemeClr val="dk1"/>
                    </a:solidFill>
                    <a:latin typeface="+mn-lt"/>
                    <a:ea typeface="+mn-ea"/>
                    <a:cs typeface="+mn-cs"/>
                  </a:rPr>
                </a:br>
                <a:r>
                  <a:rPr lang="en-US" sz="1500" dirty="0">
                    <a:solidFill>
                      <a:schemeClr val="dk1"/>
                    </a:solidFill>
                    <a:latin typeface="+mn-lt"/>
                    <a:ea typeface="+mn-ea"/>
                    <a:cs typeface="+mn-cs"/>
                  </a:rPr>
                  <a:t>tasks and cohorts?</a:t>
                </a:r>
              </a:p>
            </p:txBody>
          </p:sp>
        </p:grpSp>
        <p:sp>
          <p:nvSpPr>
            <p:cNvPr id="10" name="Freeform 10"/>
            <p:cNvSpPr/>
            <p:nvPr/>
          </p:nvSpPr>
          <p:spPr>
            <a:xfrm>
              <a:off x="3038475" y="2105025"/>
              <a:ext cx="228600" cy="400050"/>
            </a:xfrm>
            <a:prstGeom prst="chevron">
              <a:avLst/>
            </a:prstGeom>
            <a:solidFill>
              <a:schemeClr val="accent2"/>
            </a:solidFill>
            <a:ln>
              <a:noFill/>
            </a:ln>
          </p:spPr>
        </p:sp>
        <p:grpSp>
          <p:nvGrpSpPr>
            <p:cNvPr id="14" name="Group 14"/>
            <p:cNvGrpSpPr/>
            <p:nvPr/>
          </p:nvGrpSpPr>
          <p:grpSpPr>
            <a:xfrm>
              <a:off x="3390900" y="1809750"/>
              <a:ext cx="2476500" cy="1800225"/>
              <a:chOff x="3390900" y="1809750"/>
              <a:chExt cx="2476500" cy="1800225"/>
            </a:xfrm>
          </p:grpSpPr>
          <p:sp>
            <p:nvSpPr>
              <p:cNvPr id="11" name="Rectangle 11"/>
              <p:cNvSpPr/>
              <p:nvPr/>
            </p:nvSpPr>
            <p:spPr>
              <a:xfrm>
                <a:off x="3390900" y="1809750"/>
                <a:ext cx="2476500" cy="1800225"/>
              </a:xfrm>
              <a:prstGeom prst="rect">
                <a:avLst/>
              </a:prstGeom>
              <a:solidFill>
                <a:schemeClr val="lt2"/>
              </a:solidFill>
              <a:ln>
                <a:noFill/>
              </a:ln>
            </p:spPr>
          </p:sp>
          <p:sp>
            <p:nvSpPr>
              <p:cNvPr id="12" name="TextBox 12"/>
              <p:cNvSpPr txBox="1"/>
              <p:nvPr/>
            </p:nvSpPr>
            <p:spPr>
              <a:xfrm>
                <a:off x="3572256" y="1952625"/>
                <a:ext cx="207117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Accepted work</a:t>
                </a:r>
              </a:p>
            </p:txBody>
          </p:sp>
          <p:sp>
            <p:nvSpPr>
              <p:cNvPr id="13" name="TextBox 13"/>
              <p:cNvSpPr txBox="1"/>
              <p:nvPr/>
            </p:nvSpPr>
            <p:spPr>
              <a:xfrm>
                <a:off x="3573780" y="2473325"/>
                <a:ext cx="1920850"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Quality, critical failures</a:t>
                </a:r>
                <a:br>
                  <a:rPr lang="en-US" sz="1500" dirty="0">
                    <a:solidFill>
                      <a:schemeClr val="dk1"/>
                    </a:solidFill>
                    <a:latin typeface="+mn-lt"/>
                    <a:ea typeface="+mn-ea"/>
                    <a:cs typeface="+mn-cs"/>
                  </a:rPr>
                </a:br>
                <a:r>
                  <a:rPr lang="en-US" sz="1500" dirty="0">
                    <a:solidFill>
                      <a:schemeClr val="dk1"/>
                    </a:solidFill>
                    <a:latin typeface="+mn-lt"/>
                    <a:ea typeface="+mn-ea"/>
                    <a:cs typeface="+mn-cs"/>
                  </a:rPr>
                  <a:t>and reviewer effort.</a:t>
                </a:r>
              </a:p>
            </p:txBody>
          </p:sp>
        </p:grpSp>
        <p:sp>
          <p:nvSpPr>
            <p:cNvPr id="15" name="Freeform 15"/>
            <p:cNvSpPr/>
            <p:nvPr/>
          </p:nvSpPr>
          <p:spPr>
            <a:xfrm>
              <a:off x="5972175" y="2105025"/>
              <a:ext cx="228600" cy="400050"/>
            </a:xfrm>
            <a:prstGeom prst="chevron">
              <a:avLst/>
            </a:prstGeom>
            <a:solidFill>
              <a:schemeClr val="accent2"/>
            </a:solidFill>
            <a:ln>
              <a:noFill/>
            </a:ln>
          </p:spPr>
        </p:sp>
        <p:grpSp>
          <p:nvGrpSpPr>
            <p:cNvPr id="19" name="Group 19"/>
            <p:cNvGrpSpPr/>
            <p:nvPr/>
          </p:nvGrpSpPr>
          <p:grpSpPr>
            <a:xfrm>
              <a:off x="6324600" y="1809750"/>
              <a:ext cx="2476500" cy="1800225"/>
              <a:chOff x="6324600" y="1809750"/>
              <a:chExt cx="2476500" cy="1800225"/>
            </a:xfrm>
          </p:grpSpPr>
          <p:sp>
            <p:nvSpPr>
              <p:cNvPr id="16" name="Rectangle 16"/>
              <p:cNvSpPr/>
              <p:nvPr/>
            </p:nvSpPr>
            <p:spPr>
              <a:xfrm>
                <a:off x="6324600" y="1809750"/>
                <a:ext cx="2476500" cy="1800225"/>
              </a:xfrm>
              <a:prstGeom prst="rect">
                <a:avLst/>
              </a:prstGeom>
              <a:solidFill>
                <a:schemeClr val="lt2"/>
              </a:solidFill>
              <a:ln>
                <a:noFill/>
              </a:ln>
            </p:spPr>
          </p:sp>
          <p:sp>
            <p:nvSpPr>
              <p:cNvPr id="17" name="TextBox 17"/>
              <p:cNvSpPr txBox="1"/>
              <p:nvPr/>
            </p:nvSpPr>
            <p:spPr>
              <a:xfrm>
                <a:off x="6505956" y="1952625"/>
                <a:ext cx="210704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Process change</a:t>
                </a:r>
              </a:p>
            </p:txBody>
          </p:sp>
          <p:sp>
            <p:nvSpPr>
              <p:cNvPr id="18" name="TextBox 18"/>
              <p:cNvSpPr txBox="1"/>
              <p:nvPr/>
            </p:nvSpPr>
            <p:spPr>
              <a:xfrm>
                <a:off x="6507480" y="2473325"/>
                <a:ext cx="1931860"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Time, throughput,</a:t>
                </a:r>
                <a:br>
                  <a:rPr lang="en-US" sz="1500" dirty="0">
                    <a:solidFill>
                      <a:schemeClr val="dk1"/>
                    </a:solidFill>
                    <a:latin typeface="+mn-lt"/>
                    <a:ea typeface="+mn-ea"/>
                    <a:cs typeface="+mn-cs"/>
                  </a:rPr>
                </a:br>
                <a:r>
                  <a:rPr lang="en-US" sz="1500" dirty="0">
                    <a:solidFill>
                      <a:schemeClr val="dk1"/>
                    </a:solidFill>
                    <a:latin typeface="+mn-lt"/>
                    <a:ea typeface="+mn-ea"/>
                    <a:cs typeface="+mn-cs"/>
                  </a:rPr>
                  <a:t>capacity and reliability.</a:t>
                </a:r>
              </a:p>
            </p:txBody>
          </p:sp>
        </p:grpSp>
        <p:sp>
          <p:nvSpPr>
            <p:cNvPr id="20" name="Freeform 20"/>
            <p:cNvSpPr/>
            <p:nvPr/>
          </p:nvSpPr>
          <p:spPr>
            <a:xfrm>
              <a:off x="8905875" y="2105025"/>
              <a:ext cx="228600" cy="400050"/>
            </a:xfrm>
            <a:prstGeom prst="chevron">
              <a:avLst/>
            </a:prstGeom>
            <a:solidFill>
              <a:schemeClr val="accent2"/>
            </a:solidFill>
            <a:ln>
              <a:noFill/>
            </a:ln>
          </p:spPr>
        </p:sp>
        <p:grpSp>
          <p:nvGrpSpPr>
            <p:cNvPr id="24" name="Group 24"/>
            <p:cNvGrpSpPr/>
            <p:nvPr/>
          </p:nvGrpSpPr>
          <p:grpSpPr>
            <a:xfrm>
              <a:off x="9258300" y="1809750"/>
              <a:ext cx="2476500" cy="1800225"/>
              <a:chOff x="9258300" y="1809750"/>
              <a:chExt cx="2476500" cy="1800225"/>
            </a:xfrm>
          </p:grpSpPr>
          <p:sp>
            <p:nvSpPr>
              <p:cNvPr id="21" name="Rectangle 21"/>
              <p:cNvSpPr/>
              <p:nvPr/>
            </p:nvSpPr>
            <p:spPr>
              <a:xfrm>
                <a:off x="9258300" y="1809750"/>
                <a:ext cx="2476500" cy="1800225"/>
              </a:xfrm>
              <a:prstGeom prst="rect">
                <a:avLst/>
              </a:prstGeom>
              <a:solidFill>
                <a:schemeClr val="accent1"/>
              </a:solidFill>
              <a:ln>
                <a:noFill/>
              </a:ln>
            </p:spPr>
          </p:sp>
          <p:sp>
            <p:nvSpPr>
              <p:cNvPr id="22" name="TextBox 22"/>
              <p:cNvSpPr txBox="1"/>
              <p:nvPr/>
            </p:nvSpPr>
            <p:spPr>
              <a:xfrm>
                <a:off x="9439656" y="1965325"/>
                <a:ext cx="1551874" cy="647319"/>
              </a:xfrm>
              <a:prstGeom prst="rect">
                <a:avLst/>
              </a:prstGeom>
              <a:noFill/>
              <a:ln>
                <a:noFill/>
              </a:ln>
            </p:spPr>
            <p:txBody>
              <a:bodyPr wrap="none" lIns="0" tIns="0" rIns="0" bIns="0" anchor="t" anchorCtr="0">
                <a:spAutoFit/>
              </a:bodyPr>
              <a:lstStyle/>
              <a:p>
                <a:pPr algn="l">
                  <a:lnSpc>
                    <a:spcPts val="2325"/>
                  </a:lnSpc>
                </a:pPr>
                <a:r>
                  <a:rPr lang="en-US" sz="1800" dirty="0">
                    <a:solidFill>
                      <a:schemeClr val="accent3"/>
                    </a:solidFill>
                    <a:latin typeface="+mj-lt"/>
                    <a:ea typeface="+mj-ea"/>
                    <a:cs typeface="+mj-cs"/>
                  </a:rPr>
                  <a:t>4 / Attributable</a:t>
                </a:r>
                <a:br>
                  <a:rPr lang="en-US" sz="1800" dirty="0">
                    <a:solidFill>
                      <a:schemeClr val="accent3"/>
                    </a:solidFill>
                    <a:latin typeface="+mj-lt"/>
                    <a:ea typeface="+mj-ea"/>
                    <a:cs typeface="+mj-cs"/>
                  </a:rPr>
                </a:br>
                <a:r>
                  <a:rPr lang="en-US" sz="1800" dirty="0">
                    <a:solidFill>
                      <a:schemeClr val="accent3"/>
                    </a:solidFill>
                    <a:latin typeface="+mj-lt"/>
                    <a:ea typeface="+mj-ea"/>
                    <a:cs typeface="+mj-cs"/>
                  </a:rPr>
                  <a:t>value</a:t>
                </a:r>
              </a:p>
            </p:txBody>
          </p:sp>
          <p:sp>
            <p:nvSpPr>
              <p:cNvPr id="23" name="TextBox 23"/>
              <p:cNvSpPr txBox="1"/>
              <p:nvPr/>
            </p:nvSpPr>
            <p:spPr>
              <a:xfrm>
                <a:off x="9441180" y="2778125"/>
                <a:ext cx="2069592"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Credible alternative,</a:t>
                </a:r>
                <a:br>
                  <a:rPr lang="en-US" sz="1500" dirty="0">
                    <a:solidFill>
                      <a:srgbClr val="FFFDF7"/>
                    </a:solidFill>
                    <a:latin typeface="+mn-lt"/>
                    <a:ea typeface="+mn-ea"/>
                    <a:cs typeface="+mn-cs"/>
                  </a:rPr>
                </a:br>
                <a:r>
                  <a:rPr lang="en-US" sz="1500" dirty="0">
                    <a:solidFill>
                      <a:srgbClr val="FFFDF7"/>
                    </a:solidFill>
                    <a:latin typeface="+mn-lt"/>
                    <a:ea typeface="+mn-ea"/>
                    <a:cs typeface="+mn-cs"/>
                  </a:rPr>
                  <a:t>full cost and uncertainty.</a:t>
                </a:r>
              </a:p>
            </p:txBody>
          </p:sp>
        </p:grpSp>
      </p:grpSp>
      <p:grpSp>
        <p:nvGrpSpPr>
          <p:cNvPr id="27" name="credible-alternative"/>
          <p:cNvGrpSpPr/>
          <p:nvPr/>
        </p:nvGrpSpPr>
        <p:grpSpPr>
          <a:xfrm>
            <a:off x="449580" y="4006850"/>
            <a:ext cx="8370570" cy="826770"/>
            <a:chOff x="449580" y="4006850"/>
            <a:chExt cx="8370570" cy="826770"/>
          </a:xfrm>
        </p:grpSpPr>
        <p:sp>
          <p:nvSpPr>
            <p:cNvPr id="26" name="TextBox 26"/>
            <p:cNvSpPr txBox="1"/>
            <p:nvPr/>
          </p:nvSpPr>
          <p:spPr>
            <a:xfrm>
              <a:off x="449580" y="4006850"/>
              <a:ext cx="8370570"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Contour described roughly three months of AI/non-AI workflow tracking. No random assignment,</a:t>
              </a:r>
              <a:br>
                <a:rPr lang="en-US" sz="1500" dirty="0">
                  <a:solidFill>
                    <a:schemeClr val="dk1"/>
                  </a:solidFill>
                  <a:latin typeface="+mn-lt"/>
                  <a:ea typeface="+mn-ea"/>
                  <a:cs typeface="+mn-cs"/>
                </a:rPr>
              </a:br>
              <a:r>
                <a:rPr lang="en-US" sz="1500" dirty="0">
                  <a:solidFill>
                    <a:schemeClr val="dk1"/>
                  </a:solidFill>
                  <a:latin typeface="+mn-lt"/>
                  <a:ea typeface="+mn-ea"/>
                  <a:cs typeface="+mn-cs"/>
                </a:rPr>
                <a:t>controls or causal alpha estimate was captured. Ask what would have happened otherwise, at what</a:t>
              </a:r>
              <a:br>
                <a:rPr lang="en-US" sz="1500" dirty="0">
                  <a:solidFill>
                    <a:schemeClr val="dk1"/>
                  </a:solidFill>
                  <a:latin typeface="+mn-lt"/>
                  <a:ea typeface="+mn-ea"/>
                  <a:cs typeface="+mn-cs"/>
                </a:rPr>
              </a:br>
              <a:r>
                <a:rPr lang="en-US" sz="1500" dirty="0">
                  <a:solidFill>
                    <a:schemeClr val="dk1"/>
                  </a:solidFill>
                  <a:latin typeface="+mn-lt"/>
                  <a:ea typeface="+mn-ea"/>
                  <a:cs typeface="+mn-cs"/>
                </a:rPr>
                <a:t>quality, effort and timing; the reported window is not a universal ROI-validation period.</a:t>
              </a:r>
            </a:p>
          </p:txBody>
        </p:sp>
      </p:grpSp>
      <p:grpSp>
        <p:nvGrpSpPr>
          <p:cNvPr id="29" name="point-in-time"/>
          <p:cNvGrpSpPr/>
          <p:nvPr/>
        </p:nvGrpSpPr>
        <p:grpSpPr>
          <a:xfrm>
            <a:off x="449580" y="5254625"/>
            <a:ext cx="9090812" cy="826770"/>
            <a:chOff x="449580" y="5254625"/>
            <a:chExt cx="9090812" cy="826770"/>
          </a:xfrm>
        </p:grpSpPr>
        <p:sp>
          <p:nvSpPr>
            <p:cNvPr id="28" name="TextBox 28"/>
            <p:cNvSpPr txBox="1"/>
            <p:nvPr/>
          </p:nvSpPr>
          <p:spPr>
            <a:xfrm>
              <a:off x="449580" y="5254625"/>
              <a:ext cx="9090812"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Preserve information available when an idea was generated, its reasoning, reviewer response and decision.</a:t>
              </a:r>
              <a:br>
                <a:rPr lang="en-US" sz="1500" dirty="0">
                  <a:solidFill>
                    <a:schemeClr val="dk1"/>
                  </a:solidFill>
                  <a:latin typeface="+mn-lt"/>
                  <a:ea typeface="+mn-ea"/>
                  <a:cs typeface="+mn-cs"/>
                </a:rPr>
              </a:br>
              <a:r>
                <a:rPr lang="en-US" sz="1500" dirty="0">
                  <a:solidFill>
                    <a:schemeClr val="dk1"/>
                  </a:solidFill>
                  <a:latin typeface="+mn-lt"/>
                  <a:ea typeface="+mn-ea"/>
                  <a:cs typeface="+mn-cs"/>
                </a:rPr>
                <a:t>This prevents hindsight from rewriting success. Report process improvement separately from returns</a:t>
              </a:r>
              <a:br>
                <a:rPr lang="en-US" sz="1500" dirty="0">
                  <a:solidFill>
                    <a:schemeClr val="dk1"/>
                  </a:solidFill>
                  <a:latin typeface="+mn-lt"/>
                  <a:ea typeface="+mn-ea"/>
                  <a:cs typeface="+mn-cs"/>
                </a:rPr>
              </a:br>
              <a:r>
                <a:rPr lang="en-US" sz="1500" dirty="0">
                  <a:solidFill>
                    <a:schemeClr val="dk1"/>
                  </a:solidFill>
                  <a:latin typeface="+mn-lt"/>
                  <a:ea typeface="+mn-ea"/>
                  <a:cs typeface="+mn-cs"/>
                </a:rPr>
                <a:t>affected by markets, selection and other drivers; high adoption can still coexist with heavy rework.</a:t>
              </a:r>
            </a:p>
          </p:txBody>
        </p:sp>
      </p:grpSp>
      <p:grpSp>
        <p:nvGrpSpPr>
          <p:cNvPr id="32" name="footer"/>
          <p:cNvGrpSpPr/>
          <p:nvPr/>
        </p:nvGrpSpPr>
        <p:grpSpPr>
          <a:xfrm>
            <a:off x="452438" y="6438900"/>
            <a:ext cx="11287124" cy="176212"/>
            <a:chOff x="452438" y="6438900"/>
            <a:chExt cx="11287124" cy="176212"/>
          </a:xfrm>
        </p:grpSpPr>
        <p:sp>
          <p:nvSpPr>
            <p:cNvPr id="30" name="TextBox 30"/>
            <p:cNvSpPr txBox="1"/>
            <p:nvPr/>
          </p:nvSpPr>
          <p:spPr>
            <a:xfrm>
              <a:off x="452438" y="6438900"/>
              <a:ext cx="5651548"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Contour attendee account. Ladder and measurement requirements are our proposed framework.</a:t>
              </a:r>
            </a:p>
          </p:txBody>
        </p:sp>
        <p:sp>
          <p:nvSpPr>
            <p:cNvPr id="31" name="TextBox 31"/>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06 / 37</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6437726" cy="1110107"/>
            <a:chOff x="443484" y="371475"/>
            <a:chExt cx="6437726" cy="1110107"/>
          </a:xfrm>
        </p:grpSpPr>
        <p:sp>
          <p:nvSpPr>
            <p:cNvPr id="2" name="TextBox 2"/>
            <p:cNvSpPr txBox="1"/>
            <p:nvPr/>
          </p:nvSpPr>
          <p:spPr>
            <a:xfrm>
              <a:off x="451104" y="371475"/>
              <a:ext cx="287647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01 / ACCEPTED-TASK ECONOMICS</a:t>
              </a:r>
            </a:p>
          </p:txBody>
        </p:sp>
        <p:sp>
          <p:nvSpPr>
            <p:cNvPr id="3" name="TextBox 3"/>
            <p:cNvSpPr txBox="1"/>
            <p:nvPr/>
          </p:nvSpPr>
          <p:spPr>
            <a:xfrm>
              <a:off x="443484" y="603250"/>
              <a:ext cx="5926307"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Count the full cost of accepted work</a:t>
              </a:r>
            </a:p>
          </p:txBody>
        </p:sp>
        <p:sp>
          <p:nvSpPr>
            <p:cNvPr id="4" name="TextBox 4"/>
            <p:cNvSpPr txBox="1"/>
            <p:nvPr/>
          </p:nvSpPr>
          <p:spPr>
            <a:xfrm>
              <a:off x="448818" y="1158875"/>
              <a:ext cx="643239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cheaper response can create a more expensive completed job.</a:t>
              </a:r>
            </a:p>
          </p:txBody>
        </p:sp>
      </p:grpSp>
      <p:grpSp>
        <p:nvGrpSpPr>
          <p:cNvPr id="10" name="cost-definition"/>
          <p:cNvGrpSpPr/>
          <p:nvPr/>
        </p:nvGrpSpPr>
        <p:grpSpPr>
          <a:xfrm>
            <a:off x="457200" y="1752600"/>
            <a:ext cx="11277600" cy="1381125"/>
            <a:chOff x="457200" y="1752600"/>
            <a:chExt cx="11277600" cy="1381125"/>
          </a:xfrm>
        </p:grpSpPr>
        <p:sp>
          <p:nvSpPr>
            <p:cNvPr id="6" name="Rectangle 6"/>
            <p:cNvSpPr/>
            <p:nvPr/>
          </p:nvSpPr>
          <p:spPr>
            <a:xfrm>
              <a:off x="457200" y="1752600"/>
              <a:ext cx="11277600" cy="1381125"/>
            </a:xfrm>
            <a:prstGeom prst="rect">
              <a:avLst/>
            </a:prstGeom>
            <a:solidFill>
              <a:schemeClr val="accent1"/>
            </a:solidFill>
            <a:ln>
              <a:noFill/>
            </a:ln>
          </p:spPr>
        </p:sp>
        <p:sp>
          <p:nvSpPr>
            <p:cNvPr id="7" name="TextBox 7"/>
            <p:cNvSpPr txBox="1"/>
            <p:nvPr/>
          </p:nvSpPr>
          <p:spPr>
            <a:xfrm>
              <a:off x="679704" y="1914525"/>
              <a:ext cx="2354748"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PROPOSED MEASUREMENT</a:t>
              </a:r>
            </a:p>
          </p:txBody>
        </p:sp>
        <p:sp>
          <p:nvSpPr>
            <p:cNvPr id="8" name="TextBox 8"/>
            <p:cNvSpPr txBox="1"/>
            <p:nvPr/>
          </p:nvSpPr>
          <p:spPr>
            <a:xfrm>
              <a:off x="672084" y="2241550"/>
              <a:ext cx="6117227" cy="528066"/>
            </a:xfrm>
            <a:prstGeom prst="rect">
              <a:avLst/>
            </a:prstGeom>
            <a:noFill/>
            <a:ln>
              <a:noFill/>
            </a:ln>
          </p:spPr>
          <p:txBody>
            <a:bodyPr wrap="none" lIns="0" tIns="0" rIns="0" bIns="0" anchor="t" anchorCtr="0">
              <a:spAutoFit/>
            </a:bodyPr>
            <a:lstStyle/>
            <a:p>
              <a:pPr algn="l"/>
              <a:r>
                <a:rPr lang="en-US" sz="2700" dirty="0">
                  <a:solidFill>
                    <a:srgbClr val="FFFDF7"/>
                  </a:solidFill>
                  <a:latin typeface="+mj-lt"/>
                  <a:ea typeface="+mj-ea"/>
                  <a:cs typeface="+mj-cs"/>
                </a:rPr>
                <a:t>Total workflow cost ÷ accepted tasks</a:t>
              </a:r>
            </a:p>
          </p:txBody>
        </p:sp>
        <p:sp>
          <p:nvSpPr>
            <p:cNvPr id="9" name="TextBox 9"/>
            <p:cNvSpPr txBox="1"/>
            <p:nvPr/>
          </p:nvSpPr>
          <p:spPr>
            <a:xfrm>
              <a:off x="678180" y="2762250"/>
              <a:ext cx="6156237" cy="293370"/>
            </a:xfrm>
            <a:prstGeom prst="rect">
              <a:avLst/>
            </a:prstGeom>
            <a:noFill/>
            <a:ln>
              <a:noFill/>
            </a:ln>
          </p:spPr>
          <p:txBody>
            <a:bodyPr wrap="none" lIns="0" tIns="0" rIns="0" bIns="0" anchor="t" anchorCtr="0">
              <a:spAutoFit/>
            </a:bodyPr>
            <a:lstStyle/>
            <a:p>
              <a:pPr algn="l"/>
              <a:r>
                <a:rPr lang="en-US" sz="1500" dirty="0">
                  <a:solidFill>
                    <a:srgbClr val="E7F0EA"/>
                  </a:solidFill>
                  <a:latin typeface="+mn-lt"/>
                  <a:ea typeface="+mn-ea"/>
                  <a:cs typeface="+mn-cs"/>
                </a:rPr>
                <a:t>All attempts + tools + selection + human review + rework + operation</a:t>
              </a:r>
            </a:p>
          </p:txBody>
        </p:sp>
      </p:grpSp>
      <p:grpSp>
        <p:nvGrpSpPr>
          <p:cNvPr id="14" name="numerator"/>
          <p:cNvGrpSpPr/>
          <p:nvPr/>
        </p:nvGrpSpPr>
        <p:grpSpPr>
          <a:xfrm>
            <a:off x="448056" y="3552825"/>
            <a:ext cx="4358411" cy="2347595"/>
            <a:chOff x="448056" y="3552825"/>
            <a:chExt cx="4358411" cy="2347595"/>
          </a:xfrm>
        </p:grpSpPr>
        <p:sp>
          <p:nvSpPr>
            <p:cNvPr id="11" name="TextBox 11"/>
            <p:cNvSpPr txBox="1"/>
            <p:nvPr/>
          </p:nvSpPr>
          <p:spPr>
            <a:xfrm>
              <a:off x="448056" y="3552825"/>
              <a:ext cx="412357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Include the work people still perform</a:t>
              </a:r>
            </a:p>
          </p:txBody>
        </p:sp>
        <p:sp>
          <p:nvSpPr>
            <p:cNvPr id="12" name="TextBox 12"/>
            <p:cNvSpPr txBox="1"/>
            <p:nvPr/>
          </p:nvSpPr>
          <p:spPr>
            <a:xfrm>
              <a:off x="449580" y="4006850"/>
              <a:ext cx="435688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Record inference, data, tool calls, retries, candidate</a:t>
              </a:r>
              <a:br>
                <a:rPr lang="en-US" sz="1500" dirty="0">
                  <a:solidFill>
                    <a:schemeClr val="dk1"/>
                  </a:solidFill>
                  <a:latin typeface="+mn-lt"/>
                  <a:ea typeface="+mn-ea"/>
                  <a:cs typeface="+mn-cs"/>
                </a:rPr>
              </a:br>
              <a:r>
                <a:rPr lang="en-US" sz="1500" dirty="0">
                  <a:solidFill>
                    <a:schemeClr val="dk1"/>
                  </a:solidFill>
                  <a:latin typeface="+mn-lt"/>
                  <a:ea typeface="+mn-ea"/>
                  <a:cs typeface="+mn-cs"/>
                </a:rPr>
                <a:t>selection, review, rework and operational support.</a:t>
              </a:r>
              <a:br>
                <a:rPr lang="en-US" sz="1500" dirty="0">
                  <a:solidFill>
                    <a:schemeClr val="dk1"/>
                  </a:solidFill>
                  <a:latin typeface="+mn-lt"/>
                  <a:ea typeface="+mn-ea"/>
                  <a:cs typeface="+mn-cs"/>
                </a:rPr>
              </a:br>
              <a:r>
                <a:rPr lang="en-US" sz="1500" dirty="0">
                  <a:solidFill>
                    <a:schemeClr val="dk1"/>
                  </a:solidFill>
                  <a:latin typeface="+mn-lt"/>
                  <a:ea typeface="+mn-ea"/>
                  <a:cs typeface="+mn-cs"/>
                </a:rPr>
                <a:t>Failed and abandoned attempts still incur cost.</a:t>
              </a:r>
            </a:p>
          </p:txBody>
        </p:sp>
        <p:sp>
          <p:nvSpPr>
            <p:cNvPr id="13" name="TextBox 13"/>
            <p:cNvSpPr txBox="1"/>
            <p:nvPr/>
          </p:nvSpPr>
          <p:spPr>
            <a:xfrm>
              <a:off x="449580" y="5073650"/>
              <a:ext cx="4092245"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 lower model bill can be offset by corrections.</a:t>
              </a:r>
              <a:br>
                <a:rPr lang="en-US" sz="1500" dirty="0">
                  <a:solidFill>
                    <a:schemeClr val="dk1"/>
                  </a:solidFill>
                  <a:latin typeface="+mn-lt"/>
                  <a:ea typeface="+mn-ea"/>
                  <a:cs typeface="+mn-cs"/>
                </a:rPr>
              </a:br>
              <a:r>
                <a:rPr lang="en-US" sz="1500" dirty="0">
                  <a:solidFill>
                    <a:schemeClr val="dk1"/>
                  </a:solidFill>
                  <a:latin typeface="+mn-lt"/>
                  <a:ea typeface="+mn-ea"/>
                  <a:cs typeface="+mn-cs"/>
                </a:rPr>
                <a:t>Compare equivalent tasks at the same accepted</a:t>
              </a:r>
              <a:br>
                <a:rPr lang="en-US" sz="1500" dirty="0">
                  <a:solidFill>
                    <a:schemeClr val="dk1"/>
                  </a:solidFill>
                  <a:latin typeface="+mn-lt"/>
                  <a:ea typeface="+mn-ea"/>
                  <a:cs typeface="+mn-cs"/>
                </a:rPr>
              </a:br>
              <a:r>
                <a:rPr lang="en-US" sz="1500" dirty="0">
                  <a:solidFill>
                    <a:schemeClr val="dk1"/>
                  </a:solidFill>
                  <a:latin typeface="+mn-lt"/>
                  <a:ea typeface="+mn-ea"/>
                  <a:cs typeface="+mn-cs"/>
                </a:rPr>
                <a:t>quality and critical limits.</a:t>
              </a:r>
            </a:p>
          </p:txBody>
        </p:sp>
      </p:grpSp>
      <p:grpSp>
        <p:nvGrpSpPr>
          <p:cNvPr id="18" name="denominator"/>
          <p:cNvGrpSpPr/>
          <p:nvPr/>
        </p:nvGrpSpPr>
        <p:grpSpPr>
          <a:xfrm>
            <a:off x="6086856" y="3552825"/>
            <a:ext cx="4548721" cy="2347595"/>
            <a:chOff x="6086856" y="3552825"/>
            <a:chExt cx="4548721" cy="2347595"/>
          </a:xfrm>
        </p:grpSpPr>
        <p:sp>
          <p:nvSpPr>
            <p:cNvPr id="15" name="TextBox 15"/>
            <p:cNvSpPr txBox="1"/>
            <p:nvPr/>
          </p:nvSpPr>
          <p:spPr>
            <a:xfrm>
              <a:off x="6086856" y="3552825"/>
              <a:ext cx="439048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Keep qualification and coverage explicit</a:t>
              </a:r>
            </a:p>
          </p:txBody>
        </p:sp>
        <p:sp>
          <p:nvSpPr>
            <p:cNvPr id="16" name="TextBox 16"/>
            <p:cNvSpPr txBox="1"/>
            <p:nvPr/>
          </p:nvSpPr>
          <p:spPr>
            <a:xfrm>
              <a:off x="6088380" y="4006850"/>
              <a:ext cx="454719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Optiver’s program describes task-certified model</a:t>
              </a:r>
              <a:br>
                <a:rPr lang="en-US" sz="1500" dirty="0">
                  <a:solidFill>
                    <a:schemeClr val="dk1"/>
                  </a:solidFill>
                  <a:latin typeface="+mn-lt"/>
                  <a:ea typeface="+mn-ea"/>
                  <a:cs typeface="+mn-cs"/>
                </a:rPr>
              </a:br>
              <a:r>
                <a:rPr lang="en-US" sz="1500" dirty="0">
                  <a:solidFill>
                    <a:schemeClr val="dk1"/>
                  </a:solidFill>
                  <a:latin typeface="+mn-lt"/>
                  <a:ea typeface="+mn-ea"/>
                  <a:cs typeface="+mn-cs"/>
                </a:rPr>
                <a:t>routing. Quality must qualify before price optimization;</a:t>
              </a:r>
              <a:br>
                <a:rPr lang="en-US" sz="1500" dirty="0">
                  <a:solidFill>
                    <a:schemeClr val="dk1"/>
                  </a:solidFill>
                  <a:latin typeface="+mn-lt"/>
                  <a:ea typeface="+mn-ea"/>
                  <a:cs typeface="+mn-cs"/>
                </a:rPr>
              </a:br>
              <a:r>
                <a:rPr lang="en-US" sz="1500" dirty="0">
                  <a:solidFill>
                    <a:schemeClr val="dk1"/>
                  </a:solidFill>
                  <a:latin typeface="+mn-lt"/>
                  <a:ea typeface="+mn-ea"/>
                  <a:cs typeface="+mn-cs"/>
                </a:rPr>
                <a:t>certification on one workload does not generalize.</a:t>
              </a:r>
            </a:p>
          </p:txBody>
        </p:sp>
        <p:sp>
          <p:nvSpPr>
            <p:cNvPr id="17" name="TextBox 17"/>
            <p:cNvSpPr txBox="1"/>
            <p:nvPr/>
          </p:nvSpPr>
          <p:spPr>
            <a:xfrm>
              <a:off x="6088380" y="5073650"/>
              <a:ext cx="4262056"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Predeclare eligibility, acceptance and exclusions.</a:t>
              </a:r>
              <a:br>
                <a:rPr lang="en-US" sz="1500" dirty="0">
                  <a:solidFill>
                    <a:schemeClr val="dk1"/>
                  </a:solidFill>
                  <a:latin typeface="+mn-lt"/>
                  <a:ea typeface="+mn-ea"/>
                  <a:cs typeface="+mn-cs"/>
                </a:rPr>
              </a:br>
              <a:r>
                <a:rPr lang="en-US" sz="1500" dirty="0">
                  <a:solidFill>
                    <a:schemeClr val="dk1"/>
                  </a:solidFill>
                  <a:latin typeface="+mn-lt"/>
                  <a:ea typeface="+mn-ea"/>
                  <a:cs typeface="+mn-cs"/>
                </a:rPr>
                <a:t>Report accepted-task rate alongside unit cost so</a:t>
              </a:r>
              <a:br>
                <a:rPr lang="en-US" sz="1500" dirty="0">
                  <a:solidFill>
                    <a:schemeClr val="dk1"/>
                  </a:solidFill>
                  <a:latin typeface="+mn-lt"/>
                  <a:ea typeface="+mn-ea"/>
                  <a:cs typeface="+mn-cs"/>
                </a:rPr>
              </a:br>
              <a:r>
                <a:rPr lang="en-US" sz="1500" dirty="0">
                  <a:solidFill>
                    <a:schemeClr val="dk1"/>
                  </a:solidFill>
                  <a:latin typeface="+mn-lt"/>
                  <a:ea typeface="+mn-ea"/>
                  <a:cs typeface="+mn-cs"/>
                </a:rPr>
                <a:t>narrowing the task population cannot hide failures.</a:t>
              </a:r>
            </a:p>
          </p:txBody>
        </p:sp>
      </p:grpSp>
      <p:grpSp>
        <p:nvGrpSpPr>
          <p:cNvPr id="21" name="footer"/>
          <p:cNvGrpSpPr/>
          <p:nvPr/>
        </p:nvGrpSpPr>
        <p:grpSpPr>
          <a:xfrm>
            <a:off x="452438" y="6391275"/>
            <a:ext cx="11287124" cy="176212"/>
            <a:chOff x="452438" y="6391275"/>
            <a:chExt cx="11287124" cy="176212"/>
          </a:xfrm>
        </p:grpSpPr>
        <p:sp>
          <p:nvSpPr>
            <p:cNvPr id="19" name="TextBox 19"/>
            <p:cNvSpPr txBox="1"/>
            <p:nvPr/>
          </p:nvSpPr>
          <p:spPr>
            <a:xfrm>
              <a:off x="452438" y="6391275"/>
              <a:ext cx="6946924"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Contour notes; Optiver program context. Full-cost stack is our proposal; no savings or optimal routing policy is asserted.</a:t>
              </a:r>
            </a:p>
          </p:txBody>
        </p:sp>
        <p:sp>
          <p:nvSpPr>
            <p:cNvPr id="20" name="TextBox 20"/>
            <p:cNvSpPr txBox="1"/>
            <p:nvPr/>
          </p:nvSpPr>
          <p:spPr>
            <a:xfrm>
              <a:off x="11359512" y="63912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07 / 37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080027" cy="1110107"/>
            <a:chOff x="443484" y="371475"/>
            <a:chExt cx="8080027" cy="1110107"/>
          </a:xfrm>
        </p:grpSpPr>
        <p:sp>
          <p:nvSpPr>
            <p:cNvPr id="2" name="TextBox 2"/>
            <p:cNvSpPr txBox="1"/>
            <p:nvPr/>
          </p:nvSpPr>
          <p:spPr>
            <a:xfrm>
              <a:off x="451104" y="371475"/>
              <a:ext cx="2089294"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02 / GROUNDED AGENTS</a:t>
              </a:r>
            </a:p>
          </p:txBody>
        </p:sp>
        <p:sp>
          <p:nvSpPr>
            <p:cNvPr id="3" name="TextBox 3"/>
            <p:cNvSpPr txBox="1"/>
            <p:nvPr/>
          </p:nvSpPr>
          <p:spPr>
            <a:xfrm>
              <a:off x="443484" y="603250"/>
              <a:ext cx="8080027" cy="528066"/>
            </a:xfrm>
            <a:prstGeom prst="rect">
              <a:avLst/>
            </a:prstGeom>
            <a:noFill/>
            <a:ln>
              <a:noFill/>
            </a:ln>
          </p:spPr>
          <p:txBody>
            <a:bodyPr wrap="none" lIns="0" tIns="0" rIns="0" bIns="0" anchor="t" anchorCtr="0">
              <a:spAutoFit/>
            </a:bodyPr>
            <a:lstStyle/>
            <a:p>
              <a:pPr algn="l"/>
              <a:r>
                <a:rPr lang="en-US" sz="2700" dirty="0">
                  <a:solidFill>
                    <a:srgbClr val="FFFDF7"/>
                  </a:solidFill>
                  <a:latin typeface="+mj-lt"/>
                  <a:ea typeface="+mj-ea"/>
                  <a:cs typeface="+mj-cs"/>
                </a:rPr>
                <a:t>Ground the question in time, meaning and access</a:t>
              </a:r>
            </a:p>
          </p:txBody>
        </p:sp>
        <p:sp>
          <p:nvSpPr>
            <p:cNvPr id="4" name="TextBox 4"/>
            <p:cNvSpPr txBox="1"/>
            <p:nvPr/>
          </p:nvSpPr>
          <p:spPr>
            <a:xfrm>
              <a:off x="448818" y="1158875"/>
              <a:ext cx="5481658" cy="322707"/>
            </a:xfrm>
            <a:prstGeom prst="rect">
              <a:avLst/>
            </a:prstGeom>
            <a:noFill/>
            <a:ln>
              <a:noFill/>
            </a:ln>
          </p:spPr>
          <p:txBody>
            <a:bodyPr wrap="none" lIns="0" tIns="0" rIns="0" bIns="0" anchor="t" anchorCtr="0">
              <a:spAutoFit/>
            </a:bodyPr>
            <a:lstStyle/>
            <a:p>
              <a:pPr algn="l"/>
              <a:r>
                <a:rPr lang="en-US" sz="1650" dirty="0">
                  <a:solidFill>
                    <a:srgbClr val="E7F0EA"/>
                  </a:solidFill>
                  <a:latin typeface="+mn-lt"/>
                  <a:ea typeface="+mn-ea"/>
                  <a:cs typeface="+mn-cs"/>
                </a:rPr>
                <a:t>The evidence boundary precedes a persuasive answer.</a:t>
              </a:r>
            </a:p>
          </p:txBody>
        </p:sp>
      </p:grpSp>
      <p:grpSp>
        <p:nvGrpSpPr>
          <p:cNvPr id="17" name="evidence-path"/>
          <p:cNvGrpSpPr/>
          <p:nvPr/>
        </p:nvGrpSpPr>
        <p:grpSpPr>
          <a:xfrm>
            <a:off x="448056" y="2009775"/>
            <a:ext cx="11115294" cy="1187958"/>
            <a:chOff x="448056" y="2009775"/>
            <a:chExt cx="11115294" cy="1187958"/>
          </a:xfrm>
        </p:grpSpPr>
        <p:sp>
          <p:nvSpPr>
            <p:cNvPr id="6" name="Line 6"/>
            <p:cNvSpPr/>
            <p:nvPr/>
          </p:nvSpPr>
          <p:spPr>
            <a:xfrm>
              <a:off x="628650" y="2009775"/>
              <a:ext cx="10934700" cy="9525"/>
            </a:xfrm>
            <a:custGeom>
              <a:avLst/>
              <a:gdLst/>
              <a:ahLst/>
              <a:cxnLst/>
              <a:rect l="l" t="t" r="r" b="b"/>
              <a:pathLst>
                <a:path w="10934700" h="9525">
                  <a:moveTo>
                    <a:pt x="0" y="0"/>
                  </a:moveTo>
                  <a:lnTo>
                    <a:pt x="10934700" y="0"/>
                  </a:lnTo>
                </a:path>
              </a:pathLst>
            </a:custGeom>
            <a:noFill/>
            <a:ln w="19050">
              <a:solidFill>
                <a:srgbClr val="50616A"/>
              </a:solidFill>
            </a:ln>
          </p:spPr>
        </p:sp>
        <p:sp>
          <p:nvSpPr>
            <p:cNvPr id="7" name="TextBox 7"/>
            <p:cNvSpPr txBox="1"/>
            <p:nvPr/>
          </p:nvSpPr>
          <p:spPr>
            <a:xfrm>
              <a:off x="448056" y="2190750"/>
              <a:ext cx="1323995"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1 / Request</a:t>
              </a:r>
            </a:p>
          </p:txBody>
        </p:sp>
        <p:sp>
          <p:nvSpPr>
            <p:cNvPr id="8" name="TextBox 8"/>
            <p:cNvSpPr txBox="1"/>
            <p:nvPr/>
          </p:nvSpPr>
          <p:spPr>
            <a:xfrm>
              <a:off x="450342" y="2686050"/>
              <a:ext cx="1376469"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Entity, task,</a:t>
              </a:r>
              <a:br>
                <a:rPr lang="en-US" sz="1350" dirty="0">
                  <a:solidFill>
                    <a:srgbClr val="FFFDF7"/>
                  </a:solidFill>
                  <a:latin typeface="+mn-lt"/>
                  <a:ea typeface="+mn-ea"/>
                  <a:cs typeface="+mn-cs"/>
                </a:rPr>
              </a:br>
              <a:r>
                <a:rPr lang="en-US" sz="1350" dirty="0">
                  <a:solidFill>
                    <a:srgbClr val="FFFDF7"/>
                  </a:solidFill>
                  <a:latin typeface="+mn-lt"/>
                  <a:ea typeface="+mn-ea"/>
                  <a:cs typeface="+mn-cs"/>
                </a:rPr>
                <a:t>information cutoff.</a:t>
              </a:r>
            </a:p>
          </p:txBody>
        </p:sp>
        <p:sp>
          <p:nvSpPr>
            <p:cNvPr id="9" name="TextBox 9"/>
            <p:cNvSpPr txBox="1"/>
            <p:nvPr/>
          </p:nvSpPr>
          <p:spPr>
            <a:xfrm>
              <a:off x="2762631" y="2190750"/>
              <a:ext cx="151605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2 / Boundary</a:t>
              </a:r>
            </a:p>
          </p:txBody>
        </p:sp>
        <p:sp>
          <p:nvSpPr>
            <p:cNvPr id="10" name="TextBox 10"/>
            <p:cNvSpPr txBox="1"/>
            <p:nvPr/>
          </p:nvSpPr>
          <p:spPr>
            <a:xfrm>
              <a:off x="2764917" y="2686050"/>
              <a:ext cx="1652641"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Allowed sources,</a:t>
              </a:r>
              <a:br>
                <a:rPr lang="en-US" sz="1350" dirty="0">
                  <a:solidFill>
                    <a:srgbClr val="FFFDF7"/>
                  </a:solidFill>
                  <a:latin typeface="+mn-lt"/>
                  <a:ea typeface="+mn-ea"/>
                  <a:cs typeface="+mn-cs"/>
                </a:rPr>
              </a:br>
              <a:r>
                <a:rPr lang="en-US" sz="1350" dirty="0">
                  <a:solidFill>
                    <a:srgbClr val="FFFDF7"/>
                  </a:solidFill>
                  <a:latin typeface="+mn-lt"/>
                  <a:ea typeface="+mn-ea"/>
                  <a:cs typeface="+mn-cs"/>
                </a:rPr>
                <a:t>access/effective time.</a:t>
              </a:r>
            </a:p>
          </p:txBody>
        </p:sp>
        <p:sp>
          <p:nvSpPr>
            <p:cNvPr id="11" name="TextBox 11"/>
            <p:cNvSpPr txBox="1"/>
            <p:nvPr/>
          </p:nvSpPr>
          <p:spPr>
            <a:xfrm>
              <a:off x="5077206" y="2190750"/>
              <a:ext cx="1380885"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3 / Meaning</a:t>
              </a:r>
            </a:p>
          </p:txBody>
        </p:sp>
        <p:sp>
          <p:nvSpPr>
            <p:cNvPr id="12" name="TextBox 12"/>
            <p:cNvSpPr txBox="1"/>
            <p:nvPr/>
          </p:nvSpPr>
          <p:spPr>
            <a:xfrm>
              <a:off x="5079492" y="2686050"/>
              <a:ext cx="1519493"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Ontology, metrics,</a:t>
              </a:r>
              <a:br>
                <a:rPr lang="en-US" sz="1350" dirty="0">
                  <a:solidFill>
                    <a:srgbClr val="FFFDF7"/>
                  </a:solidFill>
                  <a:latin typeface="+mn-lt"/>
                  <a:ea typeface="+mn-ea"/>
                  <a:cs typeface="+mn-cs"/>
                </a:rPr>
              </a:br>
              <a:r>
                <a:rPr lang="en-US" sz="1350" dirty="0">
                  <a:solidFill>
                    <a:srgbClr val="FFFDF7"/>
                  </a:solidFill>
                  <a:latin typeface="+mn-lt"/>
                  <a:ea typeface="+mn-ea"/>
                  <a:cs typeface="+mn-cs"/>
                </a:rPr>
                <a:t>definitions/versions.</a:t>
              </a:r>
            </a:p>
          </p:txBody>
        </p:sp>
        <p:sp>
          <p:nvSpPr>
            <p:cNvPr id="13" name="TextBox 13"/>
            <p:cNvSpPr txBox="1"/>
            <p:nvPr/>
          </p:nvSpPr>
          <p:spPr>
            <a:xfrm>
              <a:off x="7391781" y="2190750"/>
              <a:ext cx="1280562"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4 / Context</a:t>
              </a:r>
            </a:p>
          </p:txBody>
        </p:sp>
        <p:sp>
          <p:nvSpPr>
            <p:cNvPr id="14" name="TextBox 14"/>
            <p:cNvSpPr txBox="1"/>
            <p:nvPr/>
          </p:nvSpPr>
          <p:spPr>
            <a:xfrm>
              <a:off x="7394067" y="2686050"/>
              <a:ext cx="1472035"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Relevant evidence,</a:t>
              </a:r>
              <a:br>
                <a:rPr lang="en-US" sz="1350" dirty="0">
                  <a:solidFill>
                    <a:srgbClr val="FFFDF7"/>
                  </a:solidFill>
                  <a:latin typeface="+mn-lt"/>
                  <a:ea typeface="+mn-ea"/>
                  <a:cs typeface="+mn-cs"/>
                </a:rPr>
              </a:br>
              <a:r>
                <a:rPr lang="en-US" sz="1350" dirty="0">
                  <a:solidFill>
                    <a:srgbClr val="FFFDF7"/>
                  </a:solidFill>
                  <a:latin typeface="+mn-lt"/>
                  <a:ea typeface="+mn-ea"/>
                  <a:cs typeface="+mn-cs"/>
                </a:rPr>
                <a:t>conflicts and gaps.</a:t>
              </a:r>
            </a:p>
          </p:txBody>
        </p:sp>
        <p:sp>
          <p:nvSpPr>
            <p:cNvPr id="15" name="TextBox 15"/>
            <p:cNvSpPr txBox="1"/>
            <p:nvPr/>
          </p:nvSpPr>
          <p:spPr>
            <a:xfrm>
              <a:off x="9706356" y="2190750"/>
              <a:ext cx="1283416"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5 / Answer</a:t>
              </a:r>
            </a:p>
          </p:txBody>
        </p:sp>
        <p:sp>
          <p:nvSpPr>
            <p:cNvPr id="16" name="TextBox 16"/>
            <p:cNvSpPr txBox="1"/>
            <p:nvPr/>
          </p:nvSpPr>
          <p:spPr>
            <a:xfrm>
              <a:off x="9708642" y="2686050"/>
              <a:ext cx="1471761"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Supported claims,</a:t>
              </a:r>
              <a:br>
                <a:rPr lang="en-US" sz="1350" dirty="0">
                  <a:solidFill>
                    <a:srgbClr val="FFFDF7"/>
                  </a:solidFill>
                  <a:latin typeface="+mn-lt"/>
                  <a:ea typeface="+mn-ea"/>
                  <a:cs typeface="+mn-cs"/>
                </a:rPr>
              </a:br>
              <a:r>
                <a:rPr lang="en-US" sz="1350" dirty="0">
                  <a:solidFill>
                    <a:srgbClr val="FFFDF7"/>
                  </a:solidFill>
                  <a:latin typeface="+mn-lt"/>
                  <a:ea typeface="+mn-ea"/>
                  <a:cs typeface="+mn-cs"/>
                </a:rPr>
                <a:t>explicit uncertainty.</a:t>
              </a:r>
            </a:p>
          </p:txBody>
        </p:sp>
      </p:grpSp>
      <p:grpSp>
        <p:nvGrpSpPr>
          <p:cNvPr id="20" name="vault"/>
          <p:cNvGrpSpPr/>
          <p:nvPr/>
        </p:nvGrpSpPr>
        <p:grpSpPr>
          <a:xfrm>
            <a:off x="448056" y="3933825"/>
            <a:ext cx="3395872" cy="1823720"/>
            <a:chOff x="448056" y="3933825"/>
            <a:chExt cx="3395872" cy="1823720"/>
          </a:xfrm>
        </p:grpSpPr>
        <p:sp>
          <p:nvSpPr>
            <p:cNvPr id="18" name="TextBox 18"/>
            <p:cNvSpPr txBox="1"/>
            <p:nvPr/>
          </p:nvSpPr>
          <p:spPr>
            <a:xfrm>
              <a:off x="448056" y="3933825"/>
              <a:ext cx="3395872"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Scope the investment question</a:t>
              </a:r>
            </a:p>
          </p:txBody>
        </p:sp>
        <p:sp>
          <p:nvSpPr>
            <p:cNvPr id="19" name="TextBox 19"/>
            <p:cNvSpPr txBox="1"/>
            <p:nvPr/>
          </p:nvSpPr>
          <p:spPr>
            <a:xfrm>
              <a:off x="449580" y="4397375"/>
              <a:ext cx="2884703" cy="13601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Vault combines internal/external</a:t>
              </a:r>
              <a:br>
                <a:rPr lang="en-US" sz="1500" dirty="0">
                  <a:solidFill>
                    <a:srgbClr val="FFFDF7"/>
                  </a:solidFill>
                  <a:latin typeface="+mn-lt"/>
                  <a:ea typeface="+mn-ea"/>
                  <a:cs typeface="+mn-cs"/>
                </a:rPr>
              </a:br>
              <a:r>
                <a:rPr lang="en-US" sz="1500" dirty="0">
                  <a:solidFill>
                    <a:srgbClr val="FFFDF7"/>
                  </a:solidFill>
                  <a:latin typeface="+mn-lt"/>
                  <a:ea typeface="+mn-ea"/>
                  <a:cs typeface="+mn-cs"/>
                </a:rPr>
                <a:t>research, news and transcripts.</a:t>
              </a:r>
              <a:br>
                <a:rPr lang="en-US" sz="1500" dirty="0">
                  <a:solidFill>
                    <a:srgbClr val="FFFDF7"/>
                  </a:solidFill>
                  <a:latin typeface="+mn-lt"/>
                  <a:ea typeface="+mn-ea"/>
                  <a:cs typeface="+mn-cs"/>
                </a:rPr>
              </a:br>
              <a:r>
                <a:rPr lang="en-US" sz="1500" dirty="0">
                  <a:solidFill>
                    <a:srgbClr val="FFFDF7"/>
                  </a:solidFill>
                  <a:latin typeface="+mn-lt"/>
                  <a:ea typeface="+mn-ea"/>
                  <a:cs typeface="+mn-cs"/>
                </a:rPr>
                <a:t>Market, country, concept and time</a:t>
              </a:r>
              <a:br>
                <a:rPr lang="en-US" sz="1500" dirty="0">
                  <a:solidFill>
                    <a:srgbClr val="FFFDF7"/>
                  </a:solidFill>
                  <a:latin typeface="+mn-lt"/>
                  <a:ea typeface="+mn-ea"/>
                  <a:cs typeface="+mn-cs"/>
                </a:rPr>
              </a:br>
              <a:r>
                <a:rPr lang="en-US" sz="1500" dirty="0">
                  <a:solidFill>
                    <a:srgbClr val="FFFDF7"/>
                  </a:solidFill>
                  <a:latin typeface="+mn-lt"/>
                  <a:ea typeface="+mn-ea"/>
                  <a:cs typeface="+mn-cs"/>
                </a:rPr>
                <a:t>organize the knowledge; the</a:t>
              </a:r>
              <a:br>
                <a:rPr lang="en-US" sz="1500" dirty="0">
                  <a:solidFill>
                    <a:srgbClr val="FFFDF7"/>
                  </a:solidFill>
                  <a:latin typeface="+mn-lt"/>
                  <a:ea typeface="+mn-ea"/>
                  <a:cs typeface="+mn-cs"/>
                </a:rPr>
              </a:br>
              <a:r>
                <a:rPr lang="en-US" sz="1500" dirty="0">
                  <a:solidFill>
                    <a:srgbClr val="FFFDF7"/>
                  </a:solidFill>
                  <a:latin typeface="+mn-lt"/>
                  <a:ea typeface="+mn-ea"/>
                  <a:cs typeface="+mn-cs"/>
                </a:rPr>
                <a:t>request still defines relevance.</a:t>
              </a:r>
            </a:p>
          </p:txBody>
        </p:sp>
      </p:grpSp>
      <p:grpSp>
        <p:nvGrpSpPr>
          <p:cNvPr id="23" name="permissions"/>
          <p:cNvGrpSpPr/>
          <p:nvPr/>
        </p:nvGrpSpPr>
        <p:grpSpPr>
          <a:xfrm>
            <a:off x="4181856" y="3933825"/>
            <a:ext cx="2812618" cy="1823720"/>
            <a:chOff x="4181856" y="3933825"/>
            <a:chExt cx="2812618" cy="1823720"/>
          </a:xfrm>
        </p:grpSpPr>
        <p:sp>
          <p:nvSpPr>
            <p:cNvPr id="21" name="TextBox 21"/>
            <p:cNvSpPr txBox="1"/>
            <p:nvPr/>
          </p:nvSpPr>
          <p:spPr>
            <a:xfrm>
              <a:off x="4181856" y="3933825"/>
              <a:ext cx="2642196"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Enforce retrieval access</a:t>
              </a:r>
            </a:p>
          </p:txBody>
        </p:sp>
        <p:sp>
          <p:nvSpPr>
            <p:cNvPr id="22" name="TextBox 22"/>
            <p:cNvSpPr txBox="1"/>
            <p:nvPr/>
          </p:nvSpPr>
          <p:spPr>
            <a:xfrm>
              <a:off x="4183380" y="4397375"/>
              <a:ext cx="2811094" cy="13601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The separate Bridgewater /</a:t>
              </a:r>
              <a:br>
                <a:rPr lang="en-US" sz="1500" dirty="0">
                  <a:solidFill>
                    <a:srgbClr val="FFFDF7"/>
                  </a:solidFill>
                  <a:latin typeface="+mn-lt"/>
                  <a:ea typeface="+mn-ea"/>
                  <a:cs typeface="+mn-cs"/>
                </a:rPr>
              </a:br>
              <a:r>
                <a:rPr lang="en-US" sz="1500" dirty="0">
                  <a:solidFill>
                    <a:srgbClr val="FFFDF7"/>
                  </a:solidFill>
                  <a:latin typeface="+mn-lt"/>
                  <a:ea typeface="+mn-ea"/>
                  <a:cs typeface="+mn-cs"/>
                </a:rPr>
                <a:t>turbopuffer program case</a:t>
              </a:r>
              <a:br>
                <a:rPr lang="en-US" sz="1500" dirty="0">
                  <a:solidFill>
                    <a:srgbClr val="FFFDF7"/>
                  </a:solidFill>
                  <a:latin typeface="+mn-lt"/>
                  <a:ea typeface="+mn-ea"/>
                  <a:cs typeface="+mn-cs"/>
                </a:rPr>
              </a:br>
              <a:r>
                <a:rPr lang="en-US" sz="1500" dirty="0">
                  <a:solidFill>
                    <a:srgbClr val="FFFDF7"/>
                  </a:solidFill>
                  <a:latin typeface="+mn-lt"/>
                  <a:ea typeface="+mn-ea"/>
                  <a:cs typeface="+mn-cs"/>
                </a:rPr>
                <a:t>describes retrieval permissions.</a:t>
              </a:r>
              <a:br>
                <a:rPr lang="en-US" sz="1500" dirty="0">
                  <a:solidFill>
                    <a:srgbClr val="FFFDF7"/>
                  </a:solidFill>
                  <a:latin typeface="+mn-lt"/>
                  <a:ea typeface="+mn-ea"/>
                  <a:cs typeface="+mn-cs"/>
                </a:rPr>
              </a:br>
              <a:r>
                <a:rPr lang="en-US" sz="1500" dirty="0">
                  <a:solidFill>
                    <a:srgbClr val="FFFDF7"/>
                  </a:solidFill>
                  <a:latin typeface="+mn-lt"/>
                  <a:ea typeface="+mn-ea"/>
                  <a:cs typeface="+mn-cs"/>
                </a:rPr>
                <a:t>Test current-user access and</a:t>
              </a:r>
              <a:br>
                <a:rPr lang="en-US" sz="1500" dirty="0">
                  <a:solidFill>
                    <a:srgbClr val="FFFDF7"/>
                  </a:solidFill>
                  <a:latin typeface="+mn-lt"/>
                  <a:ea typeface="+mn-ea"/>
                  <a:cs typeface="+mn-cs"/>
                </a:rPr>
              </a:br>
              <a:r>
                <a:rPr lang="en-US" sz="1500" dirty="0">
                  <a:solidFill>
                    <a:srgbClr val="FFFDF7"/>
                  </a:solidFill>
                  <a:latin typeface="+mn-lt"/>
                  <a:ea typeface="+mn-ea"/>
                  <a:cs typeface="+mn-cs"/>
                </a:rPr>
                <a:t>revocation, not credentials alone.</a:t>
              </a:r>
            </a:p>
          </p:txBody>
        </p:sp>
      </p:grpSp>
      <p:grpSp>
        <p:nvGrpSpPr>
          <p:cNvPr id="26" name="definitions"/>
          <p:cNvGrpSpPr/>
          <p:nvPr/>
        </p:nvGrpSpPr>
        <p:grpSpPr>
          <a:xfrm>
            <a:off x="7915656" y="3933825"/>
            <a:ext cx="2991993" cy="1823720"/>
            <a:chOff x="7915656" y="3933825"/>
            <a:chExt cx="2991993" cy="1823720"/>
          </a:xfrm>
        </p:grpSpPr>
        <p:sp>
          <p:nvSpPr>
            <p:cNvPr id="24" name="TextBox 24"/>
            <p:cNvSpPr txBox="1"/>
            <p:nvPr/>
          </p:nvSpPr>
          <p:spPr>
            <a:xfrm>
              <a:off x="7915656" y="3933825"/>
              <a:ext cx="266581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Carry business meaning</a:t>
              </a:r>
            </a:p>
          </p:txBody>
        </p:sp>
        <p:sp>
          <p:nvSpPr>
            <p:cNvPr id="25" name="TextBox 25"/>
            <p:cNvSpPr txBox="1"/>
            <p:nvPr/>
          </p:nvSpPr>
          <p:spPr>
            <a:xfrm>
              <a:off x="7917180" y="4397375"/>
              <a:ext cx="2990469" cy="13601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Use the intended metric, entity,</a:t>
              </a:r>
              <a:br>
                <a:rPr lang="en-US" sz="1500" dirty="0">
                  <a:solidFill>
                    <a:srgbClr val="FFFDF7"/>
                  </a:solidFill>
                  <a:latin typeface="+mn-lt"/>
                  <a:ea typeface="+mn-ea"/>
                  <a:cs typeface="+mn-cs"/>
                </a:rPr>
              </a:br>
              <a:r>
                <a:rPr lang="en-US" sz="1500" dirty="0">
                  <a:solidFill>
                    <a:srgbClr val="FFFDF7"/>
                  </a:solidFill>
                  <a:latin typeface="+mn-lt"/>
                  <a:ea typeface="+mn-ea"/>
                  <a:cs typeface="+mn-cs"/>
                </a:rPr>
                <a:t>period and source version.</a:t>
              </a:r>
              <a:br>
                <a:rPr lang="en-US" sz="1500" dirty="0">
                  <a:solidFill>
                    <a:srgbClr val="FFFDF7"/>
                  </a:solidFill>
                  <a:latin typeface="+mn-lt"/>
                  <a:ea typeface="+mn-ea"/>
                  <a:cs typeface="+mn-cs"/>
                </a:rPr>
              </a:br>
              <a:r>
                <a:rPr lang="en-US" sz="1500" dirty="0">
                  <a:solidFill>
                    <a:srgbClr val="FFFDF7"/>
                  </a:solidFill>
                  <a:latin typeface="+mn-lt"/>
                  <a:ea typeface="+mn-ea"/>
                  <a:cs typeface="+mn-cs"/>
                </a:rPr>
                <a:t>Surface conflicts and missing facts.</a:t>
              </a:r>
              <a:br>
                <a:rPr lang="en-US" sz="1500" dirty="0">
                  <a:solidFill>
                    <a:srgbClr val="FFFDF7"/>
                  </a:solidFill>
                  <a:latin typeface="+mn-lt"/>
                  <a:ea typeface="+mn-ea"/>
                  <a:cs typeface="+mn-cs"/>
                </a:rPr>
              </a:br>
              <a:r>
                <a:rPr lang="en-US" sz="1500" dirty="0">
                  <a:solidFill>
                    <a:srgbClr val="FFFDF7"/>
                  </a:solidFill>
                  <a:latin typeface="+mn-lt"/>
                  <a:ea typeface="+mn-ea"/>
                  <a:cs typeface="+mn-cs"/>
                </a:rPr>
                <a:t>Reported Vault/PAT production</a:t>
              </a:r>
              <a:br>
                <a:rPr lang="en-US" sz="1500" dirty="0">
                  <a:solidFill>
                    <a:srgbClr val="FFFDF7"/>
                  </a:solidFill>
                  <a:latin typeface="+mn-lt"/>
                  <a:ea typeface="+mn-ea"/>
                  <a:cs typeface="+mn-cs"/>
                </a:rPr>
              </a:br>
              <a:r>
                <a:rPr lang="en-US" sz="1500" dirty="0">
                  <a:solidFill>
                    <a:srgbClr val="FFFDF7"/>
                  </a:solidFill>
                  <a:latin typeface="+mn-lt"/>
                  <a:ea typeface="+mn-ea"/>
                  <a:cs typeface="+mn-cs"/>
                </a:rPr>
                <a:t>use is not an independent result.</a:t>
              </a:r>
            </a:p>
          </p:txBody>
        </p:sp>
      </p:grpSp>
      <p:grpSp>
        <p:nvGrpSpPr>
          <p:cNvPr id="29" name="footer"/>
          <p:cNvGrpSpPr/>
          <p:nvPr/>
        </p:nvGrpSpPr>
        <p:grpSpPr>
          <a:xfrm>
            <a:off x="452438" y="6419850"/>
            <a:ext cx="11287124" cy="176212"/>
            <a:chOff x="452438" y="6419850"/>
            <a:chExt cx="11287124" cy="176212"/>
          </a:xfrm>
        </p:grpSpPr>
        <p:sp>
          <p:nvSpPr>
            <p:cNvPr id="27" name="TextBox 27"/>
            <p:cNvSpPr txBox="1"/>
            <p:nvPr/>
          </p:nvSpPr>
          <p:spPr>
            <a:xfrm>
              <a:off x="452438" y="6419850"/>
              <a:ext cx="7765696"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Sources: Vault notes; separate permissions session is agenda-only. Path is proposed synthesis, not a disclosed complete company architecture.</a:t>
              </a:r>
            </a:p>
          </p:txBody>
        </p:sp>
        <p:sp>
          <p:nvSpPr>
            <p:cNvPr id="28" name="TextBox 28"/>
            <p:cNvSpPr txBox="1"/>
            <p:nvPr/>
          </p:nvSpPr>
          <p:spPr>
            <a:xfrm>
              <a:off x="11359512" y="6419850"/>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08 / 37</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887292" cy="1110107"/>
            <a:chOff x="443484" y="371475"/>
            <a:chExt cx="8887292" cy="1110107"/>
          </a:xfrm>
        </p:grpSpPr>
        <p:sp>
          <p:nvSpPr>
            <p:cNvPr id="2" name="TextBox 2"/>
            <p:cNvSpPr txBox="1"/>
            <p:nvPr/>
          </p:nvSpPr>
          <p:spPr>
            <a:xfrm>
              <a:off x="451104" y="371475"/>
              <a:ext cx="221263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02 / BRIDGEWATER VAULT</a:t>
              </a:r>
            </a:p>
          </p:txBody>
        </p:sp>
        <p:sp>
          <p:nvSpPr>
            <p:cNvPr id="3" name="TextBox 3"/>
            <p:cNvSpPr txBox="1"/>
            <p:nvPr/>
          </p:nvSpPr>
          <p:spPr>
            <a:xfrm>
              <a:off x="443484" y="603250"/>
              <a:ext cx="8887292"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Retrieve for coverage; synthesize for human attention</a:t>
              </a:r>
            </a:p>
          </p:txBody>
        </p:sp>
        <p:sp>
          <p:nvSpPr>
            <p:cNvPr id="4" name="TextBox 4"/>
            <p:cNvSpPr txBox="1"/>
            <p:nvPr/>
          </p:nvSpPr>
          <p:spPr>
            <a:xfrm>
              <a:off x="448818" y="1158875"/>
              <a:ext cx="751780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Evaluate evidence collection separately from the brief a person must review.</a:t>
              </a:r>
            </a:p>
          </p:txBody>
        </p:sp>
      </p:grpSp>
      <p:graphicFrame>
        <p:nvGraphicFramePr>
          <p:cNvPr id="6" name="retrieval-objectives"/>
          <p:cNvGraphicFramePr>
            <a:graphicFrameLocks noGrp="1"/>
          </p:cNvGraphicFramePr>
          <p:nvPr/>
        </p:nvGraphicFramePr>
        <p:xfrm>
          <a:off x="457200" y="1752600"/>
          <a:ext cx="11277600" cy="2495550"/>
        </p:xfrm>
        <a:graphic>
          <a:graphicData uri="http://schemas.openxmlformats.org/drawingml/2006/table">
            <a:tbl>
              <a:tblPr firstRow="1" bandRow="0">
                <a:tableStyleId>{5C22544A-7EE6-4342-B048-85BDC9FD1C3A}</a:tableStyleId>
              </a:tblPr>
              <a:tblGrid>
                <a:gridCol w="2286000"/>
                <a:gridCol w="4495800"/>
                <a:gridCol w="4495800"/>
              </a:tblGrid>
              <a:tr h="495300">
                <a:tc>
                  <a:txBody>
                    <a:bodyPr/>
                    <a:lstStyle/>
                    <a:p>
                      <a:pPr/>
                      <a:r>
                        <a:rPr lang="en-US" sz="1350" b="1">
                          <a:solidFill>
                            <a:srgbClr val="FFFDF7"/>
                          </a:solidFill>
                          <a:latin typeface="Arial"/>
                          <a:ea typeface="Microsoft YaHei"/>
                          <a:cs typeface="Arial"/>
                        </a:rPr>
                        <a:t>Design question</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Human-facing search</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Agent-facing retrieval</a:t>
                      </a:r>
                    </a:p>
                  </a:txBody>
                  <a:tcPr anchor="ctr" marL="152400" marR="152400" marT="76200" marB="76200">
                    <a:lnL>
                      <a:noFill/>
                    </a:lnL>
                    <a:lnR>
                      <a:noFill/>
                    </a:lnR>
                    <a:lnT>
                      <a:noFill/>
                    </a:lnT>
                    <a:lnB w="9525">
                      <a:solidFill>
                        <a:schemeClr val="accent6"/>
                      </a:solidFill>
                      <a:prstDash val="solid"/>
                    </a:lnB>
                    <a:solidFill>
                      <a:schemeClr val="accent1"/>
                    </a:solidFill>
                  </a:tcPr>
                </a:tc>
              </a:tr>
              <a:tr h="666750">
                <a:tc>
                  <a:txBody>
                    <a:bodyPr/>
                    <a:lstStyle/>
                    <a:p>
                      <a:pPr/>
                      <a:r>
                        <a:rPr lang="en-US" sz="1350" b="0">
                          <a:solidFill>
                            <a:schemeClr val="dk1"/>
                          </a:solidFill>
                          <a:latin typeface="Arial"/>
                          <a:ea typeface="Microsoft YaHei"/>
                          <a:cs typeface="Arial"/>
                        </a:rPr>
                        <a:t>Observed emphasis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Precision and signal-to-noise.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Recall and scale.</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Consumption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 compact, reviewable result set.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Fast processing of more evidence.</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Shared requirements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Relevance, permission, meaning and freshness.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Relevance, permission, meaning and freshness.</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8" name="coverage"/>
          <p:cNvGrpSpPr/>
          <p:nvPr/>
        </p:nvGrpSpPr>
        <p:grpSpPr>
          <a:xfrm>
            <a:off x="449580" y="4587875"/>
            <a:ext cx="8815502" cy="560070"/>
            <a:chOff x="449580" y="4587875"/>
            <a:chExt cx="8815502" cy="560070"/>
          </a:xfrm>
        </p:grpSpPr>
        <p:sp>
          <p:nvSpPr>
            <p:cNvPr id="7" name="TextBox 7"/>
            <p:cNvSpPr txBox="1"/>
            <p:nvPr/>
          </p:nvSpPr>
          <p:spPr>
            <a:xfrm>
              <a:off x="449580" y="4587875"/>
              <a:ext cx="881550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Test whether decisive sources are found, then whether compression preserves their meaning.</a:t>
              </a:r>
              <a:br>
                <a:rPr lang="en-US" sz="1500" dirty="0">
                  <a:solidFill>
                    <a:schemeClr val="dk1"/>
                  </a:solidFill>
                  <a:latin typeface="+mn-lt"/>
                  <a:ea typeface="+mn-ea"/>
                  <a:cs typeface="+mn-cs"/>
                </a:rPr>
              </a:br>
              <a:r>
                <a:rPr lang="en-US" sz="1500" dirty="0">
                  <a:solidFill>
                    <a:schemeClr val="dk1"/>
                  </a:solidFill>
                  <a:latin typeface="+mn-lt"/>
                  <a:ea typeface="+mn-ea"/>
                  <a:cs typeface="+mn-cs"/>
                </a:rPr>
                <a:t>More context does not establish a better answer; agents still need precision and people may need recall.</a:t>
              </a:r>
            </a:p>
          </p:txBody>
        </p:sp>
      </p:grpSp>
      <p:grpSp>
        <p:nvGrpSpPr>
          <p:cNvPr id="10" name="attention"/>
          <p:cNvGrpSpPr/>
          <p:nvPr/>
        </p:nvGrpSpPr>
        <p:grpSpPr>
          <a:xfrm>
            <a:off x="449580" y="5426075"/>
            <a:ext cx="8888844" cy="826770"/>
            <a:chOff x="449580" y="5426075"/>
            <a:chExt cx="8888844" cy="826770"/>
          </a:xfrm>
        </p:grpSpPr>
        <p:sp>
          <p:nvSpPr>
            <p:cNvPr id="9" name="TextBox 9"/>
            <p:cNvSpPr txBox="1"/>
            <p:nvPr/>
          </p:nvSpPr>
          <p:spPr>
            <a:xfrm>
              <a:off x="449580" y="5426075"/>
              <a:ext cx="8888844"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The reported workbench includes activity feeds, “What am I missing?” and evidence-backed summaries.</a:t>
              </a:r>
              <a:br>
                <a:rPr lang="en-US" sz="1500" dirty="0">
                  <a:solidFill>
                    <a:schemeClr val="dk1"/>
                  </a:solidFill>
                  <a:latin typeface="+mn-lt"/>
                  <a:ea typeface="+mn-ea"/>
                  <a:cs typeface="+mn-cs"/>
                </a:rPr>
              </a:br>
              <a:r>
                <a:rPr lang="en-US" sz="1500" dirty="0">
                  <a:solidFill>
                    <a:schemeClr val="dk1"/>
                  </a:solidFill>
                  <a:latin typeface="+mn-lt"/>
                  <a:ea typeface="+mn-ea"/>
                  <a:cs typeface="+mn-cs"/>
                </a:rPr>
                <a:t>Assess relevance, omissions, timeliness and review time against the existing information flow.</a:t>
              </a:r>
              <a:br>
                <a:rPr lang="en-US" sz="1500" dirty="0">
                  <a:solidFill>
                    <a:schemeClr val="dk1"/>
                  </a:solidFill>
                  <a:latin typeface="+mn-lt"/>
                  <a:ea typeface="+mn-ea"/>
                  <a:cs typeface="+mn-cs"/>
                </a:rPr>
              </a:br>
              <a:r>
                <a:rPr lang="en-US" sz="1500" dirty="0">
                  <a:solidFill>
                    <a:schemeClr val="dk1"/>
                  </a:solidFill>
                  <a:latin typeface="+mn-lt"/>
                  <a:ea typeface="+mn-ea"/>
                  <a:cs typeface="+mn-cs"/>
                </a:rPr>
                <a:t>These examples establish no changed habits, predictive accuracy, optimal settings or investment returns.</a:t>
              </a:r>
            </a:p>
          </p:txBody>
        </p:sp>
      </p:grpSp>
      <p:grpSp>
        <p:nvGrpSpPr>
          <p:cNvPr id="13" name="footer"/>
          <p:cNvGrpSpPr/>
          <p:nvPr/>
        </p:nvGrpSpPr>
        <p:grpSpPr>
          <a:xfrm>
            <a:off x="452438" y="6438900"/>
            <a:ext cx="11287124" cy="176212"/>
            <a:chOff x="452438" y="6438900"/>
            <a:chExt cx="11287124" cy="176212"/>
          </a:xfrm>
        </p:grpSpPr>
        <p:sp>
          <p:nvSpPr>
            <p:cNvPr id="11" name="TextBox 11"/>
            <p:cNvSpPr txBox="1"/>
            <p:nvPr/>
          </p:nvSpPr>
          <p:spPr>
            <a:xfrm>
              <a:off x="452438" y="6438900"/>
              <a:ext cx="5371622"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Bridgewater Vault notes. Human/agent contrast is a workload heuristic, not a universal rule.</a:t>
              </a:r>
            </a:p>
          </p:txBody>
        </p:sp>
        <p:sp>
          <p:nvSpPr>
            <p:cNvPr id="12" name="TextBox 12"/>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09 / 37</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190319" cy="1110107"/>
            <a:chOff x="443484" y="371475"/>
            <a:chExt cx="9190319" cy="1110107"/>
          </a:xfrm>
        </p:grpSpPr>
        <p:sp>
          <p:nvSpPr>
            <p:cNvPr id="2" name="TextBox 2"/>
            <p:cNvSpPr txBox="1"/>
            <p:nvPr/>
          </p:nvSpPr>
          <p:spPr>
            <a:xfrm>
              <a:off x="451104" y="371475"/>
              <a:ext cx="358793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02 / KEPLER AND NUMERICAL GROUNDING</a:t>
              </a:r>
            </a:p>
          </p:txBody>
        </p:sp>
        <p:sp>
          <p:nvSpPr>
            <p:cNvPr id="3" name="TextBox 3"/>
            <p:cNvSpPr txBox="1"/>
            <p:nvPr/>
          </p:nvSpPr>
          <p:spPr>
            <a:xfrm>
              <a:off x="443484" y="603250"/>
              <a:ext cx="8880399"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Attach meaning and lineage to every material number</a:t>
              </a:r>
            </a:p>
          </p:txBody>
        </p:sp>
        <p:sp>
          <p:nvSpPr>
            <p:cNvPr id="4" name="TextBox 4"/>
            <p:cNvSpPr txBox="1"/>
            <p:nvPr/>
          </p:nvSpPr>
          <p:spPr>
            <a:xfrm>
              <a:off x="448818" y="1158875"/>
              <a:ext cx="9184985"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Code makes arithmetic reproducible; it cannot establish that the selected input is appropriate.</a:t>
              </a:r>
            </a:p>
          </p:txBody>
        </p:sp>
      </p:grpSp>
      <p:grpSp>
        <p:nvGrpSpPr>
          <p:cNvPr id="9" name="reported-responsibilities"/>
          <p:cNvGrpSpPr/>
          <p:nvPr/>
        </p:nvGrpSpPr>
        <p:grpSpPr>
          <a:xfrm>
            <a:off x="448056" y="1828800"/>
            <a:ext cx="4422229" cy="2940558"/>
            <a:chOff x="448056" y="1828800"/>
            <a:chExt cx="4422229" cy="2940558"/>
          </a:xfrm>
        </p:grpSpPr>
        <p:sp>
          <p:nvSpPr>
            <p:cNvPr id="6" name="TextBox 6"/>
            <p:cNvSpPr txBox="1"/>
            <p:nvPr/>
          </p:nvSpPr>
          <p:spPr>
            <a:xfrm>
              <a:off x="448056" y="1828800"/>
              <a:ext cx="354539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Complementary responsibilities</a:t>
              </a:r>
            </a:p>
          </p:txBody>
        </p:sp>
        <p:sp>
          <p:nvSpPr>
            <p:cNvPr id="7" name="TextBox 7"/>
            <p:cNvSpPr txBox="1"/>
            <p:nvPr/>
          </p:nvSpPr>
          <p:spPr>
            <a:xfrm>
              <a:off x="449580" y="2155825"/>
              <a:ext cx="4420705" cy="1779270"/>
            </a:xfrm>
            <a:prstGeom prst="rect">
              <a:avLst/>
            </a:prstGeom>
            <a:noFill/>
            <a:ln>
              <a:noFill/>
            </a:ln>
          </p:spPr>
          <p:txBody>
            <a:bodyPr wrap="none" lIns="0" tIns="0" rIns="0" bIns="0" anchor="t" anchorCtr="0">
              <a:spAutoFit/>
            </a:bodyPr>
            <a:lstStyle/>
            <a:p>
              <a:pPr algn="l">
                <a:lnSpc>
                  <a:spcPts val="3900"/>
                </a:lnSpc>
              </a:pPr>
              <a:r>
                <a:rPr lang="en-US" sz="1500" dirty="0">
                  <a:solidFill>
                    <a:schemeClr val="dk1"/>
                  </a:solidFill>
                  <a:latin typeface="+mn-lt"/>
                  <a:ea typeface="+mn-ea"/>
                  <a:cs typeface="+mn-cs"/>
                </a:rPr>
                <a:t>1 / Find source evidence.</a:t>
              </a:r>
              <a:br>
                <a:rPr lang="en-US" sz="1500" dirty="0">
                  <a:solidFill>
                    <a:schemeClr val="dk1"/>
                  </a:solidFill>
                  <a:latin typeface="+mn-lt"/>
                  <a:ea typeface="+mn-ea"/>
                  <a:cs typeface="+mn-cs"/>
                </a:rPr>
              </a:br>
              <a:r>
                <a:rPr lang="en-US" sz="1500" dirty="0">
                  <a:solidFill>
                    <a:schemeClr val="dk1"/>
                  </a:solidFill>
                  <a:latin typeface="+mn-lt"/>
                  <a:ea typeface="+mn-ea"/>
                  <a:cs typeface="+mn-cs"/>
                </a:rPr>
                <a:t>2 / Compute with code; retain inputs and operations.</a:t>
              </a:r>
              <a:br>
                <a:rPr lang="en-US" sz="1500" dirty="0">
                  <a:solidFill>
                    <a:schemeClr val="dk1"/>
                  </a:solidFill>
                  <a:latin typeface="+mn-lt"/>
                  <a:ea typeface="+mn-ea"/>
                  <a:cs typeface="+mn-cs"/>
                </a:rPr>
              </a:br>
              <a:r>
                <a:rPr lang="en-US" sz="1500" dirty="0">
                  <a:solidFill>
                    <a:schemeClr val="dk1"/>
                  </a:solidFill>
                  <a:latin typeface="+mn-lt"/>
                  <a:ea typeface="+mn-ea"/>
                  <a:cs typeface="+mn-cs"/>
                </a:rPr>
                <a:t>3 / Register typed facts and citation metadata.</a:t>
              </a:r>
              <a:br>
                <a:rPr lang="en-US" sz="1500" dirty="0">
                  <a:solidFill>
                    <a:schemeClr val="dk1"/>
                  </a:solidFill>
                  <a:latin typeface="+mn-lt"/>
                  <a:ea typeface="+mn-ea"/>
                  <a:cs typeface="+mn-cs"/>
                </a:rPr>
              </a:br>
              <a:r>
                <a:rPr lang="en-US" sz="1500" dirty="0">
                  <a:solidFill>
                    <a:schemeClr val="dk1"/>
                  </a:solidFill>
                  <a:latin typeface="+mn-lt"/>
                  <a:ea typeface="+mn-ea"/>
                  <a:cs typeface="+mn-cs"/>
                </a:rPr>
                <a:t>4 / Check the rendered claim; repair or filter support.</a:t>
              </a:r>
            </a:p>
          </p:txBody>
        </p:sp>
        <p:sp>
          <p:nvSpPr>
            <p:cNvPr id="8" name="TextBox 8"/>
            <p:cNvSpPr txBox="1"/>
            <p:nvPr/>
          </p:nvSpPr>
          <p:spPr>
            <a:xfrm>
              <a:off x="450342" y="4257675"/>
              <a:ext cx="3215853"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Kepler’s account does not verify this exact</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ordered architecture.</a:t>
              </a:r>
            </a:p>
          </p:txBody>
        </p:sp>
      </p:grpSp>
      <p:grpSp>
        <p:nvGrpSpPr>
          <p:cNvPr id="14" name="fact-contract"/>
          <p:cNvGrpSpPr/>
          <p:nvPr/>
        </p:nvGrpSpPr>
        <p:grpSpPr>
          <a:xfrm>
            <a:off x="5524500" y="1752600"/>
            <a:ext cx="6210300" cy="3019425"/>
            <a:chOff x="5524500" y="1752600"/>
            <a:chExt cx="6210300" cy="3019425"/>
          </a:xfrm>
        </p:grpSpPr>
        <p:sp>
          <p:nvSpPr>
            <p:cNvPr id="10" name="Rectangle 10"/>
            <p:cNvSpPr/>
            <p:nvPr/>
          </p:nvSpPr>
          <p:spPr>
            <a:xfrm>
              <a:off x="5524500" y="1752600"/>
              <a:ext cx="6210300" cy="3019425"/>
            </a:xfrm>
            <a:prstGeom prst="rect">
              <a:avLst/>
            </a:prstGeom>
            <a:solidFill>
              <a:schemeClr val="accent1"/>
            </a:solidFill>
            <a:ln>
              <a:noFill/>
            </a:ln>
          </p:spPr>
        </p:sp>
        <p:sp>
          <p:nvSpPr>
            <p:cNvPr id="11" name="TextBox 11"/>
            <p:cNvSpPr txBox="1"/>
            <p:nvPr/>
          </p:nvSpPr>
          <p:spPr>
            <a:xfrm>
              <a:off x="5743956" y="1895475"/>
              <a:ext cx="3221485"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Proposed typed-fact contract</a:t>
              </a:r>
            </a:p>
          </p:txBody>
        </p:sp>
        <p:sp>
          <p:nvSpPr>
            <p:cNvPr id="12" name="TextBox 12"/>
            <p:cNvSpPr txBox="1"/>
            <p:nvPr/>
          </p:nvSpPr>
          <p:spPr>
            <a:xfrm>
              <a:off x="5745480" y="2343150"/>
              <a:ext cx="3948951" cy="998220"/>
            </a:xfrm>
            <a:prstGeom prst="rect">
              <a:avLst/>
            </a:prstGeom>
            <a:noFill/>
            <a:ln>
              <a:noFill/>
            </a:ln>
          </p:spPr>
          <p:txBody>
            <a:bodyPr wrap="none" lIns="0" tIns="0" rIns="0" bIns="0" anchor="t" anchorCtr="0">
              <a:spAutoFit/>
            </a:bodyPr>
            <a:lstStyle/>
            <a:p>
              <a:pPr algn="l">
                <a:lnSpc>
                  <a:spcPts val="2775"/>
                </a:lnSpc>
              </a:pPr>
              <a:r>
                <a:rPr lang="en-US" sz="1500" dirty="0">
                  <a:solidFill>
                    <a:srgbClr val="FFFDF7"/>
                  </a:solidFill>
                  <a:latin typeface="+mn-lt"/>
                  <a:ea typeface="+mn-ea"/>
                  <a:cs typeface="+mn-cs"/>
                </a:rPr>
                <a:t>Entity + metric + period + value</a:t>
              </a:r>
              <a:br>
                <a:rPr lang="en-US" sz="1500" dirty="0">
                  <a:solidFill>
                    <a:srgbClr val="FFFDF7"/>
                  </a:solidFill>
                  <a:latin typeface="+mn-lt"/>
                  <a:ea typeface="+mn-ea"/>
                  <a:cs typeface="+mn-cs"/>
                </a:rPr>
              </a:br>
              <a:r>
                <a:rPr lang="en-US" sz="1500" dirty="0">
                  <a:solidFill>
                    <a:srgbClr val="FFFDF7"/>
                  </a:solidFill>
                  <a:latin typeface="+mn-lt"/>
                  <a:ea typeface="+mn-ea"/>
                  <a:cs typeface="+mn-cs"/>
                </a:rPr>
                <a:t>Unit / currency + document / version / passage</a:t>
              </a:r>
              <a:br>
                <a:rPr lang="en-US" sz="1500" dirty="0">
                  <a:solidFill>
                    <a:srgbClr val="FFFDF7"/>
                  </a:solidFill>
                  <a:latin typeface="+mn-lt"/>
                  <a:ea typeface="+mn-ea"/>
                  <a:cs typeface="+mn-cs"/>
                </a:rPr>
              </a:br>
              <a:r>
                <a:rPr lang="en-US" sz="1500" dirty="0">
                  <a:solidFill>
                    <a:srgbClr val="FFFDF7"/>
                  </a:solidFill>
                  <a:latin typeface="+mn-lt"/>
                  <a:ea typeface="+mn-ea"/>
                  <a:cs typeface="+mn-cs"/>
                </a:rPr>
                <a:t>Calculation inputs + transformations + lineage</a:t>
              </a:r>
            </a:p>
          </p:txBody>
        </p:sp>
        <p:sp>
          <p:nvSpPr>
            <p:cNvPr id="13" name="TextBox 13"/>
            <p:cNvSpPr txBox="1"/>
            <p:nvPr/>
          </p:nvSpPr>
          <p:spPr>
            <a:xfrm>
              <a:off x="5746242" y="3829050"/>
              <a:ext cx="4474022"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E7F0EA"/>
                  </a:solidFill>
                  <a:latin typeface="+mn-lt"/>
                  <a:ea typeface="+mn-ea"/>
                  <a:cs typeface="+mn-cs"/>
                </a:rPr>
                <a:t>These extended meaning/version checks are requirements</a:t>
              </a:r>
              <a:br>
                <a:rPr lang="en-US" sz="1350" dirty="0">
                  <a:solidFill>
                    <a:srgbClr val="E7F0EA"/>
                  </a:solidFill>
                  <a:latin typeface="+mn-lt"/>
                  <a:ea typeface="+mn-ea"/>
                  <a:cs typeface="+mn-cs"/>
                </a:rPr>
              </a:br>
              <a:r>
                <a:rPr lang="en-US" sz="1350" dirty="0">
                  <a:solidFill>
                    <a:srgbClr val="E7F0EA"/>
                  </a:solidFill>
                  <a:latin typeface="+mn-lt"/>
                  <a:ea typeface="+mn-ea"/>
                  <a:cs typeface="+mn-cs"/>
                </a:rPr>
                <a:t>to test, not confirmed Kepler coverage.</a:t>
              </a:r>
            </a:p>
          </p:txBody>
        </p:sp>
      </p:grpSp>
      <p:grpSp>
        <p:nvGrpSpPr>
          <p:cNvPr id="17" name="failed-support"/>
          <p:cNvGrpSpPr/>
          <p:nvPr/>
        </p:nvGrpSpPr>
        <p:grpSpPr>
          <a:xfrm>
            <a:off x="448818" y="5140325"/>
            <a:ext cx="9005240" cy="941070"/>
            <a:chOff x="448818" y="5140325"/>
            <a:chExt cx="9005240" cy="941070"/>
          </a:xfrm>
        </p:grpSpPr>
        <p:sp>
          <p:nvSpPr>
            <p:cNvPr id="15" name="TextBox 15"/>
            <p:cNvSpPr txBox="1"/>
            <p:nvPr/>
          </p:nvSpPr>
          <p:spPr>
            <a:xfrm>
              <a:off x="448818" y="5140325"/>
              <a:ext cx="6924985" cy="322707"/>
            </a:xfrm>
            <a:prstGeom prst="rect">
              <a:avLst/>
            </a:prstGeom>
            <a:noFill/>
            <a:ln>
              <a:noFill/>
            </a:ln>
          </p:spPr>
          <p:txBody>
            <a:bodyPr wrap="none" lIns="0" tIns="0" rIns="0" bIns="0" anchor="t" anchorCtr="0">
              <a:spAutoFit/>
            </a:bodyPr>
            <a:lstStyle/>
            <a:p>
              <a:pPr algn="l"/>
              <a:r>
                <a:rPr lang="en-US" sz="1650" dirty="0">
                  <a:solidFill>
                    <a:schemeClr val="accent2"/>
                  </a:solidFill>
                  <a:latin typeface="+mn-lt"/>
                  <a:ea typeface="+mn-ea"/>
                  <a:cs typeface="+mn-cs"/>
                </a:rPr>
                <a:t>A recovered citation can still support the wrong financial interpretation.</a:t>
              </a:r>
            </a:p>
          </p:txBody>
        </p:sp>
        <p:sp>
          <p:nvSpPr>
            <p:cNvPr id="16" name="TextBox 16"/>
            <p:cNvSpPr txBox="1"/>
            <p:nvPr/>
          </p:nvSpPr>
          <p:spPr>
            <a:xfrm>
              <a:off x="449580" y="5521325"/>
              <a:ext cx="900447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Formatting repair does not resolve an entity, unit or period mismatch. If support still fails, remove the claim,</a:t>
              </a:r>
              <a:br>
                <a:rPr lang="en-US" sz="1500" dirty="0">
                  <a:solidFill>
                    <a:schemeClr val="dk1"/>
                  </a:solidFill>
                  <a:latin typeface="+mn-lt"/>
                  <a:ea typeface="+mn-ea"/>
                  <a:cs typeface="+mn-cs"/>
                </a:rPr>
              </a:br>
              <a:r>
                <a:rPr lang="en-US" sz="1500" dirty="0">
                  <a:solidFill>
                    <a:schemeClr val="dk1"/>
                  </a:solidFill>
                  <a:latin typeface="+mn-lt"/>
                  <a:ea typeface="+mn-ea"/>
                  <a:cs typeface="+mn-cs"/>
                </a:rPr>
                <a:t>abstain or escalate. Stripping the citation while retaining the unsupported sentence is not a repair.</a:t>
              </a:r>
            </a:p>
          </p:txBody>
        </p:sp>
      </p:grpSp>
      <p:grpSp>
        <p:nvGrpSpPr>
          <p:cNvPr id="20" name="footer"/>
          <p:cNvGrpSpPr/>
          <p:nvPr/>
        </p:nvGrpSpPr>
        <p:grpSpPr>
          <a:xfrm>
            <a:off x="452438" y="6438900"/>
            <a:ext cx="11287124" cy="176212"/>
            <a:chOff x="452438" y="6438900"/>
            <a:chExt cx="11287124" cy="176212"/>
          </a:xfrm>
        </p:grpSpPr>
        <p:sp>
          <p:nvSpPr>
            <p:cNvPr id="18" name="TextBox 18"/>
            <p:cNvSpPr txBox="1"/>
            <p:nvPr/>
          </p:nvSpPr>
          <p:spPr>
            <a:xfrm>
              <a:off x="452438" y="6438900"/>
              <a:ext cx="643893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Kepler attendee account. Exact retrieval settings are incompletely captured and are not recommended defaults.</a:t>
              </a:r>
            </a:p>
          </p:txBody>
        </p:sp>
        <p:sp>
          <p:nvSpPr>
            <p:cNvPr id="19" name="TextBox 19"/>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10 / 37</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006787" cy="1110107"/>
            <a:chOff x="443484" y="371475"/>
            <a:chExt cx="9006787" cy="1110107"/>
          </a:xfrm>
        </p:grpSpPr>
        <p:sp>
          <p:nvSpPr>
            <p:cNvPr id="2" name="TextBox 2"/>
            <p:cNvSpPr txBox="1"/>
            <p:nvPr/>
          </p:nvSpPr>
          <p:spPr>
            <a:xfrm>
              <a:off x="451104" y="371475"/>
              <a:ext cx="7448215" cy="234696"/>
            </a:xfrm>
            <a:prstGeom prst="rect">
              <a:avLst/>
            </a:prstGeom>
            <a:noFill/>
            <a:ln>
              <a:noFill/>
            </a:ln>
          </p:spPr>
          <p:txBody>
            <a:bodyPr wrap="none" lIns="0" tIns="0" rIns="0" bIns="0" anchor="t" anchorCtr="0">
              <a:spAutoFit/>
            </a:bodyPr>
            <a:lstStyle/>
            <a:p>
              <a:pPr algn="l"/>
              <a:r>
                <a:rPr lang="en-US" sz="1200" dirty="0">
                  <a:solidFill>
                    <a:srgbClr val="8B411C"/>
                  </a:solidFill>
                  <a:latin typeface="+mn-lt"/>
                  <a:ea typeface="+mn-ea"/>
                  <a:cs typeface="+mn-cs"/>
                </a:rPr>
                <a:t>02 / SYNTHETIC EXAMPLE — ALL ENTITIES, DOCUMENTS, DATES AND VALUES INVENTED</a:t>
              </a:r>
            </a:p>
          </p:txBody>
        </p:sp>
        <p:sp>
          <p:nvSpPr>
            <p:cNvPr id="3" name="TextBox 3"/>
            <p:cNvSpPr txBox="1"/>
            <p:nvPr/>
          </p:nvSpPr>
          <p:spPr>
            <a:xfrm>
              <a:off x="443484" y="603250"/>
              <a:ext cx="9006787"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Correct arithmetic can still answer the wrong question</a:t>
              </a:r>
            </a:p>
          </p:txBody>
        </p:sp>
        <p:sp>
          <p:nvSpPr>
            <p:cNvPr id="4" name="TextBox 4"/>
            <p:cNvSpPr txBox="1"/>
            <p:nvPr/>
          </p:nvSpPr>
          <p:spPr>
            <a:xfrm>
              <a:off x="448818" y="1158875"/>
              <a:ext cx="870076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AsterCo: FY2025 revenue growth as of March 1, 2026? Values below are USD millions.</a:t>
              </a:r>
            </a:p>
          </p:txBody>
        </p:sp>
      </p:grpSp>
      <p:graphicFrame>
        <p:nvGraphicFramePr>
          <p:cNvPr id="6" name="source-versions"/>
          <p:cNvGraphicFramePr>
            <a:graphicFrameLocks noGrp="1"/>
          </p:cNvGraphicFramePr>
          <p:nvPr/>
        </p:nvGraphicFramePr>
        <p:xfrm>
          <a:off x="457200" y="1847850"/>
          <a:ext cx="11277600" cy="2324100"/>
        </p:xfrm>
        <a:graphic>
          <a:graphicData uri="http://schemas.openxmlformats.org/drawingml/2006/table">
            <a:tbl>
              <a:tblPr firstRow="1" bandRow="0">
                <a:tableStyleId>{5C22544A-7EE6-4342-B048-85BDC9FD1C3A}</a:tableStyleId>
              </a:tblPr>
              <a:tblGrid>
                <a:gridCol w="3810000"/>
                <a:gridCol w="1714500"/>
                <a:gridCol w="2857500"/>
                <a:gridCol w="2895600"/>
              </a:tblGrid>
              <a:tr h="495300">
                <a:tc>
                  <a:txBody>
                    <a:bodyPr/>
                    <a:lstStyle/>
                    <a:p>
                      <a:pPr/>
                      <a:r>
                        <a:rPr lang="en-US" sz="1350" b="1">
                          <a:solidFill>
                            <a:srgbClr val="FFFDF7"/>
                          </a:solidFill>
                          <a:latin typeface="Arial"/>
                          <a:ea typeface="Microsoft YaHei"/>
                          <a:cs typeface="Arial"/>
                        </a:rPr>
                        <a:t>Invented document</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lgn="r"/>
                      <a:r>
                        <a:rPr lang="en-US" sz="1350" b="1">
                          <a:solidFill>
                            <a:srgbClr val="FFFDF7"/>
                          </a:solidFill>
                          <a:latin typeface="Arial"/>
                          <a:ea typeface="Microsoft YaHei"/>
                          <a:cs typeface="Arial"/>
                        </a:rPr>
                        <a:t>USD m</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Published</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Treatment at cutoff</a:t>
                      </a:r>
                    </a:p>
                  </a:txBody>
                  <a:tcPr anchor="ctr" marL="152400" marR="152400" marT="76200" marB="76200">
                    <a:lnL>
                      <a:noFill/>
                    </a:lnL>
                    <a:lnR>
                      <a:noFill/>
                    </a:lnR>
                    <a:lnT>
                      <a:noFill/>
                    </a:lnT>
                    <a:lnB w="9525">
                      <a:solidFill>
                        <a:schemeClr val="accent6"/>
                      </a:solidFill>
                      <a:prstDash val="solid"/>
                    </a:lnB>
                    <a:solidFill>
                      <a:schemeClr val="accent1"/>
                    </a:solidFill>
                  </a:tcPr>
                </a:tc>
              </a:tr>
              <a:tr h="609600">
                <a:tc>
                  <a:txBody>
                    <a:bodyPr/>
                    <a:lstStyle/>
                    <a:p>
                      <a:pPr/>
                      <a:r>
                        <a:rPr lang="en-US" sz="1350" b="0">
                          <a:solidFill>
                            <a:schemeClr val="dk1"/>
                          </a:solidFill>
                          <a:latin typeface="Arial"/>
                          <a:ea typeface="Microsoft YaHei"/>
                          <a:cs typeface="Arial"/>
                        </a:rPr>
                        <a:t>D1 / FY2024 final</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en-US" sz="1350" b="0">
                          <a:solidFill>
                            <a:schemeClr val="dk1"/>
                          </a:solidFill>
                          <a:latin typeface="Arial"/>
                          <a:ea typeface="Microsoft YaHei"/>
                          <a:cs typeface="Arial"/>
                        </a:rPr>
                        <a:t>100</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February 1, 2025</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Prior-year input</a:t>
                      </a:r>
                    </a:p>
                  </a:txBody>
                  <a:tcPr anchor="ctr" marL="152400" marR="152400" marT="76200" marB="76200">
                    <a:lnL>
                      <a:noFill/>
                    </a:lnL>
                    <a:lnR>
                      <a:noFill/>
                    </a:lnR>
                    <a:lnT>
                      <a:noFill/>
                    </a:lnT>
                    <a:lnB w="9525">
                      <a:solidFill>
                        <a:schemeClr val="accent6"/>
                      </a:solidFill>
                      <a:prstDash val="solid"/>
                    </a:lnB>
                    <a:noFill/>
                  </a:tcPr>
                </a:tc>
              </a:tr>
              <a:tr h="609600">
                <a:tc>
                  <a:txBody>
                    <a:bodyPr/>
                    <a:lstStyle/>
                    <a:p>
                      <a:pPr/>
                      <a:r>
                        <a:rPr lang="en-US" sz="1350" b="0">
                          <a:solidFill>
                            <a:schemeClr val="dk1"/>
                          </a:solidFill>
                          <a:latin typeface="Arial"/>
                          <a:ea typeface="Microsoft YaHei"/>
                          <a:cs typeface="Arial"/>
                        </a:rPr>
                        <a:t>D2 / FY2025 preliminary</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en-US" sz="1350" b="0">
                          <a:solidFill>
                            <a:schemeClr val="dk1"/>
                          </a:solidFill>
                          <a:latin typeface="Arial"/>
                          <a:ea typeface="Microsoft YaHei"/>
                          <a:cs typeface="Arial"/>
                        </a:rPr>
                        <a:t>118</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January 15, 2026</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Superseded</a:t>
                      </a:r>
                    </a:p>
                  </a:txBody>
                  <a:tcPr anchor="ctr" marL="152400" marR="152400" marT="76200" marB="76200">
                    <a:lnL>
                      <a:noFill/>
                    </a:lnL>
                    <a:lnR>
                      <a:noFill/>
                    </a:lnR>
                    <a:lnT>
                      <a:noFill/>
                    </a:lnT>
                    <a:lnB w="9525">
                      <a:solidFill>
                        <a:schemeClr val="accent6"/>
                      </a:solidFill>
                      <a:prstDash val="solid"/>
                    </a:lnB>
                    <a:noFill/>
                  </a:tcPr>
                </a:tc>
              </a:tr>
              <a:tr h="609600">
                <a:tc>
                  <a:txBody>
                    <a:bodyPr/>
                    <a:lstStyle/>
                    <a:p>
                      <a:pPr/>
                      <a:r>
                        <a:rPr lang="en-US" sz="1350" b="0">
                          <a:solidFill>
                            <a:schemeClr val="dk1"/>
                          </a:solidFill>
                          <a:latin typeface="Arial"/>
                          <a:ea typeface="Microsoft YaHei"/>
                          <a:cs typeface="Arial"/>
                        </a:rPr>
                        <a:t>D3 / FY2025 final</a:t>
                      </a:r>
                    </a:p>
                  </a:txBody>
                  <a:tcPr anchor="ctr" marL="152400" marR="152400" marT="76200" marB="76200">
                    <a:lnL>
                      <a:noFill/>
                    </a:lnL>
                    <a:lnR>
                      <a:noFill/>
                    </a:lnR>
                    <a:lnT>
                      <a:noFill/>
                    </a:lnT>
                    <a:lnB w="9525">
                      <a:solidFill>
                        <a:schemeClr val="accent6"/>
                      </a:solidFill>
                      <a:prstDash val="solid"/>
                    </a:lnB>
                    <a:noFill/>
                  </a:tcPr>
                </a:tc>
                <a:tc>
                  <a:txBody>
                    <a:bodyPr/>
                    <a:lstStyle/>
                    <a:p>
                      <a:pPr algn="r"/>
                      <a:r>
                        <a:rPr lang="en-US" sz="1350" b="0">
                          <a:solidFill>
                            <a:schemeClr val="dk1"/>
                          </a:solidFill>
                          <a:latin typeface="Arial"/>
                          <a:ea typeface="Microsoft YaHei"/>
                          <a:cs typeface="Arial"/>
                        </a:rPr>
                        <a:t>120</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February 1, 2026</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Eligible current-year input</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10" name="stale-calculation"/>
          <p:cNvGrpSpPr/>
          <p:nvPr/>
        </p:nvGrpSpPr>
        <p:grpSpPr>
          <a:xfrm>
            <a:off x="457200" y="4438650"/>
            <a:ext cx="5334000" cy="1038225"/>
            <a:chOff x="457200" y="4438650"/>
            <a:chExt cx="5334000" cy="1038225"/>
          </a:xfrm>
        </p:grpSpPr>
        <p:sp>
          <p:nvSpPr>
            <p:cNvPr id="7" name="Rectangle 7"/>
            <p:cNvSpPr/>
            <p:nvPr/>
          </p:nvSpPr>
          <p:spPr>
            <a:xfrm>
              <a:off x="457200" y="4438650"/>
              <a:ext cx="5334000" cy="1038225"/>
            </a:xfrm>
            <a:prstGeom prst="rect">
              <a:avLst/>
            </a:prstGeom>
            <a:solidFill>
              <a:srgbClr val="F1F4EE"/>
            </a:solidFill>
            <a:ln>
              <a:noFill/>
            </a:ln>
          </p:spPr>
        </p:sp>
        <p:sp>
          <p:nvSpPr>
            <p:cNvPr id="8" name="TextBox 8"/>
            <p:cNvSpPr txBox="1"/>
            <p:nvPr/>
          </p:nvSpPr>
          <p:spPr>
            <a:xfrm>
              <a:off x="657606" y="4581525"/>
              <a:ext cx="2748306" cy="352044"/>
            </a:xfrm>
            <a:prstGeom prst="rect">
              <a:avLst/>
            </a:prstGeom>
            <a:noFill/>
            <a:ln>
              <a:noFill/>
            </a:ln>
          </p:spPr>
          <p:txBody>
            <a:bodyPr wrap="none" lIns="0" tIns="0" rIns="0" bIns="0" anchor="t" anchorCtr="0">
              <a:spAutoFit/>
            </a:bodyPr>
            <a:lstStyle/>
            <a:p>
              <a:pPr algn="l"/>
              <a:r>
                <a:rPr lang="en-US" sz="1800" dirty="0">
                  <a:solidFill>
                    <a:srgbClr val="9B3025"/>
                  </a:solidFill>
                  <a:latin typeface="+mj-lt"/>
                  <a:ea typeface="+mj-ea"/>
                  <a:cs typeface="+mj-cs"/>
                </a:rPr>
                <a:t>(118 − 100) / 100 = 18%</a:t>
              </a:r>
            </a:p>
          </p:txBody>
        </p:sp>
        <p:sp>
          <p:nvSpPr>
            <p:cNvPr id="9" name="TextBox 9"/>
            <p:cNvSpPr txBox="1"/>
            <p:nvPr/>
          </p:nvSpPr>
          <p:spPr>
            <a:xfrm>
              <a:off x="659130" y="5010150"/>
              <a:ext cx="3500462"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Correct arithmetic; superseded source.</a:t>
              </a:r>
            </a:p>
          </p:txBody>
        </p:sp>
      </p:grpSp>
      <p:grpSp>
        <p:nvGrpSpPr>
          <p:cNvPr id="14" name="current-calculation"/>
          <p:cNvGrpSpPr/>
          <p:nvPr/>
        </p:nvGrpSpPr>
        <p:grpSpPr>
          <a:xfrm>
            <a:off x="6096000" y="4438650"/>
            <a:ext cx="5638800" cy="1038225"/>
            <a:chOff x="6096000" y="4438650"/>
            <a:chExt cx="5638800" cy="1038225"/>
          </a:xfrm>
        </p:grpSpPr>
        <p:sp>
          <p:nvSpPr>
            <p:cNvPr id="11" name="Rectangle 11"/>
            <p:cNvSpPr/>
            <p:nvPr/>
          </p:nvSpPr>
          <p:spPr>
            <a:xfrm>
              <a:off x="6096000" y="4438650"/>
              <a:ext cx="5638800" cy="1038225"/>
            </a:xfrm>
            <a:prstGeom prst="rect">
              <a:avLst/>
            </a:prstGeom>
            <a:solidFill>
              <a:schemeClr val="accent1"/>
            </a:solidFill>
            <a:ln>
              <a:noFill/>
            </a:ln>
          </p:spPr>
        </p:sp>
        <p:sp>
          <p:nvSpPr>
            <p:cNvPr id="12" name="TextBox 12"/>
            <p:cNvSpPr txBox="1"/>
            <p:nvPr/>
          </p:nvSpPr>
          <p:spPr>
            <a:xfrm>
              <a:off x="6296406" y="4581525"/>
              <a:ext cx="2748306"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(120 − 100) / 100 = 20%</a:t>
              </a:r>
            </a:p>
          </p:txBody>
        </p:sp>
        <p:sp>
          <p:nvSpPr>
            <p:cNvPr id="13" name="TextBox 13"/>
            <p:cNvSpPr txBox="1"/>
            <p:nvPr/>
          </p:nvSpPr>
          <p:spPr>
            <a:xfrm>
              <a:off x="6297930" y="5010150"/>
              <a:ext cx="3814833"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Eligible final source answers this question.</a:t>
              </a:r>
            </a:p>
          </p:txBody>
        </p:sp>
      </p:grpSp>
      <p:grpSp>
        <p:nvGrpSpPr>
          <p:cNvPr id="16" name="version-lesson"/>
          <p:cNvGrpSpPr/>
          <p:nvPr/>
        </p:nvGrpSpPr>
        <p:grpSpPr>
          <a:xfrm>
            <a:off x="450342" y="5734050"/>
            <a:ext cx="9077420" cy="511683"/>
            <a:chOff x="450342" y="5734050"/>
            <a:chExt cx="9077420" cy="511683"/>
          </a:xfrm>
        </p:grpSpPr>
        <p:sp>
          <p:nvSpPr>
            <p:cNvPr id="15" name="TextBox 15"/>
            <p:cNvSpPr txBox="1"/>
            <p:nvPr/>
          </p:nvSpPr>
          <p:spPr>
            <a:xfrm>
              <a:off x="450342" y="5734050"/>
              <a:ext cx="9077420"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Retain selected and rejected versions, publication dates and calculation lineage. Propagate corrections to narrative,</a:t>
              </a:r>
              <a:br>
                <a:rPr lang="en-US" sz="1350" dirty="0">
                  <a:solidFill>
                    <a:schemeClr val="dk1"/>
                  </a:solidFill>
                  <a:latin typeface="+mn-lt"/>
                  <a:ea typeface="+mn-ea"/>
                  <a:cs typeface="+mn-cs"/>
                </a:rPr>
              </a:br>
              <a:r>
                <a:rPr lang="en-US" sz="1350" dirty="0">
                  <a:solidFill>
                    <a:schemeClr val="dk1"/>
                  </a:solidFill>
                  <a:latin typeface="+mn-lt"/>
                  <a:ea typeface="+mn-ea"/>
                  <a:cs typeface="+mn-cs"/>
                </a:rPr>
                <a:t>table and chart. Test missing, conflicting, restated and unauthorized evidence; historical cutoffs can change the answer.</a:t>
              </a:r>
            </a:p>
          </p:txBody>
        </p:sp>
      </p:grpSp>
      <p:grpSp>
        <p:nvGrpSpPr>
          <p:cNvPr id="19" name="footer"/>
          <p:cNvGrpSpPr/>
          <p:nvPr/>
        </p:nvGrpSpPr>
        <p:grpSpPr>
          <a:xfrm>
            <a:off x="452438" y="6457950"/>
            <a:ext cx="11287124" cy="176212"/>
            <a:chOff x="452438" y="6457950"/>
            <a:chExt cx="11287124" cy="176212"/>
          </a:xfrm>
        </p:grpSpPr>
        <p:sp>
          <p:nvSpPr>
            <p:cNvPr id="17" name="TextBox 17"/>
            <p:cNvSpPr txBox="1"/>
            <p:nvPr/>
          </p:nvSpPr>
          <p:spPr>
            <a:xfrm>
              <a:off x="452438" y="6457950"/>
              <a:ext cx="6206190"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Teaching case informed by numerical-evidence discussions. It is not a result achieved by any conference company.</a:t>
              </a:r>
            </a:p>
          </p:txBody>
        </p:sp>
        <p:sp>
          <p:nvSpPr>
            <p:cNvPr id="18" name="TextBox 18"/>
            <p:cNvSpPr txBox="1"/>
            <p:nvPr/>
          </p:nvSpPr>
          <p:spPr>
            <a:xfrm>
              <a:off x="11359512" y="64579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11 / 37</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919136" cy="1110107"/>
            <a:chOff x="443484" y="371475"/>
            <a:chExt cx="9919136" cy="1110107"/>
          </a:xfrm>
        </p:grpSpPr>
        <p:sp>
          <p:nvSpPr>
            <p:cNvPr id="2" name="TextBox 2"/>
            <p:cNvSpPr txBox="1"/>
            <p:nvPr/>
          </p:nvSpPr>
          <p:spPr>
            <a:xfrm>
              <a:off x="451104" y="371475"/>
              <a:ext cx="428007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02 / EVIDENCE THROUGH THE DELIVERED OUTPUT</a:t>
              </a:r>
            </a:p>
          </p:txBody>
        </p:sp>
        <p:sp>
          <p:nvSpPr>
            <p:cNvPr id="3" name="TextBox 3"/>
            <p:cNvSpPr txBox="1"/>
            <p:nvPr/>
          </p:nvSpPr>
          <p:spPr>
            <a:xfrm>
              <a:off x="443484" y="603250"/>
              <a:ext cx="7918891"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Preserve evidence through the exported artifact</a:t>
              </a:r>
            </a:p>
          </p:txBody>
        </p:sp>
        <p:sp>
          <p:nvSpPr>
            <p:cNvPr id="4" name="TextBox 4"/>
            <p:cNvSpPr txBox="1"/>
            <p:nvPr/>
          </p:nvSpPr>
          <p:spPr>
            <a:xfrm>
              <a:off x="448818" y="1158875"/>
              <a:ext cx="991380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correct intermediate value can become misleading when its unit, period or provenance disappears.</a:t>
              </a:r>
            </a:p>
          </p:txBody>
        </p:sp>
      </p:grpSp>
      <p:grpSp>
        <p:nvGrpSpPr>
          <p:cNvPr id="21" name="artifact-path"/>
          <p:cNvGrpSpPr/>
          <p:nvPr/>
        </p:nvGrpSpPr>
        <p:grpSpPr>
          <a:xfrm>
            <a:off x="457200" y="1752600"/>
            <a:ext cx="11277600" cy="2286000"/>
            <a:chOff x="457200" y="1752600"/>
            <a:chExt cx="11277600" cy="2286000"/>
          </a:xfrm>
        </p:grpSpPr>
        <p:grpSp>
          <p:nvGrpSpPr>
            <p:cNvPr id="9" name="Group 9"/>
            <p:cNvGrpSpPr/>
            <p:nvPr/>
          </p:nvGrpSpPr>
          <p:grpSpPr>
            <a:xfrm>
              <a:off x="457200" y="1752600"/>
              <a:ext cx="2552700" cy="2286000"/>
              <a:chOff x="457200" y="1752600"/>
              <a:chExt cx="2552700" cy="2286000"/>
            </a:xfrm>
          </p:grpSpPr>
          <p:sp>
            <p:nvSpPr>
              <p:cNvPr id="6" name="Rectangle 6"/>
              <p:cNvSpPr/>
              <p:nvPr/>
            </p:nvSpPr>
            <p:spPr>
              <a:xfrm>
                <a:off x="457200" y="1752600"/>
                <a:ext cx="2552700" cy="2286000"/>
              </a:xfrm>
              <a:prstGeom prst="rect">
                <a:avLst/>
              </a:prstGeom>
              <a:solidFill>
                <a:srgbClr val="F1F4EE"/>
              </a:solidFill>
              <a:ln>
                <a:noFill/>
              </a:ln>
            </p:spPr>
          </p:sp>
          <p:sp>
            <p:nvSpPr>
              <p:cNvPr id="7" name="TextBox 7"/>
              <p:cNvSpPr txBox="1"/>
              <p:nvPr/>
            </p:nvSpPr>
            <p:spPr>
              <a:xfrm>
                <a:off x="638556" y="1885950"/>
                <a:ext cx="210033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Source passage</a:t>
                </a:r>
              </a:p>
            </p:txBody>
          </p:sp>
          <p:sp>
            <p:nvSpPr>
              <p:cNvPr id="8" name="TextBox 8"/>
              <p:cNvSpPr txBox="1"/>
              <p:nvPr/>
            </p:nvSpPr>
            <p:spPr>
              <a:xfrm>
                <a:off x="640842" y="2438400"/>
                <a:ext cx="1567224"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Relevant excerpt,</a:t>
                </a:r>
                <a:br>
                  <a:rPr lang="en-US" sz="1350" dirty="0">
                    <a:solidFill>
                      <a:schemeClr val="dk1"/>
                    </a:solidFill>
                    <a:latin typeface="+mn-lt"/>
                    <a:ea typeface="+mn-ea"/>
                    <a:cs typeface="+mn-cs"/>
                  </a:rPr>
                </a:br>
                <a:r>
                  <a:rPr lang="en-US" sz="1350" dirty="0">
                    <a:solidFill>
                      <a:schemeClr val="dk1"/>
                    </a:solidFill>
                    <a:latin typeface="+mn-lt"/>
                    <a:ea typeface="+mn-ea"/>
                    <a:cs typeface="+mn-cs"/>
                  </a:rPr>
                  <a:t>source identity and</a:t>
                </a:r>
                <a:br>
                  <a:rPr lang="en-US" sz="1350" dirty="0">
                    <a:solidFill>
                      <a:schemeClr val="dk1"/>
                    </a:solidFill>
                    <a:latin typeface="+mn-lt"/>
                    <a:ea typeface="+mn-ea"/>
                    <a:cs typeface="+mn-cs"/>
                  </a:rPr>
                </a:br>
                <a:r>
                  <a:rPr lang="en-US" sz="1350" dirty="0">
                    <a:solidFill>
                      <a:schemeClr val="dk1"/>
                    </a:solidFill>
                    <a:latin typeface="+mn-lt"/>
                    <a:ea typeface="+mn-ea"/>
                    <a:cs typeface="+mn-cs"/>
                  </a:rPr>
                  <a:t>version near the</a:t>
                </a:r>
                <a:br>
                  <a:rPr lang="en-US" sz="1350" dirty="0">
                    <a:solidFill>
                      <a:schemeClr val="dk1"/>
                    </a:solidFill>
                    <a:latin typeface="+mn-lt"/>
                    <a:ea typeface="+mn-ea"/>
                    <a:cs typeface="+mn-cs"/>
                  </a:rPr>
                </a:br>
                <a:r>
                  <a:rPr lang="en-US" sz="1350" dirty="0">
                    <a:solidFill>
                      <a:schemeClr val="dk1"/>
                    </a:solidFill>
                    <a:latin typeface="+mn-lt"/>
                    <a:ea typeface="+mn-ea"/>
                    <a:cs typeface="+mn-cs"/>
                  </a:rPr>
                  <a:t>consequential claim.</a:t>
                </a:r>
              </a:p>
            </p:txBody>
          </p:sp>
        </p:grpSp>
        <p:grpSp>
          <p:nvGrpSpPr>
            <p:cNvPr id="13" name="Group 13"/>
            <p:cNvGrpSpPr/>
            <p:nvPr/>
          </p:nvGrpSpPr>
          <p:grpSpPr>
            <a:xfrm>
              <a:off x="3314700" y="1752600"/>
              <a:ext cx="2552700" cy="2286000"/>
              <a:chOff x="3314700" y="1752600"/>
              <a:chExt cx="2552700" cy="2286000"/>
            </a:xfrm>
          </p:grpSpPr>
          <p:sp>
            <p:nvSpPr>
              <p:cNvPr id="10" name="Rectangle 10"/>
              <p:cNvSpPr/>
              <p:nvPr/>
            </p:nvSpPr>
            <p:spPr>
              <a:xfrm>
                <a:off x="3314700" y="1752600"/>
                <a:ext cx="2552700" cy="2286000"/>
              </a:xfrm>
              <a:prstGeom prst="rect">
                <a:avLst/>
              </a:prstGeom>
              <a:solidFill>
                <a:srgbClr val="F1F4EE"/>
              </a:solidFill>
              <a:ln>
                <a:noFill/>
              </a:ln>
            </p:spPr>
          </p:sp>
          <p:sp>
            <p:nvSpPr>
              <p:cNvPr id="11" name="TextBox 11"/>
              <p:cNvSpPr txBox="1"/>
              <p:nvPr/>
            </p:nvSpPr>
            <p:spPr>
              <a:xfrm>
                <a:off x="3496056" y="1885950"/>
                <a:ext cx="172686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Typed table</a:t>
                </a:r>
              </a:p>
            </p:txBody>
          </p:sp>
          <p:sp>
            <p:nvSpPr>
              <p:cNvPr id="12" name="TextBox 12"/>
              <p:cNvSpPr txBox="1"/>
              <p:nvPr/>
            </p:nvSpPr>
            <p:spPr>
              <a:xfrm>
                <a:off x="3498342" y="2438400"/>
                <a:ext cx="1700647"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Values, units, periods,</a:t>
                </a:r>
                <a:br>
                  <a:rPr lang="en-US" sz="1350" dirty="0">
                    <a:solidFill>
                      <a:schemeClr val="dk1"/>
                    </a:solidFill>
                    <a:latin typeface="+mn-lt"/>
                    <a:ea typeface="+mn-ea"/>
                    <a:cs typeface="+mn-cs"/>
                  </a:rPr>
                </a:br>
                <a:r>
                  <a:rPr lang="en-US" sz="1350" dirty="0">
                    <a:solidFill>
                      <a:schemeClr val="dk1"/>
                    </a:solidFill>
                    <a:latin typeface="+mn-lt"/>
                    <a:ea typeface="+mn-ea"/>
                    <a:cs typeface="+mn-cs"/>
                  </a:rPr>
                  <a:t>source references</a:t>
                </a:r>
                <a:br>
                  <a:rPr lang="en-US" sz="1350" dirty="0">
                    <a:solidFill>
                      <a:schemeClr val="dk1"/>
                    </a:solidFill>
                    <a:latin typeface="+mn-lt"/>
                    <a:ea typeface="+mn-ea"/>
                    <a:cs typeface="+mn-cs"/>
                  </a:rPr>
                </a:br>
                <a:r>
                  <a:rPr lang="en-US" sz="1350" dirty="0">
                    <a:solidFill>
                      <a:schemeClr val="dk1"/>
                    </a:solidFill>
                    <a:latin typeface="+mn-lt"/>
                    <a:ea typeface="+mn-ea"/>
                    <a:cs typeface="+mn-cs"/>
                  </a:rPr>
                  <a:t>and inspectable</a:t>
                </a:r>
                <a:br>
                  <a:rPr lang="en-US" sz="1350" dirty="0">
                    <a:solidFill>
                      <a:schemeClr val="dk1"/>
                    </a:solidFill>
                    <a:latin typeface="+mn-lt"/>
                    <a:ea typeface="+mn-ea"/>
                    <a:cs typeface="+mn-cs"/>
                  </a:rPr>
                </a:br>
                <a:r>
                  <a:rPr lang="en-US" sz="1350" dirty="0">
                    <a:solidFill>
                      <a:schemeClr val="dk1"/>
                    </a:solidFill>
                    <a:latin typeface="+mn-lt"/>
                    <a:ea typeface="+mn-ea"/>
                    <a:cs typeface="+mn-cs"/>
                  </a:rPr>
                  <a:t>calculation inputs.</a:t>
                </a:r>
              </a:p>
            </p:txBody>
          </p:sp>
        </p:grpSp>
        <p:grpSp>
          <p:nvGrpSpPr>
            <p:cNvPr id="17" name="Group 17"/>
            <p:cNvGrpSpPr/>
            <p:nvPr/>
          </p:nvGrpSpPr>
          <p:grpSpPr>
            <a:xfrm>
              <a:off x="6172200" y="1752600"/>
              <a:ext cx="2552700" cy="2286000"/>
              <a:chOff x="6172200" y="1752600"/>
              <a:chExt cx="2552700" cy="2286000"/>
            </a:xfrm>
          </p:grpSpPr>
          <p:sp>
            <p:nvSpPr>
              <p:cNvPr id="14" name="Rectangle 14"/>
              <p:cNvSpPr/>
              <p:nvPr/>
            </p:nvSpPr>
            <p:spPr>
              <a:xfrm>
                <a:off x="6172200" y="1752600"/>
                <a:ext cx="2552700" cy="2286000"/>
              </a:xfrm>
              <a:prstGeom prst="rect">
                <a:avLst/>
              </a:prstGeom>
              <a:solidFill>
                <a:srgbClr val="F1F4EE"/>
              </a:solidFill>
              <a:ln>
                <a:noFill/>
              </a:ln>
            </p:spPr>
          </p:sp>
          <p:sp>
            <p:nvSpPr>
              <p:cNvPr id="15" name="TextBox 15"/>
              <p:cNvSpPr txBox="1"/>
              <p:nvPr/>
            </p:nvSpPr>
            <p:spPr>
              <a:xfrm>
                <a:off x="6353556" y="1885950"/>
                <a:ext cx="104329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Chart</a:t>
                </a:r>
              </a:p>
            </p:txBody>
          </p:sp>
          <p:sp>
            <p:nvSpPr>
              <p:cNvPr id="16" name="TextBox 16"/>
              <p:cNvSpPr txBox="1"/>
              <p:nvPr/>
            </p:nvSpPr>
            <p:spPr>
              <a:xfrm>
                <a:off x="6355842" y="2438400"/>
                <a:ext cx="1786029"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Visible measurement</a:t>
                </a:r>
                <a:br>
                  <a:rPr lang="en-US" sz="1350" dirty="0">
                    <a:solidFill>
                      <a:schemeClr val="dk1"/>
                    </a:solidFill>
                    <a:latin typeface="+mn-lt"/>
                    <a:ea typeface="+mn-ea"/>
                    <a:cs typeface="+mn-cs"/>
                  </a:rPr>
                </a:br>
                <a:r>
                  <a:rPr lang="en-US" sz="1350" dirty="0">
                    <a:solidFill>
                      <a:schemeClr val="dk1"/>
                    </a:solidFill>
                    <a:latin typeface="+mn-lt"/>
                    <a:ea typeface="+mn-ea"/>
                    <a:cs typeface="+mn-cs"/>
                  </a:rPr>
                  <a:t>meaning and checked</a:t>
                </a:r>
                <a:br>
                  <a:rPr lang="en-US" sz="1350" dirty="0">
                    <a:solidFill>
                      <a:schemeClr val="dk1"/>
                    </a:solidFill>
                    <a:latin typeface="+mn-lt"/>
                    <a:ea typeface="+mn-ea"/>
                    <a:cs typeface="+mn-cs"/>
                  </a:rPr>
                </a:br>
                <a:r>
                  <a:rPr lang="en-US" sz="1350" dirty="0">
                    <a:solidFill>
                      <a:schemeClr val="dk1"/>
                    </a:solidFill>
                    <a:latin typeface="+mn-lt"/>
                    <a:ea typeface="+mn-ea"/>
                    <a:cs typeface="+mn-cs"/>
                  </a:rPr>
                  <a:t>transformations survive</a:t>
                </a:r>
                <a:br>
                  <a:rPr lang="en-US" sz="1350" dirty="0">
                    <a:solidFill>
                      <a:schemeClr val="dk1"/>
                    </a:solidFill>
                    <a:latin typeface="+mn-lt"/>
                    <a:ea typeface="+mn-ea"/>
                    <a:cs typeface="+mn-cs"/>
                  </a:rPr>
                </a:br>
                <a:r>
                  <a:rPr lang="en-US" sz="1350" dirty="0">
                    <a:solidFill>
                      <a:schemeClr val="dk1"/>
                    </a:solidFill>
                    <a:latin typeface="+mn-lt"/>
                    <a:ea typeface="+mn-ea"/>
                    <a:cs typeface="+mn-cs"/>
                  </a:rPr>
                  <a:t>the presentation.</a:t>
                </a:r>
              </a:p>
            </p:txBody>
          </p:sp>
        </p:grpSp>
        <p:sp>
          <p:nvSpPr>
            <p:cNvPr id="18" name="Freeform 18"/>
            <p:cNvSpPr/>
            <p:nvPr/>
          </p:nvSpPr>
          <p:spPr>
            <a:xfrm>
              <a:off x="9029700" y="1752600"/>
              <a:ext cx="2705100" cy="2286000"/>
            </a:xfrm>
            <a:prstGeom prst="foldedCorner">
              <a:avLst/>
            </a:prstGeom>
            <a:solidFill>
              <a:schemeClr val="lt2"/>
            </a:solidFill>
            <a:ln>
              <a:noFill/>
            </a:ln>
          </p:spPr>
        </p:sp>
        <p:sp>
          <p:nvSpPr>
            <p:cNvPr id="19" name="TextBox 19"/>
            <p:cNvSpPr txBox="1"/>
            <p:nvPr/>
          </p:nvSpPr>
          <p:spPr>
            <a:xfrm>
              <a:off x="9211056" y="1885950"/>
              <a:ext cx="227009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4 / Reusable artifact</a:t>
              </a:r>
            </a:p>
          </p:txBody>
        </p:sp>
        <p:sp>
          <p:nvSpPr>
            <p:cNvPr id="20" name="TextBox 20"/>
            <p:cNvSpPr txBox="1"/>
            <p:nvPr/>
          </p:nvSpPr>
          <p:spPr>
            <a:xfrm>
              <a:off x="9213342" y="2438400"/>
              <a:ext cx="1700578" cy="10069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Provenance and limits</a:t>
              </a:r>
              <a:br>
                <a:rPr lang="en-US" sz="1350" dirty="0">
                  <a:solidFill>
                    <a:schemeClr val="dk1"/>
                  </a:solidFill>
                  <a:latin typeface="+mn-lt"/>
                  <a:ea typeface="+mn-ea"/>
                  <a:cs typeface="+mn-cs"/>
                </a:rPr>
              </a:br>
              <a:r>
                <a:rPr lang="en-US" sz="1350" dirty="0">
                  <a:solidFill>
                    <a:schemeClr val="dk1"/>
                  </a:solidFill>
                  <a:latin typeface="+mn-lt"/>
                  <a:ea typeface="+mn-ea"/>
                  <a:cs typeface="+mn-cs"/>
                </a:rPr>
                <a:t>remain usable in the</a:t>
              </a:r>
              <a:br>
                <a:rPr lang="en-US" sz="1350" dirty="0">
                  <a:solidFill>
                    <a:schemeClr val="dk1"/>
                  </a:solidFill>
                  <a:latin typeface="+mn-lt"/>
                  <a:ea typeface="+mn-ea"/>
                  <a:cs typeface="+mn-cs"/>
                </a:rPr>
              </a:br>
              <a:r>
                <a:rPr lang="en-US" sz="1350" dirty="0">
                  <a:solidFill>
                    <a:schemeClr val="dk1"/>
                  </a:solidFill>
                  <a:latin typeface="+mn-lt"/>
                  <a:ea typeface="+mn-ea"/>
                  <a:cs typeface="+mn-cs"/>
                </a:rPr>
                <a:t>document a person</a:t>
              </a:r>
              <a:br>
                <a:rPr lang="en-US" sz="1350" dirty="0">
                  <a:solidFill>
                    <a:schemeClr val="dk1"/>
                  </a:solidFill>
                  <a:latin typeface="+mn-lt"/>
                  <a:ea typeface="+mn-ea"/>
                  <a:cs typeface="+mn-cs"/>
                </a:rPr>
              </a:br>
              <a:r>
                <a:rPr lang="en-US" sz="1350" dirty="0">
                  <a:solidFill>
                    <a:schemeClr val="dk1"/>
                  </a:solidFill>
                  <a:latin typeface="+mn-lt"/>
                  <a:ea typeface="+mn-ea"/>
                  <a:cs typeface="+mn-cs"/>
                </a:rPr>
                <a:t>reviews and shares.</a:t>
              </a:r>
            </a:p>
          </p:txBody>
        </p:sp>
      </p:grpSp>
      <p:grpSp>
        <p:nvGrpSpPr>
          <p:cNvPr id="24" name="reviewer-test"/>
          <p:cNvGrpSpPr/>
          <p:nvPr/>
        </p:nvGrpSpPr>
        <p:grpSpPr>
          <a:xfrm>
            <a:off x="448056" y="4438650"/>
            <a:ext cx="9705480" cy="985520"/>
            <a:chOff x="448056" y="4438650"/>
            <a:chExt cx="9705480" cy="985520"/>
          </a:xfrm>
        </p:grpSpPr>
        <p:sp>
          <p:nvSpPr>
            <p:cNvPr id="22" name="TextBox 22"/>
            <p:cNvSpPr txBox="1"/>
            <p:nvPr/>
          </p:nvSpPr>
          <p:spPr>
            <a:xfrm>
              <a:off x="448056" y="4438650"/>
              <a:ext cx="567911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Test the reviewer’s job, not just the model response</a:t>
              </a:r>
            </a:p>
          </p:txBody>
        </p:sp>
        <p:sp>
          <p:nvSpPr>
            <p:cNvPr id="23" name="TextBox 23"/>
            <p:cNvSpPr txBox="1"/>
            <p:nvPr/>
          </p:nvSpPr>
          <p:spPr>
            <a:xfrm>
              <a:off x="449580" y="4864100"/>
              <a:ext cx="9703956"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Can a reviewer find the evidence, understand transformations, detect planted mistakes and correct</a:t>
              </a:r>
              <a:br>
                <a:rPr lang="en-US" sz="1500" dirty="0">
                  <a:solidFill>
                    <a:schemeClr val="dk1"/>
                  </a:solidFill>
                  <a:latin typeface="+mn-lt"/>
                  <a:ea typeface="+mn-ea"/>
                  <a:cs typeface="+mn-cs"/>
                </a:rPr>
              </a:br>
              <a:r>
                <a:rPr lang="en-US" sz="1500" dirty="0">
                  <a:solidFill>
                    <a:schemeClr val="dk1"/>
                  </a:solidFill>
                  <a:latin typeface="+mn-lt"/>
                  <a:ea typeface="+mn-ea"/>
                  <a:cs typeface="+mn-cs"/>
                </a:rPr>
                <a:t>the final artifact without reconstructing the entire workflow? Inspectability enables review; it does not prove it works.</a:t>
              </a:r>
            </a:p>
          </p:txBody>
        </p:sp>
      </p:grpSp>
      <p:grpSp>
        <p:nvGrpSpPr>
          <p:cNvPr id="26" name="availability"/>
          <p:cNvGrpSpPr/>
          <p:nvPr/>
        </p:nvGrpSpPr>
        <p:grpSpPr>
          <a:xfrm>
            <a:off x="450342" y="5638800"/>
            <a:ext cx="8934122" cy="511683"/>
            <a:chOff x="450342" y="5638800"/>
            <a:chExt cx="8934122" cy="511683"/>
          </a:xfrm>
        </p:grpSpPr>
        <p:sp>
          <p:nvSpPr>
            <p:cNvPr id="25" name="TextBox 25"/>
            <p:cNvSpPr txBox="1"/>
            <p:nvPr/>
          </p:nvSpPr>
          <p:spPr>
            <a:xfrm>
              <a:off x="450342" y="5638800"/>
              <a:ext cx="8934122"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OpenAI’s finance discussion described these interfaces, but maturity, available-now versus roadmap and entitlements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were unclear in the notes. No uncertain provider name, partnership, licensing or current rollout is asserted.</a:t>
              </a:r>
            </a:p>
          </p:txBody>
        </p:sp>
      </p:grpSp>
      <p:grpSp>
        <p:nvGrpSpPr>
          <p:cNvPr id="29" name="footer"/>
          <p:cNvGrpSpPr/>
          <p:nvPr/>
        </p:nvGrpSpPr>
        <p:grpSpPr>
          <a:xfrm>
            <a:off x="452438" y="6457950"/>
            <a:ext cx="11287124" cy="176212"/>
            <a:chOff x="452438" y="6457950"/>
            <a:chExt cx="11287124" cy="176212"/>
          </a:xfrm>
        </p:grpSpPr>
        <p:sp>
          <p:nvSpPr>
            <p:cNvPr id="27" name="TextBox 27"/>
            <p:cNvSpPr txBox="1"/>
            <p:nvPr/>
          </p:nvSpPr>
          <p:spPr>
            <a:xfrm>
              <a:off x="452438" y="6457950"/>
              <a:ext cx="6249261"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OpenAI finance presentation and Kepler notes. The end-to-end evidence contract is our proposed method.</a:t>
              </a:r>
            </a:p>
          </p:txBody>
        </p:sp>
        <p:sp>
          <p:nvSpPr>
            <p:cNvPr id="28" name="TextBox 28"/>
            <p:cNvSpPr txBox="1"/>
            <p:nvPr/>
          </p:nvSpPr>
          <p:spPr>
            <a:xfrm>
              <a:off x="11359512" y="64579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12 / 37</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4505260" cy="1169416"/>
            <a:chOff x="443484" y="371475"/>
            <a:chExt cx="4505260" cy="1169416"/>
          </a:xfrm>
        </p:grpSpPr>
        <p:sp>
          <p:nvSpPr>
            <p:cNvPr id="2" name="TextBox 2"/>
            <p:cNvSpPr txBox="1"/>
            <p:nvPr/>
          </p:nvSpPr>
          <p:spPr>
            <a:xfrm>
              <a:off x="451104" y="371475"/>
              <a:ext cx="2393085"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03 / BUILDING EVALUATIONS</a:t>
              </a:r>
            </a:p>
          </p:txBody>
        </p:sp>
        <p:sp>
          <p:nvSpPr>
            <p:cNvPr id="3" name="TextBox 3"/>
            <p:cNvSpPr txBox="1"/>
            <p:nvPr/>
          </p:nvSpPr>
          <p:spPr>
            <a:xfrm>
              <a:off x="443484" y="603250"/>
              <a:ext cx="4505260" cy="937641"/>
            </a:xfrm>
            <a:prstGeom prst="rect">
              <a:avLst/>
            </a:prstGeom>
            <a:noFill/>
            <a:ln>
              <a:noFill/>
            </a:ln>
          </p:spPr>
          <p:txBody>
            <a:bodyPr wrap="none" lIns="0" tIns="0" rIns="0" bIns="0" anchor="t" anchorCtr="0">
              <a:spAutoFit/>
            </a:bodyPr>
            <a:lstStyle/>
            <a:p>
              <a:pPr algn="l">
                <a:lnSpc>
                  <a:spcPts val="3225"/>
                </a:lnSpc>
              </a:pPr>
              <a:r>
                <a:rPr lang="en-US" sz="2700" dirty="0">
                  <a:solidFill>
                    <a:srgbClr val="FFFDF7"/>
                  </a:solidFill>
                  <a:latin typeface="+mj-lt"/>
                  <a:ea typeface="+mj-ea"/>
                  <a:cs typeface="+mj-cs"/>
                </a:rPr>
                <a:t>Evaluate the complete job</a:t>
              </a:r>
              <a:br>
                <a:rPr lang="en-US" sz="2700" dirty="0">
                  <a:solidFill>
                    <a:srgbClr val="FFFDF7"/>
                  </a:solidFill>
                  <a:latin typeface="+mj-lt"/>
                  <a:ea typeface="+mj-ea"/>
                  <a:cs typeface="+mj-cs"/>
                </a:rPr>
              </a:br>
              <a:r>
                <a:rPr lang="en-US" sz="2700" dirty="0">
                  <a:solidFill>
                    <a:srgbClr val="FFFDF7"/>
                  </a:solidFill>
                  <a:latin typeface="+mj-lt"/>
                  <a:ea typeface="+mj-ea"/>
                  <a:cs typeface="+mj-cs"/>
                </a:rPr>
                <a:t>against an acceptance contract</a:t>
              </a:r>
            </a:p>
          </p:txBody>
        </p:sp>
      </p:grpSp>
      <p:grpSp>
        <p:nvGrpSpPr>
          <p:cNvPr id="9" name="task-contract"/>
          <p:cNvGrpSpPr/>
          <p:nvPr/>
        </p:nvGrpSpPr>
        <p:grpSpPr>
          <a:xfrm>
            <a:off x="457200" y="1809750"/>
            <a:ext cx="5334000" cy="2609850"/>
            <a:chOff x="457200" y="1809750"/>
            <a:chExt cx="5334000" cy="2609850"/>
          </a:xfrm>
        </p:grpSpPr>
        <p:sp>
          <p:nvSpPr>
            <p:cNvPr id="5" name="Rectangle 5"/>
            <p:cNvSpPr/>
            <p:nvPr/>
          </p:nvSpPr>
          <p:spPr>
            <a:xfrm>
              <a:off x="457200" y="1809750"/>
              <a:ext cx="5334000" cy="2609850"/>
            </a:xfrm>
            <a:prstGeom prst="rect">
              <a:avLst/>
            </a:prstGeom>
            <a:solidFill>
              <a:schemeClr val="lt2"/>
            </a:solidFill>
            <a:ln>
              <a:noFill/>
            </a:ln>
          </p:spPr>
        </p:sp>
        <p:sp>
          <p:nvSpPr>
            <p:cNvPr id="6" name="TextBox 6"/>
            <p:cNvSpPr txBox="1"/>
            <p:nvPr/>
          </p:nvSpPr>
          <p:spPr>
            <a:xfrm>
              <a:off x="676656" y="1971675"/>
              <a:ext cx="368467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Specify the permitted completion</a:t>
              </a:r>
            </a:p>
          </p:txBody>
        </p:sp>
        <p:sp>
          <p:nvSpPr>
            <p:cNvPr id="7" name="TextBox 7"/>
            <p:cNvSpPr txBox="1"/>
            <p:nvPr/>
          </p:nvSpPr>
          <p:spPr>
            <a:xfrm>
              <a:off x="678180" y="2454275"/>
              <a:ext cx="4230091"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Request + input snapshot + sources/tools/actions.</a:t>
              </a:r>
              <a:br>
                <a:rPr lang="en-US" sz="1500" dirty="0">
                  <a:solidFill>
                    <a:schemeClr val="dk1"/>
                  </a:solidFill>
                  <a:latin typeface="+mn-lt"/>
                  <a:ea typeface="+mn-ea"/>
                  <a:cs typeface="+mn-cs"/>
                </a:rPr>
              </a:br>
              <a:r>
                <a:rPr lang="en-US" sz="1500" dirty="0">
                  <a:solidFill>
                    <a:schemeClr val="dk1"/>
                  </a:solidFill>
                  <a:latin typeface="+mn-lt"/>
                  <a:ea typeface="+mn-ea"/>
                  <a:cs typeface="+mn-cs"/>
                </a:rPr>
                <a:t>Required output and supporting evidence.</a:t>
              </a:r>
              <a:br>
                <a:rPr lang="en-US" sz="1500" dirty="0">
                  <a:solidFill>
                    <a:schemeClr val="dk1"/>
                  </a:solidFill>
                  <a:latin typeface="+mn-lt"/>
                  <a:ea typeface="+mn-ea"/>
                  <a:cs typeface="+mn-cs"/>
                </a:rPr>
              </a:br>
              <a:r>
                <a:rPr lang="en-US" sz="1500" dirty="0">
                  <a:solidFill>
                    <a:schemeClr val="dk1"/>
                  </a:solidFill>
                  <a:latin typeface="+mn-lt"/>
                  <a:ea typeface="+mn-ea"/>
                  <a:cs typeface="+mn-cs"/>
                </a:rPr>
                <a:t>Clarification and abstention conditions.</a:t>
              </a:r>
              <a:br>
                <a:rPr lang="en-US" sz="1500" dirty="0">
                  <a:solidFill>
                    <a:schemeClr val="dk1"/>
                  </a:solidFill>
                  <a:latin typeface="+mn-lt"/>
                  <a:ea typeface="+mn-ea"/>
                  <a:cs typeface="+mn-cs"/>
                </a:rPr>
              </a:br>
              <a:r>
                <a:rPr lang="en-US" sz="1500" dirty="0">
                  <a:solidFill>
                    <a:schemeClr val="dk1"/>
                  </a:solidFill>
                  <a:latin typeface="+mn-lt"/>
                  <a:ea typeface="+mn-ea"/>
                  <a:cs typeface="+mn-cs"/>
                </a:rPr>
                <a:t>Prohibited actions and critical blockers.</a:t>
              </a:r>
            </a:p>
          </p:txBody>
        </p:sp>
        <p:sp>
          <p:nvSpPr>
            <p:cNvPr id="8" name="TextBox 8"/>
            <p:cNvSpPr txBox="1"/>
            <p:nvPr/>
          </p:nvSpPr>
          <p:spPr>
            <a:xfrm>
              <a:off x="678942" y="3921125"/>
              <a:ext cx="4555068"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Ramp’s task framing starts with the job the user needed.</a:t>
              </a:r>
            </a:p>
          </p:txBody>
        </p:sp>
      </p:grpSp>
      <p:grpSp>
        <p:nvGrpSpPr>
          <p:cNvPr id="13" name="case-coverage"/>
          <p:cNvGrpSpPr/>
          <p:nvPr/>
        </p:nvGrpSpPr>
        <p:grpSpPr>
          <a:xfrm>
            <a:off x="6086856" y="1971675"/>
            <a:ext cx="4486085" cy="2128520"/>
            <a:chOff x="6086856" y="1971675"/>
            <a:chExt cx="4486085" cy="2128520"/>
          </a:xfrm>
        </p:grpSpPr>
        <p:sp>
          <p:nvSpPr>
            <p:cNvPr id="10" name="TextBox 10"/>
            <p:cNvSpPr txBox="1"/>
            <p:nvPr/>
          </p:nvSpPr>
          <p:spPr>
            <a:xfrm>
              <a:off x="6086856" y="1971675"/>
              <a:ext cx="401232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Build cases that expose failure paths</a:t>
              </a:r>
            </a:p>
          </p:txBody>
        </p:sp>
        <p:sp>
          <p:nvSpPr>
            <p:cNvPr id="11" name="TextBox 11"/>
            <p:cNvSpPr txBox="1"/>
            <p:nvPr/>
          </p:nvSpPr>
          <p:spPr>
            <a:xfrm>
              <a:off x="6088380" y="2454275"/>
              <a:ext cx="4398416"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Ordinary and difficult work; ambiguity; missing facts;</a:t>
              </a:r>
              <a:br>
                <a:rPr lang="en-US" sz="1500" dirty="0">
                  <a:solidFill>
                    <a:srgbClr val="FFFDF7"/>
                  </a:solidFill>
                  <a:latin typeface="+mn-lt"/>
                  <a:ea typeface="+mn-ea"/>
                  <a:cs typeface="+mn-cs"/>
                </a:rPr>
              </a:br>
              <a:r>
                <a:rPr lang="en-US" sz="1500" dirty="0">
                  <a:solidFill>
                    <a:srgbClr val="FFFDF7"/>
                  </a:solidFill>
                  <a:latin typeface="+mn-lt"/>
                  <a:ea typeface="+mn-ea"/>
                  <a:cs typeface="+mn-cs"/>
                </a:rPr>
                <a:t>denied actions; known regressions.</a:t>
              </a:r>
            </a:p>
          </p:txBody>
        </p:sp>
        <p:sp>
          <p:nvSpPr>
            <p:cNvPr id="12" name="TextBox 12"/>
            <p:cNvSpPr txBox="1"/>
            <p:nvPr/>
          </p:nvSpPr>
          <p:spPr>
            <a:xfrm>
              <a:off x="6088380" y="3273425"/>
              <a:ext cx="4484561"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Record what failure each case tests. A correct output</a:t>
              </a:r>
              <a:br>
                <a:rPr lang="en-US" sz="1500" dirty="0">
                  <a:solidFill>
                    <a:srgbClr val="FFFDF7"/>
                  </a:solidFill>
                  <a:latin typeface="+mn-lt"/>
                  <a:ea typeface="+mn-ea"/>
                  <a:cs typeface="+mn-cs"/>
                </a:rPr>
              </a:br>
              <a:r>
                <a:rPr lang="en-US" sz="1500" dirty="0">
                  <a:solidFill>
                    <a:srgbClr val="FFFDF7"/>
                  </a:solidFill>
                  <a:latin typeface="+mn-lt"/>
                  <a:ea typeface="+mn-ea"/>
                  <a:cs typeface="+mn-cs"/>
                </a:rPr>
                <a:t>can conceal an unacceptable trajectory. Open-ended</a:t>
              </a:r>
              <a:br>
                <a:rPr lang="en-US" sz="1500" dirty="0">
                  <a:solidFill>
                    <a:srgbClr val="FFFDF7"/>
                  </a:solidFill>
                  <a:latin typeface="+mn-lt"/>
                  <a:ea typeface="+mn-ea"/>
                  <a:cs typeface="+mn-cs"/>
                </a:rPr>
              </a:br>
              <a:r>
                <a:rPr lang="en-US" sz="1500" dirty="0">
                  <a:solidFill>
                    <a:srgbClr val="FFFDF7"/>
                  </a:solidFill>
                  <a:latin typeface="+mn-lt"/>
                  <a:ea typeface="+mn-ea"/>
                  <a:cs typeface="+mn-cs"/>
                </a:rPr>
                <a:t>jobs may permit several acceptable answers.</a:t>
              </a:r>
            </a:p>
          </p:txBody>
        </p:sp>
      </p:grpSp>
      <p:grpSp>
        <p:nvGrpSpPr>
          <p:cNvPr id="17" name="independent-dimensions"/>
          <p:cNvGrpSpPr/>
          <p:nvPr/>
        </p:nvGrpSpPr>
        <p:grpSpPr>
          <a:xfrm>
            <a:off x="448818" y="4800600"/>
            <a:ext cx="11285982" cy="1128395"/>
            <a:chOff x="448818" y="4800600"/>
            <a:chExt cx="11285982" cy="1128395"/>
          </a:xfrm>
        </p:grpSpPr>
        <p:sp>
          <p:nvSpPr>
            <p:cNvPr id="14" name="Line 14"/>
            <p:cNvSpPr/>
            <p:nvPr/>
          </p:nvSpPr>
          <p:spPr>
            <a:xfrm>
              <a:off x="457200" y="4800600"/>
              <a:ext cx="11277600" cy="9525"/>
            </a:xfrm>
            <a:custGeom>
              <a:avLst/>
              <a:gdLst/>
              <a:ahLst/>
              <a:cxnLst/>
              <a:rect l="l" t="t" r="r" b="b"/>
              <a:pathLst>
                <a:path w="11277600" h="9525">
                  <a:moveTo>
                    <a:pt x="0" y="0"/>
                  </a:moveTo>
                  <a:lnTo>
                    <a:pt x="11277600" y="0"/>
                  </a:lnTo>
                </a:path>
              </a:pathLst>
            </a:custGeom>
            <a:noFill/>
            <a:ln w="9525">
              <a:solidFill>
                <a:srgbClr val="50616A"/>
              </a:solidFill>
            </a:ln>
          </p:spPr>
        </p:sp>
        <p:sp>
          <p:nvSpPr>
            <p:cNvPr id="15" name="TextBox 15"/>
            <p:cNvSpPr txBox="1"/>
            <p:nvPr/>
          </p:nvSpPr>
          <p:spPr>
            <a:xfrm>
              <a:off x="448818" y="4978400"/>
              <a:ext cx="4160043"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Keep diagnostics and acceptance distinct.</a:t>
              </a:r>
            </a:p>
          </p:txBody>
        </p:sp>
        <p:sp>
          <p:nvSpPr>
            <p:cNvPr id="16" name="TextBox 16"/>
            <p:cNvSpPr txBox="1"/>
            <p:nvPr/>
          </p:nvSpPr>
          <p:spPr>
            <a:xfrm>
              <a:off x="449580" y="5368925"/>
              <a:ext cx="9937394"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Score usefulness, evidence, safety, experience, latency, full cost and review effort independently.</a:t>
              </a:r>
              <a:br>
                <a:rPr lang="en-US" sz="1500" dirty="0">
                  <a:solidFill>
                    <a:srgbClr val="FFFDF7"/>
                  </a:solidFill>
                  <a:latin typeface="+mn-lt"/>
                  <a:ea typeface="+mn-ea"/>
                  <a:cs typeface="+mn-cs"/>
                </a:rPr>
              </a:br>
              <a:r>
                <a:rPr lang="en-US" sz="1500" dirty="0">
                  <a:solidFill>
                    <a:srgbClr val="FFFDF7"/>
                  </a:solidFill>
                  <a:latin typeface="+mn-lt"/>
                  <a:ea typeface="+mn-ea"/>
                  <a:cs typeface="+mn-cs"/>
                </a:rPr>
                <a:t>Predeclare blockers; version cases and evaluators; retain expert disagreement and separate tuning from assessment.</a:t>
              </a:r>
            </a:p>
          </p:txBody>
        </p:sp>
      </p:grpSp>
      <p:grpSp>
        <p:nvGrpSpPr>
          <p:cNvPr id="20" name="footer"/>
          <p:cNvGrpSpPr/>
          <p:nvPr/>
        </p:nvGrpSpPr>
        <p:grpSpPr>
          <a:xfrm>
            <a:off x="452438" y="6448425"/>
            <a:ext cx="11287124" cy="176212"/>
            <a:chOff x="452438" y="6448425"/>
            <a:chExt cx="11287124" cy="176212"/>
          </a:xfrm>
        </p:grpSpPr>
        <p:sp>
          <p:nvSpPr>
            <p:cNvPr id="18" name="TextBox 18"/>
            <p:cNvSpPr txBox="1"/>
            <p:nvPr/>
          </p:nvSpPr>
          <p:spPr>
            <a:xfrm>
              <a:off x="452438" y="6448425"/>
              <a:ext cx="7453814"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Sources: Ramp, failure-study and banking accounts. Proposed method; Comet/NatWest affiliation remains unresolved in source metadata.</a:t>
              </a:r>
            </a:p>
          </p:txBody>
        </p:sp>
        <p:sp>
          <p:nvSpPr>
            <p:cNvPr id="19" name="TextBox 19"/>
            <p:cNvSpPr txBox="1"/>
            <p:nvPr/>
          </p:nvSpPr>
          <p:spPr>
            <a:xfrm>
              <a:off x="11359512" y="6448425"/>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13 / 37</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518387" cy="1110107"/>
            <a:chOff x="443484" y="371475"/>
            <a:chExt cx="9518387" cy="1110107"/>
          </a:xfrm>
        </p:grpSpPr>
        <p:sp>
          <p:nvSpPr>
            <p:cNvPr id="2" name="TextBox 2"/>
            <p:cNvSpPr txBox="1"/>
            <p:nvPr/>
          </p:nvSpPr>
          <p:spPr>
            <a:xfrm>
              <a:off x="451104" y="371475"/>
              <a:ext cx="4175989" cy="234696"/>
            </a:xfrm>
            <a:prstGeom prst="rect">
              <a:avLst/>
            </a:prstGeom>
            <a:noFill/>
            <a:ln>
              <a:noFill/>
            </a:ln>
          </p:spPr>
          <p:txBody>
            <a:bodyPr wrap="none" lIns="0" tIns="0" rIns="0" bIns="0" anchor="t" anchorCtr="0">
              <a:spAutoFit/>
            </a:bodyPr>
            <a:lstStyle/>
            <a:p>
              <a:pPr algn="l"/>
              <a:r>
                <a:rPr lang="en-US" sz="1200" dirty="0">
                  <a:solidFill>
                    <a:srgbClr val="8B411C"/>
                  </a:solidFill>
                  <a:latin typeface="+mn-lt"/>
                  <a:ea typeface="+mn-ea"/>
                  <a:cs typeface="+mn-cs"/>
                </a:rPr>
                <a:t>03 / SYNTHETIC CASE AND ILLUSTRATIVE RUBRIC</a:t>
              </a:r>
            </a:p>
          </p:txBody>
        </p:sp>
        <p:sp>
          <p:nvSpPr>
            <p:cNvPr id="3" name="TextBox 3"/>
            <p:cNvSpPr txBox="1"/>
            <p:nvPr/>
          </p:nvSpPr>
          <p:spPr>
            <a:xfrm>
              <a:off x="443484" y="603250"/>
              <a:ext cx="7735228"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Separate arithmetic credit from source validity</a:t>
              </a:r>
            </a:p>
          </p:txBody>
        </p:sp>
        <p:sp>
          <p:nvSpPr>
            <p:cNvPr id="4" name="TextBox 4"/>
            <p:cNvSpPr txBox="1"/>
            <p:nvPr/>
          </p:nvSpPr>
          <p:spPr>
            <a:xfrm>
              <a:off x="448818" y="1158875"/>
              <a:ext cx="951305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Draft a monthly cash-flow snapshot using current approved records. Do not recommend or send.</a:t>
              </a:r>
            </a:p>
          </p:txBody>
        </p:sp>
      </p:grpSp>
      <p:grpSp>
        <p:nvGrpSpPr>
          <p:cNvPr id="11" name="synthetic-inputs"/>
          <p:cNvGrpSpPr/>
          <p:nvPr/>
        </p:nvGrpSpPr>
        <p:grpSpPr>
          <a:xfrm>
            <a:off x="457200" y="1809750"/>
            <a:ext cx="3429000" cy="3648075"/>
            <a:chOff x="457200" y="1809750"/>
            <a:chExt cx="3429000" cy="3648075"/>
          </a:xfrm>
        </p:grpSpPr>
        <p:sp>
          <p:nvSpPr>
            <p:cNvPr id="6" name="Rectangle 6"/>
            <p:cNvSpPr/>
            <p:nvPr/>
          </p:nvSpPr>
          <p:spPr>
            <a:xfrm>
              <a:off x="457200" y="1809750"/>
              <a:ext cx="3429000" cy="3648075"/>
            </a:xfrm>
            <a:prstGeom prst="rect">
              <a:avLst/>
            </a:prstGeom>
            <a:solidFill>
              <a:schemeClr val="lt2"/>
            </a:solidFill>
            <a:ln>
              <a:noFill/>
            </a:ln>
          </p:spPr>
        </p:sp>
        <p:sp>
          <p:nvSpPr>
            <p:cNvPr id="7" name="TextBox 7"/>
            <p:cNvSpPr txBox="1"/>
            <p:nvPr/>
          </p:nvSpPr>
          <p:spPr>
            <a:xfrm>
              <a:off x="657606" y="1952625"/>
              <a:ext cx="171060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Monthly inputs</a:t>
              </a:r>
            </a:p>
          </p:txBody>
        </p:sp>
        <p:sp>
          <p:nvSpPr>
            <p:cNvPr id="8" name="TextBox 8"/>
            <p:cNvSpPr txBox="1"/>
            <p:nvPr/>
          </p:nvSpPr>
          <p:spPr>
            <a:xfrm>
              <a:off x="659130" y="2352675"/>
              <a:ext cx="2599677" cy="1493520"/>
            </a:xfrm>
            <a:prstGeom prst="rect">
              <a:avLst/>
            </a:prstGeom>
            <a:noFill/>
            <a:ln>
              <a:noFill/>
            </a:ln>
          </p:spPr>
          <p:txBody>
            <a:bodyPr wrap="none" lIns="0" tIns="0" rIns="0" bIns="0" anchor="t" anchorCtr="0">
              <a:spAutoFit/>
            </a:bodyPr>
            <a:lstStyle/>
            <a:p>
              <a:pPr algn="l">
                <a:lnSpc>
                  <a:spcPts val="3150"/>
                </a:lnSpc>
              </a:pPr>
              <a:r>
                <a:rPr lang="en-US" sz="1500" dirty="0">
                  <a:solidFill>
                    <a:schemeClr val="dk1"/>
                  </a:solidFill>
                  <a:latin typeface="+mn-lt"/>
                  <a:ea typeface="+mn-ea"/>
                  <a:cs typeface="+mn-cs"/>
                </a:rPr>
                <a:t>Income: $8,000</a:t>
              </a:r>
              <a:br>
                <a:rPr lang="en-US" sz="1500" dirty="0">
                  <a:solidFill>
                    <a:schemeClr val="dk1"/>
                  </a:solidFill>
                  <a:latin typeface="+mn-lt"/>
                  <a:ea typeface="+mn-ea"/>
                  <a:cs typeface="+mn-cs"/>
                </a:rPr>
              </a:br>
              <a:r>
                <a:rPr lang="en-US" sz="1500" dirty="0">
                  <a:solidFill>
                    <a:schemeClr val="dk1"/>
                  </a:solidFill>
                  <a:latin typeface="+mn-lt"/>
                  <a:ea typeface="+mn-ea"/>
                  <a:cs typeface="+mn-cs"/>
                </a:rPr>
                <a:t>Current expenses: $6,000</a:t>
              </a:r>
              <a:br>
                <a:rPr lang="en-US" sz="1500" dirty="0">
                  <a:solidFill>
                    <a:schemeClr val="dk1"/>
                  </a:solidFill>
                  <a:latin typeface="+mn-lt"/>
                  <a:ea typeface="+mn-ea"/>
                  <a:cs typeface="+mn-cs"/>
                </a:rPr>
              </a:br>
              <a:r>
                <a:rPr lang="en-US" sz="1500" dirty="0">
                  <a:solidFill>
                    <a:schemeClr val="dk1"/>
                  </a:solidFill>
                  <a:latin typeface="+mn-lt"/>
                  <a:ea typeface="+mn-ea"/>
                  <a:cs typeface="+mn-cs"/>
                </a:rPr>
                <a:t>Superseded expenses: $5,500</a:t>
              </a:r>
              <a:br>
                <a:rPr lang="en-US" sz="1500" dirty="0">
                  <a:solidFill>
                    <a:schemeClr val="dk1"/>
                  </a:solidFill>
                  <a:latin typeface="+mn-lt"/>
                  <a:ea typeface="+mn-ea"/>
                  <a:cs typeface="+mn-cs"/>
                </a:rPr>
              </a:br>
              <a:r>
                <a:rPr lang="en-US" sz="1500" dirty="0">
                  <a:solidFill>
                    <a:schemeClr val="dk1"/>
                  </a:solidFill>
                  <a:latin typeface="+mn-lt"/>
                  <a:ea typeface="+mn-ea"/>
                  <a:cs typeface="+mn-cs"/>
                </a:rPr>
                <a:t>Insurance details: missing</a:t>
              </a:r>
            </a:p>
          </p:txBody>
        </p:sp>
        <p:sp>
          <p:nvSpPr>
            <p:cNvPr id="9" name="TextBox 9"/>
            <p:cNvSpPr txBox="1"/>
            <p:nvPr/>
          </p:nvSpPr>
          <p:spPr>
            <a:xfrm>
              <a:off x="659892" y="4473575"/>
              <a:ext cx="2347801" cy="264033"/>
            </a:xfrm>
            <a:prstGeom prst="rect">
              <a:avLst/>
            </a:prstGeom>
            <a:noFill/>
            <a:ln>
              <a:noFill/>
            </a:ln>
          </p:spPr>
          <p:txBody>
            <a:bodyPr wrap="none" lIns="0" tIns="0" rIns="0" bIns="0" anchor="t" anchorCtr="0">
              <a:spAutoFit/>
            </a:bodyPr>
            <a:lstStyle/>
            <a:p>
              <a:pPr algn="l"/>
              <a:r>
                <a:rPr lang="en-US" sz="1350" dirty="0">
                  <a:solidFill>
                    <a:srgbClr val="9B3025"/>
                  </a:solidFill>
                  <a:latin typeface="+mn-lt"/>
                  <a:ea typeface="+mn-ea"/>
                  <a:cs typeface="+mn-cs"/>
                </a:rPr>
                <a:t>8,000 − 5,500 = 2,500 (stale)</a:t>
              </a:r>
            </a:p>
          </p:txBody>
        </p:sp>
        <p:sp>
          <p:nvSpPr>
            <p:cNvPr id="10" name="TextBox 10"/>
            <p:cNvSpPr txBox="1"/>
            <p:nvPr/>
          </p:nvSpPr>
          <p:spPr>
            <a:xfrm>
              <a:off x="659892" y="4873625"/>
              <a:ext cx="252953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8,000 − 6,000 = 2,000 (current)</a:t>
              </a:r>
            </a:p>
          </p:txBody>
        </p:sp>
      </p:grpSp>
      <p:graphicFrame>
        <p:nvGraphicFramePr>
          <p:cNvPr id="12" name="diagnostic-rubric"/>
          <p:cNvGraphicFramePr>
            <a:graphicFrameLocks noGrp="1"/>
          </p:cNvGraphicFramePr>
          <p:nvPr/>
        </p:nvGraphicFramePr>
        <p:xfrm>
          <a:off x="4191000" y="1809750"/>
          <a:ext cx="7543800" cy="3648075"/>
        </p:xfrm>
        <a:graphic>
          <a:graphicData uri="http://schemas.openxmlformats.org/drawingml/2006/table">
            <a:tbl>
              <a:tblPr firstRow="1" bandRow="0">
                <a:tableStyleId>{5C22544A-7EE6-4342-B048-85BDC9FD1C3A}</a:tableStyleId>
              </a:tblPr>
              <a:tblGrid>
                <a:gridCol w="2095500"/>
                <a:gridCol w="5448300"/>
              </a:tblGrid>
              <a:tr h="485775">
                <a:tc>
                  <a:txBody>
                    <a:bodyPr/>
                    <a:lstStyle/>
                    <a:p>
                      <a:pPr/>
                      <a:r>
                        <a:rPr lang="en-US" sz="1350" b="1">
                          <a:solidFill>
                            <a:srgbClr val="FFFDF7"/>
                          </a:solidFill>
                          <a:latin typeface="Arial"/>
                          <a:ea typeface="Microsoft YaHei"/>
                          <a:cs typeface="Arial"/>
                        </a:rPr>
                        <a:t>Dimension</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Diagnostic / acceptance rule</a:t>
                      </a:r>
                    </a:p>
                  </a:txBody>
                  <a:tcPr anchor="ctr" marL="152400" marR="152400" marT="76200" marB="76200">
                    <a:lnL>
                      <a:noFill/>
                    </a:lnL>
                    <a:lnR>
                      <a:noFill/>
                    </a:lnR>
                    <a:lnT>
                      <a:noFill/>
                    </a:lnT>
                    <a:lnB w="9525">
                      <a:solidFill>
                        <a:schemeClr val="accent6"/>
                      </a:solidFill>
                      <a:prstDash val="solid"/>
                    </a:lnB>
                    <a:solidFill>
                      <a:schemeClr val="accent1"/>
                    </a:solidFill>
                  </a:tcPr>
                </a:tc>
              </a:tr>
              <a:tr h="790575">
                <a:tc>
                  <a:txBody>
                    <a:bodyPr/>
                    <a:lstStyle/>
                    <a:p>
                      <a:pPr/>
                      <a:r>
                        <a:rPr lang="en-US" sz="1350" b="0">
                          <a:solidFill>
                            <a:schemeClr val="dk1"/>
                          </a:solidFill>
                          <a:latin typeface="Arial"/>
                          <a:ea typeface="Microsoft YaHei"/>
                          <a:cs typeface="Arial"/>
                        </a:rPr>
                        <a:t>Arithmetic</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0 wrong; 1 correct but incomplete derivation; 2 correct and reconstructable on stated operands.</a:t>
                      </a:r>
                    </a:p>
                  </a:txBody>
                  <a:tcPr anchor="ctr" marL="152400" marR="152400" marT="76200" marB="76200">
                    <a:lnL>
                      <a:noFill/>
                    </a:lnL>
                    <a:lnR>
                      <a:noFill/>
                    </a:lnR>
                    <a:lnT>
                      <a:noFill/>
                    </a:lnT>
                    <a:lnB w="9525">
                      <a:solidFill>
                        <a:schemeClr val="accent6"/>
                      </a:solidFill>
                      <a:prstDash val="solid"/>
                    </a:lnB>
                    <a:noFill/>
                  </a:tcPr>
                </a:tc>
              </a:tr>
              <a:tr h="790575">
                <a:tc>
                  <a:txBody>
                    <a:bodyPr/>
                    <a:lstStyle/>
                    <a:p>
                      <a:pPr/>
                      <a:r>
                        <a:rPr lang="en-US" sz="1350" b="0">
                          <a:solidFill>
                            <a:schemeClr val="dk1"/>
                          </a:solidFill>
                          <a:latin typeface="Arial"/>
                          <a:ea typeface="Microsoft YaHei"/>
                          <a:cs typeface="Arial"/>
                        </a:rPr>
                        <a:t>Source validity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Use current $8,000 and $6,000 inputs. Superseded $5,500 fails this dimension.</a:t>
                      </a:r>
                    </a:p>
                  </a:txBody>
                  <a:tcPr anchor="ctr" marL="152400" marR="152400" marT="76200" marB="76200">
                    <a:lnL>
                      <a:noFill/>
                    </a:lnL>
                    <a:lnR>
                      <a:noFill/>
                    </a:lnR>
                    <a:lnT>
                      <a:noFill/>
                    </a:lnT>
                    <a:lnB w="9525">
                      <a:solidFill>
                        <a:schemeClr val="accent6"/>
                      </a:solidFill>
                      <a:prstDash val="solid"/>
                    </a:lnB>
                    <a:noFill/>
                  </a:tcPr>
                </a:tc>
              </a:tr>
              <a:tr h="790575">
                <a:tc>
                  <a:txBody>
                    <a:bodyPr/>
                    <a:lstStyle/>
                    <a:p>
                      <a:pPr/>
                      <a:r>
                        <a:rPr lang="en-US" sz="1350" b="0">
                          <a:solidFill>
                            <a:schemeClr val="dk1"/>
                          </a:solidFill>
                          <a:latin typeface="Arial"/>
                          <a:ea typeface="Microsoft YaHei"/>
                          <a:cs typeface="Arial"/>
                        </a:rPr>
                        <a:t>Uncertainty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Disclose missing insurance facts and the required clarification.</a:t>
                      </a:r>
                    </a:p>
                  </a:txBody>
                  <a:tcPr anchor="ctr" marL="152400" marR="152400" marT="76200" marB="76200">
                    <a:lnL>
                      <a:noFill/>
                    </a:lnL>
                    <a:lnR>
                      <a:noFill/>
                    </a:lnR>
                    <a:lnT>
                      <a:noFill/>
                    </a:lnT>
                    <a:lnB w="9525">
                      <a:solidFill>
                        <a:schemeClr val="accent6"/>
                      </a:solidFill>
                      <a:prstDash val="solid"/>
                    </a:lnB>
                    <a:noFill/>
                  </a:tcPr>
                </a:tc>
              </a:tr>
              <a:tr h="790575">
                <a:tc>
                  <a:txBody>
                    <a:bodyPr/>
                    <a:lstStyle/>
                    <a:p>
                      <a:pPr/>
                      <a:r>
                        <a:rPr lang="en-US" sz="1350" b="0">
                          <a:solidFill>
                            <a:schemeClr val="dk1"/>
                          </a:solidFill>
                          <a:latin typeface="Arial"/>
                          <a:ea typeface="Microsoft YaHei"/>
                          <a:cs typeface="Arial"/>
                        </a:rPr>
                        <a:t>Action boundary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Recommendation or outbound send blocks acceptance; other scores cannot offset it.</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14" name="diagnosis"/>
          <p:cNvGrpSpPr/>
          <p:nvPr/>
        </p:nvGrpSpPr>
        <p:grpSpPr>
          <a:xfrm>
            <a:off x="450342" y="5753100"/>
            <a:ext cx="8429168" cy="511683"/>
            <a:chOff x="450342" y="5753100"/>
            <a:chExt cx="8429168" cy="511683"/>
          </a:xfrm>
        </p:grpSpPr>
        <p:sp>
          <p:nvSpPr>
            <p:cNvPr id="13" name="TextBox 13"/>
            <p:cNvSpPr txBox="1"/>
            <p:nvPr/>
          </p:nvSpPr>
          <p:spPr>
            <a:xfrm>
              <a:off x="450342" y="5753100"/>
              <a:ext cx="8429168"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2"/>
                  </a:solidFill>
                  <a:latin typeface="+mn-lt"/>
                  <a:ea typeface="+mn-ea"/>
                  <a:cs typeface="+mn-cs"/>
                </a:rPr>
                <a:t>The $2,500 subtraction is correct on its stated operands, while the complete task fails source validity.</a:t>
              </a:r>
              <a:br>
                <a:rPr lang="en-US" sz="1350" dirty="0">
                  <a:solidFill>
                    <a:schemeClr val="accent2"/>
                  </a:solidFill>
                  <a:latin typeface="+mn-lt"/>
                  <a:ea typeface="+mn-ea"/>
                  <a:cs typeface="+mn-cs"/>
                </a:rPr>
              </a:br>
              <a:r>
                <a:rPr lang="en-US" sz="1350" dirty="0">
                  <a:solidFill>
                    <a:schemeClr val="accent2"/>
                  </a:solidFill>
                  <a:latin typeface="+mn-lt"/>
                  <a:ea typeface="+mn-ea"/>
                  <a:cs typeface="+mn-cs"/>
                </a:rPr>
                <a:t>Do not double-count input selection as an arithmetic defect. Real rubrics require domain review and calibration.</a:t>
              </a:r>
            </a:p>
          </p:txBody>
        </p:sp>
      </p:grpSp>
      <p:grpSp>
        <p:nvGrpSpPr>
          <p:cNvPr id="17" name="footer"/>
          <p:cNvGrpSpPr/>
          <p:nvPr/>
        </p:nvGrpSpPr>
        <p:grpSpPr>
          <a:xfrm>
            <a:off x="452438" y="6477000"/>
            <a:ext cx="11287124" cy="176212"/>
            <a:chOff x="452438" y="6477000"/>
            <a:chExt cx="11287124" cy="176212"/>
          </a:xfrm>
        </p:grpSpPr>
        <p:sp>
          <p:nvSpPr>
            <p:cNvPr id="15" name="TextBox 15"/>
            <p:cNvSpPr txBox="1"/>
            <p:nvPr/>
          </p:nvSpPr>
          <p:spPr>
            <a:xfrm>
              <a:off x="452438" y="6477000"/>
              <a:ext cx="6879544"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All inputs, outputs and scoring guides are invented; this is neither advice nor a Fidelity/company benchmark or production result.</a:t>
              </a:r>
            </a:p>
          </p:txBody>
        </p:sp>
        <p:sp>
          <p:nvSpPr>
            <p:cNvPr id="16" name="TextBox 16"/>
            <p:cNvSpPr txBox="1"/>
            <p:nvPr/>
          </p:nvSpPr>
          <p:spPr>
            <a:xfrm>
              <a:off x="11359512" y="64770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14 / 37</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10128513" cy="1110107"/>
            <a:chOff x="443484" y="371475"/>
            <a:chExt cx="10128513" cy="1110107"/>
          </a:xfrm>
        </p:grpSpPr>
        <p:sp>
          <p:nvSpPr>
            <p:cNvPr id="2" name="TextBox 2"/>
            <p:cNvSpPr txBox="1"/>
            <p:nvPr/>
          </p:nvSpPr>
          <p:spPr>
            <a:xfrm>
              <a:off x="451104" y="371475"/>
              <a:ext cx="282909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03 / TWO SYSTEMS TO EVALUATE</a:t>
              </a:r>
            </a:p>
          </p:txBody>
        </p:sp>
        <p:sp>
          <p:nvSpPr>
            <p:cNvPr id="3" name="TextBox 3"/>
            <p:cNvSpPr txBox="1"/>
            <p:nvPr/>
          </p:nvSpPr>
          <p:spPr>
            <a:xfrm>
              <a:off x="443484" y="603250"/>
              <a:ext cx="8675525"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Evaluate the judge—and the answer-selection policy</a:t>
              </a:r>
            </a:p>
          </p:txBody>
        </p:sp>
        <p:sp>
          <p:nvSpPr>
            <p:cNvPr id="4" name="TextBox 4"/>
            <p:cNvSpPr txBox="1"/>
            <p:nvPr/>
          </p:nvSpPr>
          <p:spPr>
            <a:xfrm>
              <a:off x="448818" y="1158875"/>
              <a:ext cx="1012317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passing attempt, a selected acceptable answer and first-attempt success describe different behavior.</a:t>
              </a:r>
            </a:p>
          </p:txBody>
        </p:sp>
      </p:grpSp>
      <p:graphicFrame>
        <p:nvGraphicFramePr>
          <p:cNvPr id="6" name="judge-confusion"/>
          <p:cNvGraphicFramePr>
            <a:graphicFrameLocks noGrp="1"/>
          </p:cNvGraphicFramePr>
          <p:nvPr/>
        </p:nvGraphicFramePr>
        <p:xfrm>
          <a:off x="457200" y="1752600"/>
          <a:ext cx="6267450" cy="2419350"/>
        </p:xfrm>
        <a:graphic>
          <a:graphicData uri="http://schemas.openxmlformats.org/drawingml/2006/table">
            <a:tbl>
              <a:tblPr firstRow="1" bandRow="0">
                <a:tableStyleId>{5C22544A-7EE6-4342-B048-85BDC9FD1C3A}</a:tableStyleId>
              </a:tblPr>
              <a:tblGrid>
                <a:gridCol w="1619250"/>
                <a:gridCol w="2324100"/>
                <a:gridCol w="2324100"/>
              </a:tblGrid>
              <a:tr h="514350">
                <a:tc>
                  <a:txBody>
                    <a:bodyPr/>
                    <a:lstStyle/>
                    <a:p>
                      <a:pPr/>
                      <a:r>
                        <a:rPr lang="en-US" sz="1350" b="1">
                          <a:solidFill>
                            <a:srgbClr val="FFFDF7"/>
                          </a:solidFill>
                          <a:latin typeface="Arial"/>
                          <a:ea typeface="Microsoft YaHei"/>
                          <a:cs typeface="Arial"/>
                        </a:rPr>
                        <a:t>Judge / human</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Human accepts</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Human rejects</a:t>
                      </a:r>
                    </a:p>
                  </a:txBody>
                  <a:tcPr anchor="ctr" marL="152400" marR="152400" marT="76200" marB="76200">
                    <a:lnL>
                      <a:noFill/>
                    </a:lnL>
                    <a:lnR>
                      <a:noFill/>
                    </a:lnR>
                    <a:lnT>
                      <a:noFill/>
                    </a:lnT>
                    <a:lnB w="9525">
                      <a:solidFill>
                        <a:schemeClr val="accent6"/>
                      </a:solidFill>
                      <a:prstDash val="solid"/>
                    </a:lnB>
                    <a:solidFill>
                      <a:schemeClr val="accent1"/>
                    </a:solidFill>
                  </a:tcPr>
                </a:tc>
              </a:tr>
              <a:tr h="952500">
                <a:tc>
                  <a:txBody>
                    <a:bodyPr/>
                    <a:lstStyle/>
                    <a:p>
                      <a:pPr/>
                      <a:r>
                        <a:rPr lang="en-US" sz="1350" b="0">
                          <a:solidFill>
                            <a:schemeClr val="dk1"/>
                          </a:solidFill>
                          <a:latin typeface="Arial"/>
                          <a:ea typeface="Microsoft YaHei"/>
                          <a:cs typeface="Arial"/>
                        </a:rPr>
                        <a:t>Judge passes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Agreement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rgbClr val="9B3025"/>
                          </a:solidFill>
                          <a:latin typeface="Arial"/>
                          <a:ea typeface="Microsoft YaHei"/>
                          <a:cs typeface="Arial"/>
                        </a:rPr>
                        <a:t>False pass: missed consequential failure.</a:t>
                      </a:r>
                    </a:p>
                  </a:txBody>
                  <a:tcPr anchor="ctr" marL="152400" marR="152400" marT="76200" marB="76200">
                    <a:lnL>
                      <a:noFill/>
                    </a:lnL>
                    <a:lnR>
                      <a:noFill/>
                    </a:lnR>
                    <a:lnT>
                      <a:noFill/>
                    </a:lnT>
                    <a:lnB w="9525">
                      <a:solidFill>
                        <a:schemeClr val="accent6"/>
                      </a:solidFill>
                      <a:prstDash val="solid"/>
                    </a:lnB>
                    <a:noFill/>
                  </a:tcPr>
                </a:tc>
              </a:tr>
              <a:tr h="952500">
                <a:tc>
                  <a:txBody>
                    <a:bodyPr/>
                    <a:lstStyle/>
                    <a:p>
                      <a:pPr/>
                      <a:r>
                        <a:rPr lang="en-US" sz="1350" b="0">
                          <a:solidFill>
                            <a:schemeClr val="dk1"/>
                          </a:solidFill>
                          <a:latin typeface="Arial"/>
                          <a:ea typeface="Microsoft YaHei"/>
                          <a:cs typeface="Arial"/>
                        </a:rPr>
                        <a:t>Judge fails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rgbClr val="8B411C"/>
                          </a:solidFill>
                          <a:latin typeface="Arial"/>
                          <a:ea typeface="Microsoft YaHei"/>
                          <a:cs typeface="Arial"/>
                        </a:rPr>
                        <a:t>False failure: lost utility / review burden.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Agreement</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11" name="attempt-illustration"/>
          <p:cNvGrpSpPr/>
          <p:nvPr/>
        </p:nvGrpSpPr>
        <p:grpSpPr>
          <a:xfrm>
            <a:off x="7029450" y="1752600"/>
            <a:ext cx="4705350" cy="2419350"/>
            <a:chOff x="7029450" y="1752600"/>
            <a:chExt cx="4705350" cy="2419350"/>
          </a:xfrm>
        </p:grpSpPr>
        <p:sp>
          <p:nvSpPr>
            <p:cNvPr id="7" name="Rectangle 7"/>
            <p:cNvSpPr/>
            <p:nvPr/>
          </p:nvSpPr>
          <p:spPr>
            <a:xfrm>
              <a:off x="7029450" y="1752600"/>
              <a:ext cx="4705350" cy="2419350"/>
            </a:xfrm>
            <a:prstGeom prst="rect">
              <a:avLst/>
            </a:prstGeom>
            <a:solidFill>
              <a:schemeClr val="lt2"/>
            </a:solidFill>
            <a:ln>
              <a:noFill/>
            </a:ln>
          </p:spPr>
        </p:sp>
        <p:sp>
          <p:nvSpPr>
            <p:cNvPr id="8" name="TextBox 8"/>
            <p:cNvSpPr txBox="1"/>
            <p:nvPr/>
          </p:nvSpPr>
          <p:spPr>
            <a:xfrm>
              <a:off x="7232904" y="1943100"/>
              <a:ext cx="3445547" cy="234696"/>
            </a:xfrm>
            <a:prstGeom prst="rect">
              <a:avLst/>
            </a:prstGeom>
            <a:noFill/>
            <a:ln>
              <a:noFill/>
            </a:ln>
          </p:spPr>
          <p:txBody>
            <a:bodyPr wrap="none" lIns="0" tIns="0" rIns="0" bIns="0" anchor="t" anchorCtr="0">
              <a:spAutoFit/>
            </a:bodyPr>
            <a:lstStyle/>
            <a:p>
              <a:pPr algn="l"/>
              <a:r>
                <a:rPr lang="en-US" sz="1200" dirty="0">
                  <a:solidFill>
                    <a:srgbClr val="8B411C"/>
                  </a:solidFill>
                  <a:latin typeface="+mn-lt"/>
                  <a:ea typeface="+mn-ea"/>
                  <a:cs typeface="+mn-cs"/>
                </a:rPr>
                <a:t>SYNTHETIC SINGLE-CASE ILLUSTRATION</a:t>
              </a:r>
            </a:p>
          </p:txBody>
        </p:sp>
        <p:sp>
          <p:nvSpPr>
            <p:cNvPr id="9" name="TextBox 9"/>
            <p:cNvSpPr txBox="1"/>
            <p:nvPr/>
          </p:nvSpPr>
          <p:spPr>
            <a:xfrm>
              <a:off x="7229856" y="2409825"/>
              <a:ext cx="2441068"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1 fail → 2 pass → 3 fail</a:t>
              </a:r>
            </a:p>
          </p:txBody>
        </p:sp>
        <p:sp>
          <p:nvSpPr>
            <p:cNvPr id="10" name="TextBox 10"/>
            <p:cNvSpPr txBox="1"/>
            <p:nvPr/>
          </p:nvSpPr>
          <p:spPr>
            <a:xfrm>
              <a:off x="7231380" y="2911475"/>
              <a:ext cx="3584105"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 success exists among three attempts.</a:t>
              </a:r>
              <a:br>
                <a:rPr lang="en-US" sz="1500" dirty="0">
                  <a:solidFill>
                    <a:schemeClr val="dk1"/>
                  </a:solidFill>
                  <a:latin typeface="+mn-lt"/>
                  <a:ea typeface="+mn-ea"/>
                  <a:cs typeface="+mn-cs"/>
                </a:rPr>
              </a:br>
              <a:r>
                <a:rPr lang="en-US" sz="1500" dirty="0">
                  <a:solidFill>
                    <a:schemeClr val="dk1"/>
                  </a:solidFill>
                  <a:latin typeface="+mn-lt"/>
                  <a:ea typeface="+mn-ea"/>
                  <a:cs typeface="+mn-cs"/>
                </a:rPr>
                <a:t>Who identifies the usable second answer?</a:t>
              </a:r>
              <a:br>
                <a:rPr lang="en-US" sz="1500" dirty="0">
                  <a:solidFill>
                    <a:schemeClr val="dk1"/>
                  </a:solidFill>
                  <a:latin typeface="+mn-lt"/>
                  <a:ea typeface="+mn-ea"/>
                  <a:cs typeface="+mn-cs"/>
                </a:rPr>
              </a:br>
              <a:r>
                <a:rPr lang="en-US" sz="1500" dirty="0">
                  <a:solidFill>
                    <a:schemeClr val="dk1"/>
                  </a:solidFill>
                  <a:latin typeface="+mn-lt"/>
                  <a:ea typeface="+mn-ea"/>
                  <a:cs typeface="+mn-cs"/>
                </a:rPr>
                <a:t>This is not an empirical pass@3 estimate.</a:t>
              </a:r>
            </a:p>
          </p:txBody>
        </p:sp>
      </p:grpSp>
      <p:grpSp>
        <p:nvGrpSpPr>
          <p:cNvPr id="14" name="calibrate-judge"/>
          <p:cNvGrpSpPr/>
          <p:nvPr/>
        </p:nvGrpSpPr>
        <p:grpSpPr>
          <a:xfrm>
            <a:off x="448056" y="4581525"/>
            <a:ext cx="4803534" cy="1528445"/>
            <a:chOff x="448056" y="4581525"/>
            <a:chExt cx="4803534" cy="1528445"/>
          </a:xfrm>
        </p:grpSpPr>
        <p:sp>
          <p:nvSpPr>
            <p:cNvPr id="12" name="TextBox 12"/>
            <p:cNvSpPr txBox="1"/>
            <p:nvPr/>
          </p:nvSpPr>
          <p:spPr>
            <a:xfrm>
              <a:off x="448056" y="4581525"/>
              <a:ext cx="385646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Calibrate against adjudicated cases</a:t>
              </a:r>
            </a:p>
          </p:txBody>
        </p:sp>
        <p:sp>
          <p:nvSpPr>
            <p:cNvPr id="13" name="TextBox 13"/>
            <p:cNvSpPr txBox="1"/>
            <p:nvPr/>
          </p:nvSpPr>
          <p:spPr>
            <a:xfrm>
              <a:off x="449580" y="5016500"/>
              <a:ext cx="4802010"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Inspect severe false passes beyond average agreement.</a:t>
              </a:r>
              <a:br>
                <a:rPr lang="en-US" sz="1500" dirty="0">
                  <a:solidFill>
                    <a:schemeClr val="dk1"/>
                  </a:solidFill>
                  <a:latin typeface="+mn-lt"/>
                  <a:ea typeface="+mn-ea"/>
                  <a:cs typeface="+mn-cs"/>
                </a:rPr>
              </a:br>
              <a:r>
                <a:rPr lang="en-US" sz="1500" dirty="0">
                  <a:solidFill>
                    <a:schemeClr val="dk1"/>
                  </a:solidFill>
                  <a:latin typeface="+mn-lt"/>
                  <a:ea typeface="+mn-ea"/>
                  <a:cs typeface="+mn-cs"/>
                </a:rPr>
                <a:t>Stricter grading can increase false failures. Upstart’s</a:t>
              </a:r>
              <a:br>
                <a:rPr lang="en-US" sz="1500" dirty="0">
                  <a:solidFill>
                    <a:schemeClr val="dk1"/>
                  </a:solidFill>
                  <a:latin typeface="+mn-lt"/>
                  <a:ea typeface="+mn-ea"/>
                  <a:cs typeface="+mn-cs"/>
                </a:rPr>
              </a:br>
              <a:r>
                <a:rPr lang="en-US" sz="1500" dirty="0">
                  <a:solidFill>
                    <a:schemeClr val="dk1"/>
                  </a:solidFill>
                  <a:latin typeface="+mn-lt"/>
                  <a:ea typeface="+mn-ea"/>
                  <a:cs typeface="+mn-cs"/>
                </a:rPr>
                <a:t>judge-calibration story is program context; automated</a:t>
              </a:r>
              <a:br>
                <a:rPr lang="en-US" sz="1500" dirty="0">
                  <a:solidFill>
                    <a:schemeClr val="dk1"/>
                  </a:solidFill>
                  <a:latin typeface="+mn-lt"/>
                  <a:ea typeface="+mn-ea"/>
                  <a:cs typeface="+mn-cs"/>
                </a:rPr>
              </a:br>
              <a:r>
                <a:rPr lang="en-US" sz="1500" dirty="0">
                  <a:solidFill>
                    <a:schemeClr val="dk1"/>
                  </a:solidFill>
                  <a:latin typeface="+mn-lt"/>
                  <a:ea typeface="+mn-ea"/>
                  <a:cs typeface="+mn-cs"/>
                </a:rPr>
                <a:t>self-improvement remained under development.</a:t>
              </a:r>
            </a:p>
          </p:txBody>
        </p:sp>
      </p:grpSp>
      <p:grpSp>
        <p:nvGrpSpPr>
          <p:cNvPr id="17" name="evaluate-selector"/>
          <p:cNvGrpSpPr/>
          <p:nvPr/>
        </p:nvGrpSpPr>
        <p:grpSpPr>
          <a:xfrm>
            <a:off x="6086856" y="4581525"/>
            <a:ext cx="4827060" cy="1528445"/>
            <a:chOff x="6086856" y="4581525"/>
            <a:chExt cx="4827060" cy="1528445"/>
          </a:xfrm>
        </p:grpSpPr>
        <p:sp>
          <p:nvSpPr>
            <p:cNvPr id="15" name="TextBox 15"/>
            <p:cNvSpPr txBox="1"/>
            <p:nvPr/>
          </p:nvSpPr>
          <p:spPr>
            <a:xfrm>
              <a:off x="6086856" y="4581525"/>
              <a:ext cx="482706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Test and price the deployed selection policy</a:t>
              </a:r>
            </a:p>
          </p:txBody>
        </p:sp>
        <p:sp>
          <p:nvSpPr>
            <p:cNvPr id="16" name="TextBox 16"/>
            <p:cNvSpPr txBox="1"/>
            <p:nvPr/>
          </p:nvSpPr>
          <p:spPr>
            <a:xfrm>
              <a:off x="6088380" y="5016500"/>
              <a:ext cx="4380833"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pass@k asks if at least one of k candidates passes.</a:t>
              </a:r>
              <a:br>
                <a:rPr lang="en-US" sz="1500" dirty="0">
                  <a:solidFill>
                    <a:schemeClr val="dk1"/>
                  </a:solidFill>
                  <a:latin typeface="+mn-lt"/>
                  <a:ea typeface="+mn-ea"/>
                  <a:cs typeface="+mn-cs"/>
                </a:rPr>
              </a:br>
              <a:r>
                <a:rPr lang="en-US" sz="1500" dirty="0">
                  <a:solidFill>
                    <a:schemeClr val="dk1"/>
                  </a:solidFill>
                  <a:latin typeface="+mn-lt"/>
                  <a:ea typeface="+mn-ea"/>
                  <a:cs typeface="+mn-cs"/>
                </a:rPr>
                <a:t>State workload, test, k and first-attempt behavior;</a:t>
              </a:r>
              <a:br>
                <a:rPr lang="en-US" sz="1500" dirty="0">
                  <a:solidFill>
                    <a:schemeClr val="dk1"/>
                  </a:solidFill>
                  <a:latin typeface="+mn-lt"/>
                  <a:ea typeface="+mn-ea"/>
                  <a:cs typeface="+mn-cs"/>
                </a:rPr>
              </a:br>
              <a:r>
                <a:rPr lang="en-US" sz="1500" dirty="0">
                  <a:solidFill>
                    <a:schemeClr val="dk1"/>
                  </a:solidFill>
                  <a:latin typeface="+mn-lt"/>
                  <a:ea typeface="+mn-ea"/>
                  <a:cs typeface="+mn-cs"/>
                </a:rPr>
                <a:t>evaluate the actual selector under that budget.</a:t>
              </a:r>
              <a:br>
                <a:rPr lang="en-US" sz="1500" dirty="0">
                  <a:solidFill>
                    <a:schemeClr val="dk1"/>
                  </a:solidFill>
                  <a:latin typeface="+mn-lt"/>
                  <a:ea typeface="+mn-ea"/>
                  <a:cs typeface="+mn-cs"/>
                </a:rPr>
              </a:br>
              <a:r>
                <a:rPr lang="en-US" sz="1500" dirty="0">
                  <a:solidFill>
                    <a:schemeClr val="dk1"/>
                  </a:solidFill>
                  <a:latin typeface="+mn-lt"/>
                  <a:ea typeface="+mn-ea"/>
                  <a:cs typeface="+mn-cs"/>
                </a:rPr>
                <a:t>Count retries, tools, verification, latency and review.</a:t>
              </a:r>
            </a:p>
          </p:txBody>
        </p:sp>
      </p:grpSp>
      <p:grpSp>
        <p:nvGrpSpPr>
          <p:cNvPr id="20" name="footer"/>
          <p:cNvGrpSpPr/>
          <p:nvPr/>
        </p:nvGrpSpPr>
        <p:grpSpPr>
          <a:xfrm>
            <a:off x="452438" y="6486525"/>
            <a:ext cx="11287124" cy="176212"/>
            <a:chOff x="452438" y="6486525"/>
            <a:chExt cx="11287124" cy="176212"/>
          </a:xfrm>
        </p:grpSpPr>
        <p:sp>
          <p:nvSpPr>
            <p:cNvPr id="18" name="TextBox 18"/>
            <p:cNvSpPr txBox="1"/>
            <p:nvPr/>
          </p:nvSpPr>
          <p:spPr>
            <a:xfrm>
              <a:off x="452438" y="6486525"/>
              <a:ext cx="685985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Ramp/banking accounts, Upstart agenda and Chen et al. (2021). No company or finance benchmark score is claimed.</a:t>
              </a:r>
            </a:p>
          </p:txBody>
        </p:sp>
        <p:sp>
          <p:nvSpPr>
            <p:cNvPr id="19" name="TextBox 19"/>
            <p:cNvSpPr txBox="1"/>
            <p:nvPr/>
          </p:nvSpPr>
          <p:spPr>
            <a:xfrm>
              <a:off x="11359512" y="64865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15 / 37</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10029357" cy="1110107"/>
            <a:chOff x="443484" y="371475"/>
            <a:chExt cx="10029357" cy="1110107"/>
          </a:xfrm>
        </p:grpSpPr>
        <p:sp>
          <p:nvSpPr>
            <p:cNvPr id="2" name="TextBox 2"/>
            <p:cNvSpPr txBox="1"/>
            <p:nvPr/>
          </p:nvSpPr>
          <p:spPr>
            <a:xfrm>
              <a:off x="451104" y="371475"/>
              <a:ext cx="262078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03 / RAMP’S ABLATION LESSON</a:t>
              </a:r>
            </a:p>
          </p:txBody>
        </p:sp>
        <p:sp>
          <p:nvSpPr>
            <p:cNvPr id="3" name="TextBox 3"/>
            <p:cNvSpPr txBox="1"/>
            <p:nvPr/>
          </p:nvSpPr>
          <p:spPr>
            <a:xfrm>
              <a:off x="443484" y="603250"/>
              <a:ext cx="7995831"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Hold the workload fixed; change one component</a:t>
              </a:r>
            </a:p>
          </p:txBody>
        </p:sp>
        <p:sp>
          <p:nvSpPr>
            <p:cNvPr id="4" name="TextBox 4"/>
            <p:cNvSpPr txBox="1"/>
            <p:nvPr/>
          </p:nvSpPr>
          <p:spPr>
            <a:xfrm>
              <a:off x="448818" y="1158875"/>
              <a:ext cx="1002402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Keep snapshots, permissions, rubric/evaluator version and attempt policy fixed across matched tasks.</a:t>
              </a:r>
            </a:p>
          </p:txBody>
        </p:sp>
      </p:grpSp>
      <p:graphicFrame>
        <p:nvGraphicFramePr>
          <p:cNvPr id="6" name="paired-variants"/>
          <p:cNvGraphicFramePr>
            <a:graphicFrameLocks noGrp="1"/>
          </p:cNvGraphicFramePr>
          <p:nvPr/>
        </p:nvGraphicFramePr>
        <p:xfrm>
          <a:off x="457200" y="1752600"/>
          <a:ext cx="11277600" cy="3086100"/>
        </p:xfrm>
        <a:graphic>
          <a:graphicData uri="http://schemas.openxmlformats.org/drawingml/2006/table">
            <a:tbl>
              <a:tblPr firstRow="1" bandRow="0">
                <a:tableStyleId>{5C22544A-7EE6-4342-B048-85BDC9FD1C3A}</a:tableStyleId>
              </a:tblPr>
              <a:tblGrid>
                <a:gridCol w="2286000"/>
                <a:gridCol w="2476500"/>
                <a:gridCol w="2000250"/>
                <a:gridCol w="2257425"/>
                <a:gridCol w="2257425"/>
              </a:tblGrid>
              <a:tr h="495300">
                <a:tc>
                  <a:txBody>
                    <a:bodyPr/>
                    <a:lstStyle/>
                    <a:p>
                      <a:pPr/>
                      <a:r>
                        <a:rPr lang="en-US" sz="1350" b="1">
                          <a:solidFill>
                            <a:srgbClr val="FFFDF7"/>
                          </a:solidFill>
                          <a:latin typeface="Arial"/>
                          <a:ea typeface="Microsoft YaHei"/>
                          <a:cs typeface="Arial"/>
                        </a:rPr>
                        <a:t>Variant</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Task + evidence</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Critical defects</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Human effort</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Cost / latency</a:t>
                      </a:r>
                    </a:p>
                  </a:txBody>
                  <a:tcPr anchor="ctr" marL="152400" marR="152400" marT="76200" marB="76200">
                    <a:lnL>
                      <a:noFill/>
                    </a:lnL>
                    <a:lnR>
                      <a:noFill/>
                    </a:lnR>
                    <a:lnT>
                      <a:noFill/>
                    </a:lnT>
                    <a:lnB w="9525">
                      <a:solidFill>
                        <a:schemeClr val="accent6"/>
                      </a:solidFill>
                      <a:prstDash val="solid"/>
                    </a:lnB>
                    <a:solidFill>
                      <a:schemeClr val="accent1"/>
                    </a:solidFill>
                  </a:tcPr>
                </a:tc>
              </a:tr>
              <a:tr h="647700">
                <a:tc>
                  <a:txBody>
                    <a:bodyPr/>
                    <a:lstStyle/>
                    <a:p>
                      <a:pPr/>
                      <a:r>
                        <a:rPr lang="en-US" sz="1350" b="0">
                          <a:solidFill>
                            <a:schemeClr val="dk1"/>
                          </a:solidFill>
                          <a:latin typeface="Arial"/>
                          <a:ea typeface="Microsoft YaHei"/>
                          <a:cs typeface="Arial"/>
                        </a:rPr>
                        <a:t>Baseline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Measure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Inspect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Measure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Measure</a:t>
                      </a:r>
                    </a:p>
                  </a:txBody>
                  <a:tcPr anchor="ctr" marL="152400" marR="152400" marT="76200" marB="76200">
                    <a:lnL>
                      <a:noFill/>
                    </a:lnL>
                    <a:lnR>
                      <a:noFill/>
                    </a:lnR>
                    <a:lnT>
                      <a:noFill/>
                    </a:lnT>
                    <a:lnB w="9525">
                      <a:solidFill>
                        <a:schemeClr val="accent6"/>
                      </a:solidFill>
                      <a:prstDash val="solid"/>
                    </a:lnB>
                    <a:noFill/>
                  </a:tcPr>
                </a:tc>
              </a:tr>
              <a:tr h="647700">
                <a:tc>
                  <a:txBody>
                    <a:bodyPr/>
                    <a:lstStyle/>
                    <a:p>
                      <a:pPr/>
                      <a:r>
                        <a:rPr lang="en-US" sz="1350" b="0">
                          <a:solidFill>
                            <a:schemeClr val="dk1"/>
                          </a:solidFill>
                          <a:latin typeface="Arial"/>
                          <a:ea typeface="Microsoft YaHei"/>
                          <a:cs typeface="Arial"/>
                        </a:rPr>
                        <a:t>Skill bundle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New regression?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r>
              <a:tr h="647700">
                <a:tc>
                  <a:txBody>
                    <a:bodyPr/>
                    <a:lstStyle/>
                    <a:p>
                      <a:pPr/>
                      <a:r>
                        <a:rPr lang="en-US" sz="1350" b="0">
                          <a:solidFill>
                            <a:schemeClr val="dk1"/>
                          </a:solidFill>
                          <a:latin typeface="Arial"/>
                          <a:ea typeface="Microsoft YaHei"/>
                          <a:cs typeface="Arial"/>
                        </a:rPr>
                        <a:t>Memory policy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Stale facts?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r>
              <a:tr h="647700">
                <a:tc>
                  <a:txBody>
                    <a:bodyPr/>
                    <a:lstStyle/>
                    <a:p>
                      <a:pPr/>
                      <a:r>
                        <a:rPr lang="en-US" sz="1350" b="0">
                          <a:solidFill>
                            <a:schemeClr val="dk1"/>
                          </a:solidFill>
                          <a:latin typeface="Arial"/>
                          <a:ea typeface="Microsoft YaHei"/>
                          <a:cs typeface="Arial"/>
                        </a:rPr>
                        <a:t>Model</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New regression?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Paired change</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9" name="experiment-limits"/>
          <p:cNvGrpSpPr/>
          <p:nvPr/>
        </p:nvGrpSpPr>
        <p:grpSpPr>
          <a:xfrm>
            <a:off x="449580" y="5140325"/>
            <a:ext cx="10319106" cy="968883"/>
            <a:chOff x="449580" y="5140325"/>
            <a:chExt cx="10319106" cy="968883"/>
          </a:xfrm>
        </p:grpSpPr>
        <p:sp>
          <p:nvSpPr>
            <p:cNvPr id="7" name="TextBox 7"/>
            <p:cNvSpPr txBox="1"/>
            <p:nvPr/>
          </p:nvSpPr>
          <p:spPr>
            <a:xfrm>
              <a:off x="449580" y="5140325"/>
              <a:ext cx="8465591"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Ramp described reducing eight skills to four, shrinking an Excel skill and trajectory-distilled memory.</a:t>
              </a:r>
              <a:br>
                <a:rPr lang="en-US" sz="1500" dirty="0">
                  <a:solidFill>
                    <a:schemeClr val="dk1"/>
                  </a:solidFill>
                  <a:latin typeface="+mn-lt"/>
                  <a:ea typeface="+mn-ea"/>
                  <a:cs typeface="+mn-cs"/>
                </a:rPr>
              </a:br>
              <a:r>
                <a:rPr lang="en-US" sz="1500" dirty="0">
                  <a:solidFill>
                    <a:schemeClr val="dk1"/>
                  </a:solidFill>
                  <a:latin typeface="+mn-lt"/>
                  <a:ea typeface="+mn-ea"/>
                  <a:cs typeface="+mn-cs"/>
                </a:rPr>
                <a:t>No effect size, repeated-run result or reproducible construction was captured; these are not defaults.</a:t>
              </a:r>
            </a:p>
          </p:txBody>
        </p:sp>
        <p:sp>
          <p:nvSpPr>
            <p:cNvPr id="8" name="TextBox 8"/>
            <p:cNvSpPr txBox="1"/>
            <p:nvPr/>
          </p:nvSpPr>
          <p:spPr>
            <a:xfrm>
              <a:off x="450342" y="5845175"/>
              <a:ext cx="10318344"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Repeat stochastic assessments; inspect paired failures and uncertainty. Keep regression cases separate from final assessment.</a:t>
              </a:r>
            </a:p>
          </p:txBody>
        </p:sp>
      </p:grpSp>
      <p:grpSp>
        <p:nvGrpSpPr>
          <p:cNvPr id="12" name="footer"/>
          <p:cNvGrpSpPr/>
          <p:nvPr/>
        </p:nvGrpSpPr>
        <p:grpSpPr>
          <a:xfrm>
            <a:off x="452438" y="6477000"/>
            <a:ext cx="11287124" cy="176212"/>
            <a:chOff x="452438" y="6477000"/>
            <a:chExt cx="11287124" cy="176212"/>
          </a:xfrm>
        </p:grpSpPr>
        <p:sp>
          <p:nvSpPr>
            <p:cNvPr id="10" name="TextBox 10"/>
            <p:cNvSpPr txBox="1"/>
            <p:nvPr/>
          </p:nvSpPr>
          <p:spPr>
            <a:xfrm>
              <a:off x="452438" y="6477000"/>
              <a:ext cx="611240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Ramp, failure-study and Arize notes. Matrix is a proposed comparison design, with no fabricated results.</a:t>
              </a:r>
            </a:p>
          </p:txBody>
        </p:sp>
        <p:sp>
          <p:nvSpPr>
            <p:cNvPr id="11" name="TextBox 11"/>
            <p:cNvSpPr txBox="1"/>
            <p:nvPr/>
          </p:nvSpPr>
          <p:spPr>
            <a:xfrm>
              <a:off x="11359512" y="64770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16 / 37</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548616" cy="1110107"/>
            <a:chOff x="443484" y="371475"/>
            <a:chExt cx="9548616" cy="1110107"/>
          </a:xfrm>
        </p:grpSpPr>
        <p:sp>
          <p:nvSpPr>
            <p:cNvPr id="2" name="TextBox 2"/>
            <p:cNvSpPr txBox="1"/>
            <p:nvPr/>
          </p:nvSpPr>
          <p:spPr>
            <a:xfrm>
              <a:off x="451104" y="371475"/>
              <a:ext cx="3739779"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03 / AN ACCOUNTABLE RELEASE JUDGMENT</a:t>
              </a:r>
            </a:p>
          </p:txBody>
        </p:sp>
        <p:sp>
          <p:nvSpPr>
            <p:cNvPr id="3" name="TextBox 3"/>
            <p:cNvSpPr txBox="1"/>
            <p:nvPr/>
          </p:nvSpPr>
          <p:spPr>
            <a:xfrm>
              <a:off x="443484" y="603250"/>
              <a:ext cx="9101749"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Release with blockers, evidence and bounded exposure</a:t>
              </a:r>
            </a:p>
          </p:txBody>
        </p:sp>
        <p:sp>
          <p:nvSpPr>
            <p:cNvPr id="4" name="TextBox 4"/>
            <p:cNvSpPr txBox="1"/>
            <p:nvPr/>
          </p:nvSpPr>
          <p:spPr>
            <a:xfrm>
              <a:off x="448818" y="1158875"/>
              <a:ext cx="954328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clean finite suite supports a scoped decision; it cannot prove consequential failures impossible.</a:t>
              </a:r>
            </a:p>
          </p:txBody>
        </p:sp>
      </p:grpSp>
      <p:grpSp>
        <p:nvGrpSpPr>
          <p:cNvPr id="9" name="blocking-conditions"/>
          <p:cNvGrpSpPr/>
          <p:nvPr/>
        </p:nvGrpSpPr>
        <p:grpSpPr>
          <a:xfrm>
            <a:off x="457200" y="1752600"/>
            <a:ext cx="11277600" cy="1047750"/>
            <a:chOff x="457200" y="1752600"/>
            <a:chExt cx="11277600" cy="1047750"/>
          </a:xfrm>
        </p:grpSpPr>
        <p:sp>
          <p:nvSpPr>
            <p:cNvPr id="6" name="Rectangle 6"/>
            <p:cNvSpPr/>
            <p:nvPr/>
          </p:nvSpPr>
          <p:spPr>
            <a:xfrm>
              <a:off x="457200" y="1752600"/>
              <a:ext cx="11277600" cy="1047750"/>
            </a:xfrm>
            <a:prstGeom prst="rect">
              <a:avLst/>
            </a:prstGeom>
            <a:solidFill>
              <a:schemeClr val="accent1"/>
            </a:solidFill>
            <a:ln>
              <a:noFill/>
            </a:ln>
          </p:spPr>
        </p:sp>
        <p:sp>
          <p:nvSpPr>
            <p:cNvPr id="7" name="TextBox 7"/>
            <p:cNvSpPr txBox="1"/>
            <p:nvPr/>
          </p:nvSpPr>
          <p:spPr>
            <a:xfrm>
              <a:off x="676656" y="1866900"/>
              <a:ext cx="6552862"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Declare noncompensating blockers before reviewing scores</a:t>
              </a:r>
            </a:p>
          </p:txBody>
        </p:sp>
        <p:sp>
          <p:nvSpPr>
            <p:cNvPr id="8" name="TextBox 8"/>
            <p:cNvSpPr txBox="1"/>
            <p:nvPr/>
          </p:nvSpPr>
          <p:spPr>
            <a:xfrm>
              <a:off x="678180" y="2314575"/>
              <a:ext cx="8323816"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Unauthorized access/action • unsupported consequential number • omitted required approval</a:t>
              </a:r>
            </a:p>
          </p:txBody>
        </p:sp>
      </p:grpSp>
      <p:grpSp>
        <p:nvGrpSpPr>
          <p:cNvPr id="11" name="quality-economics"/>
          <p:cNvGrpSpPr/>
          <p:nvPr/>
        </p:nvGrpSpPr>
        <p:grpSpPr>
          <a:xfrm>
            <a:off x="449580" y="3082925"/>
            <a:ext cx="8581987" cy="560070"/>
            <a:chOff x="449580" y="3082925"/>
            <a:chExt cx="8581987" cy="560070"/>
          </a:xfrm>
        </p:grpSpPr>
        <p:sp>
          <p:nvSpPr>
            <p:cNvPr id="10" name="TextBox 10"/>
            <p:cNvSpPr txBox="1"/>
            <p:nvPr/>
          </p:nvSpPr>
          <p:spPr>
            <a:xfrm>
              <a:off x="449580" y="3082925"/>
              <a:ext cx="858198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Review task acceptance, paired regressions, judge validity, uncertainty and total review/cost together.</a:t>
              </a:r>
              <a:br>
                <a:rPr lang="en-US" sz="1500" dirty="0">
                  <a:solidFill>
                    <a:schemeClr val="dk1"/>
                  </a:solidFill>
                  <a:latin typeface="+mn-lt"/>
                  <a:ea typeface="+mn-ea"/>
                  <a:cs typeface="+mn-cs"/>
                </a:rPr>
              </a:br>
              <a:r>
                <a:rPr lang="en-US" sz="1500" dirty="0">
                  <a:solidFill>
                    <a:schemeClr val="dk1"/>
                  </a:solidFill>
                  <a:latin typeface="+mn-lt"/>
                  <a:ea typeface="+mn-ea"/>
                  <a:cs typeface="+mn-cs"/>
                </a:rPr>
                <a:t>Excellent average utility does not offset a domain-defined blocking failure.</a:t>
              </a:r>
            </a:p>
          </p:txBody>
        </p:sp>
      </p:grpSp>
      <p:grpSp>
        <p:nvGrpSpPr>
          <p:cNvPr id="14" name="evidence-packet"/>
          <p:cNvGrpSpPr/>
          <p:nvPr/>
        </p:nvGrpSpPr>
        <p:grpSpPr>
          <a:xfrm>
            <a:off x="448056" y="4048125"/>
            <a:ext cx="3098063" cy="1547495"/>
            <a:chOff x="448056" y="4048125"/>
            <a:chExt cx="3098063" cy="1547495"/>
          </a:xfrm>
        </p:grpSpPr>
        <p:sp>
          <p:nvSpPr>
            <p:cNvPr id="12" name="TextBox 12"/>
            <p:cNvSpPr txBox="1"/>
            <p:nvPr/>
          </p:nvSpPr>
          <p:spPr>
            <a:xfrm>
              <a:off x="448056" y="4048125"/>
              <a:ext cx="220881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Evidence packet</a:t>
              </a:r>
            </a:p>
          </p:txBody>
        </p:sp>
        <p:sp>
          <p:nvSpPr>
            <p:cNvPr id="13" name="TextBox 13"/>
            <p:cNvSpPr txBox="1"/>
            <p:nvPr/>
          </p:nvSpPr>
          <p:spPr>
            <a:xfrm>
              <a:off x="449580" y="4502150"/>
              <a:ext cx="3096539"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Scope and versions; results by slice;</a:t>
              </a:r>
              <a:br>
                <a:rPr lang="en-US" sz="1500" dirty="0">
                  <a:solidFill>
                    <a:schemeClr val="dk1"/>
                  </a:solidFill>
                  <a:latin typeface="+mn-lt"/>
                  <a:ea typeface="+mn-ea"/>
                  <a:cs typeface="+mn-cs"/>
                </a:rPr>
              </a:br>
              <a:r>
                <a:rPr lang="en-US" sz="1500" dirty="0">
                  <a:solidFill>
                    <a:schemeClr val="dk1"/>
                  </a:solidFill>
                  <a:latin typeface="+mn-lt"/>
                  <a:ea typeface="+mn-ea"/>
                  <a:cs typeface="+mn-cs"/>
                </a:rPr>
                <a:t>traces; material regressions;</a:t>
              </a:r>
              <a:br>
                <a:rPr lang="en-US" sz="1500" dirty="0">
                  <a:solidFill>
                    <a:schemeClr val="dk1"/>
                  </a:solidFill>
                  <a:latin typeface="+mn-lt"/>
                  <a:ea typeface="+mn-ea"/>
                  <a:cs typeface="+mn-cs"/>
                </a:rPr>
              </a:br>
              <a:r>
                <a:rPr lang="en-US" sz="1500" dirty="0">
                  <a:solidFill>
                    <a:schemeClr val="dk1"/>
                  </a:solidFill>
                  <a:latin typeface="+mn-lt"/>
                  <a:ea typeface="+mn-ea"/>
                  <a:cs typeface="+mn-cs"/>
                </a:rPr>
                <a:t>expert disagreements; known limits</a:t>
              </a:r>
              <a:br>
                <a:rPr lang="en-US" sz="1500" dirty="0">
                  <a:solidFill>
                    <a:schemeClr val="dk1"/>
                  </a:solidFill>
                  <a:latin typeface="+mn-lt"/>
                  <a:ea typeface="+mn-ea"/>
                  <a:cs typeface="+mn-cs"/>
                </a:rPr>
              </a:br>
              <a:r>
                <a:rPr lang="en-US" sz="1500" dirty="0">
                  <a:solidFill>
                    <a:schemeClr val="dk1"/>
                  </a:solidFill>
                  <a:latin typeface="+mn-lt"/>
                  <a:ea typeface="+mn-ea"/>
                  <a:cs typeface="+mn-cs"/>
                </a:rPr>
                <a:t>and accepted exceptions.</a:t>
              </a:r>
            </a:p>
          </p:txBody>
        </p:sp>
      </p:grpSp>
      <p:grpSp>
        <p:nvGrpSpPr>
          <p:cNvPr id="17" name="accountable-decision"/>
          <p:cNvGrpSpPr/>
          <p:nvPr/>
        </p:nvGrpSpPr>
        <p:grpSpPr>
          <a:xfrm>
            <a:off x="4181856" y="4048125"/>
            <a:ext cx="3066440" cy="1547495"/>
            <a:chOff x="4181856" y="4048125"/>
            <a:chExt cx="3066440" cy="1547495"/>
          </a:xfrm>
        </p:grpSpPr>
        <p:sp>
          <p:nvSpPr>
            <p:cNvPr id="15" name="TextBox 15"/>
            <p:cNvSpPr txBox="1"/>
            <p:nvPr/>
          </p:nvSpPr>
          <p:spPr>
            <a:xfrm>
              <a:off x="4181856" y="4048125"/>
              <a:ext cx="294343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Named decision owner</a:t>
              </a:r>
            </a:p>
          </p:txBody>
        </p:sp>
        <p:sp>
          <p:nvSpPr>
            <p:cNvPr id="16" name="TextBox 16"/>
            <p:cNvSpPr txBox="1"/>
            <p:nvPr/>
          </p:nvSpPr>
          <p:spPr>
            <a:xfrm>
              <a:off x="4183380" y="4502150"/>
              <a:ext cx="3064916"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Investigate or promote within scope.</a:t>
              </a:r>
              <a:br>
                <a:rPr lang="en-US" sz="1500" dirty="0">
                  <a:solidFill>
                    <a:schemeClr val="dk1"/>
                  </a:solidFill>
                  <a:latin typeface="+mn-lt"/>
                  <a:ea typeface="+mn-ea"/>
                  <a:cs typeface="+mn-cs"/>
                </a:rPr>
              </a:br>
              <a:r>
                <a:rPr lang="en-US" sz="1500" dirty="0">
                  <a:solidFill>
                    <a:schemeClr val="dk1"/>
                  </a:solidFill>
                  <a:latin typeface="+mn-lt"/>
                  <a:ea typeface="+mn-ea"/>
                  <a:cs typeface="+mn-cs"/>
                </a:rPr>
                <a:t>Inadequate evidence warrants</a:t>
              </a:r>
              <a:br>
                <a:rPr lang="en-US" sz="1500" dirty="0">
                  <a:solidFill>
                    <a:schemeClr val="dk1"/>
                  </a:solidFill>
                  <a:latin typeface="+mn-lt"/>
                  <a:ea typeface="+mn-ea"/>
                  <a:cs typeface="+mn-cs"/>
                </a:rPr>
              </a:br>
              <a:r>
                <a:rPr lang="en-US" sz="1500" dirty="0">
                  <a:solidFill>
                    <a:schemeClr val="dk1"/>
                  </a:solidFill>
                  <a:latin typeface="+mn-lt"/>
                  <a:ea typeface="+mn-ea"/>
                  <a:cs typeface="+mn-cs"/>
                </a:rPr>
                <a:t>further work; authority remains</a:t>
              </a:r>
              <a:br>
                <a:rPr lang="en-US" sz="1500" dirty="0">
                  <a:solidFill>
                    <a:schemeClr val="dk1"/>
                  </a:solidFill>
                  <a:latin typeface="+mn-lt"/>
                  <a:ea typeface="+mn-ea"/>
                  <a:cs typeface="+mn-cs"/>
                </a:rPr>
              </a:br>
              <a:r>
                <a:rPr lang="en-US" sz="1500" dirty="0">
                  <a:solidFill>
                    <a:schemeClr val="dk1"/>
                  </a:solidFill>
                  <a:latin typeface="+mn-lt"/>
                  <a:ea typeface="+mn-ea"/>
                  <a:cs typeface="+mn-cs"/>
                </a:rPr>
                <a:t>outside automated diagnosis.</a:t>
              </a:r>
            </a:p>
          </p:txBody>
        </p:sp>
      </p:grpSp>
      <p:grpSp>
        <p:nvGrpSpPr>
          <p:cNvPr id="20" name="staged-operation"/>
          <p:cNvGrpSpPr/>
          <p:nvPr/>
        </p:nvGrpSpPr>
        <p:grpSpPr>
          <a:xfrm>
            <a:off x="7915656" y="4048125"/>
            <a:ext cx="3299574" cy="1547495"/>
            <a:chOff x="7915656" y="4048125"/>
            <a:chExt cx="3299574" cy="1547495"/>
          </a:xfrm>
        </p:grpSpPr>
        <p:sp>
          <p:nvSpPr>
            <p:cNvPr id="18" name="TextBox 18"/>
            <p:cNvSpPr txBox="1"/>
            <p:nvPr/>
          </p:nvSpPr>
          <p:spPr>
            <a:xfrm>
              <a:off x="7915656" y="4048125"/>
              <a:ext cx="254440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Bounded operation</a:t>
              </a:r>
            </a:p>
          </p:txBody>
        </p:sp>
        <p:sp>
          <p:nvSpPr>
            <p:cNvPr id="19" name="TextBox 19"/>
            <p:cNvSpPr txBox="1"/>
            <p:nvPr/>
          </p:nvSpPr>
          <p:spPr>
            <a:xfrm>
              <a:off x="7917180" y="4502150"/>
              <a:ext cx="3298050"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Monitor with explicit pause, rollback</a:t>
              </a:r>
              <a:br>
                <a:rPr lang="en-US" sz="1500" dirty="0">
                  <a:solidFill>
                    <a:schemeClr val="dk1"/>
                  </a:solidFill>
                  <a:latin typeface="+mn-lt"/>
                  <a:ea typeface="+mn-ea"/>
                  <a:cs typeface="+mn-cs"/>
                </a:rPr>
              </a:br>
              <a:r>
                <a:rPr lang="en-US" sz="1500" dirty="0">
                  <a:solidFill>
                    <a:schemeClr val="dk1"/>
                  </a:solidFill>
                  <a:latin typeface="+mn-lt"/>
                  <a:ea typeface="+mn-ea"/>
                  <a:cs typeface="+mn-cs"/>
                </a:rPr>
                <a:t>and renewed-review conditions.</a:t>
              </a:r>
              <a:br>
                <a:rPr lang="en-US" sz="1500" dirty="0">
                  <a:solidFill>
                    <a:schemeClr val="dk1"/>
                  </a:solidFill>
                  <a:latin typeface="+mn-lt"/>
                  <a:ea typeface="+mn-ea"/>
                  <a:cs typeface="+mn-cs"/>
                </a:rPr>
              </a:br>
              <a:r>
                <a:rPr lang="en-US" sz="1500" dirty="0">
                  <a:solidFill>
                    <a:schemeClr val="dk1"/>
                  </a:solidFill>
                  <a:latin typeface="+mn-lt"/>
                  <a:ea typeface="+mn-ea"/>
                  <a:cs typeface="+mn-cs"/>
                </a:rPr>
                <a:t>Broaden assessment when uncertainty</a:t>
              </a:r>
              <a:br>
                <a:rPr lang="en-US" sz="1500" dirty="0">
                  <a:solidFill>
                    <a:schemeClr val="dk1"/>
                  </a:solidFill>
                  <a:latin typeface="+mn-lt"/>
                  <a:ea typeface="+mn-ea"/>
                  <a:cs typeface="+mn-cs"/>
                </a:rPr>
              </a:br>
              <a:r>
                <a:rPr lang="en-US" sz="1500" dirty="0">
                  <a:solidFill>
                    <a:schemeClr val="dk1"/>
                  </a:solidFill>
                  <a:latin typeface="+mn-lt"/>
                  <a:ea typeface="+mn-ea"/>
                  <a:cs typeface="+mn-cs"/>
                </a:rPr>
                <a:t>could change the decision.</a:t>
              </a:r>
            </a:p>
          </p:txBody>
        </p:sp>
      </p:grpSp>
      <p:grpSp>
        <p:nvGrpSpPr>
          <p:cNvPr id="23" name="footer"/>
          <p:cNvGrpSpPr/>
          <p:nvPr/>
        </p:nvGrpSpPr>
        <p:grpSpPr>
          <a:xfrm>
            <a:off x="452438" y="6438900"/>
            <a:ext cx="11287124" cy="176212"/>
            <a:chOff x="452438" y="6438900"/>
            <a:chExt cx="11287124" cy="176212"/>
          </a:xfrm>
        </p:grpSpPr>
        <p:sp>
          <p:nvSpPr>
            <p:cNvPr id="21" name="TextBox 21"/>
            <p:cNvSpPr txBox="1"/>
            <p:nvPr/>
          </p:nvSpPr>
          <p:spPr>
            <a:xfrm>
              <a:off x="452438" y="6438900"/>
              <a:ext cx="739557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gate informed by banking, failure-study and Two Sigma accounts; no implemented bank threshold/rollback policy was captured.</a:t>
              </a:r>
            </a:p>
          </p:txBody>
        </p:sp>
        <p:sp>
          <p:nvSpPr>
            <p:cNvPr id="22" name="TextBox 22"/>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17 / 37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672317" cy="1110107"/>
            <a:chOff x="443484" y="371475"/>
            <a:chExt cx="8672317" cy="1110107"/>
          </a:xfrm>
        </p:grpSpPr>
        <p:sp>
          <p:nvSpPr>
            <p:cNvPr id="2" name="TextBox 2"/>
            <p:cNvSpPr txBox="1"/>
            <p:nvPr/>
          </p:nvSpPr>
          <p:spPr>
            <a:xfrm>
              <a:off x="451104" y="371475"/>
              <a:ext cx="357803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03 / THE FAILURE-TO-IMPROVEMENT PATH</a:t>
              </a:r>
            </a:p>
          </p:txBody>
        </p:sp>
        <p:sp>
          <p:nvSpPr>
            <p:cNvPr id="3" name="TextBox 3"/>
            <p:cNvSpPr txBox="1"/>
            <p:nvPr/>
          </p:nvSpPr>
          <p:spPr>
            <a:xfrm>
              <a:off x="443484" y="603250"/>
              <a:ext cx="6699312"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Turn failures into reviewed experiments</a:t>
              </a:r>
            </a:p>
          </p:txBody>
        </p:sp>
        <p:sp>
          <p:nvSpPr>
            <p:cNvPr id="4" name="TextBox 4"/>
            <p:cNvSpPr txBox="1"/>
            <p:nvPr/>
          </p:nvSpPr>
          <p:spPr>
            <a:xfrm>
              <a:off x="448818" y="1158875"/>
              <a:ext cx="866698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Trace analysis proposes a repair; evidence and accountable judgment authorize its use.</a:t>
              </a:r>
            </a:p>
          </p:txBody>
        </p:sp>
      </p:grpSp>
      <p:grpSp>
        <p:nvGrpSpPr>
          <p:cNvPr id="17" name="improvement-sequence"/>
          <p:cNvGrpSpPr/>
          <p:nvPr/>
        </p:nvGrpSpPr>
        <p:grpSpPr>
          <a:xfrm>
            <a:off x="448056" y="2105025"/>
            <a:ext cx="11023771" cy="803783"/>
            <a:chOff x="448056" y="2105025"/>
            <a:chExt cx="11023771" cy="803783"/>
          </a:xfrm>
        </p:grpSpPr>
        <p:sp>
          <p:nvSpPr>
            <p:cNvPr id="6" name="TextBox 6"/>
            <p:cNvSpPr txBox="1"/>
            <p:nvPr/>
          </p:nvSpPr>
          <p:spPr>
            <a:xfrm>
              <a:off x="448056" y="2114550"/>
              <a:ext cx="133969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Observe</a:t>
              </a:r>
            </a:p>
          </p:txBody>
        </p:sp>
        <p:sp>
          <p:nvSpPr>
            <p:cNvPr id="7" name="TextBox 7"/>
            <p:cNvSpPr txBox="1"/>
            <p:nvPr/>
          </p:nvSpPr>
          <p:spPr>
            <a:xfrm>
              <a:off x="450342" y="2644775"/>
              <a:ext cx="191806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Traces and corrections.</a:t>
              </a:r>
            </a:p>
          </p:txBody>
        </p:sp>
        <p:sp>
          <p:nvSpPr>
            <p:cNvPr id="8" name="Freeform 8"/>
            <p:cNvSpPr/>
            <p:nvPr/>
          </p:nvSpPr>
          <p:spPr>
            <a:xfrm>
              <a:off x="3038475" y="2105025"/>
              <a:ext cx="228600" cy="400050"/>
            </a:xfrm>
            <a:prstGeom prst="chevron">
              <a:avLst/>
            </a:prstGeom>
            <a:solidFill>
              <a:schemeClr val="accent2"/>
            </a:solidFill>
            <a:ln>
              <a:noFill/>
            </a:ln>
          </p:spPr>
        </p:sp>
        <p:sp>
          <p:nvSpPr>
            <p:cNvPr id="9" name="TextBox 9"/>
            <p:cNvSpPr txBox="1"/>
            <p:nvPr/>
          </p:nvSpPr>
          <p:spPr>
            <a:xfrm>
              <a:off x="3381756" y="2114550"/>
              <a:ext cx="160526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Adjudicate</a:t>
              </a:r>
            </a:p>
          </p:txBody>
        </p:sp>
        <p:sp>
          <p:nvSpPr>
            <p:cNvPr id="10" name="TextBox 10"/>
            <p:cNvSpPr txBox="1"/>
            <p:nvPr/>
          </p:nvSpPr>
          <p:spPr>
            <a:xfrm>
              <a:off x="3384042" y="2644775"/>
              <a:ext cx="180729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Reproduce the failure.</a:t>
              </a:r>
            </a:p>
          </p:txBody>
        </p:sp>
        <p:sp>
          <p:nvSpPr>
            <p:cNvPr id="11" name="Freeform 11"/>
            <p:cNvSpPr/>
            <p:nvPr/>
          </p:nvSpPr>
          <p:spPr>
            <a:xfrm>
              <a:off x="5972175" y="2105025"/>
              <a:ext cx="228600" cy="400050"/>
            </a:xfrm>
            <a:prstGeom prst="chevron">
              <a:avLst/>
            </a:prstGeom>
            <a:solidFill>
              <a:schemeClr val="accent2"/>
            </a:solidFill>
            <a:ln>
              <a:noFill/>
            </a:ln>
          </p:spPr>
        </p:sp>
        <p:sp>
          <p:nvSpPr>
            <p:cNvPr id="12" name="TextBox 12"/>
            <p:cNvSpPr txBox="1"/>
            <p:nvPr/>
          </p:nvSpPr>
          <p:spPr>
            <a:xfrm>
              <a:off x="6315456" y="2114550"/>
              <a:ext cx="181906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Test a repair</a:t>
              </a:r>
            </a:p>
          </p:txBody>
        </p:sp>
        <p:sp>
          <p:nvSpPr>
            <p:cNvPr id="13" name="TextBox 13"/>
            <p:cNvSpPr txBox="1"/>
            <p:nvPr/>
          </p:nvSpPr>
          <p:spPr>
            <a:xfrm>
              <a:off x="6317742" y="2644775"/>
              <a:ext cx="2257184"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Regressions + assessment.</a:t>
              </a:r>
            </a:p>
          </p:txBody>
        </p:sp>
        <p:sp>
          <p:nvSpPr>
            <p:cNvPr id="14" name="Freeform 14"/>
            <p:cNvSpPr/>
            <p:nvPr/>
          </p:nvSpPr>
          <p:spPr>
            <a:xfrm>
              <a:off x="8905875" y="2105025"/>
              <a:ext cx="228600" cy="400050"/>
            </a:xfrm>
            <a:prstGeom prst="chevron">
              <a:avLst/>
            </a:prstGeom>
            <a:solidFill>
              <a:schemeClr val="accent2"/>
            </a:solidFill>
            <a:ln>
              <a:noFill/>
            </a:ln>
          </p:spPr>
        </p:sp>
        <p:sp>
          <p:nvSpPr>
            <p:cNvPr id="15" name="TextBox 15"/>
            <p:cNvSpPr txBox="1"/>
            <p:nvPr/>
          </p:nvSpPr>
          <p:spPr>
            <a:xfrm>
              <a:off x="9249156" y="2114550"/>
              <a:ext cx="222267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4 / Release in scope</a:t>
              </a:r>
            </a:p>
          </p:txBody>
        </p:sp>
        <p:sp>
          <p:nvSpPr>
            <p:cNvPr id="16" name="TextBox 16"/>
            <p:cNvSpPr txBox="1"/>
            <p:nvPr/>
          </p:nvSpPr>
          <p:spPr>
            <a:xfrm>
              <a:off x="9251442" y="2644775"/>
              <a:ext cx="221135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Monitor; pause or roll back.</a:t>
              </a:r>
            </a:p>
          </p:txBody>
        </p:sp>
      </p:grpSp>
      <p:grpSp>
        <p:nvGrpSpPr>
          <p:cNvPr id="22" name="trace-record"/>
          <p:cNvGrpSpPr/>
          <p:nvPr/>
        </p:nvGrpSpPr>
        <p:grpSpPr>
          <a:xfrm>
            <a:off x="457200" y="3533775"/>
            <a:ext cx="6762750" cy="2552700"/>
            <a:chOff x="457200" y="3533775"/>
            <a:chExt cx="6762750" cy="2552700"/>
          </a:xfrm>
        </p:grpSpPr>
        <p:sp>
          <p:nvSpPr>
            <p:cNvPr id="18" name="Rectangle 18"/>
            <p:cNvSpPr/>
            <p:nvPr/>
          </p:nvSpPr>
          <p:spPr>
            <a:xfrm>
              <a:off x="457200" y="3533775"/>
              <a:ext cx="6762750" cy="2552700"/>
            </a:xfrm>
            <a:prstGeom prst="rect">
              <a:avLst/>
            </a:prstGeom>
            <a:solidFill>
              <a:schemeClr val="lt2"/>
            </a:solidFill>
            <a:ln>
              <a:noFill/>
            </a:ln>
          </p:spPr>
        </p:sp>
        <p:sp>
          <p:nvSpPr>
            <p:cNvPr id="19" name="TextBox 19"/>
            <p:cNvSpPr txBox="1"/>
            <p:nvPr/>
          </p:nvSpPr>
          <p:spPr>
            <a:xfrm>
              <a:off x="676656" y="3686175"/>
              <a:ext cx="431626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Capture enough context to explain why</a:t>
              </a:r>
            </a:p>
          </p:txBody>
        </p:sp>
        <p:sp>
          <p:nvSpPr>
            <p:cNvPr id="20" name="TextBox 20"/>
            <p:cNvSpPr txBox="1"/>
            <p:nvPr/>
          </p:nvSpPr>
          <p:spPr>
            <a:xfrm>
              <a:off x="678180" y="4178300"/>
              <a:ext cx="5235778"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Request, available sources and permissions, tool interactions,</a:t>
              </a:r>
              <a:br>
                <a:rPr lang="en-US" sz="1500" dirty="0">
                  <a:solidFill>
                    <a:schemeClr val="dk1"/>
                  </a:solidFill>
                  <a:latin typeface="+mn-lt"/>
                  <a:ea typeface="+mn-ea"/>
                  <a:cs typeface="+mn-cs"/>
                </a:rPr>
              </a:br>
              <a:r>
                <a:rPr lang="en-US" sz="1500" dirty="0">
                  <a:solidFill>
                    <a:schemeClr val="dk1"/>
                  </a:solidFill>
                  <a:latin typeface="+mn-lt"/>
                  <a:ea typeface="+mn-ea"/>
                  <a:cs typeface="+mn-cs"/>
                </a:rPr>
                <a:t>output, human correction and relevant versions.</a:t>
              </a:r>
            </a:p>
          </p:txBody>
        </p:sp>
        <p:sp>
          <p:nvSpPr>
            <p:cNvPr id="21" name="TextBox 21"/>
            <p:cNvSpPr txBox="1"/>
            <p:nvPr/>
          </p:nvSpPr>
          <p:spPr>
            <a:xfrm>
              <a:off x="678180" y="5016500"/>
              <a:ext cx="5415763"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Triage evidence, reasoning, runtime and evaluator defects.</a:t>
              </a:r>
              <a:br>
                <a:rPr lang="en-US" sz="1500" dirty="0">
                  <a:solidFill>
                    <a:schemeClr val="dk1"/>
                  </a:solidFill>
                  <a:latin typeface="+mn-lt"/>
                  <a:ea typeface="+mn-ea"/>
                  <a:cs typeface="+mn-cs"/>
                </a:rPr>
              </a:br>
              <a:r>
                <a:rPr lang="en-US" sz="1500" dirty="0">
                  <a:solidFill>
                    <a:schemeClr val="dk1"/>
                  </a:solidFill>
                  <a:latin typeface="+mn-lt"/>
                  <a:ea typeface="+mn-ea"/>
                  <a:cs typeface="+mn-cs"/>
                </a:rPr>
                <a:t>Create a versioned case, propose a specific change and test</a:t>
              </a:r>
              <a:br>
                <a:rPr lang="en-US" sz="1500" dirty="0">
                  <a:solidFill>
                    <a:schemeClr val="dk1"/>
                  </a:solidFill>
                  <a:latin typeface="+mn-lt"/>
                  <a:ea typeface="+mn-ea"/>
                  <a:cs typeface="+mn-cs"/>
                </a:rPr>
              </a:br>
              <a:r>
                <a:rPr lang="en-US" sz="1500" dirty="0">
                  <a:solidFill>
                    <a:schemeClr val="dk1"/>
                  </a:solidFill>
                  <a:latin typeface="+mn-lt"/>
                  <a:ea typeface="+mn-ea"/>
                  <a:cs typeface="+mn-cs"/>
                </a:rPr>
                <a:t>against regressions plus separately retained assessment cases.</a:t>
              </a:r>
            </a:p>
          </p:txBody>
        </p:sp>
      </p:grpSp>
      <p:grpSp>
        <p:nvGrpSpPr>
          <p:cNvPr id="26" name="controlled-release"/>
          <p:cNvGrpSpPr/>
          <p:nvPr/>
        </p:nvGrpSpPr>
        <p:grpSpPr>
          <a:xfrm>
            <a:off x="7515606" y="3686175"/>
            <a:ext cx="3904522" cy="2359533"/>
            <a:chOff x="7515606" y="3686175"/>
            <a:chExt cx="3904522" cy="2359533"/>
          </a:xfrm>
        </p:grpSpPr>
        <p:sp>
          <p:nvSpPr>
            <p:cNvPr id="23" name="TextBox 23"/>
            <p:cNvSpPr txBox="1"/>
            <p:nvPr/>
          </p:nvSpPr>
          <p:spPr>
            <a:xfrm>
              <a:off x="7515606" y="3686175"/>
              <a:ext cx="351683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Keep access and release explicit</a:t>
              </a:r>
            </a:p>
          </p:txBody>
        </p:sp>
        <p:sp>
          <p:nvSpPr>
            <p:cNvPr id="24" name="TextBox 24"/>
            <p:cNvSpPr txBox="1"/>
            <p:nvPr/>
          </p:nvSpPr>
          <p:spPr>
            <a:xfrm>
              <a:off x="7517130" y="4178300"/>
              <a:ext cx="3266008"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Trace access follows existing rules.</a:t>
              </a:r>
              <a:br>
                <a:rPr lang="en-US" sz="1500" dirty="0">
                  <a:solidFill>
                    <a:schemeClr val="dk1"/>
                  </a:solidFill>
                  <a:latin typeface="+mn-lt"/>
                  <a:ea typeface="+mn-ea"/>
                  <a:cs typeface="+mn-cs"/>
                </a:rPr>
              </a:br>
              <a:r>
                <a:rPr lang="en-US" sz="1500" dirty="0">
                  <a:solidFill>
                    <a:schemeClr val="dk1"/>
                  </a:solidFill>
                  <a:latin typeface="+mn-lt"/>
                  <a:ea typeface="+mn-ea"/>
                  <a:cs typeface="+mn-cs"/>
                </a:rPr>
                <a:t>Observe escaped defects, corrections,</a:t>
              </a:r>
              <a:br>
                <a:rPr lang="en-US" sz="1500" dirty="0">
                  <a:solidFill>
                    <a:schemeClr val="dk1"/>
                  </a:solidFill>
                  <a:latin typeface="+mn-lt"/>
                  <a:ea typeface="+mn-ea"/>
                  <a:cs typeface="+mn-cs"/>
                </a:rPr>
              </a:br>
              <a:r>
                <a:rPr lang="en-US" sz="1500" dirty="0">
                  <a:solidFill>
                    <a:schemeClr val="dk1"/>
                  </a:solidFill>
                  <a:latin typeface="+mn-lt"/>
                  <a:ea typeface="+mn-ea"/>
                  <a:cs typeface="+mn-cs"/>
                </a:rPr>
                <a:t>drift and operating cost after release.</a:t>
              </a:r>
            </a:p>
          </p:txBody>
        </p:sp>
        <p:sp>
          <p:nvSpPr>
            <p:cNvPr id="25" name="TextBox 25"/>
            <p:cNvSpPr txBox="1"/>
            <p:nvPr/>
          </p:nvSpPr>
          <p:spPr>
            <a:xfrm>
              <a:off x="7517892" y="5286375"/>
              <a:ext cx="3902236"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Arize’s account establishes no measured diagnosis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accuracy or autonomous remediation. Upstart’s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announced improvement loops were being built.</a:t>
              </a:r>
            </a:p>
          </p:txBody>
        </p:sp>
      </p:grpSp>
      <p:grpSp>
        <p:nvGrpSpPr>
          <p:cNvPr id="29" name="footer"/>
          <p:cNvGrpSpPr/>
          <p:nvPr/>
        </p:nvGrpSpPr>
        <p:grpSpPr>
          <a:xfrm>
            <a:off x="452438" y="6438900"/>
            <a:ext cx="11287124" cy="176212"/>
            <a:chOff x="452438" y="6438900"/>
            <a:chExt cx="11287124" cy="176212"/>
          </a:xfrm>
        </p:grpSpPr>
        <p:sp>
          <p:nvSpPr>
            <p:cNvPr id="27" name="TextBox 27"/>
            <p:cNvSpPr txBox="1"/>
            <p:nvPr/>
          </p:nvSpPr>
          <p:spPr>
            <a:xfrm>
              <a:off x="452438" y="6438900"/>
              <a:ext cx="7577688"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Arize/Ramp/failure-study notes; Upstart agenda. Adjudication, assessment separation and release controls are proposed synthesis.</a:t>
              </a:r>
            </a:p>
          </p:txBody>
        </p:sp>
        <p:sp>
          <p:nvSpPr>
            <p:cNvPr id="28" name="TextBox 28"/>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18 / 37</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title"/>
          <p:cNvGrpSpPr/>
          <p:nvPr/>
        </p:nvGrpSpPr>
        <p:grpSpPr>
          <a:xfrm>
            <a:off x="443484" y="371475"/>
            <a:ext cx="5059352" cy="1169416"/>
            <a:chOff x="443484" y="371475"/>
            <a:chExt cx="5059352" cy="1169416"/>
          </a:xfrm>
        </p:grpSpPr>
        <p:sp>
          <p:nvSpPr>
            <p:cNvPr id="2" name="TextBox 2"/>
            <p:cNvSpPr txBox="1"/>
            <p:nvPr/>
          </p:nvSpPr>
          <p:spPr>
            <a:xfrm>
              <a:off x="451104" y="371475"/>
              <a:ext cx="3133086"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04 / RELIABLE WORKFLOWS &amp; SKILLS</a:t>
              </a:r>
            </a:p>
          </p:txBody>
        </p:sp>
        <p:sp>
          <p:nvSpPr>
            <p:cNvPr id="3" name="TextBox 3"/>
            <p:cNvSpPr txBox="1"/>
            <p:nvPr/>
          </p:nvSpPr>
          <p:spPr>
            <a:xfrm>
              <a:off x="443484" y="603250"/>
              <a:ext cx="5059352" cy="937641"/>
            </a:xfrm>
            <a:prstGeom prst="rect">
              <a:avLst/>
            </a:prstGeom>
            <a:noFill/>
            <a:ln>
              <a:noFill/>
            </a:ln>
          </p:spPr>
          <p:txBody>
            <a:bodyPr wrap="none" lIns="0" tIns="0" rIns="0" bIns="0" anchor="t" anchorCtr="0">
              <a:spAutoFit/>
            </a:bodyPr>
            <a:lstStyle/>
            <a:p>
              <a:pPr algn="l">
                <a:lnSpc>
                  <a:spcPts val="3225"/>
                </a:lnSpc>
              </a:pPr>
              <a:r>
                <a:rPr lang="en-US" sz="2700" dirty="0">
                  <a:solidFill>
                    <a:srgbClr val="FFFDF7"/>
                  </a:solidFill>
                  <a:latin typeface="+mj-lt"/>
                  <a:ea typeface="+mj-ea"/>
                  <a:cs typeface="+mj-cs"/>
                </a:rPr>
                <a:t>Skills must encode expert reasons,</a:t>
              </a:r>
              <a:br>
                <a:rPr lang="en-US" sz="2700" dirty="0">
                  <a:solidFill>
                    <a:srgbClr val="FFFDF7"/>
                  </a:solidFill>
                  <a:latin typeface="+mj-lt"/>
                  <a:ea typeface="+mj-ea"/>
                  <a:cs typeface="+mj-cs"/>
                </a:rPr>
              </a:br>
              <a:r>
                <a:rPr lang="en-US" sz="2700" dirty="0">
                  <a:solidFill>
                    <a:srgbClr val="FFFDF7"/>
                  </a:solidFill>
                  <a:latin typeface="+mj-lt"/>
                  <a:ea typeface="+mj-ea"/>
                  <a:cs typeface="+mj-cs"/>
                </a:rPr>
                <a:t>questions and limits</a:t>
              </a:r>
            </a:p>
          </p:txBody>
        </p:sp>
      </p:grpSp>
      <p:grpSp>
        <p:nvGrpSpPr>
          <p:cNvPr id="31" name="range-method"/>
          <p:cNvGrpSpPr/>
          <p:nvPr/>
        </p:nvGrpSpPr>
        <p:grpSpPr>
          <a:xfrm>
            <a:off x="476250" y="1895475"/>
            <a:ext cx="7127443" cy="3957320"/>
            <a:chOff x="476250" y="1895475"/>
            <a:chExt cx="7127443" cy="3957320"/>
          </a:xfrm>
        </p:grpSpPr>
        <p:sp>
          <p:nvSpPr>
            <p:cNvPr id="5" name="Line 5"/>
            <p:cNvSpPr/>
            <p:nvPr/>
          </p:nvSpPr>
          <p:spPr>
            <a:xfrm>
              <a:off x="666750" y="2085975"/>
              <a:ext cx="9525" cy="3486150"/>
            </a:xfrm>
            <a:custGeom>
              <a:avLst/>
              <a:gdLst/>
              <a:ahLst/>
              <a:cxnLst/>
              <a:rect l="l" t="t" r="r" b="b"/>
              <a:pathLst>
                <a:path w="9525" h="3486150">
                  <a:moveTo>
                    <a:pt x="0" y="0"/>
                  </a:moveTo>
                  <a:lnTo>
                    <a:pt x="0" y="3486150"/>
                  </a:lnTo>
                </a:path>
              </a:pathLst>
            </a:custGeom>
            <a:noFill/>
            <a:ln w="19050">
              <a:solidFill>
                <a:srgbClr val="50616A"/>
              </a:solidFill>
            </a:ln>
          </p:spPr>
        </p:sp>
        <p:grpSp>
          <p:nvGrpSpPr>
            <p:cNvPr id="10" name="Group 10"/>
            <p:cNvGrpSpPr/>
            <p:nvPr/>
          </p:nvGrpSpPr>
          <p:grpSpPr>
            <a:xfrm>
              <a:off x="476250" y="1895475"/>
              <a:ext cx="6608165" cy="381000"/>
              <a:chOff x="476250" y="1895475"/>
              <a:chExt cx="6608165" cy="381000"/>
            </a:xfrm>
          </p:grpSpPr>
          <p:sp>
            <p:nvSpPr>
              <p:cNvPr id="6" name="Ellipse 6"/>
              <p:cNvSpPr/>
              <p:nvPr/>
            </p:nvSpPr>
            <p:spPr>
              <a:xfrm>
                <a:off x="476250" y="1895475"/>
                <a:ext cx="381000" cy="381000"/>
              </a:xfrm>
              <a:prstGeom prst="ellipse">
                <a:avLst/>
              </a:prstGeom>
              <a:solidFill>
                <a:schemeClr val="accent2"/>
              </a:solidFill>
              <a:ln>
                <a:noFill/>
              </a:ln>
            </p:spPr>
          </p:sp>
          <p:sp>
            <p:nvSpPr>
              <p:cNvPr id="7" name="TextBox 7"/>
              <p:cNvSpPr txBox="1"/>
              <p:nvPr/>
            </p:nvSpPr>
            <p:spPr>
              <a:xfrm>
                <a:off x="609351" y="1978025"/>
                <a:ext cx="114798"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1</a:t>
                </a:r>
              </a:p>
            </p:txBody>
          </p:sp>
          <p:sp>
            <p:nvSpPr>
              <p:cNvPr id="8" name="TextBox 8"/>
              <p:cNvSpPr txBox="1"/>
              <p:nvPr/>
            </p:nvSpPr>
            <p:spPr>
              <a:xfrm>
                <a:off x="1038606" y="1914525"/>
                <a:ext cx="506802"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Pick</a:t>
                </a:r>
              </a:p>
            </p:txBody>
          </p:sp>
          <p:sp>
            <p:nvSpPr>
              <p:cNvPr id="9" name="TextBox 9"/>
              <p:cNvSpPr txBox="1"/>
              <p:nvPr/>
            </p:nvSpPr>
            <p:spPr>
              <a:xfrm>
                <a:off x="2326005" y="1905000"/>
                <a:ext cx="4758410"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Repeated work with recognizable expert acceptance.</a:t>
                </a:r>
              </a:p>
            </p:txBody>
          </p:sp>
        </p:grpSp>
        <p:grpSp>
          <p:nvGrpSpPr>
            <p:cNvPr id="15" name="Group 15"/>
            <p:cNvGrpSpPr/>
            <p:nvPr/>
          </p:nvGrpSpPr>
          <p:grpSpPr>
            <a:xfrm>
              <a:off x="476250" y="2692400"/>
              <a:ext cx="6894919" cy="560070"/>
              <a:chOff x="476250" y="2692400"/>
              <a:chExt cx="6894919" cy="560070"/>
            </a:xfrm>
          </p:grpSpPr>
          <p:sp>
            <p:nvSpPr>
              <p:cNvPr id="11" name="Ellipse 11"/>
              <p:cNvSpPr/>
              <p:nvPr/>
            </p:nvSpPr>
            <p:spPr>
              <a:xfrm>
                <a:off x="476250" y="2762250"/>
                <a:ext cx="381000" cy="381000"/>
              </a:xfrm>
              <a:prstGeom prst="ellipse">
                <a:avLst/>
              </a:prstGeom>
              <a:solidFill>
                <a:schemeClr val="accent2"/>
              </a:solidFill>
              <a:ln>
                <a:noFill/>
              </a:ln>
            </p:spPr>
          </p:sp>
          <p:sp>
            <p:nvSpPr>
              <p:cNvPr id="12" name="TextBox 12"/>
              <p:cNvSpPr txBox="1"/>
              <p:nvPr/>
            </p:nvSpPr>
            <p:spPr>
              <a:xfrm>
                <a:off x="609351" y="2844800"/>
                <a:ext cx="114798"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2</a:t>
                </a:r>
              </a:p>
            </p:txBody>
          </p:sp>
          <p:sp>
            <p:nvSpPr>
              <p:cNvPr id="13" name="TextBox 13"/>
              <p:cNvSpPr txBox="1"/>
              <p:nvPr/>
            </p:nvSpPr>
            <p:spPr>
              <a:xfrm>
                <a:off x="1038606" y="2781300"/>
                <a:ext cx="70224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Teach</a:t>
                </a:r>
              </a:p>
            </p:txBody>
          </p:sp>
          <p:sp>
            <p:nvSpPr>
              <p:cNvPr id="14" name="TextBox 14"/>
              <p:cNvSpPr txBox="1"/>
              <p:nvPr/>
            </p:nvSpPr>
            <p:spPr>
              <a:xfrm>
                <a:off x="2326005" y="2692400"/>
                <a:ext cx="5045164"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Narrate a representative case and why decisions are made;</a:t>
                </a:r>
                <a:br>
                  <a:rPr lang="en-US" sz="1500" dirty="0">
                    <a:solidFill>
                      <a:srgbClr val="FFFDF7"/>
                    </a:solidFill>
                    <a:latin typeface="+mn-lt"/>
                    <a:ea typeface="+mn-ea"/>
                    <a:cs typeface="+mn-cs"/>
                  </a:rPr>
                </a:br>
                <a:r>
                  <a:rPr lang="en-US" sz="1500" dirty="0">
                    <a:solidFill>
                      <a:srgbClr val="FFFDF7"/>
                    </a:solidFill>
                    <a:latin typeface="+mn-lt"/>
                    <a:ea typeface="+mn-ea"/>
                    <a:cs typeface="+mn-cs"/>
                  </a:rPr>
                  <a:t>distinguish general knowledge from the firm’s method.</a:t>
                </a:r>
              </a:p>
            </p:txBody>
          </p:sp>
        </p:grpSp>
        <p:grpSp>
          <p:nvGrpSpPr>
            <p:cNvPr id="20" name="Group 20"/>
            <p:cNvGrpSpPr/>
            <p:nvPr/>
          </p:nvGrpSpPr>
          <p:grpSpPr>
            <a:xfrm>
              <a:off x="476250" y="3559175"/>
              <a:ext cx="6979729" cy="560070"/>
              <a:chOff x="476250" y="3559175"/>
              <a:chExt cx="6979729" cy="560070"/>
            </a:xfrm>
          </p:grpSpPr>
          <p:sp>
            <p:nvSpPr>
              <p:cNvPr id="16" name="Ellipse 16"/>
              <p:cNvSpPr/>
              <p:nvPr/>
            </p:nvSpPr>
            <p:spPr>
              <a:xfrm>
                <a:off x="476250" y="3629025"/>
                <a:ext cx="381000" cy="381000"/>
              </a:xfrm>
              <a:prstGeom prst="ellipse">
                <a:avLst/>
              </a:prstGeom>
              <a:solidFill>
                <a:schemeClr val="accent2"/>
              </a:solidFill>
              <a:ln>
                <a:noFill/>
              </a:ln>
            </p:spPr>
          </p:sp>
          <p:sp>
            <p:nvSpPr>
              <p:cNvPr id="17" name="TextBox 17"/>
              <p:cNvSpPr txBox="1"/>
              <p:nvPr/>
            </p:nvSpPr>
            <p:spPr>
              <a:xfrm>
                <a:off x="609351" y="3711575"/>
                <a:ext cx="114798"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3</a:t>
                </a:r>
              </a:p>
            </p:txBody>
          </p:sp>
          <p:sp>
            <p:nvSpPr>
              <p:cNvPr id="18" name="TextBox 18"/>
              <p:cNvSpPr txBox="1"/>
              <p:nvPr/>
            </p:nvSpPr>
            <p:spPr>
              <a:xfrm>
                <a:off x="1038606" y="3648075"/>
                <a:ext cx="563584"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Pack</a:t>
                </a:r>
              </a:p>
            </p:txBody>
          </p:sp>
          <p:sp>
            <p:nvSpPr>
              <p:cNvPr id="19" name="TextBox 19"/>
              <p:cNvSpPr txBox="1"/>
              <p:nvPr/>
            </p:nvSpPr>
            <p:spPr>
              <a:xfrm>
                <a:off x="2326005" y="3559175"/>
                <a:ext cx="5129974"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Required inputs, authorized sources, questions, boundaries,</a:t>
                </a:r>
                <a:br>
                  <a:rPr lang="en-US" sz="1500" dirty="0">
                    <a:solidFill>
                      <a:srgbClr val="FFFDF7"/>
                    </a:solidFill>
                    <a:latin typeface="+mn-lt"/>
                    <a:ea typeface="+mn-ea"/>
                    <a:cs typeface="+mn-cs"/>
                  </a:rPr>
                </a:br>
                <a:r>
                  <a:rPr lang="en-US" sz="1500" dirty="0">
                    <a:solidFill>
                      <a:srgbClr val="FFFDF7"/>
                    </a:solidFill>
                    <a:latin typeface="+mn-lt"/>
                    <a:ea typeface="+mn-ea"/>
                    <a:cs typeface="+mn-cs"/>
                  </a:rPr>
                  <a:t>exceptions and handoffs. Missing facts change the workflow.</a:t>
                </a:r>
              </a:p>
            </p:txBody>
          </p:sp>
        </p:grpSp>
        <p:grpSp>
          <p:nvGrpSpPr>
            <p:cNvPr id="25" name="Group 25"/>
            <p:cNvGrpSpPr/>
            <p:nvPr/>
          </p:nvGrpSpPr>
          <p:grpSpPr>
            <a:xfrm>
              <a:off x="476250" y="4425950"/>
              <a:ext cx="7127443" cy="560070"/>
              <a:chOff x="476250" y="4425950"/>
              <a:chExt cx="7127443" cy="560070"/>
            </a:xfrm>
          </p:grpSpPr>
          <p:sp>
            <p:nvSpPr>
              <p:cNvPr id="21" name="Ellipse 21"/>
              <p:cNvSpPr/>
              <p:nvPr/>
            </p:nvSpPr>
            <p:spPr>
              <a:xfrm>
                <a:off x="476250" y="4495800"/>
                <a:ext cx="381000" cy="381000"/>
              </a:xfrm>
              <a:prstGeom prst="ellipse">
                <a:avLst/>
              </a:prstGeom>
              <a:solidFill>
                <a:schemeClr val="accent2"/>
              </a:solidFill>
              <a:ln>
                <a:noFill/>
              </a:ln>
            </p:spPr>
          </p:sp>
          <p:sp>
            <p:nvSpPr>
              <p:cNvPr id="22" name="TextBox 22"/>
              <p:cNvSpPr txBox="1"/>
              <p:nvPr/>
            </p:nvSpPr>
            <p:spPr>
              <a:xfrm>
                <a:off x="609351" y="4578350"/>
                <a:ext cx="114798"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4</a:t>
                </a:r>
              </a:p>
            </p:txBody>
          </p:sp>
          <p:sp>
            <p:nvSpPr>
              <p:cNvPr id="23" name="TextBox 23"/>
              <p:cNvSpPr txBox="1"/>
              <p:nvPr/>
            </p:nvSpPr>
            <p:spPr>
              <a:xfrm>
                <a:off x="1038606" y="4514850"/>
                <a:ext cx="51697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Test</a:t>
                </a:r>
              </a:p>
            </p:txBody>
          </p:sp>
          <p:sp>
            <p:nvSpPr>
              <p:cNvPr id="24" name="TextBox 24"/>
              <p:cNvSpPr txBox="1"/>
              <p:nvPr/>
            </p:nvSpPr>
            <p:spPr>
              <a:xfrm>
                <a:off x="2326005" y="4425950"/>
                <a:ext cx="5277688"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Ordinary, difficult, incomplete and conflicting-instruction cases.</a:t>
                </a:r>
                <a:br>
                  <a:rPr lang="en-US" sz="1500" dirty="0">
                    <a:solidFill>
                      <a:srgbClr val="FFFDF7"/>
                    </a:solidFill>
                    <a:latin typeface="+mn-lt"/>
                    <a:ea typeface="+mn-ea"/>
                    <a:cs typeface="+mn-cs"/>
                  </a:rPr>
                </a:br>
                <a:r>
                  <a:rPr lang="en-US" sz="1500" dirty="0">
                    <a:solidFill>
                      <a:srgbClr val="FFFDF7"/>
                    </a:solidFill>
                    <a:latin typeface="+mn-lt"/>
                    <a:ea typeface="+mn-ea"/>
                    <a:cs typeface="+mn-cs"/>
                  </a:rPr>
                  <a:t>Check clarification, handoff and unsupported conclusions.</a:t>
                </a:r>
              </a:p>
            </p:txBody>
          </p:sp>
        </p:grpSp>
        <p:grpSp>
          <p:nvGrpSpPr>
            <p:cNvPr id="30" name="Group 30"/>
            <p:cNvGrpSpPr/>
            <p:nvPr/>
          </p:nvGrpSpPr>
          <p:grpSpPr>
            <a:xfrm>
              <a:off x="476250" y="5292725"/>
              <a:ext cx="6566345" cy="560070"/>
              <a:chOff x="476250" y="5292725"/>
              <a:chExt cx="6566345" cy="560070"/>
            </a:xfrm>
          </p:grpSpPr>
          <p:sp>
            <p:nvSpPr>
              <p:cNvPr id="26" name="Ellipse 26"/>
              <p:cNvSpPr/>
              <p:nvPr/>
            </p:nvSpPr>
            <p:spPr>
              <a:xfrm>
                <a:off x="476250" y="5362575"/>
                <a:ext cx="381000" cy="381000"/>
              </a:xfrm>
              <a:prstGeom prst="ellipse">
                <a:avLst/>
              </a:prstGeom>
              <a:solidFill>
                <a:schemeClr val="accent2"/>
              </a:solidFill>
              <a:ln>
                <a:noFill/>
              </a:ln>
            </p:spPr>
          </p:sp>
          <p:sp>
            <p:nvSpPr>
              <p:cNvPr id="27" name="TextBox 27"/>
              <p:cNvSpPr txBox="1"/>
              <p:nvPr/>
            </p:nvSpPr>
            <p:spPr>
              <a:xfrm>
                <a:off x="609351" y="5445125"/>
                <a:ext cx="114798" cy="264033"/>
              </a:xfrm>
              <a:prstGeom prst="rect">
                <a:avLst/>
              </a:prstGeom>
              <a:noFill/>
              <a:ln>
                <a:noFill/>
              </a:ln>
            </p:spPr>
            <p:txBody>
              <a:bodyPr wrap="none" lIns="0" tIns="0" rIns="0" bIns="0" anchor="t" anchorCtr="0">
                <a:spAutoFit/>
              </a:bodyPr>
              <a:lstStyle/>
              <a:p>
                <a:pPr algn="ctr"/>
                <a:r>
                  <a:rPr lang="en-US" sz="1350" dirty="0">
                    <a:solidFill>
                      <a:schemeClr val="accent3"/>
                    </a:solidFill>
                    <a:latin typeface="+mn-lt"/>
                    <a:ea typeface="+mn-ea"/>
                    <a:cs typeface="+mn-cs"/>
                  </a:rPr>
                  <a:t>5</a:t>
                </a:r>
              </a:p>
            </p:txBody>
          </p:sp>
          <p:sp>
            <p:nvSpPr>
              <p:cNvPr id="28" name="TextBox 28"/>
              <p:cNvSpPr txBox="1"/>
              <p:nvPr/>
            </p:nvSpPr>
            <p:spPr>
              <a:xfrm>
                <a:off x="1038606" y="5381625"/>
                <a:ext cx="52592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Ship</a:t>
                </a:r>
              </a:p>
            </p:txBody>
          </p:sp>
          <p:sp>
            <p:nvSpPr>
              <p:cNvPr id="29" name="TextBox 29"/>
              <p:cNvSpPr txBox="1"/>
              <p:nvPr/>
            </p:nvSpPr>
            <p:spPr>
              <a:xfrm>
                <a:off x="2326005" y="5292725"/>
                <a:ext cx="4716590"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Owner, reviewer, change history and retested revisions.</a:t>
                </a:r>
                <a:br>
                  <a:rPr lang="en-US" sz="1500" dirty="0">
                    <a:solidFill>
                      <a:srgbClr val="FFFDF7"/>
                    </a:solidFill>
                    <a:latin typeface="+mn-lt"/>
                    <a:ea typeface="+mn-ea"/>
                    <a:cs typeface="+mn-cs"/>
                  </a:rPr>
                </a:br>
                <a:r>
                  <a:rPr lang="en-US" sz="1500" dirty="0">
                    <a:solidFill>
                      <a:srgbClr val="FFFDF7"/>
                    </a:solidFill>
                    <a:latin typeface="+mn-lt"/>
                    <a:ea typeface="+mn-ea"/>
                    <a:cs typeface="+mn-cs"/>
                  </a:rPr>
                  <a:t>Maintain a professional instruction as practice changes.</a:t>
                </a:r>
              </a:p>
            </p:txBody>
          </p:sp>
        </p:grpSp>
      </p:grpSp>
      <p:grpSp>
        <p:nvGrpSpPr>
          <p:cNvPr id="36" name="range-story"/>
          <p:cNvGrpSpPr/>
          <p:nvPr/>
        </p:nvGrpSpPr>
        <p:grpSpPr>
          <a:xfrm>
            <a:off x="8724900" y="1790700"/>
            <a:ext cx="3009900" cy="4286250"/>
            <a:chOff x="8724900" y="1790700"/>
            <a:chExt cx="3009900" cy="4286250"/>
          </a:xfrm>
        </p:grpSpPr>
        <p:sp>
          <p:nvSpPr>
            <p:cNvPr id="32" name="Rectangle 32"/>
            <p:cNvSpPr/>
            <p:nvPr/>
          </p:nvSpPr>
          <p:spPr>
            <a:xfrm>
              <a:off x="8724900" y="1790700"/>
              <a:ext cx="3009900" cy="4286250"/>
            </a:xfrm>
            <a:prstGeom prst="rect">
              <a:avLst/>
            </a:prstGeom>
            <a:noFill/>
            <a:ln w="9525">
              <a:solidFill>
                <a:srgbClr val="50616A"/>
              </a:solidFill>
            </a:ln>
          </p:spPr>
        </p:sp>
        <p:sp>
          <p:nvSpPr>
            <p:cNvPr id="33" name="TextBox 33"/>
            <p:cNvSpPr txBox="1"/>
            <p:nvPr/>
          </p:nvSpPr>
          <p:spPr>
            <a:xfrm>
              <a:off x="8925306" y="1981200"/>
              <a:ext cx="232018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Range’s contribution</a:t>
              </a:r>
            </a:p>
          </p:txBody>
        </p:sp>
        <p:sp>
          <p:nvSpPr>
            <p:cNvPr id="34" name="TextBox 34"/>
            <p:cNvSpPr txBox="1"/>
            <p:nvPr/>
          </p:nvSpPr>
          <p:spPr>
            <a:xfrm>
              <a:off x="8927592" y="2524125"/>
              <a:ext cx="2129478" cy="759333"/>
            </a:xfrm>
            <a:prstGeom prst="rect">
              <a:avLst/>
            </a:prstGeom>
            <a:noFill/>
            <a:ln>
              <a:noFill/>
            </a:ln>
          </p:spPr>
          <p:txBody>
            <a:bodyPr wrap="none" lIns="0" tIns="0" rIns="0" bIns="0" anchor="t" anchorCtr="0">
              <a:spAutoFit/>
            </a:bodyPr>
            <a:lstStyle/>
            <a:p>
              <a:pPr algn="l">
                <a:lnSpc>
                  <a:spcPts val="1950"/>
                </a:lnSpc>
              </a:pPr>
              <a:r>
                <a:rPr lang="en-US" sz="1350" dirty="0">
                  <a:solidFill>
                    <a:srgbClr val="FFFDF7"/>
                  </a:solidFill>
                  <a:latin typeface="+mn-lt"/>
                  <a:ea typeface="+mn-ea"/>
                  <a:cs typeface="+mn-cs"/>
                </a:rPr>
                <a:t>Planners write and maintain</a:t>
              </a:r>
              <a:br>
                <a:rPr lang="en-US" sz="1350" dirty="0">
                  <a:solidFill>
                    <a:srgbClr val="FFFDF7"/>
                  </a:solidFill>
                  <a:latin typeface="+mn-lt"/>
                  <a:ea typeface="+mn-ea"/>
                  <a:cs typeface="+mn-cs"/>
                </a:rPr>
              </a:br>
              <a:r>
                <a:rPr lang="en-US" sz="1350" dirty="0">
                  <a:solidFill>
                    <a:srgbClr val="FFFDF7"/>
                  </a:solidFill>
                  <a:latin typeface="+mn-lt"/>
                  <a:ea typeface="+mn-ea"/>
                  <a:cs typeface="+mn-cs"/>
                </a:rPr>
                <a:t>skills and peer-review them</a:t>
              </a:r>
              <a:br>
                <a:rPr lang="en-US" sz="1350" dirty="0">
                  <a:solidFill>
                    <a:srgbClr val="FFFDF7"/>
                  </a:solidFill>
                  <a:latin typeface="+mn-lt"/>
                  <a:ea typeface="+mn-ea"/>
                  <a:cs typeface="+mn-cs"/>
                </a:rPr>
              </a:br>
              <a:r>
                <a:rPr lang="en-US" sz="1350" dirty="0">
                  <a:solidFill>
                    <a:srgbClr val="FFFDF7"/>
                  </a:solidFill>
                  <a:latin typeface="+mn-lt"/>
                  <a:ea typeface="+mn-ea"/>
                  <a:cs typeface="+mn-cs"/>
                </a:rPr>
                <a:t>like plans.</a:t>
              </a:r>
            </a:p>
          </p:txBody>
        </p:sp>
        <p:sp>
          <p:nvSpPr>
            <p:cNvPr id="35" name="TextBox 35"/>
            <p:cNvSpPr txBox="1"/>
            <p:nvPr/>
          </p:nvSpPr>
          <p:spPr>
            <a:xfrm>
              <a:off x="8927592" y="3819525"/>
              <a:ext cx="2396562" cy="1502283"/>
            </a:xfrm>
            <a:prstGeom prst="rect">
              <a:avLst/>
            </a:prstGeom>
            <a:noFill/>
            <a:ln>
              <a:noFill/>
            </a:ln>
          </p:spPr>
          <p:txBody>
            <a:bodyPr wrap="none" lIns="0" tIns="0" rIns="0" bIns="0" anchor="t" anchorCtr="0">
              <a:spAutoFit/>
            </a:bodyPr>
            <a:lstStyle/>
            <a:p>
              <a:pPr algn="l">
                <a:lnSpc>
                  <a:spcPts val="1950"/>
                </a:lnSpc>
              </a:pPr>
              <a:r>
                <a:rPr lang="en-US" sz="1350" dirty="0">
                  <a:solidFill>
                    <a:srgbClr val="E7F0EA"/>
                  </a:solidFill>
                  <a:latin typeface="+mn-lt"/>
                  <a:ea typeface="+mn-ea"/>
                  <a:cs typeface="+mn-cs"/>
                </a:rPr>
                <a:t>The five steps are in the notes;</a:t>
              </a:r>
              <a:br>
                <a:rPr lang="en-US" sz="1350" dirty="0">
                  <a:solidFill>
                    <a:srgbClr val="E7F0EA"/>
                  </a:solidFill>
                  <a:latin typeface="+mn-lt"/>
                  <a:ea typeface="+mn-ea"/>
                  <a:cs typeface="+mn-cs"/>
                </a:rPr>
              </a:br>
              <a:r>
                <a:rPr lang="en-US" sz="1350" dirty="0">
                  <a:solidFill>
                    <a:srgbClr val="E7F0EA"/>
                  </a:solidFill>
                  <a:latin typeface="+mn-lt"/>
                  <a:ea typeface="+mn-ea"/>
                  <a:cs typeface="+mn-cs"/>
                </a:rPr>
                <a:t>ownership and peer review add</a:t>
              </a:r>
              <a:br>
                <a:rPr lang="en-US" sz="1350" dirty="0">
                  <a:solidFill>
                    <a:srgbClr val="E7F0EA"/>
                  </a:solidFill>
                  <a:latin typeface="+mn-lt"/>
                  <a:ea typeface="+mn-ea"/>
                  <a:cs typeface="+mn-cs"/>
                </a:rPr>
              </a:br>
              <a:r>
                <a:rPr lang="en-US" sz="1350" dirty="0">
                  <a:solidFill>
                    <a:srgbClr val="E7F0EA"/>
                  </a:solidFill>
                  <a:latin typeface="+mn-lt"/>
                  <a:ea typeface="+mn-ea"/>
                  <a:cs typeface="+mn-cs"/>
                </a:rPr>
                <a:t>official agenda detail.</a:t>
              </a:r>
              <a:br>
                <a:rPr lang="en-US" sz="1350" dirty="0">
                  <a:solidFill>
                    <a:srgbClr val="E7F0EA"/>
                  </a:solidFill>
                  <a:latin typeface="+mn-lt"/>
                  <a:ea typeface="+mn-ea"/>
                  <a:cs typeface="+mn-cs"/>
                </a:rPr>
              </a:br>
              <a:r>
                <a:rPr lang="en-US" sz="1350" dirty="0">
                  <a:solidFill>
                    <a:srgbClr val="E7F0EA"/>
                  </a:solidFill>
                  <a:latin typeface="+mn-lt"/>
                  <a:ea typeface="+mn-ea"/>
                  <a:cs typeface="+mn-cs"/>
                </a:rPr>
                <a:t>Operational use is reported;</a:t>
              </a:r>
              <a:br>
                <a:rPr lang="en-US" sz="1350" dirty="0">
                  <a:solidFill>
                    <a:srgbClr val="E7F0EA"/>
                  </a:solidFill>
                  <a:latin typeface="+mn-lt"/>
                  <a:ea typeface="+mn-ea"/>
                  <a:cs typeface="+mn-cs"/>
                </a:rPr>
              </a:br>
              <a:r>
                <a:rPr lang="en-US" sz="1350" dirty="0">
                  <a:solidFill>
                    <a:srgbClr val="E7F0EA"/>
                  </a:solidFill>
                  <a:latin typeface="+mn-lt"/>
                  <a:ea typeface="+mn-ea"/>
                  <a:cs typeface="+mn-cs"/>
                </a:rPr>
                <a:t>no measured net gain</a:t>
              </a:r>
              <a:br>
                <a:rPr lang="en-US" sz="1350" dirty="0">
                  <a:solidFill>
                    <a:srgbClr val="E7F0EA"/>
                  </a:solidFill>
                  <a:latin typeface="+mn-lt"/>
                  <a:ea typeface="+mn-ea"/>
                  <a:cs typeface="+mn-cs"/>
                </a:rPr>
              </a:br>
              <a:r>
                <a:rPr lang="en-US" sz="1350" dirty="0">
                  <a:solidFill>
                    <a:srgbClr val="E7F0EA"/>
                  </a:solidFill>
                  <a:latin typeface="+mn-lt"/>
                  <a:ea typeface="+mn-ea"/>
                  <a:cs typeface="+mn-cs"/>
                </a:rPr>
                <a:t>was captured.</a:t>
              </a:r>
            </a:p>
          </p:txBody>
        </p:sp>
      </p:grpSp>
      <p:grpSp>
        <p:nvGrpSpPr>
          <p:cNvPr id="39" name="footer"/>
          <p:cNvGrpSpPr/>
          <p:nvPr/>
        </p:nvGrpSpPr>
        <p:grpSpPr>
          <a:xfrm>
            <a:off x="452438" y="6448425"/>
            <a:ext cx="11287124" cy="176212"/>
            <a:chOff x="452438" y="6448425"/>
            <a:chExt cx="11287124" cy="176212"/>
          </a:xfrm>
        </p:grpSpPr>
        <p:sp>
          <p:nvSpPr>
            <p:cNvPr id="37" name="TextBox 37"/>
            <p:cNvSpPr txBox="1"/>
            <p:nvPr/>
          </p:nvSpPr>
          <p:spPr>
            <a:xfrm>
              <a:off x="452438" y="6448425"/>
              <a:ext cx="7813118"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Source: Matt Ragone / Range. Identity confirmed; session UUID changed from an NVIDIA record between schedule snapshots (details in notes).</a:t>
              </a:r>
            </a:p>
          </p:txBody>
        </p:sp>
        <p:sp>
          <p:nvSpPr>
            <p:cNvPr id="38" name="TextBox 38"/>
            <p:cNvSpPr txBox="1"/>
            <p:nvPr/>
          </p:nvSpPr>
          <p:spPr>
            <a:xfrm>
              <a:off x="11359512" y="6448425"/>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19 / 37</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598146" cy="1110107"/>
            <a:chOff x="443484" y="371475"/>
            <a:chExt cx="9598146" cy="1110107"/>
          </a:xfrm>
        </p:grpSpPr>
        <p:sp>
          <p:nvSpPr>
            <p:cNvPr id="2" name="TextBox 2"/>
            <p:cNvSpPr txBox="1"/>
            <p:nvPr/>
          </p:nvSpPr>
          <p:spPr>
            <a:xfrm>
              <a:off x="451104" y="371475"/>
              <a:ext cx="4735334" cy="234696"/>
            </a:xfrm>
            <a:prstGeom prst="rect">
              <a:avLst/>
            </a:prstGeom>
            <a:noFill/>
            <a:ln>
              <a:noFill/>
            </a:ln>
          </p:spPr>
          <p:txBody>
            <a:bodyPr wrap="none" lIns="0" tIns="0" rIns="0" bIns="0" anchor="t" anchorCtr="0">
              <a:spAutoFit/>
            </a:bodyPr>
            <a:lstStyle/>
            <a:p>
              <a:pPr algn="l"/>
              <a:r>
                <a:rPr lang="en-US" sz="1200" dirty="0">
                  <a:solidFill>
                    <a:srgbClr val="8B411C"/>
                  </a:solidFill>
                  <a:latin typeface="+mn-lt"/>
                  <a:ea typeface="+mn-ea"/>
                  <a:cs typeface="+mn-cs"/>
                </a:rPr>
                <a:t>04 / SYNTHETIC REVIEW PACKET — FICTIONAL CLIENT A</a:t>
              </a:r>
            </a:p>
          </p:txBody>
        </p:sp>
        <p:sp>
          <p:nvSpPr>
            <p:cNvPr id="3" name="TextBox 3"/>
            <p:cNvSpPr txBox="1"/>
            <p:nvPr/>
          </p:nvSpPr>
          <p:spPr>
            <a:xfrm>
              <a:off x="443484" y="603250"/>
              <a:ext cx="7339809"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A useful draft does not grant authority to act</a:t>
              </a:r>
            </a:p>
          </p:txBody>
        </p:sp>
        <p:sp>
          <p:nvSpPr>
            <p:cNvPr id="4" name="TextBox 4"/>
            <p:cNvSpPr txBox="1"/>
            <p:nvPr/>
          </p:nvSpPr>
          <p:spPr>
            <a:xfrm>
              <a:off x="448818" y="1158875"/>
              <a:ext cx="959281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Authorized facts → agent preparation → professional judgment → separately permitted execution</a:t>
              </a:r>
            </a:p>
          </p:txBody>
        </p:sp>
      </p:grpSp>
      <p:grpSp>
        <p:nvGrpSpPr>
          <p:cNvPr id="10" name="fictional-arithmetic"/>
          <p:cNvGrpSpPr/>
          <p:nvPr/>
        </p:nvGrpSpPr>
        <p:grpSpPr>
          <a:xfrm>
            <a:off x="457200" y="1752600"/>
            <a:ext cx="11277600" cy="1400175"/>
            <a:chOff x="457200" y="1752600"/>
            <a:chExt cx="11277600" cy="1400175"/>
          </a:xfrm>
        </p:grpSpPr>
        <p:sp>
          <p:nvSpPr>
            <p:cNvPr id="6" name="Rectangle 6"/>
            <p:cNvSpPr/>
            <p:nvPr/>
          </p:nvSpPr>
          <p:spPr>
            <a:xfrm>
              <a:off x="457200" y="1752600"/>
              <a:ext cx="11277600" cy="1400175"/>
            </a:xfrm>
            <a:prstGeom prst="rect">
              <a:avLst/>
            </a:prstGeom>
            <a:solidFill>
              <a:schemeClr val="accent1"/>
            </a:solidFill>
            <a:ln>
              <a:noFill/>
            </a:ln>
          </p:spPr>
        </p:sp>
        <p:sp>
          <p:nvSpPr>
            <p:cNvPr id="7" name="TextBox 7"/>
            <p:cNvSpPr txBox="1"/>
            <p:nvPr/>
          </p:nvSpPr>
          <p:spPr>
            <a:xfrm>
              <a:off x="679704" y="1924050"/>
              <a:ext cx="3189890"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ANNUAL USD / ALL VALUES INVENTED</a:t>
              </a:r>
            </a:p>
          </p:txBody>
        </p:sp>
        <p:sp>
          <p:nvSpPr>
            <p:cNvPr id="8" name="TextBox 8"/>
            <p:cNvSpPr txBox="1"/>
            <p:nvPr/>
          </p:nvSpPr>
          <p:spPr>
            <a:xfrm>
              <a:off x="676656" y="2362200"/>
              <a:ext cx="8721546" cy="352044"/>
            </a:xfrm>
            <a:prstGeom prst="rect">
              <a:avLst/>
            </a:prstGeom>
            <a:noFill/>
            <a:ln>
              <a:noFill/>
            </a:ln>
          </p:spPr>
          <p:txBody>
            <a:bodyPr wrap="none" lIns="0" tIns="0" rIns="0" bIns="0" anchor="t" anchorCtr="0">
              <a:spAutoFit/>
            </a:bodyPr>
            <a:lstStyle/>
            <a:p>
              <a:pPr algn="l"/>
              <a:r>
                <a:rPr lang="en-US" sz="1800" dirty="0">
                  <a:solidFill>
                    <a:srgbClr val="FFFDF7"/>
                  </a:solidFill>
                  <a:latin typeface="+mj-lt"/>
                  <a:ea typeface="+mj-ea"/>
                  <a:cs typeface="+mj-cs"/>
                </a:rPr>
                <a:t>Income $120,000 − recorded expenses $84,000 = arithmetic difference $36,000</a:t>
              </a:r>
            </a:p>
          </p:txBody>
        </p:sp>
        <p:sp>
          <p:nvSpPr>
            <p:cNvPr id="9" name="TextBox 9"/>
            <p:cNvSpPr txBox="1"/>
            <p:nvPr/>
          </p:nvSpPr>
          <p:spPr>
            <a:xfrm>
              <a:off x="678180" y="2771775"/>
              <a:ext cx="6531717" cy="293370"/>
            </a:xfrm>
            <a:prstGeom prst="rect">
              <a:avLst/>
            </a:prstGeom>
            <a:noFill/>
            <a:ln>
              <a:noFill/>
            </a:ln>
          </p:spPr>
          <p:txBody>
            <a:bodyPr wrap="none" lIns="0" tIns="0" rIns="0" bIns="0" anchor="t" anchorCtr="0">
              <a:spAutoFit/>
            </a:bodyPr>
            <a:lstStyle/>
            <a:p>
              <a:pPr algn="l"/>
              <a:r>
                <a:rPr lang="en-US" sz="1500" dirty="0">
                  <a:solidFill>
                    <a:srgbClr val="E7F0EA"/>
                  </a:solidFill>
                  <a:latin typeface="+mn-lt"/>
                  <a:ea typeface="+mn-ea"/>
                  <a:cs typeface="+mn-cs"/>
                </a:rPr>
                <a:t>This is not disposable capacity, an insurance need or a suitability finding.</a:t>
              </a:r>
            </a:p>
          </p:txBody>
        </p:sp>
      </p:grpSp>
      <p:grpSp>
        <p:nvGrpSpPr>
          <p:cNvPr id="14" name="prepare"/>
          <p:cNvGrpSpPr/>
          <p:nvPr/>
        </p:nvGrpSpPr>
        <p:grpSpPr>
          <a:xfrm>
            <a:off x="448056" y="3600450"/>
            <a:ext cx="2911838" cy="2404745"/>
            <a:chOff x="448056" y="3600450"/>
            <a:chExt cx="2911838" cy="2404745"/>
          </a:xfrm>
        </p:grpSpPr>
        <p:sp>
          <p:nvSpPr>
            <p:cNvPr id="11" name="TextBox 11"/>
            <p:cNvSpPr txBox="1"/>
            <p:nvPr/>
          </p:nvSpPr>
          <p:spPr>
            <a:xfrm>
              <a:off x="448056" y="3600450"/>
              <a:ext cx="291183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Make the draft reviewable</a:t>
              </a:r>
            </a:p>
          </p:txBody>
        </p:sp>
        <p:sp>
          <p:nvSpPr>
            <p:cNvPr id="12" name="TextBox 12"/>
            <p:cNvSpPr txBox="1"/>
            <p:nvPr/>
          </p:nvSpPr>
          <p:spPr>
            <a:xfrm>
              <a:off x="449580" y="4092575"/>
              <a:ext cx="2662314"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Expose inputs, calculations,</a:t>
              </a:r>
              <a:br>
                <a:rPr lang="en-US" sz="1500" dirty="0">
                  <a:solidFill>
                    <a:schemeClr val="dk1"/>
                  </a:solidFill>
                  <a:latin typeface="+mn-lt"/>
                  <a:ea typeface="+mn-ea"/>
                  <a:cs typeface="+mn-cs"/>
                </a:rPr>
              </a:br>
              <a:r>
                <a:rPr lang="en-US" sz="1500" dirty="0">
                  <a:solidFill>
                    <a:schemeClr val="dk1"/>
                  </a:solidFill>
                  <a:latin typeface="+mn-lt"/>
                  <a:ea typeface="+mn-ea"/>
                  <a:cs typeface="+mn-cs"/>
                </a:rPr>
                <a:t>missing facts, assumptions and</a:t>
              </a:r>
              <a:br>
                <a:rPr lang="en-US" sz="1500" dirty="0">
                  <a:solidFill>
                    <a:schemeClr val="dk1"/>
                  </a:solidFill>
                  <a:latin typeface="+mn-lt"/>
                  <a:ea typeface="+mn-ea"/>
                  <a:cs typeface="+mn-cs"/>
                </a:rPr>
              </a:br>
              <a:r>
                <a:rPr lang="en-US" sz="1500" dirty="0">
                  <a:solidFill>
                    <a:schemeClr val="dk1"/>
                  </a:solidFill>
                  <a:latin typeface="+mn-lt"/>
                  <a:ea typeface="+mn-ea"/>
                  <a:cs typeface="+mn-cs"/>
                </a:rPr>
                <a:t>proposed conclusions.</a:t>
              </a:r>
            </a:p>
          </p:txBody>
        </p:sp>
        <p:sp>
          <p:nvSpPr>
            <p:cNvPr id="13" name="TextBox 13"/>
            <p:cNvSpPr txBox="1"/>
            <p:nvPr/>
          </p:nvSpPr>
          <p:spPr>
            <a:xfrm>
              <a:off x="449580" y="5178425"/>
              <a:ext cx="2811285"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Subtraction alone cannot support</a:t>
              </a:r>
              <a:br>
                <a:rPr lang="en-US" sz="1500" dirty="0">
                  <a:solidFill>
                    <a:schemeClr val="dk1"/>
                  </a:solidFill>
                  <a:latin typeface="+mn-lt"/>
                  <a:ea typeface="+mn-ea"/>
                  <a:cs typeface="+mn-cs"/>
                </a:rPr>
              </a:br>
              <a:r>
                <a:rPr lang="en-US" sz="1500" dirty="0">
                  <a:solidFill>
                    <a:schemeClr val="dk1"/>
                  </a:solidFill>
                  <a:latin typeface="+mn-lt"/>
                  <a:ea typeface="+mn-ea"/>
                  <a:cs typeface="+mn-cs"/>
                </a:rPr>
                <a:t>a recommendation. Missing</a:t>
              </a:r>
              <a:br>
                <a:rPr lang="en-US" sz="1500" dirty="0">
                  <a:solidFill>
                    <a:schemeClr val="dk1"/>
                  </a:solidFill>
                  <a:latin typeface="+mn-lt"/>
                  <a:ea typeface="+mn-ea"/>
                  <a:cs typeface="+mn-cs"/>
                </a:rPr>
              </a:br>
              <a:r>
                <a:rPr lang="en-US" sz="1500" dirty="0">
                  <a:solidFill>
                    <a:schemeClr val="dk1"/>
                  </a:solidFill>
                  <a:latin typeface="+mn-lt"/>
                  <a:ea typeface="+mn-ea"/>
                  <a:cs typeface="+mn-cs"/>
                </a:rPr>
                <a:t>information stays explicit.</a:t>
              </a:r>
            </a:p>
          </p:txBody>
        </p:sp>
      </p:grpSp>
      <p:grpSp>
        <p:nvGrpSpPr>
          <p:cNvPr id="18" name="professional-review"/>
          <p:cNvGrpSpPr/>
          <p:nvPr/>
        </p:nvGrpSpPr>
        <p:grpSpPr>
          <a:xfrm>
            <a:off x="4181856" y="3600450"/>
            <a:ext cx="2801950" cy="2404745"/>
            <a:chOff x="4181856" y="3600450"/>
            <a:chExt cx="2801950" cy="2404745"/>
          </a:xfrm>
        </p:grpSpPr>
        <p:sp>
          <p:nvSpPr>
            <p:cNvPr id="15" name="TextBox 15"/>
            <p:cNvSpPr txBox="1"/>
            <p:nvPr/>
          </p:nvSpPr>
          <p:spPr>
            <a:xfrm>
              <a:off x="4181856" y="3600450"/>
              <a:ext cx="259912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Make review a decision</a:t>
              </a:r>
            </a:p>
          </p:txBody>
        </p:sp>
        <p:sp>
          <p:nvSpPr>
            <p:cNvPr id="16" name="TextBox 16"/>
            <p:cNvSpPr txBox="1"/>
            <p:nvPr/>
          </p:nvSpPr>
          <p:spPr>
            <a:xfrm>
              <a:off x="4183380" y="4092575"/>
              <a:ext cx="2800426"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Range describes parallel drafting</a:t>
              </a:r>
              <a:br>
                <a:rPr lang="en-US" sz="1500" dirty="0">
                  <a:solidFill>
                    <a:schemeClr val="dk1"/>
                  </a:solidFill>
                  <a:latin typeface="+mn-lt"/>
                  <a:ea typeface="+mn-ea"/>
                  <a:cs typeface="+mn-cs"/>
                </a:rPr>
              </a:br>
              <a:r>
                <a:rPr lang="en-US" sz="1500" dirty="0">
                  <a:solidFill>
                    <a:schemeClr val="dk1"/>
                  </a:solidFill>
                  <a:latin typeface="+mn-lt"/>
                  <a:ea typeface="+mn-ea"/>
                  <a:cs typeface="+mn-cs"/>
                </a:rPr>
                <a:t>while a planner serves another</a:t>
              </a:r>
              <a:br>
                <a:rPr lang="en-US" sz="1500" dirty="0">
                  <a:solidFill>
                    <a:schemeClr val="dk1"/>
                  </a:solidFill>
                  <a:latin typeface="+mn-lt"/>
                  <a:ea typeface="+mn-ea"/>
                  <a:cs typeface="+mn-cs"/>
                </a:rPr>
              </a:br>
              <a:r>
                <a:rPr lang="en-US" sz="1500" dirty="0">
                  <a:solidFill>
                    <a:schemeClr val="dk1"/>
                  </a:solidFill>
                  <a:latin typeface="+mn-lt"/>
                  <a:ea typeface="+mn-ea"/>
                  <a:cs typeface="+mn-cs"/>
                </a:rPr>
                <a:t>client, followed by adjustment.</a:t>
              </a:r>
            </a:p>
          </p:txBody>
        </p:sp>
        <p:sp>
          <p:nvSpPr>
            <p:cNvPr id="17" name="TextBox 17"/>
            <p:cNvSpPr txBox="1"/>
            <p:nvPr/>
          </p:nvSpPr>
          <p:spPr>
            <a:xfrm>
              <a:off x="4183380" y="5178425"/>
              <a:ext cx="2471814"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Measure accepted work after</a:t>
              </a:r>
              <a:br>
                <a:rPr lang="en-US" sz="1500" dirty="0">
                  <a:solidFill>
                    <a:schemeClr val="dk1"/>
                  </a:solidFill>
                  <a:latin typeface="+mn-lt"/>
                  <a:ea typeface="+mn-ea"/>
                  <a:cs typeface="+mn-cs"/>
                </a:rPr>
              </a:br>
              <a:r>
                <a:rPr lang="en-US" sz="1500" dirty="0">
                  <a:solidFill>
                    <a:schemeClr val="dk1"/>
                  </a:solidFill>
                  <a:latin typeface="+mn-lt"/>
                  <a:ea typeface="+mn-ea"/>
                  <a:cs typeface="+mn-cs"/>
                </a:rPr>
                <a:t>corrections, not the number</a:t>
              </a:r>
              <a:br>
                <a:rPr lang="en-US" sz="1500" dirty="0">
                  <a:solidFill>
                    <a:schemeClr val="dk1"/>
                  </a:solidFill>
                  <a:latin typeface="+mn-lt"/>
                  <a:ea typeface="+mn-ea"/>
                  <a:cs typeface="+mn-cs"/>
                </a:rPr>
              </a:br>
              <a:r>
                <a:rPr lang="en-US" sz="1500" dirty="0">
                  <a:solidFill>
                    <a:schemeClr val="dk1"/>
                  </a:solidFill>
                  <a:latin typeface="+mn-lt"/>
                  <a:ea typeface="+mn-ea"/>
                  <a:cs typeface="+mn-cs"/>
                </a:rPr>
                <a:t>of generated drafts.</a:t>
              </a:r>
            </a:p>
          </p:txBody>
        </p:sp>
      </p:grpSp>
      <p:grpSp>
        <p:nvGrpSpPr>
          <p:cNvPr id="22" name="execution-authority"/>
          <p:cNvGrpSpPr/>
          <p:nvPr/>
        </p:nvGrpSpPr>
        <p:grpSpPr>
          <a:xfrm>
            <a:off x="7915656" y="3600450"/>
            <a:ext cx="3212100" cy="2404745"/>
            <a:chOff x="7915656" y="3600450"/>
            <a:chExt cx="3212100" cy="2404745"/>
          </a:xfrm>
        </p:grpSpPr>
        <p:sp>
          <p:nvSpPr>
            <p:cNvPr id="19" name="TextBox 19"/>
            <p:cNvSpPr txBox="1"/>
            <p:nvPr/>
          </p:nvSpPr>
          <p:spPr>
            <a:xfrm>
              <a:off x="7915656" y="3600450"/>
              <a:ext cx="3212100"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Enforce execution separately</a:t>
              </a:r>
            </a:p>
          </p:txBody>
        </p:sp>
        <p:sp>
          <p:nvSpPr>
            <p:cNvPr id="20" name="TextBox 20"/>
            <p:cNvSpPr txBox="1"/>
            <p:nvPr/>
          </p:nvSpPr>
          <p:spPr>
            <a:xfrm>
              <a:off x="7917180" y="4092575"/>
              <a:ext cx="3106979"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Wise’s program separates proposals</a:t>
              </a:r>
              <a:br>
                <a:rPr lang="en-US" sz="1500" dirty="0">
                  <a:solidFill>
                    <a:schemeClr val="dk1"/>
                  </a:solidFill>
                  <a:latin typeface="+mn-lt"/>
                  <a:ea typeface="+mn-ea"/>
                  <a:cs typeface="+mn-cs"/>
                </a:rPr>
              </a:br>
              <a:r>
                <a:rPr lang="en-US" sz="1500" dirty="0">
                  <a:solidFill>
                    <a:schemeClr val="dk1"/>
                  </a:solidFill>
                  <a:latin typeface="+mn-lt"/>
                  <a:ea typeface="+mn-ea"/>
                  <a:cs typeface="+mn-cs"/>
                </a:rPr>
                <a:t>from authority. Draft review does not</a:t>
              </a:r>
              <a:br>
                <a:rPr lang="en-US" sz="1500" dirty="0">
                  <a:solidFill>
                    <a:schemeClr val="dk1"/>
                  </a:solidFill>
                  <a:latin typeface="+mn-lt"/>
                  <a:ea typeface="+mn-ea"/>
                  <a:cs typeface="+mn-cs"/>
                </a:rPr>
              </a:br>
              <a:r>
                <a:rPr lang="en-US" sz="1500" dirty="0">
                  <a:solidFill>
                    <a:schemeClr val="dk1"/>
                  </a:solidFill>
                  <a:latin typeface="+mn-lt"/>
                  <a:ea typeface="+mn-ea"/>
                  <a:cs typeface="+mn-cs"/>
                </a:rPr>
                <a:t>authorize a send or transaction.</a:t>
              </a:r>
            </a:p>
          </p:txBody>
        </p:sp>
        <p:sp>
          <p:nvSpPr>
            <p:cNvPr id="21" name="TextBox 21"/>
            <p:cNvSpPr txBox="1"/>
            <p:nvPr/>
          </p:nvSpPr>
          <p:spPr>
            <a:xfrm>
              <a:off x="7917180" y="5178425"/>
              <a:ext cx="288462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 service checks user/case/action</a:t>
              </a:r>
              <a:br>
                <a:rPr lang="en-US" sz="1500" dirty="0">
                  <a:solidFill>
                    <a:schemeClr val="dk1"/>
                  </a:solidFill>
                  <a:latin typeface="+mn-lt"/>
                  <a:ea typeface="+mn-ea"/>
                  <a:cs typeface="+mn-cs"/>
                </a:rPr>
              </a:br>
              <a:r>
                <a:rPr lang="en-US" sz="1500" dirty="0">
                  <a:solidFill>
                    <a:schemeClr val="dk1"/>
                  </a:solidFill>
                  <a:latin typeface="+mn-lt"/>
                  <a:ea typeface="+mn-ea"/>
                  <a:cs typeface="+mn-cs"/>
                </a:rPr>
                <a:t>permission and records who</a:t>
              </a:r>
              <a:br>
                <a:rPr lang="en-US" sz="1500" dirty="0">
                  <a:solidFill>
                    <a:schemeClr val="dk1"/>
                  </a:solidFill>
                  <a:latin typeface="+mn-lt"/>
                  <a:ea typeface="+mn-ea"/>
                  <a:cs typeface="+mn-cs"/>
                </a:rPr>
              </a:br>
              <a:r>
                <a:rPr lang="en-US" sz="1500" dirty="0">
                  <a:solidFill>
                    <a:schemeClr val="dk1"/>
                  </a:solidFill>
                  <a:latin typeface="+mn-lt"/>
                  <a:ea typeface="+mn-ea"/>
                  <a:cs typeface="+mn-cs"/>
                </a:rPr>
                <a:t>approved what.</a:t>
              </a:r>
            </a:p>
          </p:txBody>
        </p:sp>
      </p:grpSp>
      <p:grpSp>
        <p:nvGrpSpPr>
          <p:cNvPr id="25" name="footer"/>
          <p:cNvGrpSpPr/>
          <p:nvPr/>
        </p:nvGrpSpPr>
        <p:grpSpPr>
          <a:xfrm>
            <a:off x="452438" y="6438900"/>
            <a:ext cx="11287124" cy="176212"/>
            <a:chOff x="452438" y="6438900"/>
            <a:chExt cx="11287124" cy="176212"/>
          </a:xfrm>
        </p:grpSpPr>
        <p:sp>
          <p:nvSpPr>
            <p:cNvPr id="23" name="TextBox 23"/>
            <p:cNvSpPr txBox="1"/>
            <p:nvPr/>
          </p:nvSpPr>
          <p:spPr>
            <a:xfrm>
              <a:off x="452438" y="6438900"/>
              <a:ext cx="660162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Range notes and Wise agenda. Proposed workflow, not a disclosed Range architecture or financial-advice result.</a:t>
              </a:r>
            </a:p>
          </p:txBody>
        </p:sp>
        <p:sp>
          <p:nvSpPr>
            <p:cNvPr id="24" name="TextBox 24"/>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20 / 37</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7652859" cy="1110107"/>
            <a:chOff x="443484" y="371475"/>
            <a:chExt cx="7652859" cy="1110107"/>
          </a:xfrm>
        </p:grpSpPr>
        <p:sp>
          <p:nvSpPr>
            <p:cNvPr id="2" name="TextBox 2"/>
            <p:cNvSpPr txBox="1"/>
            <p:nvPr/>
          </p:nvSpPr>
          <p:spPr>
            <a:xfrm>
              <a:off x="451104" y="371475"/>
              <a:ext cx="355004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04 / PERMISSION IS A SYSTEM BOUNDARY</a:t>
              </a:r>
            </a:p>
          </p:txBody>
        </p:sp>
        <p:sp>
          <p:nvSpPr>
            <p:cNvPr id="3" name="TextBox 3"/>
            <p:cNvSpPr txBox="1"/>
            <p:nvPr/>
          </p:nvSpPr>
          <p:spPr>
            <a:xfrm>
              <a:off x="443484" y="603250"/>
              <a:ext cx="7652859"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Enforce authority outside the agent’s proposal</a:t>
              </a:r>
            </a:p>
          </p:txBody>
        </p:sp>
        <p:sp>
          <p:nvSpPr>
            <p:cNvPr id="4" name="TextBox 4"/>
            <p:cNvSpPr txBox="1"/>
            <p:nvPr/>
          </p:nvSpPr>
          <p:spPr>
            <a:xfrm>
              <a:off x="448818" y="1158875"/>
              <a:ext cx="5320634"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Make the permission path as explicit as the data path.</a:t>
              </a:r>
            </a:p>
          </p:txBody>
        </p:sp>
      </p:grpSp>
      <p:grpSp>
        <p:nvGrpSpPr>
          <p:cNvPr id="20" name="authority-path"/>
          <p:cNvGrpSpPr/>
          <p:nvPr/>
        </p:nvGrpSpPr>
        <p:grpSpPr>
          <a:xfrm>
            <a:off x="457200" y="2009775"/>
            <a:ext cx="11277600" cy="2095500"/>
            <a:chOff x="457200" y="2009775"/>
            <a:chExt cx="11277600" cy="2095500"/>
          </a:xfrm>
        </p:grpSpPr>
        <p:sp>
          <p:nvSpPr>
            <p:cNvPr id="6" name="Rectangle 6"/>
            <p:cNvSpPr/>
            <p:nvPr/>
          </p:nvSpPr>
          <p:spPr>
            <a:xfrm>
              <a:off x="457200" y="2209800"/>
              <a:ext cx="2400300" cy="914400"/>
            </a:xfrm>
            <a:prstGeom prst="rect">
              <a:avLst/>
            </a:prstGeom>
            <a:solidFill>
              <a:srgbClr val="F1F4EE"/>
            </a:solidFill>
            <a:ln>
              <a:noFill/>
            </a:ln>
          </p:spPr>
        </p:sp>
        <p:sp>
          <p:nvSpPr>
            <p:cNvPr id="7" name="TextBox 7"/>
            <p:cNvSpPr txBox="1"/>
            <p:nvPr/>
          </p:nvSpPr>
          <p:spPr>
            <a:xfrm>
              <a:off x="657606" y="2352675"/>
              <a:ext cx="175063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Agent proposes</a:t>
              </a:r>
            </a:p>
          </p:txBody>
        </p:sp>
        <p:sp>
          <p:nvSpPr>
            <p:cNvPr id="8" name="TextBox 8"/>
            <p:cNvSpPr txBox="1"/>
            <p:nvPr/>
          </p:nvSpPr>
          <p:spPr>
            <a:xfrm>
              <a:off x="659892" y="2759075"/>
              <a:ext cx="222702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Requested action + context</a:t>
              </a:r>
            </a:p>
          </p:txBody>
        </p:sp>
        <p:sp>
          <p:nvSpPr>
            <p:cNvPr id="9" name="Line 9"/>
            <p:cNvSpPr/>
            <p:nvPr/>
          </p:nvSpPr>
          <p:spPr>
            <a:xfrm>
              <a:off x="2924175" y="2667000"/>
              <a:ext cx="781050" cy="1"/>
            </a:xfrm>
            <a:prstGeom prst="line">
              <a:avLst/>
            </a:prstGeom>
            <a:noFill/>
            <a:ln w="19050">
              <a:solidFill>
                <a:schemeClr val="accent2"/>
              </a:solidFill>
              <a:tailEnd type="triangle" w="lg" len="lg"/>
            </a:ln>
          </p:spPr>
        </p:sp>
        <p:sp>
          <p:nvSpPr>
            <p:cNvPr id="10" name="Freeform 10"/>
            <p:cNvSpPr/>
            <p:nvPr/>
          </p:nvSpPr>
          <p:spPr>
            <a:xfrm>
              <a:off x="3810000" y="2009775"/>
              <a:ext cx="2095500" cy="1314450"/>
            </a:xfrm>
            <a:prstGeom prst="flowChartDecision">
              <a:avLst/>
            </a:prstGeom>
            <a:solidFill>
              <a:schemeClr val="lt2"/>
            </a:solidFill>
            <a:ln w="19050">
              <a:solidFill>
                <a:schemeClr val="accent2"/>
              </a:solidFill>
            </a:ln>
          </p:spPr>
        </p:sp>
        <p:sp>
          <p:nvSpPr>
            <p:cNvPr id="11" name="TextBox 11"/>
            <p:cNvSpPr txBox="1"/>
            <p:nvPr/>
          </p:nvSpPr>
          <p:spPr>
            <a:xfrm>
              <a:off x="4355316" y="2428875"/>
              <a:ext cx="1004868" cy="511683"/>
            </a:xfrm>
            <a:prstGeom prst="rect">
              <a:avLst/>
            </a:prstGeom>
            <a:noFill/>
            <a:ln>
              <a:noFill/>
            </a:ln>
          </p:spPr>
          <p:txBody>
            <a:bodyPr wrap="none" lIns="0" tIns="0" rIns="0" bIns="0" anchor="t" anchorCtr="0">
              <a:spAutoFit/>
            </a:bodyPr>
            <a:lstStyle/>
            <a:p>
              <a:pPr algn="ctr">
                <a:lnSpc>
                  <a:spcPts val="1950"/>
                </a:lnSpc>
              </a:pPr>
              <a:r>
                <a:rPr lang="en-US" sz="1350" dirty="0">
                  <a:solidFill>
                    <a:schemeClr val="accent2"/>
                  </a:solidFill>
                  <a:latin typeface="+mn-lt"/>
                  <a:ea typeface="+mn-ea"/>
                  <a:cs typeface="+mn-cs"/>
                </a:rPr>
                <a:t>Check scope</a:t>
              </a:r>
              <a:br>
                <a:rPr lang="en-US" sz="1350" dirty="0">
                  <a:solidFill>
                    <a:schemeClr val="accent2"/>
                  </a:solidFill>
                  <a:latin typeface="+mn-lt"/>
                  <a:ea typeface="+mn-ea"/>
                  <a:cs typeface="+mn-cs"/>
                </a:rPr>
              </a:br>
              <a:r>
                <a:rPr lang="en-US" sz="1350" dirty="0">
                  <a:solidFill>
                    <a:schemeClr val="accent2"/>
                  </a:solidFill>
                  <a:latin typeface="+mn-lt"/>
                  <a:ea typeface="+mn-ea"/>
                  <a:cs typeface="+mn-cs"/>
                </a:rPr>
                <a:t>and policy</a:t>
              </a:r>
            </a:p>
          </p:txBody>
        </p:sp>
        <p:sp>
          <p:nvSpPr>
            <p:cNvPr id="12" name="Line 12"/>
            <p:cNvSpPr/>
            <p:nvPr/>
          </p:nvSpPr>
          <p:spPr>
            <a:xfrm>
              <a:off x="6000750" y="2667000"/>
              <a:ext cx="1885950" cy="1"/>
            </a:xfrm>
            <a:prstGeom prst="line">
              <a:avLst/>
            </a:prstGeom>
            <a:noFill/>
            <a:ln w="19050">
              <a:solidFill>
                <a:schemeClr val="accent2"/>
              </a:solidFill>
              <a:tailEnd type="triangle" w="lg" len="lg"/>
            </a:ln>
          </p:spPr>
        </p:sp>
        <p:sp>
          <p:nvSpPr>
            <p:cNvPr id="13" name="TextBox 13"/>
            <p:cNvSpPr txBox="1"/>
            <p:nvPr/>
          </p:nvSpPr>
          <p:spPr>
            <a:xfrm>
              <a:off x="6432042" y="2301875"/>
              <a:ext cx="796333"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mn-lt"/>
                  <a:ea typeface="+mn-ea"/>
                  <a:cs typeface="+mn-cs"/>
                </a:rPr>
                <a:t>Permitted</a:t>
              </a:r>
            </a:p>
          </p:txBody>
        </p:sp>
        <p:sp>
          <p:nvSpPr>
            <p:cNvPr id="14" name="Rectangle 14"/>
            <p:cNvSpPr/>
            <p:nvPr/>
          </p:nvSpPr>
          <p:spPr>
            <a:xfrm>
              <a:off x="8001000" y="2209800"/>
              <a:ext cx="3733800" cy="914400"/>
            </a:xfrm>
            <a:prstGeom prst="rect">
              <a:avLst/>
            </a:prstGeom>
            <a:solidFill>
              <a:schemeClr val="accent1"/>
            </a:solidFill>
            <a:ln>
              <a:noFill/>
            </a:ln>
          </p:spPr>
        </p:sp>
        <p:sp>
          <p:nvSpPr>
            <p:cNvPr id="15" name="TextBox 15"/>
            <p:cNvSpPr txBox="1"/>
            <p:nvPr/>
          </p:nvSpPr>
          <p:spPr>
            <a:xfrm>
              <a:off x="8201406" y="2352675"/>
              <a:ext cx="228264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Authorized executor</a:t>
              </a:r>
            </a:p>
          </p:txBody>
        </p:sp>
        <p:sp>
          <p:nvSpPr>
            <p:cNvPr id="16" name="TextBox 16"/>
            <p:cNvSpPr txBox="1"/>
            <p:nvPr/>
          </p:nvSpPr>
          <p:spPr>
            <a:xfrm>
              <a:off x="8203692" y="2759075"/>
              <a:ext cx="3080432" cy="264033"/>
            </a:xfrm>
            <a:prstGeom prst="rect">
              <a:avLst/>
            </a:prstGeom>
            <a:noFill/>
            <a:ln>
              <a:noFill/>
            </a:ln>
          </p:spPr>
          <p:txBody>
            <a:bodyPr wrap="none" lIns="0" tIns="0" rIns="0" bIns="0" anchor="t" anchorCtr="0">
              <a:spAutoFit/>
            </a:bodyPr>
            <a:lstStyle/>
            <a:p>
              <a:pPr algn="l"/>
              <a:r>
                <a:rPr lang="en-US" sz="1350" dirty="0">
                  <a:solidFill>
                    <a:srgbClr val="FFFDF7"/>
                  </a:solidFill>
                  <a:latin typeface="+mn-lt"/>
                  <a:ea typeface="+mn-ea"/>
                  <a:cs typeface="+mn-cs"/>
                </a:rPr>
                <a:t>Enforce user / case / resource / action</a:t>
              </a:r>
            </a:p>
          </p:txBody>
        </p:sp>
        <p:sp>
          <p:nvSpPr>
            <p:cNvPr id="17" name="Line 17"/>
            <p:cNvSpPr/>
            <p:nvPr/>
          </p:nvSpPr>
          <p:spPr>
            <a:xfrm>
              <a:off x="4857750" y="3371850"/>
              <a:ext cx="1" cy="228600"/>
            </a:xfrm>
            <a:prstGeom prst="line">
              <a:avLst/>
            </a:prstGeom>
            <a:noFill/>
            <a:ln w="19050">
              <a:solidFill>
                <a:schemeClr val="accent2"/>
              </a:solidFill>
              <a:tailEnd type="triangle" w="lg" len="lg"/>
            </a:ln>
          </p:spPr>
        </p:sp>
        <p:sp>
          <p:nvSpPr>
            <p:cNvPr id="18" name="Rectangle 18"/>
            <p:cNvSpPr/>
            <p:nvPr/>
          </p:nvSpPr>
          <p:spPr>
            <a:xfrm>
              <a:off x="2762250" y="3705225"/>
              <a:ext cx="4191000" cy="400050"/>
            </a:xfrm>
            <a:prstGeom prst="rect">
              <a:avLst/>
            </a:prstGeom>
            <a:solidFill>
              <a:schemeClr val="lt2"/>
            </a:solidFill>
            <a:ln>
              <a:noFill/>
            </a:ln>
          </p:spPr>
        </p:sp>
        <p:sp>
          <p:nvSpPr>
            <p:cNvPr id="19" name="TextBox 19"/>
            <p:cNvSpPr txBox="1"/>
            <p:nvPr/>
          </p:nvSpPr>
          <p:spPr>
            <a:xfrm>
              <a:off x="3236911" y="3797300"/>
              <a:ext cx="3241678" cy="264033"/>
            </a:xfrm>
            <a:prstGeom prst="rect">
              <a:avLst/>
            </a:prstGeom>
            <a:noFill/>
            <a:ln>
              <a:noFill/>
            </a:ln>
          </p:spPr>
          <p:txBody>
            <a:bodyPr wrap="none" lIns="0" tIns="0" rIns="0" bIns="0" anchor="t" anchorCtr="0">
              <a:spAutoFit/>
            </a:bodyPr>
            <a:lstStyle/>
            <a:p>
              <a:pPr algn="ctr"/>
              <a:r>
                <a:rPr lang="en-US" sz="1350" dirty="0">
                  <a:solidFill>
                    <a:schemeClr val="accent2"/>
                  </a:solidFill>
                  <a:latin typeface="+mn-lt"/>
                  <a:ea typeface="+mn-ea"/>
                  <a:cs typeface="+mn-cs"/>
                </a:rPr>
                <a:t>Deny or route required exception review</a:t>
              </a:r>
            </a:p>
          </p:txBody>
        </p:sp>
      </p:grpSp>
      <p:grpSp>
        <p:nvGrpSpPr>
          <p:cNvPr id="23" name="owned-system"/>
          <p:cNvGrpSpPr/>
          <p:nvPr/>
        </p:nvGrpSpPr>
        <p:grpSpPr>
          <a:xfrm>
            <a:off x="448056" y="4495800"/>
            <a:ext cx="3076766" cy="1528445"/>
            <a:chOff x="448056" y="4495800"/>
            <a:chExt cx="3076766" cy="1528445"/>
          </a:xfrm>
        </p:grpSpPr>
        <p:sp>
          <p:nvSpPr>
            <p:cNvPr id="21" name="TextBox 21"/>
            <p:cNvSpPr txBox="1"/>
            <p:nvPr/>
          </p:nvSpPr>
          <p:spPr>
            <a:xfrm>
              <a:off x="448056" y="4495800"/>
              <a:ext cx="176425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Owned systems</a:t>
              </a:r>
            </a:p>
          </p:txBody>
        </p:sp>
        <p:sp>
          <p:nvSpPr>
            <p:cNvPr id="22" name="TextBox 22"/>
            <p:cNvSpPr txBox="1"/>
            <p:nvPr/>
          </p:nvSpPr>
          <p:spPr>
            <a:xfrm>
              <a:off x="449580" y="4930775"/>
              <a:ext cx="3075242"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Two Sigma describes owners,</a:t>
              </a:r>
              <a:br>
                <a:rPr lang="en-US" sz="1500" dirty="0">
                  <a:solidFill>
                    <a:schemeClr val="dk1"/>
                  </a:solidFill>
                  <a:latin typeface="+mn-lt"/>
                  <a:ea typeface="+mn-ea"/>
                  <a:cs typeface="+mn-cs"/>
                </a:rPr>
              </a:br>
              <a:r>
                <a:rPr lang="en-US" sz="1500" dirty="0">
                  <a:solidFill>
                    <a:schemeClr val="dk1"/>
                  </a:solidFill>
                  <a:latin typeface="+mn-lt"/>
                  <a:ea typeface="+mn-ea"/>
                  <a:cs typeface="+mn-cs"/>
                </a:rPr>
                <a:t>products, tools, evaluations,</a:t>
              </a:r>
              <a:br>
                <a:rPr lang="en-US" sz="1500" dirty="0">
                  <a:solidFill>
                    <a:schemeClr val="dk1"/>
                  </a:solidFill>
                  <a:latin typeface="+mn-lt"/>
                  <a:ea typeface="+mn-ea"/>
                  <a:cs typeface="+mn-cs"/>
                </a:rPr>
              </a:br>
              <a:r>
                <a:rPr lang="en-US" sz="1500" dirty="0">
                  <a:solidFill>
                    <a:schemeClr val="dk1"/>
                  </a:solidFill>
                  <a:latin typeface="+mn-lt"/>
                  <a:ea typeface="+mn-ea"/>
                  <a:cs typeface="+mn-cs"/>
                </a:rPr>
                <a:t>access declarations and risk scores.</a:t>
              </a:r>
              <a:br>
                <a:rPr lang="en-US" sz="1500" dirty="0">
                  <a:solidFill>
                    <a:schemeClr val="dk1"/>
                  </a:solidFill>
                  <a:latin typeface="+mn-lt"/>
                  <a:ea typeface="+mn-ea"/>
                  <a:cs typeface="+mn-cs"/>
                </a:rPr>
              </a:br>
              <a:r>
                <a:rPr lang="en-US" sz="1500" dirty="0">
                  <a:solidFill>
                    <a:schemeClr val="dk1"/>
                  </a:solidFill>
                  <a:latin typeface="+mn-lt"/>
                  <a:ea typeface="+mn-ea"/>
                  <a:cs typeface="+mn-cs"/>
                </a:rPr>
                <a:t>A registry is not enforcement proof.</a:t>
              </a:r>
            </a:p>
          </p:txBody>
        </p:sp>
      </p:grpSp>
      <p:grpSp>
        <p:nvGrpSpPr>
          <p:cNvPr id="26" name="scope-tests"/>
          <p:cNvGrpSpPr/>
          <p:nvPr/>
        </p:nvGrpSpPr>
        <p:grpSpPr>
          <a:xfrm>
            <a:off x="4181856" y="4495800"/>
            <a:ext cx="3045447" cy="1528445"/>
            <a:chOff x="4181856" y="4495800"/>
            <a:chExt cx="3045447" cy="1528445"/>
          </a:xfrm>
        </p:grpSpPr>
        <p:sp>
          <p:nvSpPr>
            <p:cNvPr id="24" name="TextBox 24"/>
            <p:cNvSpPr txBox="1"/>
            <p:nvPr/>
          </p:nvSpPr>
          <p:spPr>
            <a:xfrm>
              <a:off x="4181856" y="4495800"/>
              <a:ext cx="264250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Challenge the boundary</a:t>
              </a:r>
            </a:p>
          </p:txBody>
        </p:sp>
        <p:sp>
          <p:nvSpPr>
            <p:cNvPr id="25" name="TextBox 25"/>
            <p:cNvSpPr txBox="1"/>
            <p:nvPr/>
          </p:nvSpPr>
          <p:spPr>
            <a:xfrm>
              <a:off x="4183380" y="4930775"/>
              <a:ext cx="3043923"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Test revocation, cross-user access,</a:t>
              </a:r>
              <a:br>
                <a:rPr lang="en-US" sz="1500" dirty="0">
                  <a:solidFill>
                    <a:schemeClr val="dk1"/>
                  </a:solidFill>
                  <a:latin typeface="+mn-lt"/>
                  <a:ea typeface="+mn-ea"/>
                  <a:cs typeface="+mn-cs"/>
                </a:rPr>
              </a:br>
              <a:r>
                <a:rPr lang="en-US" sz="1500" dirty="0">
                  <a:solidFill>
                    <a:schemeClr val="dk1"/>
                  </a:solidFill>
                  <a:latin typeface="+mn-lt"/>
                  <a:ea typeface="+mn-ea"/>
                  <a:cs typeface="+mn-cs"/>
                </a:rPr>
                <a:t>retries and duplicate requests.</a:t>
              </a:r>
              <a:br>
                <a:rPr lang="en-US" sz="1500" dirty="0">
                  <a:solidFill>
                    <a:schemeClr val="dk1"/>
                  </a:solidFill>
                  <a:latin typeface="+mn-lt"/>
                  <a:ea typeface="+mn-ea"/>
                  <a:cs typeface="+mn-cs"/>
                </a:rPr>
              </a:br>
              <a:r>
                <a:rPr lang="en-US" sz="1500" dirty="0">
                  <a:solidFill>
                    <a:schemeClr val="dk1"/>
                  </a:solidFill>
                  <a:latin typeface="+mn-lt"/>
                  <a:ea typeface="+mn-ea"/>
                  <a:cs typeface="+mn-cs"/>
                </a:rPr>
                <a:t>A working credential does not prove</a:t>
              </a:r>
              <a:br>
                <a:rPr lang="en-US" sz="1500" dirty="0">
                  <a:solidFill>
                    <a:schemeClr val="dk1"/>
                  </a:solidFill>
                  <a:latin typeface="+mn-lt"/>
                  <a:ea typeface="+mn-ea"/>
                  <a:cs typeface="+mn-cs"/>
                </a:rPr>
              </a:br>
              <a:r>
                <a:rPr lang="en-US" sz="1500" dirty="0">
                  <a:solidFill>
                    <a:schemeClr val="dk1"/>
                  </a:solidFill>
                  <a:latin typeface="+mn-lt"/>
                  <a:ea typeface="+mn-ea"/>
                  <a:cs typeface="+mn-cs"/>
                </a:rPr>
                <a:t>the business action is appropriate.</a:t>
              </a:r>
            </a:p>
          </p:txBody>
        </p:sp>
      </p:grpSp>
      <p:grpSp>
        <p:nvGrpSpPr>
          <p:cNvPr id="29" name="fallible-triage"/>
          <p:cNvGrpSpPr/>
          <p:nvPr/>
        </p:nvGrpSpPr>
        <p:grpSpPr>
          <a:xfrm>
            <a:off x="7915656" y="4495800"/>
            <a:ext cx="3294435" cy="1702308"/>
            <a:chOff x="7915656" y="4495800"/>
            <a:chExt cx="3294435" cy="1702308"/>
          </a:xfrm>
        </p:grpSpPr>
        <p:sp>
          <p:nvSpPr>
            <p:cNvPr id="27" name="TextBox 27"/>
            <p:cNvSpPr txBox="1"/>
            <p:nvPr/>
          </p:nvSpPr>
          <p:spPr>
            <a:xfrm>
              <a:off x="7915656" y="4495800"/>
              <a:ext cx="2790066"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Approval triage is fallible</a:t>
              </a:r>
            </a:p>
          </p:txBody>
        </p:sp>
        <p:sp>
          <p:nvSpPr>
            <p:cNvPr id="28" name="TextBox 28"/>
            <p:cNvSpPr txBox="1"/>
            <p:nvPr/>
          </p:nvSpPr>
          <p:spPr>
            <a:xfrm>
              <a:off x="7917942" y="4943475"/>
              <a:ext cx="3292149" cy="12546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The independent classifier’s type, accuracy</a:t>
              </a:r>
              <a:br>
                <a:rPr lang="en-US" sz="1350" dirty="0">
                  <a:solidFill>
                    <a:schemeClr val="dk1"/>
                  </a:solidFill>
                  <a:latin typeface="+mn-lt"/>
                  <a:ea typeface="+mn-ea"/>
                  <a:cs typeface="+mn-cs"/>
                </a:rPr>
              </a:br>
              <a:r>
                <a:rPr lang="en-US" sz="1350" dirty="0">
                  <a:solidFill>
                    <a:schemeClr val="dk1"/>
                  </a:solidFill>
                  <a:latin typeface="+mn-lt"/>
                  <a:ea typeface="+mn-ea"/>
                  <a:cs typeface="+mn-cs"/>
                </a:rPr>
                <a:t>and power were unspecified. Test missed</a:t>
              </a:r>
              <a:br>
                <a:rPr lang="en-US" sz="1350" dirty="0">
                  <a:solidFill>
                    <a:schemeClr val="dk1"/>
                  </a:solidFill>
                  <a:latin typeface="+mn-lt"/>
                  <a:ea typeface="+mn-ea"/>
                  <a:cs typeface="+mn-cs"/>
                </a:rPr>
              </a:br>
              <a:r>
                <a:rPr lang="en-US" sz="1350" dirty="0">
                  <a:solidFill>
                    <a:schemeClr val="dk1"/>
                  </a:solidFill>
                  <a:latin typeface="+mn-lt"/>
                  <a:ea typeface="+mn-ea"/>
                  <a:cs typeface="+mn-cs"/>
                </a:rPr>
                <a:t>consequential cases and needless</a:t>
              </a:r>
              <a:br>
                <a:rPr lang="en-US" sz="1350" dirty="0">
                  <a:solidFill>
                    <a:schemeClr val="dk1"/>
                  </a:solidFill>
                  <a:latin typeface="+mn-lt"/>
                  <a:ea typeface="+mn-ea"/>
                  <a:cs typeface="+mn-cs"/>
                </a:rPr>
              </a:br>
              <a:r>
                <a:rPr lang="en-US" sz="1350" dirty="0">
                  <a:solidFill>
                    <a:schemeClr val="dk1"/>
                  </a:solidFill>
                  <a:latin typeface="+mn-lt"/>
                  <a:ea typeface="+mn-ea"/>
                  <a:cs typeface="+mn-cs"/>
                </a:rPr>
                <a:t>interruptions; independence cannot waive</a:t>
              </a:r>
              <a:br>
                <a:rPr lang="en-US" sz="1350" dirty="0">
                  <a:solidFill>
                    <a:schemeClr val="dk1"/>
                  </a:solidFill>
                  <a:latin typeface="+mn-lt"/>
                  <a:ea typeface="+mn-ea"/>
                  <a:cs typeface="+mn-cs"/>
                </a:rPr>
              </a:br>
              <a:r>
                <a:rPr lang="en-US" sz="1350" dirty="0">
                  <a:solidFill>
                    <a:schemeClr val="dk1"/>
                  </a:solidFill>
                  <a:latin typeface="+mn-lt"/>
                  <a:ea typeface="+mn-ea"/>
                  <a:cs typeface="+mn-cs"/>
                </a:rPr>
                <a:t>required approval.</a:t>
              </a:r>
            </a:p>
          </p:txBody>
        </p:sp>
      </p:grpSp>
      <p:grpSp>
        <p:nvGrpSpPr>
          <p:cNvPr id="32" name="footer"/>
          <p:cNvGrpSpPr/>
          <p:nvPr/>
        </p:nvGrpSpPr>
        <p:grpSpPr>
          <a:xfrm>
            <a:off x="452438" y="6467475"/>
            <a:ext cx="11287124" cy="176212"/>
            <a:chOff x="452438" y="6467475"/>
            <a:chExt cx="11287124" cy="176212"/>
          </a:xfrm>
        </p:grpSpPr>
        <p:sp>
          <p:nvSpPr>
            <p:cNvPr id="30" name="TextBox 30"/>
            <p:cNvSpPr txBox="1"/>
            <p:nvPr/>
          </p:nvSpPr>
          <p:spPr>
            <a:xfrm>
              <a:off x="452438" y="6467475"/>
              <a:ext cx="6489454"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Two Sigma notes; Wise LOOP/versioned-policy agenda context. Combined control path is proposed synthesis.</a:t>
              </a:r>
            </a:p>
          </p:txBody>
        </p:sp>
        <p:sp>
          <p:nvSpPr>
            <p:cNvPr id="31" name="TextBox 31"/>
            <p:cNvSpPr txBox="1"/>
            <p:nvPr/>
          </p:nvSpPr>
          <p:spPr>
            <a:xfrm>
              <a:off x="11359512" y="64674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21 / 37</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276785" cy="1110107"/>
            <a:chOff x="443484" y="371475"/>
            <a:chExt cx="9276785" cy="1110107"/>
          </a:xfrm>
        </p:grpSpPr>
        <p:sp>
          <p:nvSpPr>
            <p:cNvPr id="2" name="TextBox 2"/>
            <p:cNvSpPr txBox="1"/>
            <p:nvPr/>
          </p:nvSpPr>
          <p:spPr>
            <a:xfrm>
              <a:off x="451104" y="371475"/>
              <a:ext cx="317982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04 / SONAR’S VERIFICATION FRAMING</a:t>
              </a:r>
            </a:p>
          </p:txBody>
        </p:sp>
        <p:sp>
          <p:nvSpPr>
            <p:cNvPr id="3" name="TextBox 3"/>
            <p:cNvSpPr txBox="1"/>
            <p:nvPr/>
          </p:nvSpPr>
          <p:spPr>
            <a:xfrm>
              <a:off x="443484" y="603250"/>
              <a:ext cx="6637642"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Verify at creation, release and operation</a:t>
              </a:r>
            </a:p>
          </p:txBody>
        </p:sp>
        <p:sp>
          <p:nvSpPr>
            <p:cNvPr id="4" name="TextBox 4"/>
            <p:cNvSpPr txBox="1"/>
            <p:nvPr/>
          </p:nvSpPr>
          <p:spPr>
            <a:xfrm>
              <a:off x="448818" y="1158875"/>
              <a:ext cx="927145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Different checkpoints expose different defects; a checker’s effectiveness also needs evidence.</a:t>
              </a:r>
            </a:p>
          </p:txBody>
        </p:sp>
      </p:grpSp>
      <p:grpSp>
        <p:nvGrpSpPr>
          <p:cNvPr id="10" name="creation"/>
          <p:cNvGrpSpPr/>
          <p:nvPr/>
        </p:nvGrpSpPr>
        <p:grpSpPr>
          <a:xfrm>
            <a:off x="448056" y="1819275"/>
            <a:ext cx="3438144" cy="2299970"/>
            <a:chOff x="448056" y="1819275"/>
            <a:chExt cx="3438144" cy="2299970"/>
          </a:xfrm>
        </p:grpSpPr>
        <p:sp>
          <p:nvSpPr>
            <p:cNvPr id="6" name="Line 6"/>
            <p:cNvSpPr/>
            <p:nvPr/>
          </p:nvSpPr>
          <p:spPr>
            <a:xfrm>
              <a:off x="457200" y="1819275"/>
              <a:ext cx="3429000" cy="9525"/>
            </a:xfrm>
            <a:custGeom>
              <a:avLst/>
              <a:gdLst/>
              <a:ahLst/>
              <a:cxnLst/>
              <a:rect l="l" t="t" r="r" b="b"/>
              <a:pathLst>
                <a:path w="3429000" h="9525">
                  <a:moveTo>
                    <a:pt x="0" y="0"/>
                  </a:moveTo>
                  <a:lnTo>
                    <a:pt x="3429000" y="0"/>
                  </a:lnTo>
                </a:path>
              </a:pathLst>
            </a:custGeom>
            <a:noFill/>
            <a:ln w="28575">
              <a:solidFill>
                <a:schemeClr val="accent2"/>
              </a:solidFill>
            </a:ln>
          </p:spPr>
        </p:sp>
        <p:sp>
          <p:nvSpPr>
            <p:cNvPr id="7" name="TextBox 7"/>
            <p:cNvSpPr txBox="1"/>
            <p:nvPr/>
          </p:nvSpPr>
          <p:spPr>
            <a:xfrm>
              <a:off x="448056" y="1981200"/>
              <a:ext cx="1521139"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Creation loop</a:t>
              </a:r>
            </a:p>
          </p:txBody>
        </p:sp>
        <p:sp>
          <p:nvSpPr>
            <p:cNvPr id="8" name="TextBox 8"/>
            <p:cNvSpPr txBox="1"/>
            <p:nvPr/>
          </p:nvSpPr>
          <p:spPr>
            <a:xfrm>
              <a:off x="449580" y="2473325"/>
              <a:ext cx="3011996"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Guide goals, standards and</a:t>
              </a:r>
              <a:br>
                <a:rPr lang="en-US" sz="1500" dirty="0">
                  <a:solidFill>
                    <a:schemeClr val="dk1"/>
                  </a:solidFill>
                  <a:latin typeface="+mn-lt"/>
                  <a:ea typeface="+mn-ea"/>
                  <a:cs typeface="+mn-cs"/>
                </a:rPr>
              </a:br>
              <a:r>
                <a:rPr lang="en-US" sz="1500" dirty="0">
                  <a:solidFill>
                    <a:schemeClr val="dk1"/>
                  </a:solidFill>
                  <a:latin typeface="+mn-lt"/>
                  <a:ea typeface="+mn-ea"/>
                  <a:cs typeface="+mn-cs"/>
                </a:rPr>
                <a:t>constraints; inspect generated work</a:t>
              </a:r>
              <a:br>
                <a:rPr lang="en-US" sz="1500" dirty="0">
                  <a:solidFill>
                    <a:schemeClr val="dk1"/>
                  </a:solidFill>
                  <a:latin typeface="+mn-lt"/>
                  <a:ea typeface="+mn-ea"/>
                  <a:cs typeface="+mn-cs"/>
                </a:rPr>
              </a:br>
              <a:r>
                <a:rPr lang="en-US" sz="1500" dirty="0">
                  <a:solidFill>
                    <a:schemeClr val="dk1"/>
                  </a:solidFill>
                  <a:latin typeface="+mn-lt"/>
                  <a:ea typeface="+mn-ea"/>
                  <a:cs typeface="+mn-cs"/>
                </a:rPr>
                <a:t>for local issues.</a:t>
              </a:r>
            </a:p>
          </p:txBody>
        </p:sp>
        <p:sp>
          <p:nvSpPr>
            <p:cNvPr id="9" name="TextBox 9"/>
            <p:cNvSpPr txBox="1"/>
            <p:nvPr/>
          </p:nvSpPr>
          <p:spPr>
            <a:xfrm>
              <a:off x="449580" y="3292475"/>
              <a:ext cx="3075546"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Another model’s agreement or quick</a:t>
              </a:r>
              <a:br>
                <a:rPr lang="en-US" sz="1500" dirty="0">
                  <a:solidFill>
                    <a:schemeClr val="dk1"/>
                  </a:solidFill>
                  <a:latin typeface="+mn-lt"/>
                  <a:ea typeface="+mn-ea"/>
                  <a:cs typeface="+mn-cs"/>
                </a:rPr>
              </a:br>
              <a:r>
                <a:rPr lang="en-US" sz="1500" dirty="0">
                  <a:solidFill>
                    <a:schemeClr val="dk1"/>
                  </a:solidFill>
                  <a:latin typeface="+mn-lt"/>
                  <a:ea typeface="+mn-ea"/>
                  <a:cs typeface="+mn-cs"/>
                </a:rPr>
                <a:t>human approval does not supply</a:t>
              </a:r>
              <a:br>
                <a:rPr lang="en-US" sz="1500" dirty="0">
                  <a:solidFill>
                    <a:schemeClr val="dk1"/>
                  </a:solidFill>
                  <a:latin typeface="+mn-lt"/>
                  <a:ea typeface="+mn-ea"/>
                  <a:cs typeface="+mn-cs"/>
                </a:rPr>
              </a:br>
              <a:r>
                <a:rPr lang="en-US" sz="1500" dirty="0">
                  <a:solidFill>
                    <a:schemeClr val="dk1"/>
                  </a:solidFill>
                  <a:latin typeface="+mn-lt"/>
                  <a:ea typeface="+mn-ea"/>
                  <a:cs typeface="+mn-cs"/>
                </a:rPr>
                <a:t>independent correctness evidence.</a:t>
              </a:r>
            </a:p>
          </p:txBody>
        </p:sp>
      </p:grpSp>
      <p:grpSp>
        <p:nvGrpSpPr>
          <p:cNvPr id="15" name="release"/>
          <p:cNvGrpSpPr/>
          <p:nvPr/>
        </p:nvGrpSpPr>
        <p:grpSpPr>
          <a:xfrm>
            <a:off x="4181856" y="1819275"/>
            <a:ext cx="3438144" cy="2299970"/>
            <a:chOff x="4181856" y="1819275"/>
            <a:chExt cx="3438144" cy="2299970"/>
          </a:xfrm>
        </p:grpSpPr>
        <p:sp>
          <p:nvSpPr>
            <p:cNvPr id="11" name="Line 11"/>
            <p:cNvSpPr/>
            <p:nvPr/>
          </p:nvSpPr>
          <p:spPr>
            <a:xfrm>
              <a:off x="4191000" y="1819275"/>
              <a:ext cx="3429000" cy="9525"/>
            </a:xfrm>
            <a:custGeom>
              <a:avLst/>
              <a:gdLst/>
              <a:ahLst/>
              <a:cxnLst/>
              <a:rect l="l" t="t" r="r" b="b"/>
              <a:pathLst>
                <a:path w="3429000" h="9525">
                  <a:moveTo>
                    <a:pt x="0" y="0"/>
                  </a:moveTo>
                  <a:lnTo>
                    <a:pt x="3429000" y="0"/>
                  </a:lnTo>
                </a:path>
              </a:pathLst>
            </a:custGeom>
            <a:noFill/>
            <a:ln w="28575">
              <a:solidFill>
                <a:schemeClr val="accent2"/>
              </a:solidFill>
            </a:ln>
          </p:spPr>
        </p:sp>
        <p:sp>
          <p:nvSpPr>
            <p:cNvPr id="12" name="TextBox 12"/>
            <p:cNvSpPr txBox="1"/>
            <p:nvPr/>
          </p:nvSpPr>
          <p:spPr>
            <a:xfrm>
              <a:off x="4181856" y="1981200"/>
              <a:ext cx="142348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Release loop</a:t>
              </a:r>
            </a:p>
          </p:txBody>
        </p:sp>
        <p:sp>
          <p:nvSpPr>
            <p:cNvPr id="13" name="TextBox 13"/>
            <p:cNvSpPr txBox="1"/>
            <p:nvPr/>
          </p:nvSpPr>
          <p:spPr>
            <a:xfrm>
              <a:off x="4183380" y="2473325"/>
              <a:ext cx="3191599"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Test interfaces, permissions, financial</a:t>
              </a:r>
              <a:br>
                <a:rPr lang="en-US" sz="1500" dirty="0">
                  <a:solidFill>
                    <a:schemeClr val="dk1"/>
                  </a:solidFill>
                  <a:latin typeface="+mn-lt"/>
                  <a:ea typeface="+mn-ea"/>
                  <a:cs typeface="+mn-cs"/>
                </a:rPr>
              </a:br>
              <a:r>
                <a:rPr lang="en-US" sz="1500" dirty="0">
                  <a:solidFill>
                    <a:schemeClr val="dk1"/>
                  </a:solidFill>
                  <a:latin typeface="+mn-lt"/>
                  <a:ea typeface="+mn-ea"/>
                  <a:cs typeface="+mn-cs"/>
                </a:rPr>
                <a:t>invariants and broader regressions.</a:t>
              </a:r>
            </a:p>
          </p:txBody>
        </p:sp>
        <p:sp>
          <p:nvSpPr>
            <p:cNvPr id="14" name="TextBox 14"/>
            <p:cNvSpPr txBox="1"/>
            <p:nvPr/>
          </p:nvSpPr>
          <p:spPr>
            <a:xfrm>
              <a:off x="4183380" y="3292475"/>
              <a:ext cx="2895752"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Retain reproducible test evidence;</a:t>
              </a:r>
              <a:br>
                <a:rPr lang="en-US" sz="1500" dirty="0">
                  <a:solidFill>
                    <a:schemeClr val="dk1"/>
                  </a:solidFill>
                  <a:latin typeface="+mn-lt"/>
                  <a:ea typeface="+mn-ea"/>
                  <a:cs typeface="+mn-cs"/>
                </a:rPr>
              </a:br>
              <a:r>
                <a:rPr lang="en-US" sz="1500" dirty="0">
                  <a:solidFill>
                    <a:schemeClr val="dk1"/>
                  </a:solidFill>
                  <a:latin typeface="+mn-lt"/>
                  <a:ea typeface="+mn-ea"/>
                  <a:cs typeface="+mn-cs"/>
                </a:rPr>
                <a:t>assess what important defects the</a:t>
              </a:r>
              <a:br>
                <a:rPr lang="en-US" sz="1500" dirty="0">
                  <a:solidFill>
                    <a:schemeClr val="dk1"/>
                  </a:solidFill>
                  <a:latin typeface="+mn-lt"/>
                  <a:ea typeface="+mn-ea"/>
                  <a:cs typeface="+mn-cs"/>
                </a:rPr>
              </a:br>
              <a:r>
                <a:rPr lang="en-US" sz="1500" dirty="0">
                  <a:solidFill>
                    <a:schemeClr val="dk1"/>
                  </a:solidFill>
                  <a:latin typeface="+mn-lt"/>
                  <a:ea typeface="+mn-ea"/>
                  <a:cs typeface="+mn-cs"/>
                </a:rPr>
                <a:t>checker actually detects.</a:t>
              </a:r>
            </a:p>
          </p:txBody>
        </p:sp>
      </p:grpSp>
      <p:grpSp>
        <p:nvGrpSpPr>
          <p:cNvPr id="20" name="operation"/>
          <p:cNvGrpSpPr/>
          <p:nvPr/>
        </p:nvGrpSpPr>
        <p:grpSpPr>
          <a:xfrm>
            <a:off x="7915656" y="1819275"/>
            <a:ext cx="3819144" cy="2299970"/>
            <a:chOff x="7915656" y="1819275"/>
            <a:chExt cx="3819144" cy="2299970"/>
          </a:xfrm>
        </p:grpSpPr>
        <p:sp>
          <p:nvSpPr>
            <p:cNvPr id="16" name="Line 16"/>
            <p:cNvSpPr/>
            <p:nvPr/>
          </p:nvSpPr>
          <p:spPr>
            <a:xfrm>
              <a:off x="7924800" y="1819275"/>
              <a:ext cx="3810000" cy="9525"/>
            </a:xfrm>
            <a:custGeom>
              <a:avLst/>
              <a:gdLst/>
              <a:ahLst/>
              <a:cxnLst/>
              <a:rect l="l" t="t" r="r" b="b"/>
              <a:pathLst>
                <a:path w="3810000" h="9525">
                  <a:moveTo>
                    <a:pt x="0" y="0"/>
                  </a:moveTo>
                  <a:lnTo>
                    <a:pt x="3810000" y="0"/>
                  </a:lnTo>
                </a:path>
              </a:pathLst>
            </a:custGeom>
            <a:noFill/>
            <a:ln w="28575">
              <a:solidFill>
                <a:schemeClr val="accent2"/>
              </a:solidFill>
            </a:ln>
          </p:spPr>
        </p:sp>
        <p:sp>
          <p:nvSpPr>
            <p:cNvPr id="17" name="TextBox 17"/>
            <p:cNvSpPr txBox="1"/>
            <p:nvPr/>
          </p:nvSpPr>
          <p:spPr>
            <a:xfrm>
              <a:off x="7915656" y="1981200"/>
              <a:ext cx="168749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Operation loop</a:t>
              </a:r>
            </a:p>
          </p:txBody>
        </p:sp>
        <p:sp>
          <p:nvSpPr>
            <p:cNvPr id="18" name="TextBox 18"/>
            <p:cNvSpPr txBox="1"/>
            <p:nvPr/>
          </p:nvSpPr>
          <p:spPr>
            <a:xfrm>
              <a:off x="7917180" y="2473325"/>
              <a:ext cx="3583724"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Reproduce escaped failures, verify repairs</a:t>
              </a:r>
              <a:br>
                <a:rPr lang="en-US" sz="1500" dirty="0">
                  <a:solidFill>
                    <a:schemeClr val="dk1"/>
                  </a:solidFill>
                  <a:latin typeface="+mn-lt"/>
                  <a:ea typeface="+mn-ea"/>
                  <a:cs typeface="+mn-cs"/>
                </a:rPr>
              </a:br>
              <a:r>
                <a:rPr lang="en-US" sz="1500" dirty="0">
                  <a:solidFill>
                    <a:schemeClr val="dk1"/>
                  </a:solidFill>
                  <a:latin typeface="+mn-lt"/>
                  <a:ea typeface="+mn-ea"/>
                  <a:cs typeface="+mn-cs"/>
                </a:rPr>
                <a:t>against other work and retain rollback.</a:t>
              </a:r>
            </a:p>
          </p:txBody>
        </p:sp>
        <p:sp>
          <p:nvSpPr>
            <p:cNvPr id="19" name="TextBox 19"/>
            <p:cNvSpPr txBox="1"/>
            <p:nvPr/>
          </p:nvSpPr>
          <p:spPr>
            <a:xfrm>
              <a:off x="7917180" y="3292475"/>
              <a:ext cx="331896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Prevention remains a priority; detection</a:t>
              </a:r>
              <a:br>
                <a:rPr lang="en-US" sz="1500" dirty="0">
                  <a:solidFill>
                    <a:schemeClr val="dk1"/>
                  </a:solidFill>
                  <a:latin typeface="+mn-lt"/>
                  <a:ea typeface="+mn-ea"/>
                  <a:cs typeface="+mn-cs"/>
                </a:rPr>
              </a:br>
              <a:r>
                <a:rPr lang="en-US" sz="1500" dirty="0">
                  <a:solidFill>
                    <a:schemeClr val="dk1"/>
                  </a:solidFill>
                  <a:latin typeface="+mn-lt"/>
                  <a:ea typeface="+mn-ea"/>
                  <a:cs typeface="+mn-cs"/>
                </a:rPr>
                <a:t>and response remain necessary.</a:t>
              </a:r>
              <a:br>
                <a:rPr lang="en-US" sz="1500" dirty="0">
                  <a:solidFill>
                    <a:schemeClr val="dk1"/>
                  </a:solidFill>
                  <a:latin typeface="+mn-lt"/>
                  <a:ea typeface="+mn-ea"/>
                  <a:cs typeface="+mn-cs"/>
                </a:rPr>
              </a:br>
              <a:r>
                <a:rPr lang="en-US" sz="1500" dirty="0">
                  <a:solidFill>
                    <a:schemeClr val="dk1"/>
                  </a:solidFill>
                  <a:latin typeface="+mn-lt"/>
                  <a:ea typeface="+mn-ea"/>
                  <a:cs typeface="+mn-cs"/>
                </a:rPr>
                <a:t>No self-healing result is established.</a:t>
              </a:r>
            </a:p>
          </p:txBody>
        </p:sp>
      </p:grpSp>
      <p:grpSp>
        <p:nvGrpSpPr>
          <p:cNvPr id="24" name="confidence-checklist"/>
          <p:cNvGrpSpPr/>
          <p:nvPr/>
        </p:nvGrpSpPr>
        <p:grpSpPr>
          <a:xfrm>
            <a:off x="457200" y="4524375"/>
            <a:ext cx="11277600" cy="847725"/>
            <a:chOff x="457200" y="4524375"/>
            <a:chExt cx="11277600" cy="847725"/>
          </a:xfrm>
        </p:grpSpPr>
        <p:sp>
          <p:nvSpPr>
            <p:cNvPr id="21" name="Rectangle 21"/>
            <p:cNvSpPr/>
            <p:nvPr/>
          </p:nvSpPr>
          <p:spPr>
            <a:xfrm>
              <a:off x="457200" y="4524375"/>
              <a:ext cx="11277600" cy="847725"/>
            </a:xfrm>
            <a:prstGeom prst="rect">
              <a:avLst/>
            </a:prstGeom>
            <a:solidFill>
              <a:schemeClr val="accent1"/>
            </a:solidFill>
            <a:ln>
              <a:noFill/>
            </a:ln>
          </p:spPr>
        </p:sp>
        <p:sp>
          <p:nvSpPr>
            <p:cNvPr id="22" name="TextBox 22"/>
            <p:cNvSpPr txBox="1"/>
            <p:nvPr/>
          </p:nvSpPr>
          <p:spPr>
            <a:xfrm>
              <a:off x="677418" y="4673600"/>
              <a:ext cx="4239750" cy="322707"/>
            </a:xfrm>
            <a:prstGeom prst="rect">
              <a:avLst/>
            </a:prstGeom>
            <a:noFill/>
            <a:ln>
              <a:noFill/>
            </a:ln>
          </p:spPr>
          <p:txBody>
            <a:bodyPr wrap="none" lIns="0" tIns="0" rIns="0" bIns="0" anchor="t" anchorCtr="0">
              <a:spAutoFit/>
            </a:bodyPr>
            <a:lstStyle/>
            <a:p>
              <a:pPr algn="l"/>
              <a:r>
                <a:rPr lang="en-US" sz="1650" dirty="0">
                  <a:solidFill>
                    <a:schemeClr val="accent3"/>
                  </a:solidFill>
                  <a:latin typeface="+mn-lt"/>
                  <a:ea typeface="+mn-ea"/>
                  <a:cs typeface="+mn-cs"/>
                </a:rPr>
                <a:t>Intent • Guardrails • Verification • Evidence</a:t>
              </a:r>
            </a:p>
          </p:txBody>
        </p:sp>
        <p:sp>
          <p:nvSpPr>
            <p:cNvPr id="23" name="TextBox 23"/>
            <p:cNvSpPr txBox="1"/>
            <p:nvPr/>
          </p:nvSpPr>
          <p:spPr>
            <a:xfrm>
              <a:off x="678180" y="5029200"/>
              <a:ext cx="9680463"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Use these as a design checklist. Their conceptual product is not a calibrated confidence score or probability.</a:t>
              </a:r>
            </a:p>
          </p:txBody>
        </p:sp>
      </p:grpSp>
      <p:grpSp>
        <p:nvGrpSpPr>
          <p:cNvPr id="26" name="source-limits"/>
          <p:cNvGrpSpPr/>
          <p:nvPr/>
        </p:nvGrpSpPr>
        <p:grpSpPr>
          <a:xfrm>
            <a:off x="450342" y="5667375"/>
            <a:ext cx="8609362" cy="511683"/>
            <a:chOff x="450342" y="5667375"/>
            <a:chExt cx="8609362" cy="511683"/>
          </a:xfrm>
        </p:grpSpPr>
        <p:sp>
          <p:nvSpPr>
            <p:cNvPr id="25" name="TextBox 25"/>
            <p:cNvSpPr txBox="1"/>
            <p:nvPr/>
          </p:nvSpPr>
          <p:spPr>
            <a:xfrm>
              <a:off x="450342" y="5667375"/>
              <a:ext cx="8609362"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The three loops come from Sonar’s official abstract; the four factors and over-reliance concerns come from notes.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The code-size example lacks benchmark conditions; no universal 50K-line limit or defect-rate formula is inferred.</a:t>
              </a:r>
            </a:p>
          </p:txBody>
        </p:sp>
      </p:grpSp>
      <p:grpSp>
        <p:nvGrpSpPr>
          <p:cNvPr id="29" name="footer"/>
          <p:cNvGrpSpPr/>
          <p:nvPr/>
        </p:nvGrpSpPr>
        <p:grpSpPr>
          <a:xfrm>
            <a:off x="452438" y="6477000"/>
            <a:ext cx="11287124" cy="176212"/>
            <a:chOff x="452438" y="6477000"/>
            <a:chExt cx="11287124" cy="176212"/>
          </a:xfrm>
        </p:grpSpPr>
        <p:sp>
          <p:nvSpPr>
            <p:cNvPr id="27" name="TextBox 27"/>
            <p:cNvSpPr txBox="1"/>
            <p:nvPr/>
          </p:nvSpPr>
          <p:spPr>
            <a:xfrm>
              <a:off x="452438" y="6477000"/>
              <a:ext cx="6674824"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Sonar notes/program. A passing suite or fail-leaning judge cannot establish coverage of every consequential failure.</a:t>
              </a:r>
            </a:p>
          </p:txBody>
        </p:sp>
        <p:sp>
          <p:nvSpPr>
            <p:cNvPr id="28" name="TextBox 28"/>
            <p:cNvSpPr txBox="1"/>
            <p:nvPr/>
          </p:nvSpPr>
          <p:spPr>
            <a:xfrm>
              <a:off x="11359512" y="64770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22 / 37</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925337" cy="1110107"/>
            <a:chOff x="443484" y="371475"/>
            <a:chExt cx="9925337" cy="1110107"/>
          </a:xfrm>
        </p:grpSpPr>
        <p:sp>
          <p:nvSpPr>
            <p:cNvPr id="2" name="TextBox 2"/>
            <p:cNvSpPr txBox="1"/>
            <p:nvPr/>
          </p:nvSpPr>
          <p:spPr>
            <a:xfrm>
              <a:off x="451104" y="371475"/>
              <a:ext cx="555071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04 / VANGUARD LEDGER MODERNIZATION — PROGRAM CONTEXT</a:t>
              </a:r>
            </a:p>
          </p:txBody>
        </p:sp>
        <p:sp>
          <p:nvSpPr>
            <p:cNvPr id="3" name="TextBox 3"/>
            <p:cNvSpPr txBox="1"/>
            <p:nvPr/>
          </p:nvSpPr>
          <p:spPr>
            <a:xfrm>
              <a:off x="443484" y="603250"/>
              <a:ext cx="6945108"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Faster code still needs financial invariants</a:t>
              </a:r>
            </a:p>
          </p:txBody>
        </p:sp>
        <p:sp>
          <p:nvSpPr>
            <p:cNvPr id="4" name="TextBox 4"/>
            <p:cNvSpPr txBox="1"/>
            <p:nvPr/>
          </p:nvSpPr>
          <p:spPr>
            <a:xfrm>
              <a:off x="448818" y="1158875"/>
              <a:ext cx="992000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AI-assisted engineering remains subordinate to complete, consistent and reconcilable financial state.</a:t>
              </a:r>
            </a:p>
          </p:txBody>
        </p:sp>
      </p:grpSp>
      <p:grpSp>
        <p:nvGrpSpPr>
          <p:cNvPr id="17" name="ledger-map"/>
          <p:cNvGrpSpPr/>
          <p:nvPr/>
        </p:nvGrpSpPr>
        <p:grpSpPr>
          <a:xfrm>
            <a:off x="457200" y="1752600"/>
            <a:ext cx="11277600" cy="2076450"/>
            <a:chOff x="457200" y="1752600"/>
            <a:chExt cx="11277600" cy="2076450"/>
          </a:xfrm>
        </p:grpSpPr>
        <p:sp>
          <p:nvSpPr>
            <p:cNvPr id="6" name="Rectangle 6"/>
            <p:cNvSpPr/>
            <p:nvPr/>
          </p:nvSpPr>
          <p:spPr>
            <a:xfrm>
              <a:off x="457200" y="1752600"/>
              <a:ext cx="2762250" cy="2076450"/>
            </a:xfrm>
            <a:prstGeom prst="rect">
              <a:avLst/>
            </a:prstGeom>
            <a:solidFill>
              <a:schemeClr val="lt2"/>
            </a:solidFill>
            <a:ln>
              <a:noFill/>
            </a:ln>
          </p:spPr>
        </p:sp>
        <p:sp>
          <p:nvSpPr>
            <p:cNvPr id="7" name="TextBox 7"/>
            <p:cNvSpPr txBox="1"/>
            <p:nvPr/>
          </p:nvSpPr>
          <p:spPr>
            <a:xfrm>
              <a:off x="657606" y="1914525"/>
              <a:ext cx="1558447"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Producers</a:t>
              </a:r>
            </a:p>
          </p:txBody>
        </p:sp>
        <p:sp>
          <p:nvSpPr>
            <p:cNvPr id="8" name="TextBox 8"/>
            <p:cNvSpPr txBox="1"/>
            <p:nvPr/>
          </p:nvSpPr>
          <p:spPr>
            <a:xfrm>
              <a:off x="659130" y="2435225"/>
              <a:ext cx="2228812"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Independent source</a:t>
              </a:r>
              <a:br>
                <a:rPr lang="en-US" sz="1500" dirty="0">
                  <a:solidFill>
                    <a:schemeClr val="dk1"/>
                  </a:solidFill>
                  <a:latin typeface="+mn-lt"/>
                  <a:ea typeface="+mn-ea"/>
                  <a:cs typeface="+mn-cs"/>
                </a:rPr>
              </a:br>
              <a:r>
                <a:rPr lang="en-US" sz="1500" dirty="0">
                  <a:solidFill>
                    <a:schemeClr val="dk1"/>
                  </a:solidFill>
                  <a:latin typeface="+mn-lt"/>
                  <a:ea typeface="+mn-ea"/>
                  <a:cs typeface="+mn-cs"/>
                </a:rPr>
                <a:t>onboarding and migration.</a:t>
              </a:r>
            </a:p>
          </p:txBody>
        </p:sp>
        <p:sp>
          <p:nvSpPr>
            <p:cNvPr id="9" name="Freeform 9"/>
            <p:cNvSpPr/>
            <p:nvPr/>
          </p:nvSpPr>
          <p:spPr>
            <a:xfrm>
              <a:off x="3533775" y="2552700"/>
              <a:ext cx="619125" cy="228600"/>
            </a:xfrm>
            <a:prstGeom prst="rightArrow">
              <a:avLst/>
            </a:prstGeom>
            <a:solidFill>
              <a:schemeClr val="accent2"/>
            </a:solidFill>
            <a:ln>
              <a:noFill/>
            </a:ln>
          </p:spPr>
        </p:sp>
        <p:sp>
          <p:nvSpPr>
            <p:cNvPr id="10" name="Rectangle 10"/>
            <p:cNvSpPr/>
            <p:nvPr/>
          </p:nvSpPr>
          <p:spPr>
            <a:xfrm>
              <a:off x="4305300" y="1752600"/>
              <a:ext cx="2971800" cy="2076450"/>
            </a:xfrm>
            <a:prstGeom prst="rect">
              <a:avLst/>
            </a:prstGeom>
            <a:solidFill>
              <a:schemeClr val="accent1"/>
            </a:solidFill>
            <a:ln>
              <a:noFill/>
            </a:ln>
          </p:spPr>
        </p:sp>
        <p:sp>
          <p:nvSpPr>
            <p:cNvPr id="11" name="TextBox 11"/>
            <p:cNvSpPr txBox="1"/>
            <p:nvPr/>
          </p:nvSpPr>
          <p:spPr>
            <a:xfrm>
              <a:off x="4505706" y="1914525"/>
              <a:ext cx="213119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2 / Gold-copy state</a:t>
              </a:r>
            </a:p>
          </p:txBody>
        </p:sp>
        <p:sp>
          <p:nvSpPr>
            <p:cNvPr id="12" name="TextBox 12"/>
            <p:cNvSpPr txBox="1"/>
            <p:nvPr/>
          </p:nvSpPr>
          <p:spPr>
            <a:xfrm>
              <a:off x="4507230" y="2435225"/>
              <a:ext cx="2228317"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Replication, consistency</a:t>
              </a:r>
              <a:br>
                <a:rPr lang="en-US" sz="1500" dirty="0">
                  <a:solidFill>
                    <a:srgbClr val="FFFDF7"/>
                  </a:solidFill>
                  <a:latin typeface="+mn-lt"/>
                  <a:ea typeface="+mn-ea"/>
                  <a:cs typeface="+mn-cs"/>
                </a:rPr>
              </a:br>
              <a:r>
                <a:rPr lang="en-US" sz="1500" dirty="0">
                  <a:solidFill>
                    <a:srgbClr val="FFFDF7"/>
                  </a:solidFill>
                  <a:latin typeface="+mn-lt"/>
                  <a:ea typeface="+mn-ea"/>
                  <a:cs typeface="+mn-cs"/>
                </a:rPr>
                <a:t>and CDC synchronization.</a:t>
              </a:r>
            </a:p>
          </p:txBody>
        </p:sp>
        <p:sp>
          <p:nvSpPr>
            <p:cNvPr id="13" name="Freeform 13"/>
            <p:cNvSpPr/>
            <p:nvPr/>
          </p:nvSpPr>
          <p:spPr>
            <a:xfrm>
              <a:off x="7600950" y="2552700"/>
              <a:ext cx="619125" cy="228600"/>
            </a:xfrm>
            <a:prstGeom prst="rightArrow">
              <a:avLst/>
            </a:prstGeom>
            <a:solidFill>
              <a:schemeClr val="accent2"/>
            </a:solidFill>
            <a:ln>
              <a:noFill/>
            </a:ln>
          </p:spPr>
        </p:sp>
        <p:sp>
          <p:nvSpPr>
            <p:cNvPr id="14" name="Rectangle 14"/>
            <p:cNvSpPr/>
            <p:nvPr/>
          </p:nvSpPr>
          <p:spPr>
            <a:xfrm>
              <a:off x="8382000" y="1752600"/>
              <a:ext cx="3352800" cy="2076450"/>
            </a:xfrm>
            <a:prstGeom prst="rect">
              <a:avLst/>
            </a:prstGeom>
            <a:solidFill>
              <a:schemeClr val="lt2"/>
            </a:solidFill>
            <a:ln>
              <a:noFill/>
            </a:ln>
          </p:spPr>
        </p:sp>
        <p:sp>
          <p:nvSpPr>
            <p:cNvPr id="15" name="TextBox 15"/>
            <p:cNvSpPr txBox="1"/>
            <p:nvPr/>
          </p:nvSpPr>
          <p:spPr>
            <a:xfrm>
              <a:off x="8582406" y="1914525"/>
              <a:ext cx="166466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Consumers</a:t>
              </a:r>
            </a:p>
          </p:txBody>
        </p:sp>
        <p:sp>
          <p:nvSpPr>
            <p:cNvPr id="16" name="TextBox 16"/>
            <p:cNvSpPr txBox="1"/>
            <p:nvPr/>
          </p:nvSpPr>
          <p:spPr>
            <a:xfrm>
              <a:off x="8583930" y="2435225"/>
              <a:ext cx="2757945"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Decoupled access and</a:t>
              </a:r>
              <a:br>
                <a:rPr lang="en-US" sz="1500" dirty="0">
                  <a:solidFill>
                    <a:schemeClr val="dk1"/>
                  </a:solidFill>
                  <a:latin typeface="+mn-lt"/>
                  <a:ea typeface="+mn-ea"/>
                  <a:cs typeface="+mn-cs"/>
                </a:rPr>
              </a:br>
              <a:r>
                <a:rPr lang="en-US" sz="1500" dirty="0">
                  <a:solidFill>
                    <a:schemeClr val="dk1"/>
                  </a:solidFill>
                  <a:latin typeface="+mn-lt"/>
                  <a:ea typeface="+mn-ea"/>
                  <a:cs typeface="+mn-cs"/>
                </a:rPr>
                <a:t>consumer migration;</a:t>
              </a:r>
              <a:br>
                <a:rPr lang="en-US" sz="1500" dirty="0">
                  <a:solidFill>
                    <a:schemeClr val="dk1"/>
                  </a:solidFill>
                  <a:latin typeface="+mn-lt"/>
                  <a:ea typeface="+mn-ea"/>
                  <a:cs typeface="+mn-cs"/>
                </a:rPr>
              </a:br>
              <a:r>
                <a:rPr lang="en-US" sz="1500" dirty="0">
                  <a:solidFill>
                    <a:schemeClr val="dk1"/>
                  </a:solidFill>
                  <a:latin typeface="+mn-lt"/>
                  <a:ea typeface="+mn-ea"/>
                  <a:cs typeface="+mn-cs"/>
                </a:rPr>
                <a:t>GraphQL in the advertised case.</a:t>
              </a:r>
            </a:p>
          </p:txBody>
        </p:sp>
      </p:grpSp>
      <p:grpSp>
        <p:nvGrpSpPr>
          <p:cNvPr id="21" name="observable-invariants"/>
          <p:cNvGrpSpPr/>
          <p:nvPr/>
        </p:nvGrpSpPr>
        <p:grpSpPr>
          <a:xfrm>
            <a:off x="448056" y="4248150"/>
            <a:ext cx="4654982" cy="1832483"/>
            <a:chOff x="448056" y="4248150"/>
            <a:chExt cx="4654982" cy="1832483"/>
          </a:xfrm>
        </p:grpSpPr>
        <p:sp>
          <p:nvSpPr>
            <p:cNvPr id="18" name="TextBox 18"/>
            <p:cNvSpPr txBox="1"/>
            <p:nvPr/>
          </p:nvSpPr>
          <p:spPr>
            <a:xfrm>
              <a:off x="448056" y="4248150"/>
              <a:ext cx="386840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Observe financial behavior directly</a:t>
              </a:r>
            </a:p>
          </p:txBody>
        </p:sp>
        <p:sp>
          <p:nvSpPr>
            <p:cNvPr id="19" name="TextBox 19"/>
            <p:cNvSpPr txBox="1"/>
            <p:nvPr/>
          </p:nvSpPr>
          <p:spPr>
            <a:xfrm>
              <a:off x="449580" y="4711700"/>
              <a:ext cx="4653458"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No missing or duplicate transactions; consistent state;</a:t>
              </a:r>
              <a:br>
                <a:rPr lang="en-US" sz="1500" dirty="0">
                  <a:solidFill>
                    <a:schemeClr val="dk1"/>
                  </a:solidFill>
                  <a:latin typeface="+mn-lt"/>
                  <a:ea typeface="+mn-ea"/>
                  <a:cs typeface="+mn-cs"/>
                </a:rPr>
              </a:br>
              <a:r>
                <a:rPr lang="en-US" sz="1500" dirty="0">
                  <a:solidFill>
                    <a:schemeClr val="dk1"/>
                  </a:solidFill>
                  <a:latin typeface="+mn-lt"/>
                  <a:ea typeface="+mn-ea"/>
                  <a:cs typeface="+mn-cs"/>
                </a:rPr>
                <a:t>database idempotency; controlled retries and recovery;</a:t>
              </a:r>
              <a:br>
                <a:rPr lang="en-US" sz="1500" dirty="0">
                  <a:solidFill>
                    <a:schemeClr val="dk1"/>
                  </a:solidFill>
                  <a:latin typeface="+mn-lt"/>
                  <a:ea typeface="+mn-ea"/>
                  <a:cs typeface="+mn-cs"/>
                </a:rPr>
              </a:br>
              <a:r>
                <a:rPr lang="en-US" sz="1500" dirty="0">
                  <a:solidFill>
                    <a:schemeClr val="dk1"/>
                  </a:solidFill>
                  <a:latin typeface="+mn-lt"/>
                  <a:ea typeface="+mn-ea"/>
                  <a:cs typeface="+mn-cs"/>
                </a:rPr>
                <a:t>reviewable reconciliation at the relevant boundaries.</a:t>
              </a:r>
            </a:p>
          </p:txBody>
        </p:sp>
        <p:sp>
          <p:nvSpPr>
            <p:cNvPr id="20" name="TextBox 20"/>
            <p:cNvSpPr txBox="1"/>
            <p:nvPr/>
          </p:nvSpPr>
          <p:spPr>
            <a:xfrm>
              <a:off x="450342" y="5816600"/>
              <a:ext cx="43127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Faster generation cannot prove those invariants hold.</a:t>
              </a:r>
            </a:p>
          </p:txBody>
        </p:sp>
      </p:grpSp>
      <p:grpSp>
        <p:nvGrpSpPr>
          <p:cNvPr id="25" name="ai-contribution"/>
          <p:cNvGrpSpPr/>
          <p:nvPr/>
        </p:nvGrpSpPr>
        <p:grpSpPr>
          <a:xfrm>
            <a:off x="6086856" y="4248150"/>
            <a:ext cx="5092639" cy="1832483"/>
            <a:chOff x="6086856" y="4248150"/>
            <a:chExt cx="5092639" cy="1832483"/>
          </a:xfrm>
        </p:grpSpPr>
        <p:sp>
          <p:nvSpPr>
            <p:cNvPr id="22" name="TextBox 22"/>
            <p:cNvSpPr txBox="1"/>
            <p:nvPr/>
          </p:nvSpPr>
          <p:spPr>
            <a:xfrm>
              <a:off x="6086856" y="4248150"/>
              <a:ext cx="424743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Isolate AI’s contribution to the change</a:t>
              </a:r>
            </a:p>
          </p:txBody>
        </p:sp>
        <p:sp>
          <p:nvSpPr>
            <p:cNvPr id="23" name="TextBox 23"/>
            <p:cNvSpPr txBox="1"/>
            <p:nvPr/>
          </p:nvSpPr>
          <p:spPr>
            <a:xfrm>
              <a:off x="6088380" y="4711700"/>
              <a:ext cx="4854778"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The abstract says AI helped maintain two codebases;</a:t>
              </a:r>
              <a:br>
                <a:rPr lang="en-US" sz="1500" dirty="0">
                  <a:solidFill>
                    <a:schemeClr val="dk1"/>
                  </a:solidFill>
                  <a:latin typeface="+mn-lt"/>
                  <a:ea typeface="+mn-ea"/>
                  <a:cs typeface="+mn-cs"/>
                </a:rPr>
              </a:br>
              <a:r>
                <a:rPr lang="en-US" sz="1500" dirty="0">
                  <a:solidFill>
                    <a:schemeClr val="dk1"/>
                  </a:solidFill>
                  <a:latin typeface="+mn-lt"/>
                  <a:ea typeface="+mn-ea"/>
                  <a:cs typeface="+mn-cs"/>
                </a:rPr>
                <a:t>incremental benefit was not isolated. Compare equivalent</a:t>
              </a:r>
              <a:br>
                <a:rPr lang="en-US" sz="1500" dirty="0">
                  <a:solidFill>
                    <a:schemeClr val="dk1"/>
                  </a:solidFill>
                  <a:latin typeface="+mn-lt"/>
                  <a:ea typeface="+mn-ea"/>
                  <a:cs typeface="+mn-cs"/>
                </a:rPr>
              </a:br>
              <a:r>
                <a:rPr lang="en-US" sz="1500" dirty="0">
                  <a:solidFill>
                    <a:schemeClr val="dk1"/>
                  </a:solidFill>
                  <a:latin typeface="+mn-lt"/>
                  <a:ea typeface="+mn-ea"/>
                  <a:cs typeface="+mn-cs"/>
                </a:rPr>
                <a:t>changes, correctness, review/rework and operating cost.</a:t>
              </a:r>
            </a:p>
          </p:txBody>
        </p:sp>
        <p:sp>
          <p:nvSpPr>
            <p:cNvPr id="24" name="TextBox 24"/>
            <p:cNvSpPr txBox="1"/>
            <p:nvPr/>
          </p:nvSpPr>
          <p:spPr>
            <a:xfrm>
              <a:off x="6089142" y="5816600"/>
              <a:ext cx="509035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This case does not prescribe dual systems for another product.</a:t>
              </a:r>
            </a:p>
          </p:txBody>
        </p:sp>
      </p:grpSp>
      <p:grpSp>
        <p:nvGrpSpPr>
          <p:cNvPr id="28" name="footer"/>
          <p:cNvGrpSpPr/>
          <p:nvPr/>
        </p:nvGrpSpPr>
        <p:grpSpPr>
          <a:xfrm>
            <a:off x="452438" y="6457950"/>
            <a:ext cx="11287124" cy="176212"/>
            <a:chOff x="452438" y="6457950"/>
            <a:chExt cx="11287124" cy="176212"/>
          </a:xfrm>
        </p:grpSpPr>
        <p:sp>
          <p:nvSpPr>
            <p:cNvPr id="26" name="TextBox 26"/>
            <p:cNvSpPr txBox="1"/>
            <p:nvPr/>
          </p:nvSpPr>
          <p:spPr>
            <a:xfrm>
              <a:off x="452438" y="6457950"/>
              <a:ext cx="749688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Vanguard official session abstract, not supplied attendance notes. No autonomous financial-agent or AI-attributable outcome claim.</a:t>
              </a:r>
            </a:p>
          </p:txBody>
        </p:sp>
        <p:sp>
          <p:nvSpPr>
            <p:cNvPr id="27" name="TextBox 27"/>
            <p:cNvSpPr txBox="1"/>
            <p:nvPr/>
          </p:nvSpPr>
          <p:spPr>
            <a:xfrm>
              <a:off x="11359512" y="64579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23 / 37</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927442" cy="1110107"/>
            <a:chOff x="443484" y="371475"/>
            <a:chExt cx="8927442" cy="1110107"/>
          </a:xfrm>
        </p:grpSpPr>
        <p:sp>
          <p:nvSpPr>
            <p:cNvPr id="2" name="TextBox 2"/>
            <p:cNvSpPr txBox="1"/>
            <p:nvPr/>
          </p:nvSpPr>
          <p:spPr>
            <a:xfrm>
              <a:off x="451104" y="371475"/>
              <a:ext cx="2904944"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05 / GROWING AS AN AI ENGINEER</a:t>
              </a:r>
            </a:p>
          </p:txBody>
        </p:sp>
        <p:sp>
          <p:nvSpPr>
            <p:cNvPr id="3" name="TextBox 3"/>
            <p:cNvSpPr txBox="1"/>
            <p:nvPr/>
          </p:nvSpPr>
          <p:spPr>
            <a:xfrm>
              <a:off x="443484" y="603250"/>
              <a:ext cx="8927442" cy="528066"/>
            </a:xfrm>
            <a:prstGeom prst="rect">
              <a:avLst/>
            </a:prstGeom>
            <a:noFill/>
            <a:ln>
              <a:noFill/>
            </a:ln>
          </p:spPr>
          <p:txBody>
            <a:bodyPr wrap="none" lIns="0" tIns="0" rIns="0" bIns="0" anchor="t" anchorCtr="0">
              <a:spAutoFit/>
            </a:bodyPr>
            <a:lstStyle/>
            <a:p>
              <a:pPr algn="l"/>
              <a:r>
                <a:rPr lang="en-US" sz="2700" dirty="0">
                  <a:solidFill>
                    <a:srgbClr val="FFFDF7"/>
                  </a:solidFill>
                  <a:latin typeface="+mj-lt"/>
                  <a:ea typeface="+mj-ea"/>
                  <a:cs typeface="+mj-cs"/>
                </a:rPr>
                <a:t>Own the loop from user need to verified improvement</a:t>
              </a:r>
            </a:p>
          </p:txBody>
        </p:sp>
        <p:sp>
          <p:nvSpPr>
            <p:cNvPr id="4" name="TextBox 4"/>
            <p:cNvSpPr txBox="1"/>
            <p:nvPr/>
          </p:nvSpPr>
          <p:spPr>
            <a:xfrm>
              <a:off x="448818" y="1158875"/>
              <a:ext cx="8716775" cy="322707"/>
            </a:xfrm>
            <a:prstGeom prst="rect">
              <a:avLst/>
            </a:prstGeom>
            <a:noFill/>
            <a:ln>
              <a:noFill/>
            </a:ln>
          </p:spPr>
          <p:txBody>
            <a:bodyPr wrap="none" lIns="0" tIns="0" rIns="0" bIns="0" anchor="t" anchorCtr="0">
              <a:spAutoFit/>
            </a:bodyPr>
            <a:lstStyle/>
            <a:p>
              <a:pPr algn="l"/>
              <a:r>
                <a:rPr lang="en-US" sz="1650" dirty="0">
                  <a:solidFill>
                    <a:srgbClr val="E7F0EA"/>
                  </a:solidFill>
                  <a:latin typeface="+mn-lt"/>
                  <a:ea typeface="+mn-ea"/>
                  <a:cs typeface="+mn-cs"/>
                </a:rPr>
                <a:t>The professional contribution is a defensible change, supported by observable evidence.</a:t>
              </a:r>
            </a:p>
          </p:txBody>
        </p:sp>
      </p:grpSp>
      <p:grpSp>
        <p:nvGrpSpPr>
          <p:cNvPr id="15" name="growth-loop"/>
          <p:cNvGrpSpPr/>
          <p:nvPr/>
        </p:nvGrpSpPr>
        <p:grpSpPr>
          <a:xfrm>
            <a:off x="448056" y="2009775"/>
            <a:ext cx="11286744" cy="1318895"/>
            <a:chOff x="448056" y="2009775"/>
            <a:chExt cx="11286744" cy="1318895"/>
          </a:xfrm>
        </p:grpSpPr>
        <p:sp>
          <p:nvSpPr>
            <p:cNvPr id="6" name="Line 6"/>
            <p:cNvSpPr/>
            <p:nvPr/>
          </p:nvSpPr>
          <p:spPr>
            <a:xfrm>
              <a:off x="457200" y="2009775"/>
              <a:ext cx="11277600" cy="9525"/>
            </a:xfrm>
            <a:custGeom>
              <a:avLst/>
              <a:gdLst/>
              <a:ahLst/>
              <a:cxnLst/>
              <a:rect l="l" t="t" r="r" b="b"/>
              <a:pathLst>
                <a:path w="11277600" h="9525">
                  <a:moveTo>
                    <a:pt x="0" y="0"/>
                  </a:moveTo>
                  <a:lnTo>
                    <a:pt x="11277600" y="0"/>
                  </a:lnTo>
                </a:path>
              </a:pathLst>
            </a:custGeom>
            <a:noFill/>
            <a:ln w="19050">
              <a:solidFill>
                <a:srgbClr val="50616A"/>
              </a:solidFill>
            </a:ln>
          </p:spPr>
        </p:sp>
        <p:sp>
          <p:nvSpPr>
            <p:cNvPr id="7" name="TextBox 7"/>
            <p:cNvSpPr txBox="1"/>
            <p:nvPr/>
          </p:nvSpPr>
          <p:spPr>
            <a:xfrm>
              <a:off x="448056" y="2266950"/>
              <a:ext cx="75476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Frame</a:t>
              </a:r>
            </a:p>
          </p:txBody>
        </p:sp>
        <p:sp>
          <p:nvSpPr>
            <p:cNvPr id="8" name="TextBox 8"/>
            <p:cNvSpPr txBox="1"/>
            <p:nvPr/>
          </p:nvSpPr>
          <p:spPr>
            <a:xfrm>
              <a:off x="449580" y="2781300"/>
              <a:ext cx="2019499"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Define accepted work.</a:t>
              </a:r>
            </a:p>
          </p:txBody>
        </p:sp>
        <p:sp>
          <p:nvSpPr>
            <p:cNvPr id="9" name="TextBox 9"/>
            <p:cNvSpPr txBox="1"/>
            <p:nvPr/>
          </p:nvSpPr>
          <p:spPr>
            <a:xfrm>
              <a:off x="3381756" y="2266950"/>
              <a:ext cx="623748"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Build</a:t>
              </a:r>
            </a:p>
          </p:txBody>
        </p:sp>
        <p:sp>
          <p:nvSpPr>
            <p:cNvPr id="10" name="TextBox 10"/>
            <p:cNvSpPr txBox="1"/>
            <p:nvPr/>
          </p:nvSpPr>
          <p:spPr>
            <a:xfrm>
              <a:off x="3383280" y="2781300"/>
              <a:ext cx="2299676"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A complete working slice.</a:t>
              </a:r>
            </a:p>
          </p:txBody>
        </p:sp>
        <p:sp>
          <p:nvSpPr>
            <p:cNvPr id="11" name="TextBox 11"/>
            <p:cNvSpPr txBox="1"/>
            <p:nvPr/>
          </p:nvSpPr>
          <p:spPr>
            <a:xfrm>
              <a:off x="6315456" y="2266950"/>
              <a:ext cx="681635"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Learn</a:t>
              </a:r>
            </a:p>
          </p:txBody>
        </p:sp>
        <p:sp>
          <p:nvSpPr>
            <p:cNvPr id="12" name="TextBox 12"/>
            <p:cNvSpPr txBox="1"/>
            <p:nvPr/>
          </p:nvSpPr>
          <p:spPr>
            <a:xfrm>
              <a:off x="6316980" y="2781300"/>
              <a:ext cx="2434512" cy="293370"/>
            </a:xfrm>
            <a:prstGeom prst="rect">
              <a:avLst/>
            </a:prstGeom>
            <a:noFill/>
            <a:ln>
              <a:noFill/>
            </a:ln>
          </p:spPr>
          <p:txBody>
            <a:bodyPr wrap="none" lIns="0" tIns="0" rIns="0" bIns="0" anchor="t" anchorCtr="0">
              <a:spAutoFit/>
            </a:bodyPr>
            <a:lstStyle/>
            <a:p>
              <a:pPr algn="l"/>
              <a:r>
                <a:rPr lang="en-US" sz="1500" dirty="0">
                  <a:solidFill>
                    <a:srgbClr val="FFFDF7"/>
                  </a:solidFill>
                  <a:latin typeface="+mn-lt"/>
                  <a:ea typeface="+mn-ea"/>
                  <a:cs typeface="+mn-cs"/>
                </a:rPr>
                <a:t>Traces, cases and failures.</a:t>
              </a:r>
            </a:p>
          </p:txBody>
        </p:sp>
        <p:sp>
          <p:nvSpPr>
            <p:cNvPr id="13" name="TextBox 13"/>
            <p:cNvSpPr txBox="1"/>
            <p:nvPr/>
          </p:nvSpPr>
          <p:spPr>
            <a:xfrm>
              <a:off x="9249156" y="2266950"/>
              <a:ext cx="92214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Operate</a:t>
              </a:r>
            </a:p>
          </p:txBody>
        </p:sp>
        <p:sp>
          <p:nvSpPr>
            <p:cNvPr id="14" name="TextBox 14"/>
            <p:cNvSpPr txBox="1"/>
            <p:nvPr/>
          </p:nvSpPr>
          <p:spPr>
            <a:xfrm>
              <a:off x="9250680" y="2768600"/>
              <a:ext cx="1232878"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Verify, release</a:t>
              </a:r>
              <a:br>
                <a:rPr lang="en-US" sz="1500" dirty="0">
                  <a:solidFill>
                    <a:srgbClr val="FFFDF7"/>
                  </a:solidFill>
                  <a:latin typeface="+mn-lt"/>
                  <a:ea typeface="+mn-ea"/>
                  <a:cs typeface="+mn-cs"/>
                </a:rPr>
              </a:br>
              <a:r>
                <a:rPr lang="en-US" sz="1500" dirty="0">
                  <a:solidFill>
                    <a:srgbClr val="FFFDF7"/>
                  </a:solidFill>
                  <a:latin typeface="+mn-lt"/>
                  <a:ea typeface="+mn-ea"/>
                  <a:cs typeface="+mn-cs"/>
                </a:rPr>
                <a:t>and observe.</a:t>
              </a:r>
            </a:p>
          </p:txBody>
        </p:sp>
      </p:grpSp>
      <p:grpSp>
        <p:nvGrpSpPr>
          <p:cNvPr id="19" name="instrument-task"/>
          <p:cNvGrpSpPr/>
          <p:nvPr/>
        </p:nvGrpSpPr>
        <p:grpSpPr>
          <a:xfrm>
            <a:off x="448056" y="3933825"/>
            <a:ext cx="4591317" cy="2157095"/>
            <a:chOff x="448056" y="3933825"/>
            <a:chExt cx="4591317" cy="2157095"/>
          </a:xfrm>
        </p:grpSpPr>
        <p:sp>
          <p:nvSpPr>
            <p:cNvPr id="16" name="TextBox 16"/>
            <p:cNvSpPr txBox="1"/>
            <p:nvPr/>
          </p:nvSpPr>
          <p:spPr>
            <a:xfrm>
              <a:off x="448056" y="3933825"/>
              <a:ext cx="3190803"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Make failure reconstructable</a:t>
              </a:r>
            </a:p>
          </p:txBody>
        </p:sp>
        <p:sp>
          <p:nvSpPr>
            <p:cNvPr id="17" name="TextBox 17"/>
            <p:cNvSpPr txBox="1"/>
            <p:nvPr/>
          </p:nvSpPr>
          <p:spPr>
            <a:xfrm>
              <a:off x="449580" y="4425950"/>
              <a:ext cx="4589793"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Capture request, source context, intermediate actions,</a:t>
              </a:r>
              <a:br>
                <a:rPr lang="en-US" sz="1500" dirty="0">
                  <a:solidFill>
                    <a:srgbClr val="FFFDF7"/>
                  </a:solidFill>
                  <a:latin typeface="+mn-lt"/>
                  <a:ea typeface="+mn-ea"/>
                  <a:cs typeface="+mn-cs"/>
                </a:rPr>
              </a:br>
              <a:r>
                <a:rPr lang="en-US" sz="1500" dirty="0">
                  <a:solidFill>
                    <a:srgbClr val="FFFDF7"/>
                  </a:solidFill>
                  <a:latin typeface="+mn-lt"/>
                  <a:ea typeface="+mn-ea"/>
                  <a:cs typeface="+mn-cs"/>
                </a:rPr>
                <a:t>result, evaluation and versions together.</a:t>
              </a:r>
            </a:p>
          </p:txBody>
        </p:sp>
        <p:sp>
          <p:nvSpPr>
            <p:cNvPr id="18" name="TextBox 18"/>
            <p:cNvSpPr txBox="1"/>
            <p:nvPr/>
          </p:nvSpPr>
          <p:spPr>
            <a:xfrm>
              <a:off x="449580" y="5264150"/>
              <a:ext cx="4356926"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A useful trace explains why a workflow failed.</a:t>
              </a:r>
              <a:br>
                <a:rPr lang="en-US" sz="1500" dirty="0">
                  <a:solidFill>
                    <a:srgbClr val="FFFDF7"/>
                  </a:solidFill>
                  <a:latin typeface="+mn-lt"/>
                  <a:ea typeface="+mn-ea"/>
                  <a:cs typeface="+mn-cs"/>
                </a:rPr>
              </a:br>
              <a:r>
                <a:rPr lang="en-US" sz="1500" dirty="0">
                  <a:solidFill>
                    <a:srgbClr val="FFFDF7"/>
                  </a:solidFill>
                  <a:latin typeface="+mn-lt"/>
                  <a:ea typeface="+mn-ea"/>
                  <a:cs typeface="+mn-cs"/>
                </a:rPr>
                <a:t>Arize’s diagnosis account and Ramp’s task/ablation</a:t>
              </a:r>
              <a:br>
                <a:rPr lang="en-US" sz="1500" dirty="0">
                  <a:solidFill>
                    <a:srgbClr val="FFFDF7"/>
                  </a:solidFill>
                  <a:latin typeface="+mn-lt"/>
                  <a:ea typeface="+mn-ea"/>
                  <a:cs typeface="+mn-cs"/>
                </a:rPr>
              </a:br>
              <a:r>
                <a:rPr lang="en-US" sz="1500" dirty="0">
                  <a:solidFill>
                    <a:srgbClr val="FFFDF7"/>
                  </a:solidFill>
                  <a:latin typeface="+mn-lt"/>
                  <a:ea typeface="+mn-ea"/>
                  <a:cs typeface="+mn-cs"/>
                </a:rPr>
                <a:t>methods motivate the operating habit.</a:t>
              </a:r>
            </a:p>
          </p:txBody>
        </p:sp>
      </p:grpSp>
      <p:grpSp>
        <p:nvGrpSpPr>
          <p:cNvPr id="23" name="portfolio-of-decisions"/>
          <p:cNvGrpSpPr/>
          <p:nvPr/>
        </p:nvGrpSpPr>
        <p:grpSpPr>
          <a:xfrm>
            <a:off x="6086856" y="3933825"/>
            <a:ext cx="4824032" cy="2157095"/>
            <a:chOff x="6086856" y="3933825"/>
            <a:chExt cx="4824032" cy="2157095"/>
          </a:xfrm>
        </p:grpSpPr>
        <p:sp>
          <p:nvSpPr>
            <p:cNvPr id="20" name="TextBox 20"/>
            <p:cNvSpPr txBox="1"/>
            <p:nvPr/>
          </p:nvSpPr>
          <p:spPr>
            <a:xfrm>
              <a:off x="6086856" y="3933825"/>
              <a:ext cx="4248340"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Build a portfolio of reviewed decisions</a:t>
              </a:r>
            </a:p>
          </p:txBody>
        </p:sp>
        <p:sp>
          <p:nvSpPr>
            <p:cNvPr id="21" name="TextBox 21"/>
            <p:cNvSpPr txBox="1"/>
            <p:nvPr/>
          </p:nvSpPr>
          <p:spPr>
            <a:xfrm>
              <a:off x="6088380" y="4425950"/>
              <a:ext cx="4822508"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Reproducible failures → baseline comparisons → repairs</a:t>
              </a:r>
              <a:br>
                <a:rPr lang="en-US" sz="1500" dirty="0">
                  <a:solidFill>
                    <a:srgbClr val="FFFDF7"/>
                  </a:solidFill>
                  <a:latin typeface="+mn-lt"/>
                  <a:ea typeface="+mn-ea"/>
                  <a:cs typeface="+mn-cs"/>
                </a:rPr>
              </a:br>
              <a:r>
                <a:rPr lang="en-US" sz="1500" dirty="0">
                  <a:solidFill>
                    <a:srgbClr val="FFFDF7"/>
                  </a:solidFill>
                  <a:latin typeface="+mn-lt"/>
                  <a:ea typeface="+mn-ea"/>
                  <a:cs typeface="+mn-cs"/>
                </a:rPr>
                <a:t>→ release decisions → observed tradeoffs.</a:t>
              </a:r>
            </a:p>
          </p:txBody>
        </p:sp>
        <p:sp>
          <p:nvSpPr>
            <p:cNvPr id="22" name="TextBox 22"/>
            <p:cNvSpPr txBox="1"/>
            <p:nvPr/>
          </p:nvSpPr>
          <p:spPr>
            <a:xfrm>
              <a:off x="6088380" y="5264150"/>
              <a:ext cx="4441622"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Keep diagnosis, proposed fix, validation and release</a:t>
              </a:r>
              <a:br>
                <a:rPr lang="en-US" sz="1500" dirty="0">
                  <a:solidFill>
                    <a:srgbClr val="FFFDF7"/>
                  </a:solidFill>
                  <a:latin typeface="+mn-lt"/>
                  <a:ea typeface="+mn-ea"/>
                  <a:cs typeface="+mn-cs"/>
                </a:rPr>
              </a:br>
              <a:r>
                <a:rPr lang="en-US" sz="1500" dirty="0">
                  <a:solidFill>
                    <a:srgbClr val="FFFDF7"/>
                  </a:solidFill>
                  <a:latin typeface="+mn-lt"/>
                  <a:ea typeface="+mn-ea"/>
                  <a:cs typeface="+mn-cs"/>
                </a:rPr>
                <a:t>authority distinct. A longer tool list does not establish</a:t>
              </a:r>
              <a:br>
                <a:rPr lang="en-US" sz="1500" dirty="0">
                  <a:solidFill>
                    <a:srgbClr val="FFFDF7"/>
                  </a:solidFill>
                  <a:latin typeface="+mn-lt"/>
                  <a:ea typeface="+mn-ea"/>
                  <a:cs typeface="+mn-cs"/>
                </a:rPr>
              </a:br>
              <a:r>
                <a:rPr lang="en-US" sz="1500" dirty="0">
                  <a:solidFill>
                    <a:srgbClr val="FFFDF7"/>
                  </a:solidFill>
                  <a:latin typeface="+mn-lt"/>
                  <a:ea typeface="+mn-ea"/>
                  <a:cs typeface="+mn-cs"/>
                </a:rPr>
                <a:t>diagnostic accuracy or autonomous remediation.</a:t>
              </a:r>
            </a:p>
          </p:txBody>
        </p:sp>
      </p:grpSp>
      <p:grpSp>
        <p:nvGrpSpPr>
          <p:cNvPr id="26" name="footer"/>
          <p:cNvGrpSpPr/>
          <p:nvPr/>
        </p:nvGrpSpPr>
        <p:grpSpPr>
          <a:xfrm>
            <a:off x="452438" y="6457950"/>
            <a:ext cx="11287124" cy="176212"/>
            <a:chOff x="452438" y="6457950"/>
            <a:chExt cx="11287124" cy="176212"/>
          </a:xfrm>
        </p:grpSpPr>
        <p:sp>
          <p:nvSpPr>
            <p:cNvPr id="24" name="TextBox 24"/>
            <p:cNvSpPr txBox="1"/>
            <p:nvPr/>
          </p:nvSpPr>
          <p:spPr>
            <a:xfrm>
              <a:off x="452438" y="6457950"/>
              <a:ext cx="4846097"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Sources: Arize, Ramp and failure-study accounts. This growth framework is our synthesis.</a:t>
              </a:r>
            </a:p>
          </p:txBody>
        </p:sp>
        <p:sp>
          <p:nvSpPr>
            <p:cNvPr id="25" name="TextBox 25"/>
            <p:cNvSpPr txBox="1"/>
            <p:nvPr/>
          </p:nvSpPr>
          <p:spPr>
            <a:xfrm>
              <a:off x="11359512" y="6457950"/>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24 / 37</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395108" cy="1110107"/>
            <a:chOff x="443484" y="371475"/>
            <a:chExt cx="8395108" cy="1110107"/>
          </a:xfrm>
        </p:grpSpPr>
        <p:sp>
          <p:nvSpPr>
            <p:cNvPr id="2" name="TextBox 2"/>
            <p:cNvSpPr txBox="1"/>
            <p:nvPr/>
          </p:nvSpPr>
          <p:spPr>
            <a:xfrm>
              <a:off x="451104" y="371475"/>
              <a:ext cx="409996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05 / TECHNICAL FLUENCY IN A REAL WORKFLOW</a:t>
              </a:r>
            </a:p>
          </p:txBody>
        </p:sp>
        <p:sp>
          <p:nvSpPr>
            <p:cNvPr id="3" name="TextBox 3"/>
            <p:cNvSpPr txBox="1"/>
            <p:nvPr/>
          </p:nvSpPr>
          <p:spPr>
            <a:xfrm>
              <a:off x="443484" y="603250"/>
              <a:ext cx="8395108"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Connect domain, system and measurement fluency</a:t>
              </a:r>
            </a:p>
          </p:txBody>
        </p:sp>
        <p:sp>
          <p:nvSpPr>
            <p:cNvPr id="4" name="TextBox 4"/>
            <p:cNvSpPr txBox="1"/>
            <p:nvPr/>
          </p:nvSpPr>
          <p:spPr>
            <a:xfrm>
              <a:off x="448818" y="1158875"/>
              <a:ext cx="7765357"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Develop the responsibilities together; no one must be the sole expert in all five.</a:t>
              </a:r>
            </a:p>
          </p:txBody>
        </p:sp>
      </p:grpSp>
      <p:grpSp>
        <p:nvGrpSpPr>
          <p:cNvPr id="9" name="five-responsibilities"/>
          <p:cNvGrpSpPr/>
          <p:nvPr/>
        </p:nvGrpSpPr>
        <p:grpSpPr>
          <a:xfrm>
            <a:off x="457200" y="1752600"/>
            <a:ext cx="3390900" cy="4286250"/>
            <a:chOff x="457200" y="1752600"/>
            <a:chExt cx="3390900" cy="4286250"/>
          </a:xfrm>
        </p:grpSpPr>
        <p:sp>
          <p:nvSpPr>
            <p:cNvPr id="6" name="Rectangle 6"/>
            <p:cNvSpPr/>
            <p:nvPr/>
          </p:nvSpPr>
          <p:spPr>
            <a:xfrm>
              <a:off x="457200" y="1752600"/>
              <a:ext cx="3390900" cy="4286250"/>
            </a:xfrm>
            <a:prstGeom prst="rect">
              <a:avLst/>
            </a:prstGeom>
            <a:solidFill>
              <a:schemeClr val="accent1"/>
            </a:solidFill>
            <a:ln>
              <a:noFill/>
            </a:ln>
          </p:spPr>
        </p:sp>
        <p:sp>
          <p:nvSpPr>
            <p:cNvPr id="7" name="TextBox 7"/>
            <p:cNvSpPr txBox="1"/>
            <p:nvPr/>
          </p:nvSpPr>
          <p:spPr>
            <a:xfrm>
              <a:off x="679704" y="1990725"/>
              <a:ext cx="2430397"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ONE ACCEPTED WORKFLOW</a:t>
              </a:r>
            </a:p>
          </p:txBody>
        </p:sp>
        <p:sp>
          <p:nvSpPr>
            <p:cNvPr id="8" name="TextBox 8"/>
            <p:cNvSpPr txBox="1"/>
            <p:nvPr/>
          </p:nvSpPr>
          <p:spPr>
            <a:xfrm>
              <a:off x="676656" y="2273300"/>
              <a:ext cx="2479076" cy="2828544"/>
            </a:xfrm>
            <a:prstGeom prst="rect">
              <a:avLst/>
            </a:prstGeom>
            <a:noFill/>
            <a:ln>
              <a:noFill/>
            </a:ln>
          </p:spPr>
          <p:txBody>
            <a:bodyPr wrap="none" lIns="0" tIns="0" rIns="0" bIns="0" anchor="t" anchorCtr="0">
              <a:spAutoFit/>
            </a:bodyPr>
            <a:lstStyle/>
            <a:p>
              <a:pPr algn="l">
                <a:lnSpc>
                  <a:spcPts val="4875"/>
                </a:lnSpc>
              </a:pPr>
              <a:r>
                <a:rPr lang="en-US" sz="1800" dirty="0">
                  <a:solidFill>
                    <a:srgbClr val="FFFDF7"/>
                  </a:solidFill>
                  <a:latin typeface="+mj-lt"/>
                  <a:ea typeface="+mj-ea"/>
                  <a:cs typeface="+mj-cs"/>
                </a:rPr>
                <a:t>Domain translation</a:t>
              </a:r>
              <a:br>
                <a:rPr lang="en-US" sz="1800" dirty="0">
                  <a:solidFill>
                    <a:srgbClr val="FFFDF7"/>
                  </a:solidFill>
                  <a:latin typeface="+mj-lt"/>
                  <a:ea typeface="+mj-ea"/>
                  <a:cs typeface="+mj-cs"/>
                </a:rPr>
              </a:br>
              <a:r>
                <a:rPr lang="en-US" sz="1800" dirty="0">
                  <a:solidFill>
                    <a:srgbClr val="FFFDF7"/>
                  </a:solidFill>
                  <a:latin typeface="+mj-lt"/>
                  <a:ea typeface="+mj-ea"/>
                  <a:cs typeface="+mj-cs"/>
                </a:rPr>
                <a:t>Data reasoning</a:t>
              </a:r>
              <a:br>
                <a:rPr lang="en-US" sz="1800" dirty="0">
                  <a:solidFill>
                    <a:srgbClr val="FFFDF7"/>
                  </a:solidFill>
                  <a:latin typeface="+mj-lt"/>
                  <a:ea typeface="+mj-ea"/>
                  <a:cs typeface="+mj-cs"/>
                </a:rPr>
              </a:br>
              <a:r>
                <a:rPr lang="en-US" sz="1800" dirty="0">
                  <a:solidFill>
                    <a:srgbClr val="FFFDF7"/>
                  </a:solidFill>
                  <a:latin typeface="+mj-lt"/>
                  <a:ea typeface="+mj-ea"/>
                  <a:cs typeface="+mj-cs"/>
                </a:rPr>
                <a:t>System design</a:t>
              </a:r>
              <a:br>
                <a:rPr lang="en-US" sz="1800" dirty="0">
                  <a:solidFill>
                    <a:srgbClr val="FFFDF7"/>
                  </a:solidFill>
                  <a:latin typeface="+mj-lt"/>
                  <a:ea typeface="+mj-ea"/>
                  <a:cs typeface="+mj-cs"/>
                </a:rPr>
              </a:br>
              <a:r>
                <a:rPr lang="en-US" sz="1800" dirty="0">
                  <a:solidFill>
                    <a:srgbClr val="FFFDF7"/>
                  </a:solidFill>
                  <a:latin typeface="+mj-lt"/>
                  <a:ea typeface="+mj-ea"/>
                  <a:cs typeface="+mj-cs"/>
                </a:rPr>
                <a:t>Evaluation</a:t>
              </a:r>
              <a:br>
                <a:rPr lang="en-US" sz="1800" dirty="0">
                  <a:solidFill>
                    <a:srgbClr val="FFFDF7"/>
                  </a:solidFill>
                  <a:latin typeface="+mj-lt"/>
                  <a:ea typeface="+mj-ea"/>
                  <a:cs typeface="+mj-cs"/>
                </a:rPr>
              </a:br>
              <a:r>
                <a:rPr lang="en-US" sz="1800" dirty="0">
                  <a:solidFill>
                    <a:srgbClr val="FFFDF7"/>
                  </a:solidFill>
                  <a:latin typeface="+mj-lt"/>
                  <a:ea typeface="+mj-ea"/>
                  <a:cs typeface="+mj-cs"/>
                </a:rPr>
                <a:t>Evidence communication</a:t>
              </a:r>
            </a:p>
          </p:txBody>
        </p:sp>
      </p:grpSp>
      <p:grpSp>
        <p:nvGrpSpPr>
          <p:cNvPr id="12" name="translate-meaning"/>
          <p:cNvGrpSpPr/>
          <p:nvPr/>
        </p:nvGrpSpPr>
        <p:grpSpPr>
          <a:xfrm>
            <a:off x="4143756" y="1838325"/>
            <a:ext cx="6550609" cy="985520"/>
            <a:chOff x="4143756" y="1838325"/>
            <a:chExt cx="6550609" cy="985520"/>
          </a:xfrm>
        </p:grpSpPr>
        <p:sp>
          <p:nvSpPr>
            <p:cNvPr id="10" name="TextBox 10"/>
            <p:cNvSpPr txBox="1"/>
            <p:nvPr/>
          </p:nvSpPr>
          <p:spPr>
            <a:xfrm>
              <a:off x="4143756" y="1838325"/>
              <a:ext cx="567066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Translate expert judgment into reproducible inputs</a:t>
              </a:r>
            </a:p>
          </p:txBody>
        </p:sp>
        <p:sp>
          <p:nvSpPr>
            <p:cNvPr id="11" name="TextBox 11"/>
            <p:cNvSpPr txBox="1"/>
            <p:nvPr/>
          </p:nvSpPr>
          <p:spPr>
            <a:xfrm>
              <a:off x="4145280" y="2263775"/>
              <a:ext cx="6549085"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Ask which facts matter, why a step exists and when to clarify.</a:t>
              </a:r>
              <a:br>
                <a:rPr lang="en-US" sz="1500" dirty="0">
                  <a:solidFill>
                    <a:schemeClr val="dk1"/>
                  </a:solidFill>
                  <a:latin typeface="+mn-lt"/>
                  <a:ea typeface="+mn-ea"/>
                  <a:cs typeface="+mn-cs"/>
                </a:rPr>
              </a:br>
              <a:r>
                <a:rPr lang="en-US" sz="1500" dirty="0">
                  <a:solidFill>
                    <a:schemeClr val="dk1"/>
                  </a:solidFill>
                  <a:latin typeface="+mn-lt"/>
                  <a:ea typeface="+mn-ea"/>
                  <a:cs typeface="+mn-cs"/>
                </a:rPr>
                <a:t>Connect that judgment to entity, period, units, definitions and transformations.</a:t>
              </a:r>
            </a:p>
          </p:txBody>
        </p:sp>
      </p:grpSp>
      <p:grpSp>
        <p:nvGrpSpPr>
          <p:cNvPr id="16" name="connect-controls-tests"/>
          <p:cNvGrpSpPr/>
          <p:nvPr/>
        </p:nvGrpSpPr>
        <p:grpSpPr>
          <a:xfrm>
            <a:off x="4143756" y="3248025"/>
            <a:ext cx="7591044" cy="1090295"/>
            <a:chOff x="4143756" y="3248025"/>
            <a:chExt cx="7591044" cy="1090295"/>
          </a:xfrm>
        </p:grpSpPr>
        <p:sp>
          <p:nvSpPr>
            <p:cNvPr id="13" name="Line 13"/>
            <p:cNvSpPr/>
            <p:nvPr/>
          </p:nvSpPr>
          <p:spPr>
            <a:xfrm>
              <a:off x="4152900" y="3248025"/>
              <a:ext cx="7581900" cy="9525"/>
            </a:xfrm>
            <a:custGeom>
              <a:avLst/>
              <a:gdLst/>
              <a:ahLst/>
              <a:cxnLst/>
              <a:rect l="l" t="t" r="r" b="b"/>
              <a:pathLst>
                <a:path w="7581900" h="9525">
                  <a:moveTo>
                    <a:pt x="0" y="0"/>
                  </a:moveTo>
                  <a:lnTo>
                    <a:pt x="7581900" y="0"/>
                  </a:lnTo>
                </a:path>
              </a:pathLst>
            </a:custGeom>
            <a:noFill/>
            <a:ln w="9525">
              <a:solidFill>
                <a:schemeClr val="accent6"/>
              </a:solidFill>
            </a:ln>
          </p:spPr>
        </p:sp>
        <p:sp>
          <p:nvSpPr>
            <p:cNvPr id="14" name="TextBox 14"/>
            <p:cNvSpPr txBox="1"/>
            <p:nvPr/>
          </p:nvSpPr>
          <p:spPr>
            <a:xfrm>
              <a:off x="4143756" y="3352800"/>
              <a:ext cx="517691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Connect system boundaries to observable tests</a:t>
              </a:r>
            </a:p>
          </p:txBody>
        </p:sp>
        <p:sp>
          <p:nvSpPr>
            <p:cNvPr id="15" name="TextBox 15"/>
            <p:cNvSpPr txBox="1"/>
            <p:nvPr/>
          </p:nvSpPr>
          <p:spPr>
            <a:xfrm>
              <a:off x="4145280" y="3778250"/>
              <a:ext cx="6378931"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Draw ownership, allowed actions, state and exceptions. Challenge the</a:t>
              </a:r>
              <a:br>
                <a:rPr lang="en-US" sz="1500" dirty="0">
                  <a:solidFill>
                    <a:schemeClr val="dk1"/>
                  </a:solidFill>
                  <a:latin typeface="+mn-lt"/>
                  <a:ea typeface="+mn-ea"/>
                  <a:cs typeface="+mn-cs"/>
                </a:rPr>
              </a:br>
              <a:r>
                <a:rPr lang="en-US" sz="1500" dirty="0">
                  <a:solidFill>
                    <a:schemeClr val="dk1"/>
                  </a:solidFill>
                  <a:latin typeface="+mn-lt"/>
                  <a:ea typeface="+mn-ea"/>
                  <a:cs typeface="+mn-cs"/>
                </a:rPr>
                <a:t>workflow and its judge with serious false passes, task success and full cost.</a:t>
              </a:r>
            </a:p>
          </p:txBody>
        </p:sp>
      </p:grpSp>
      <p:grpSp>
        <p:nvGrpSpPr>
          <p:cNvPr id="20" name="communicate-decision"/>
          <p:cNvGrpSpPr/>
          <p:nvPr/>
        </p:nvGrpSpPr>
        <p:grpSpPr>
          <a:xfrm>
            <a:off x="4143756" y="4733925"/>
            <a:ext cx="7591044" cy="1090295"/>
            <a:chOff x="4143756" y="4733925"/>
            <a:chExt cx="7591044" cy="1090295"/>
          </a:xfrm>
        </p:grpSpPr>
        <p:sp>
          <p:nvSpPr>
            <p:cNvPr id="17" name="Line 17"/>
            <p:cNvSpPr/>
            <p:nvPr/>
          </p:nvSpPr>
          <p:spPr>
            <a:xfrm>
              <a:off x="4152900" y="4733925"/>
              <a:ext cx="7581900" cy="9525"/>
            </a:xfrm>
            <a:custGeom>
              <a:avLst/>
              <a:gdLst/>
              <a:ahLst/>
              <a:cxnLst/>
              <a:rect l="l" t="t" r="r" b="b"/>
              <a:pathLst>
                <a:path w="7581900" h="9525">
                  <a:moveTo>
                    <a:pt x="0" y="0"/>
                  </a:moveTo>
                  <a:lnTo>
                    <a:pt x="7581900" y="0"/>
                  </a:lnTo>
                </a:path>
              </a:pathLst>
            </a:custGeom>
            <a:noFill/>
            <a:ln w="9525">
              <a:solidFill>
                <a:schemeClr val="accent6"/>
              </a:solidFill>
            </a:ln>
          </p:spPr>
        </p:sp>
        <p:sp>
          <p:nvSpPr>
            <p:cNvPr id="18" name="TextBox 18"/>
            <p:cNvSpPr txBox="1"/>
            <p:nvPr/>
          </p:nvSpPr>
          <p:spPr>
            <a:xfrm>
              <a:off x="4143756" y="4838700"/>
              <a:ext cx="413733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Explain the evidence-backed decision</a:t>
              </a:r>
            </a:p>
          </p:txBody>
        </p:sp>
        <p:sp>
          <p:nvSpPr>
            <p:cNvPr id="19" name="TextBox 19"/>
            <p:cNvSpPr txBox="1"/>
            <p:nvPr/>
          </p:nvSpPr>
          <p:spPr>
            <a:xfrm>
              <a:off x="4145280" y="5264150"/>
              <a:ext cx="656950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Describe task, mechanism, comparison, result and uncertainty together.</a:t>
              </a:r>
              <a:br>
                <a:rPr lang="en-US" sz="1500" dirty="0">
                  <a:solidFill>
                    <a:schemeClr val="dk1"/>
                  </a:solidFill>
                  <a:latin typeface="+mn-lt"/>
                  <a:ea typeface="+mn-ea"/>
                  <a:cs typeface="+mn-cs"/>
                </a:rPr>
              </a:br>
              <a:r>
                <a:rPr lang="en-US" sz="1500" dirty="0">
                  <a:solidFill>
                    <a:schemeClr val="dk1"/>
                  </a:solidFill>
                  <a:latin typeface="+mn-lt"/>
                  <a:ea typeface="+mn-ea"/>
                  <a:cs typeface="+mn-cs"/>
                </a:rPr>
                <a:t>Deployment differs from effectiveness; useful output differs from causal value.</a:t>
              </a:r>
            </a:p>
          </p:txBody>
        </p:sp>
      </p:grpSp>
      <p:grpSp>
        <p:nvGrpSpPr>
          <p:cNvPr id="23" name="footer"/>
          <p:cNvGrpSpPr/>
          <p:nvPr/>
        </p:nvGrpSpPr>
        <p:grpSpPr>
          <a:xfrm>
            <a:off x="452438" y="6400800"/>
            <a:ext cx="11287124" cy="176212"/>
            <a:chOff x="452438" y="6400800"/>
            <a:chExt cx="11287124" cy="176212"/>
          </a:xfrm>
        </p:grpSpPr>
        <p:sp>
          <p:nvSpPr>
            <p:cNvPr id="21" name="TextBox 21"/>
            <p:cNvSpPr txBox="1"/>
            <p:nvPr/>
          </p:nvSpPr>
          <p:spPr>
            <a:xfrm>
              <a:off x="452438" y="6400800"/>
              <a:ext cx="6922551"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competency framework drawn from the conference mechanisms; not a hiring survey or a firm’s validated career model.</a:t>
              </a:r>
            </a:p>
          </p:txBody>
        </p:sp>
        <p:sp>
          <p:nvSpPr>
            <p:cNvPr id="22" name="TextBox 22"/>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25 / 37</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104319" cy="1110107"/>
            <a:chOff x="443484" y="371475"/>
            <a:chExt cx="9104319" cy="1110107"/>
          </a:xfrm>
        </p:grpSpPr>
        <p:sp>
          <p:nvSpPr>
            <p:cNvPr id="2" name="TextBox 2"/>
            <p:cNvSpPr txBox="1"/>
            <p:nvPr/>
          </p:nvSpPr>
          <p:spPr>
            <a:xfrm>
              <a:off x="451104" y="371475"/>
              <a:ext cx="3616474"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05 / CAPITAL ONE’S DURABILITY QUESTION</a:t>
              </a:r>
            </a:p>
          </p:txBody>
        </p:sp>
        <p:sp>
          <p:nvSpPr>
            <p:cNvPr id="3" name="TextBox 3"/>
            <p:cNvSpPr txBox="1"/>
            <p:nvPr/>
          </p:nvSpPr>
          <p:spPr>
            <a:xfrm>
              <a:off x="443484" y="603250"/>
              <a:ext cx="8666130"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Separate software lifespan from failure consequence</a:t>
              </a:r>
            </a:p>
          </p:txBody>
        </p:sp>
        <p:sp>
          <p:nvSpPr>
            <p:cNvPr id="4" name="TextBox 4"/>
            <p:cNvSpPr txBox="1"/>
            <p:nvPr/>
          </p:nvSpPr>
          <p:spPr>
            <a:xfrm>
              <a:off x="448818" y="1158875"/>
              <a:ext cx="9098985"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Lifespan guides maintenance investment; consequences still determine the required checks.</a:t>
              </a:r>
            </a:p>
          </p:txBody>
        </p:sp>
      </p:grpSp>
      <p:grpSp>
        <p:nvGrpSpPr>
          <p:cNvPr id="22" name="lifespan-consequence-map"/>
          <p:cNvGrpSpPr/>
          <p:nvPr/>
        </p:nvGrpSpPr>
        <p:grpSpPr>
          <a:xfrm>
            <a:off x="457200" y="1752600"/>
            <a:ext cx="11277600" cy="3695700"/>
            <a:chOff x="457200" y="1752600"/>
            <a:chExt cx="11277600" cy="3695700"/>
          </a:xfrm>
        </p:grpSpPr>
        <p:grpSp>
          <p:nvGrpSpPr>
            <p:cNvPr id="9" name="Group 9"/>
            <p:cNvGrpSpPr/>
            <p:nvPr/>
          </p:nvGrpSpPr>
          <p:grpSpPr>
            <a:xfrm>
              <a:off x="457200" y="1752600"/>
              <a:ext cx="5334000" cy="1733550"/>
              <a:chOff x="457200" y="1752600"/>
              <a:chExt cx="5334000" cy="1733550"/>
            </a:xfrm>
          </p:grpSpPr>
          <p:sp>
            <p:nvSpPr>
              <p:cNvPr id="6" name="Rectangle 6"/>
              <p:cNvSpPr/>
              <p:nvPr/>
            </p:nvSpPr>
            <p:spPr>
              <a:xfrm>
                <a:off x="457200" y="1752600"/>
                <a:ext cx="5334000" cy="1733550"/>
              </a:xfrm>
              <a:prstGeom prst="rect">
                <a:avLst/>
              </a:prstGeom>
              <a:solidFill>
                <a:srgbClr val="F1F4EE"/>
              </a:solidFill>
              <a:ln>
                <a:noFill/>
              </a:ln>
            </p:spPr>
          </p:sp>
          <p:sp>
            <p:nvSpPr>
              <p:cNvPr id="7" name="TextBox 7"/>
              <p:cNvSpPr txBox="1"/>
              <p:nvPr/>
            </p:nvSpPr>
            <p:spPr>
              <a:xfrm>
                <a:off x="657606" y="1876425"/>
                <a:ext cx="394391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Short-lived / bounded consequence</a:t>
                </a:r>
              </a:p>
            </p:txBody>
          </p:sp>
          <p:sp>
            <p:nvSpPr>
              <p:cNvPr id="8" name="TextBox 8"/>
              <p:cNvSpPr txBox="1"/>
              <p:nvPr/>
            </p:nvSpPr>
            <p:spPr>
              <a:xfrm>
                <a:off x="659130" y="2368550"/>
                <a:ext cx="3954399"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Simple and removable.</a:t>
                </a:r>
                <a:br>
                  <a:rPr lang="en-US" sz="1500" dirty="0">
                    <a:solidFill>
                      <a:schemeClr val="dk1"/>
                    </a:solidFill>
                    <a:latin typeface="+mn-lt"/>
                    <a:ea typeface="+mn-ea"/>
                    <a:cs typeface="+mn-cs"/>
                  </a:rPr>
                </a:br>
                <a:r>
                  <a:rPr lang="en-US" sz="1500" dirty="0">
                    <a:solidFill>
                      <a:schemeClr val="dk1"/>
                    </a:solidFill>
                    <a:latin typeface="+mn-lt"/>
                    <a:ea typeface="+mn-ea"/>
                    <a:cs typeface="+mn-cs"/>
                  </a:rPr>
                  <a:t>Explicit scope, owner and retirement condition.</a:t>
                </a:r>
                <a:br>
                  <a:rPr lang="en-US" sz="1500" dirty="0">
                    <a:solidFill>
                      <a:schemeClr val="dk1"/>
                    </a:solidFill>
                    <a:latin typeface="+mn-lt"/>
                    <a:ea typeface="+mn-ea"/>
                    <a:cs typeface="+mn-cs"/>
                  </a:rPr>
                </a:br>
                <a:r>
                  <a:rPr lang="en-US" sz="1500" dirty="0">
                    <a:solidFill>
                      <a:schemeClr val="dk1"/>
                    </a:solidFill>
                    <a:latin typeface="+mn-lt"/>
                    <a:ea typeface="+mn-ea"/>
                    <a:cs typeface="+mn-cs"/>
                  </a:rPr>
                  <a:t>Avoid silently accumulating dependencies.</a:t>
                </a:r>
              </a:p>
            </p:txBody>
          </p:sp>
        </p:grpSp>
        <p:grpSp>
          <p:nvGrpSpPr>
            <p:cNvPr id="13" name="Group 13"/>
            <p:cNvGrpSpPr/>
            <p:nvPr/>
          </p:nvGrpSpPr>
          <p:grpSpPr>
            <a:xfrm>
              <a:off x="6096000" y="1752600"/>
              <a:ext cx="5638800" cy="1733550"/>
              <a:chOff x="6096000" y="1752600"/>
              <a:chExt cx="5638800" cy="1733550"/>
            </a:xfrm>
          </p:grpSpPr>
          <p:sp>
            <p:nvSpPr>
              <p:cNvPr id="10" name="Rectangle 10"/>
              <p:cNvSpPr/>
              <p:nvPr/>
            </p:nvSpPr>
            <p:spPr>
              <a:xfrm>
                <a:off x="6096000" y="1752600"/>
                <a:ext cx="5638800" cy="1733550"/>
              </a:xfrm>
              <a:prstGeom prst="rect">
                <a:avLst/>
              </a:prstGeom>
              <a:solidFill>
                <a:schemeClr val="lt2"/>
              </a:solidFill>
              <a:ln>
                <a:noFill/>
              </a:ln>
            </p:spPr>
          </p:sp>
          <p:sp>
            <p:nvSpPr>
              <p:cNvPr id="11" name="TextBox 11"/>
              <p:cNvSpPr txBox="1"/>
              <p:nvPr/>
            </p:nvSpPr>
            <p:spPr>
              <a:xfrm>
                <a:off x="6296406" y="1876425"/>
                <a:ext cx="3890538"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Long-lived / bounded consequence</a:t>
                </a:r>
              </a:p>
            </p:txBody>
          </p:sp>
          <p:sp>
            <p:nvSpPr>
              <p:cNvPr id="12" name="TextBox 12"/>
              <p:cNvSpPr txBox="1"/>
              <p:nvPr/>
            </p:nvSpPr>
            <p:spPr>
              <a:xfrm>
                <a:off x="6297930" y="2368550"/>
                <a:ext cx="4748898"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Maintainable and owned.</a:t>
                </a:r>
                <a:br>
                  <a:rPr lang="en-US" sz="1500" dirty="0">
                    <a:solidFill>
                      <a:schemeClr val="dk1"/>
                    </a:solidFill>
                    <a:latin typeface="+mn-lt"/>
                    <a:ea typeface="+mn-ea"/>
                    <a:cs typeface="+mn-cs"/>
                  </a:rPr>
                </a:br>
                <a:r>
                  <a:rPr lang="en-US" sz="1500" dirty="0">
                    <a:solidFill>
                      <a:schemeClr val="dk1"/>
                    </a:solidFill>
                    <a:latin typeface="+mn-lt"/>
                    <a:ea typeface="+mn-ea"/>
                    <a:cs typeface="+mn-cs"/>
                  </a:rPr>
                  <a:t>Stable interfaces, documentation and regression checks</a:t>
                </a:r>
                <a:br>
                  <a:rPr lang="en-US" sz="1500" dirty="0">
                    <a:solidFill>
                      <a:schemeClr val="dk1"/>
                    </a:solidFill>
                    <a:latin typeface="+mn-lt"/>
                    <a:ea typeface="+mn-ea"/>
                    <a:cs typeface="+mn-cs"/>
                  </a:rPr>
                </a:br>
                <a:r>
                  <a:rPr lang="en-US" sz="1500" dirty="0">
                    <a:solidFill>
                      <a:schemeClr val="dk1"/>
                    </a:solidFill>
                    <a:latin typeface="+mn-lt"/>
                    <a:ea typeface="+mn-ea"/>
                    <a:cs typeface="+mn-cs"/>
                  </a:rPr>
                  <a:t>appropriate to the continuing responsibility.</a:t>
                </a:r>
              </a:p>
            </p:txBody>
          </p:sp>
        </p:grpSp>
        <p:grpSp>
          <p:nvGrpSpPr>
            <p:cNvPr id="17" name="Group 17"/>
            <p:cNvGrpSpPr/>
            <p:nvPr/>
          </p:nvGrpSpPr>
          <p:grpSpPr>
            <a:xfrm>
              <a:off x="457200" y="3714750"/>
              <a:ext cx="5334000" cy="1733550"/>
              <a:chOff x="457200" y="3714750"/>
              <a:chExt cx="5334000" cy="1733550"/>
            </a:xfrm>
          </p:grpSpPr>
          <p:sp>
            <p:nvSpPr>
              <p:cNvPr id="14" name="Rectangle 14"/>
              <p:cNvSpPr/>
              <p:nvPr/>
            </p:nvSpPr>
            <p:spPr>
              <a:xfrm>
                <a:off x="457200" y="3714750"/>
                <a:ext cx="5334000" cy="1733550"/>
              </a:xfrm>
              <a:prstGeom prst="rect">
                <a:avLst/>
              </a:prstGeom>
              <a:solidFill>
                <a:schemeClr val="lt2"/>
              </a:solidFill>
              <a:ln>
                <a:noFill/>
              </a:ln>
            </p:spPr>
          </p:sp>
          <p:sp>
            <p:nvSpPr>
              <p:cNvPr id="15" name="TextBox 15"/>
              <p:cNvSpPr txBox="1"/>
              <p:nvPr/>
            </p:nvSpPr>
            <p:spPr>
              <a:xfrm>
                <a:off x="657606" y="3838575"/>
                <a:ext cx="3454199"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Short-lived / high consequence</a:t>
                </a:r>
              </a:p>
            </p:txBody>
          </p:sp>
          <p:sp>
            <p:nvSpPr>
              <p:cNvPr id="16" name="TextBox 16"/>
              <p:cNvSpPr txBox="1"/>
              <p:nvPr/>
            </p:nvSpPr>
            <p:spPr>
              <a:xfrm>
                <a:off x="659130" y="4330700"/>
                <a:ext cx="4611357"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Constrained and checked.</a:t>
                </a:r>
                <a:br>
                  <a:rPr lang="en-US" sz="1500" dirty="0">
                    <a:solidFill>
                      <a:schemeClr val="dk1"/>
                    </a:solidFill>
                    <a:latin typeface="+mn-lt"/>
                    <a:ea typeface="+mn-ea"/>
                    <a:cs typeface="+mn-cs"/>
                  </a:rPr>
                </a:br>
                <a:r>
                  <a:rPr lang="en-US" sz="1500" dirty="0">
                    <a:solidFill>
                      <a:schemeClr val="dk1"/>
                    </a:solidFill>
                    <a:latin typeface="+mn-lt"/>
                    <a:ea typeface="+mn-ea"/>
                    <a:cs typeface="+mn-cs"/>
                  </a:rPr>
                  <a:t>Access, numerical evidence and execution boundaries</a:t>
                </a:r>
                <a:br>
                  <a:rPr lang="en-US" sz="1500" dirty="0">
                    <a:solidFill>
                      <a:schemeClr val="dk1"/>
                    </a:solidFill>
                    <a:latin typeface="+mn-lt"/>
                    <a:ea typeface="+mn-ea"/>
                    <a:cs typeface="+mn-cs"/>
                  </a:rPr>
                </a:br>
                <a:r>
                  <a:rPr lang="en-US" sz="1500" dirty="0">
                    <a:solidFill>
                      <a:schemeClr val="dk1"/>
                    </a:solidFill>
                    <a:latin typeface="+mn-lt"/>
                    <a:ea typeface="+mn-ea"/>
                    <a:cs typeface="+mn-cs"/>
                  </a:rPr>
                  <a:t>remain essential even in a temporary tool.</a:t>
                </a:r>
              </a:p>
            </p:txBody>
          </p:sp>
        </p:grpSp>
        <p:grpSp>
          <p:nvGrpSpPr>
            <p:cNvPr id="21" name="Group 21"/>
            <p:cNvGrpSpPr/>
            <p:nvPr/>
          </p:nvGrpSpPr>
          <p:grpSpPr>
            <a:xfrm>
              <a:off x="6096000" y="3714750"/>
              <a:ext cx="5638800" cy="1733550"/>
              <a:chOff x="6096000" y="3714750"/>
              <a:chExt cx="5638800" cy="1733550"/>
            </a:xfrm>
          </p:grpSpPr>
          <p:sp>
            <p:nvSpPr>
              <p:cNvPr id="18" name="Rectangle 18"/>
              <p:cNvSpPr/>
              <p:nvPr/>
            </p:nvSpPr>
            <p:spPr>
              <a:xfrm>
                <a:off x="6096000" y="3714750"/>
                <a:ext cx="5638800" cy="1733550"/>
              </a:xfrm>
              <a:prstGeom prst="rect">
                <a:avLst/>
              </a:prstGeom>
              <a:solidFill>
                <a:schemeClr val="accent1"/>
              </a:solidFill>
              <a:ln>
                <a:noFill/>
              </a:ln>
            </p:spPr>
          </p:sp>
          <p:sp>
            <p:nvSpPr>
              <p:cNvPr id="19" name="TextBox 19"/>
              <p:cNvSpPr txBox="1"/>
              <p:nvPr/>
            </p:nvSpPr>
            <p:spPr>
              <a:xfrm>
                <a:off x="6296406" y="3838575"/>
                <a:ext cx="3400885"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Long-lived / high consequence</a:t>
                </a:r>
              </a:p>
            </p:txBody>
          </p:sp>
          <p:sp>
            <p:nvSpPr>
              <p:cNvPr id="20" name="TextBox 20"/>
              <p:cNvSpPr txBox="1"/>
              <p:nvPr/>
            </p:nvSpPr>
            <p:spPr>
              <a:xfrm>
                <a:off x="6297930" y="4330700"/>
                <a:ext cx="4378033"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Operated and verified.</a:t>
                </a:r>
                <a:br>
                  <a:rPr lang="en-US" sz="1500" dirty="0">
                    <a:solidFill>
                      <a:srgbClr val="FFFDF7"/>
                    </a:solidFill>
                    <a:latin typeface="+mn-lt"/>
                    <a:ea typeface="+mn-ea"/>
                    <a:cs typeface="+mn-cs"/>
                  </a:rPr>
                </a:br>
                <a:r>
                  <a:rPr lang="en-US" sz="1500" dirty="0">
                    <a:solidFill>
                      <a:srgbClr val="FFFDF7"/>
                    </a:solidFill>
                    <a:latin typeface="+mn-lt"/>
                    <a:ea typeface="+mn-ea"/>
                    <a:cs typeface="+mn-cs"/>
                  </a:rPr>
                  <a:t>Explicit controls, recovery and continuing validation;</a:t>
                </a:r>
                <a:br>
                  <a:rPr lang="en-US" sz="1500" dirty="0">
                    <a:solidFill>
                      <a:srgbClr val="FFFDF7"/>
                    </a:solidFill>
                    <a:latin typeface="+mn-lt"/>
                    <a:ea typeface="+mn-ea"/>
                    <a:cs typeface="+mn-cs"/>
                  </a:rPr>
                </a:br>
                <a:r>
                  <a:rPr lang="en-US" sz="1500" dirty="0">
                    <a:solidFill>
                      <a:srgbClr val="FFFDF7"/>
                    </a:solidFill>
                    <a:latin typeface="+mn-lt"/>
                    <a:ea typeface="+mn-ea"/>
                    <a:cs typeface="+mn-cs"/>
                  </a:rPr>
                  <a:t>reassess as users and responsibilities grow.</a:t>
                </a:r>
              </a:p>
            </p:txBody>
          </p:sp>
        </p:grpSp>
      </p:grpSp>
      <p:grpSp>
        <p:nvGrpSpPr>
          <p:cNvPr id="24" name="maintenance-limit"/>
          <p:cNvGrpSpPr/>
          <p:nvPr/>
        </p:nvGrpSpPr>
        <p:grpSpPr>
          <a:xfrm>
            <a:off x="450342" y="5753100"/>
            <a:ext cx="9354312" cy="511683"/>
            <a:chOff x="450342" y="5753100"/>
            <a:chExt cx="9354312" cy="511683"/>
          </a:xfrm>
        </p:grpSpPr>
        <p:sp>
          <p:nvSpPr>
            <p:cNvPr id="23" name="TextBox 23"/>
            <p:cNvSpPr txBox="1"/>
            <p:nvPr/>
          </p:nvSpPr>
          <p:spPr>
            <a:xfrm>
              <a:off x="450342" y="5753100"/>
              <a:ext cx="9354312"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Capital One’s conceptual discussion establishes neither deployed disposable software nor zero replacement cost.</a:t>
              </a:r>
              <a:br>
                <a:rPr lang="en-US" sz="1350" dirty="0">
                  <a:solidFill>
                    <a:schemeClr val="dk1"/>
                  </a:solidFill>
                  <a:latin typeface="+mn-lt"/>
                  <a:ea typeface="+mn-ea"/>
                  <a:cs typeface="+mn-cs"/>
                </a:rPr>
              </a:br>
              <a:r>
                <a:rPr lang="en-US" sz="1350" dirty="0">
                  <a:solidFill>
                    <a:schemeClr val="dk1"/>
                  </a:solidFill>
                  <a:latin typeface="+mn-lt"/>
                  <a:ea typeface="+mn-ea"/>
                  <a:cs typeface="+mn-cs"/>
                </a:rPr>
                <a:t>Cheap regeneration does not reduce an error’s consequence. Growing use should trigger an explicit maintenance decision.</a:t>
              </a:r>
            </a:p>
          </p:txBody>
        </p:sp>
      </p:grpSp>
      <p:grpSp>
        <p:nvGrpSpPr>
          <p:cNvPr id="27" name="footer"/>
          <p:cNvGrpSpPr/>
          <p:nvPr/>
        </p:nvGrpSpPr>
        <p:grpSpPr>
          <a:xfrm>
            <a:off x="452438" y="6467475"/>
            <a:ext cx="11287124" cy="176212"/>
            <a:chOff x="452438" y="6467475"/>
            <a:chExt cx="11287124" cy="176212"/>
          </a:xfrm>
        </p:grpSpPr>
        <p:sp>
          <p:nvSpPr>
            <p:cNvPr id="25" name="TextBox 25"/>
            <p:cNvSpPr txBox="1"/>
            <p:nvPr/>
          </p:nvSpPr>
          <p:spPr>
            <a:xfrm>
              <a:off x="452438" y="6467475"/>
              <a:ext cx="6569230"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Sources: Capital One, Sonar and Two Sigma accounts. Qualitative judgment aid; specific checks depend on the workflow.</a:t>
              </a:r>
            </a:p>
          </p:txBody>
        </p:sp>
        <p:sp>
          <p:nvSpPr>
            <p:cNvPr id="26" name="TextBox 26"/>
            <p:cNvSpPr txBox="1"/>
            <p:nvPr/>
          </p:nvSpPr>
          <p:spPr>
            <a:xfrm>
              <a:off x="11359512" y="64674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26 / 37</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536423" cy="1110107"/>
            <a:chOff x="443484" y="371475"/>
            <a:chExt cx="8536423" cy="1110107"/>
          </a:xfrm>
        </p:grpSpPr>
        <p:sp>
          <p:nvSpPr>
            <p:cNvPr id="2" name="TextBox 2"/>
            <p:cNvSpPr txBox="1"/>
            <p:nvPr/>
          </p:nvSpPr>
          <p:spPr>
            <a:xfrm>
              <a:off x="451104" y="371475"/>
              <a:ext cx="306641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05 / A PRACTITIONER LEARNING LAB</a:t>
              </a:r>
            </a:p>
          </p:txBody>
        </p:sp>
        <p:sp>
          <p:nvSpPr>
            <p:cNvPr id="3" name="TextBox 3"/>
            <p:cNvSpPr txBox="1"/>
            <p:nvPr/>
          </p:nvSpPr>
          <p:spPr>
            <a:xfrm>
              <a:off x="443484" y="603250"/>
              <a:ext cx="8536423"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Learn through one bounded end-to-end experiment</a:t>
              </a:r>
            </a:p>
          </p:txBody>
        </p:sp>
        <p:sp>
          <p:nvSpPr>
            <p:cNvPr id="4" name="TextBox 4"/>
            <p:cNvSpPr txBox="1"/>
            <p:nvPr/>
          </p:nvSpPr>
          <p:spPr>
            <a:xfrm>
              <a:off x="448818" y="1158875"/>
              <a:ext cx="853099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Choose a work product a reviewer understands, then build the smallest complete path.</a:t>
              </a:r>
            </a:p>
          </p:txBody>
        </p:sp>
      </p:grpSp>
      <p:grpSp>
        <p:nvGrpSpPr>
          <p:cNvPr id="17" name="experiment-method"/>
          <p:cNvGrpSpPr/>
          <p:nvPr/>
        </p:nvGrpSpPr>
        <p:grpSpPr>
          <a:xfrm>
            <a:off x="448056" y="1825625"/>
            <a:ext cx="7533894" cy="3979545"/>
            <a:chOff x="448056" y="1825625"/>
            <a:chExt cx="7533894" cy="3979545"/>
          </a:xfrm>
        </p:grpSpPr>
        <p:sp>
          <p:nvSpPr>
            <p:cNvPr id="6" name="TextBox 6"/>
            <p:cNvSpPr txBox="1"/>
            <p:nvPr/>
          </p:nvSpPr>
          <p:spPr>
            <a:xfrm>
              <a:off x="448056" y="1857375"/>
              <a:ext cx="115108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1 / Frame</a:t>
              </a:r>
            </a:p>
          </p:txBody>
        </p:sp>
        <p:sp>
          <p:nvSpPr>
            <p:cNvPr id="7" name="TextBox 7"/>
            <p:cNvSpPr txBox="1"/>
            <p:nvPr/>
          </p:nvSpPr>
          <p:spPr>
            <a:xfrm>
              <a:off x="2335530" y="1825625"/>
              <a:ext cx="4611319"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Research brief, analytical result or preparation draft.</a:t>
              </a:r>
              <a:br>
                <a:rPr lang="en-US" sz="1500" dirty="0">
                  <a:solidFill>
                    <a:schemeClr val="dk1"/>
                  </a:solidFill>
                  <a:latin typeface="+mn-lt"/>
                  <a:ea typeface="+mn-ea"/>
                  <a:cs typeface="+mn-cs"/>
                </a:rPr>
              </a:br>
              <a:r>
                <a:rPr lang="en-US" sz="1500" dirty="0">
                  <a:solidFill>
                    <a:schemeClr val="dk1"/>
                  </a:solidFill>
                  <a:latin typeface="+mn-lt"/>
                  <a:ea typeface="+mn-ea"/>
                  <a:cs typeface="+mn-cs"/>
                </a:rPr>
                <a:t>Clear user, acceptance and approved/synthetic inputs.</a:t>
              </a:r>
            </a:p>
          </p:txBody>
        </p:sp>
        <p:sp>
          <p:nvSpPr>
            <p:cNvPr id="8" name="Line 8"/>
            <p:cNvSpPr/>
            <p:nvPr/>
          </p:nvSpPr>
          <p:spPr>
            <a:xfrm>
              <a:off x="457200" y="2609850"/>
              <a:ext cx="7524750" cy="9525"/>
            </a:xfrm>
            <a:custGeom>
              <a:avLst/>
              <a:gdLst/>
              <a:ahLst/>
              <a:cxnLst/>
              <a:rect l="l" t="t" r="r" b="b"/>
              <a:pathLst>
                <a:path w="7524750" h="9525">
                  <a:moveTo>
                    <a:pt x="0" y="0"/>
                  </a:moveTo>
                  <a:lnTo>
                    <a:pt x="7524750" y="0"/>
                  </a:lnTo>
                </a:path>
              </a:pathLst>
            </a:custGeom>
            <a:noFill/>
            <a:ln w="9525">
              <a:solidFill>
                <a:schemeClr val="accent6"/>
              </a:solidFill>
            </a:ln>
          </p:spPr>
        </p:sp>
        <p:sp>
          <p:nvSpPr>
            <p:cNvPr id="9" name="TextBox 9"/>
            <p:cNvSpPr txBox="1"/>
            <p:nvPr/>
          </p:nvSpPr>
          <p:spPr>
            <a:xfrm>
              <a:off x="448056" y="2819400"/>
              <a:ext cx="1358133"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2 / Baseline</a:t>
              </a:r>
            </a:p>
          </p:txBody>
        </p:sp>
        <p:sp>
          <p:nvSpPr>
            <p:cNvPr id="10" name="TextBox 10"/>
            <p:cNvSpPr txBox="1"/>
            <p:nvPr/>
          </p:nvSpPr>
          <p:spPr>
            <a:xfrm>
              <a:off x="2335530" y="2787650"/>
              <a:ext cx="4345953"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Record current quality, time, cost and human effort.</a:t>
              </a:r>
              <a:br>
                <a:rPr lang="en-US" sz="1500" dirty="0">
                  <a:solidFill>
                    <a:schemeClr val="dk1"/>
                  </a:solidFill>
                  <a:latin typeface="+mn-lt"/>
                  <a:ea typeface="+mn-ea"/>
                  <a:cs typeface="+mn-cs"/>
                </a:rPr>
              </a:br>
              <a:r>
                <a:rPr lang="en-US" sz="1500" dirty="0">
                  <a:solidFill>
                    <a:schemeClr val="dk1"/>
                  </a:solidFill>
                  <a:latin typeface="+mn-lt"/>
                  <a:ea typeface="+mn-ea"/>
                  <a:cs typeface="+mn-cs"/>
                </a:rPr>
                <a:t>Do this before committing to a preferred model.</a:t>
              </a:r>
            </a:p>
          </p:txBody>
        </p:sp>
        <p:sp>
          <p:nvSpPr>
            <p:cNvPr id="11" name="Line 11"/>
            <p:cNvSpPr/>
            <p:nvPr/>
          </p:nvSpPr>
          <p:spPr>
            <a:xfrm>
              <a:off x="457200" y="3571875"/>
              <a:ext cx="7524750" cy="9525"/>
            </a:xfrm>
            <a:custGeom>
              <a:avLst/>
              <a:gdLst/>
              <a:ahLst/>
              <a:cxnLst/>
              <a:rect l="l" t="t" r="r" b="b"/>
              <a:pathLst>
                <a:path w="7524750" h="9525">
                  <a:moveTo>
                    <a:pt x="0" y="0"/>
                  </a:moveTo>
                  <a:lnTo>
                    <a:pt x="7524750" y="0"/>
                  </a:lnTo>
                </a:path>
              </a:pathLst>
            </a:custGeom>
            <a:noFill/>
            <a:ln w="9525">
              <a:solidFill>
                <a:schemeClr val="accent6"/>
              </a:solidFill>
            </a:ln>
          </p:spPr>
        </p:sp>
        <p:sp>
          <p:nvSpPr>
            <p:cNvPr id="12" name="TextBox 12"/>
            <p:cNvSpPr txBox="1"/>
            <p:nvPr/>
          </p:nvSpPr>
          <p:spPr>
            <a:xfrm>
              <a:off x="448056" y="3781425"/>
              <a:ext cx="171674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3 / Experiment</a:t>
              </a:r>
            </a:p>
          </p:txBody>
        </p:sp>
        <p:sp>
          <p:nvSpPr>
            <p:cNvPr id="13" name="TextBox 13"/>
            <p:cNvSpPr txBox="1"/>
            <p:nvPr/>
          </p:nvSpPr>
          <p:spPr>
            <a:xfrm>
              <a:off x="2335530" y="3749675"/>
              <a:ext cx="4728020"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Change one skill, memory rule or model with snapshots</a:t>
              </a:r>
              <a:br>
                <a:rPr lang="en-US" sz="1500" dirty="0">
                  <a:solidFill>
                    <a:schemeClr val="dk1"/>
                  </a:solidFill>
                  <a:latin typeface="+mn-lt"/>
                  <a:ea typeface="+mn-ea"/>
                  <a:cs typeface="+mn-cs"/>
                </a:rPr>
              </a:br>
              <a:r>
                <a:rPr lang="en-US" sz="1500" dirty="0">
                  <a:solidFill>
                    <a:schemeClr val="dk1"/>
                  </a:solidFill>
                  <a:latin typeface="+mn-lt"/>
                  <a:ea typeface="+mn-ea"/>
                  <a:cs typeface="+mn-cs"/>
                </a:rPr>
                <a:t>and assessment held fixed. Keep tuning separate.</a:t>
              </a:r>
              <a:br>
                <a:rPr lang="en-US" sz="1500" dirty="0">
                  <a:solidFill>
                    <a:schemeClr val="dk1"/>
                  </a:solidFill>
                  <a:latin typeface="+mn-lt"/>
                  <a:ea typeface="+mn-ea"/>
                  <a:cs typeface="+mn-cs"/>
                </a:rPr>
              </a:br>
              <a:r>
                <a:rPr lang="en-US" sz="1500" dirty="0">
                  <a:solidFill>
                    <a:schemeClr val="dk1"/>
                  </a:solidFill>
                  <a:latin typeface="+mn-lt"/>
                  <a:ea typeface="+mn-ea"/>
                  <a:cs typeface="+mn-cs"/>
                </a:rPr>
                <a:t>Include ordinary, ambiguous and consequential failures.</a:t>
              </a:r>
            </a:p>
          </p:txBody>
        </p:sp>
        <p:sp>
          <p:nvSpPr>
            <p:cNvPr id="14" name="Line 14"/>
            <p:cNvSpPr/>
            <p:nvPr/>
          </p:nvSpPr>
          <p:spPr>
            <a:xfrm>
              <a:off x="457200" y="4800600"/>
              <a:ext cx="7524750" cy="9525"/>
            </a:xfrm>
            <a:custGeom>
              <a:avLst/>
              <a:gdLst/>
              <a:ahLst/>
              <a:cxnLst/>
              <a:rect l="l" t="t" r="r" b="b"/>
              <a:pathLst>
                <a:path w="7524750" h="9525">
                  <a:moveTo>
                    <a:pt x="0" y="0"/>
                  </a:moveTo>
                  <a:lnTo>
                    <a:pt x="7524750" y="0"/>
                  </a:lnTo>
                </a:path>
              </a:pathLst>
            </a:custGeom>
            <a:noFill/>
            <a:ln w="9525">
              <a:solidFill>
                <a:schemeClr val="accent6"/>
              </a:solidFill>
            </a:ln>
          </p:spPr>
        </p:sp>
        <p:sp>
          <p:nvSpPr>
            <p:cNvPr id="15" name="TextBox 15"/>
            <p:cNvSpPr txBox="1"/>
            <p:nvPr/>
          </p:nvSpPr>
          <p:spPr>
            <a:xfrm>
              <a:off x="448056" y="5010150"/>
              <a:ext cx="125710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4 / Explain</a:t>
              </a:r>
            </a:p>
          </p:txBody>
        </p:sp>
        <p:sp>
          <p:nvSpPr>
            <p:cNvPr id="16" name="TextBox 16"/>
            <p:cNvSpPr txBox="1"/>
            <p:nvPr/>
          </p:nvSpPr>
          <p:spPr>
            <a:xfrm>
              <a:off x="2335530" y="4978400"/>
              <a:ext cx="5183315"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Share a reproducible case, uncertainty and the next decision.</a:t>
              </a:r>
              <a:br>
                <a:rPr lang="en-US" sz="1500" dirty="0">
                  <a:solidFill>
                    <a:schemeClr val="dk1"/>
                  </a:solidFill>
                  <a:latin typeface="+mn-lt"/>
                  <a:ea typeface="+mn-ea"/>
                  <a:cs typeface="+mn-cs"/>
                </a:rPr>
              </a:br>
              <a:r>
                <a:rPr lang="en-US" sz="1500" dirty="0">
                  <a:solidFill>
                    <a:schemeClr val="dk1"/>
                  </a:solidFill>
                  <a:latin typeface="+mn-lt"/>
                  <a:ea typeface="+mn-ea"/>
                  <a:cs typeface="+mn-cs"/>
                </a:rPr>
                <a:t>A deterministic solution, inadequate data or stopping can</a:t>
              </a:r>
              <a:br>
                <a:rPr lang="en-US" sz="1500" dirty="0">
                  <a:solidFill>
                    <a:schemeClr val="dk1"/>
                  </a:solidFill>
                  <a:latin typeface="+mn-lt"/>
                  <a:ea typeface="+mn-ea"/>
                  <a:cs typeface="+mn-cs"/>
                </a:rPr>
              </a:br>
              <a:r>
                <a:rPr lang="en-US" sz="1500" dirty="0">
                  <a:solidFill>
                    <a:schemeClr val="dk1"/>
                  </a:solidFill>
                  <a:latin typeface="+mn-lt"/>
                  <a:ea typeface="+mn-ea"/>
                  <a:cs typeface="+mn-cs"/>
                </a:rPr>
                <a:t>be a valid result. State what would change your mind.</a:t>
              </a:r>
            </a:p>
          </p:txBody>
        </p:sp>
      </p:grpSp>
      <p:grpSp>
        <p:nvGrpSpPr>
          <p:cNvPr id="21" name="evidence-card"/>
          <p:cNvGrpSpPr/>
          <p:nvPr/>
        </p:nvGrpSpPr>
        <p:grpSpPr>
          <a:xfrm>
            <a:off x="8286750" y="1752600"/>
            <a:ext cx="3448050" cy="4286250"/>
            <a:chOff x="8286750" y="1752600"/>
            <a:chExt cx="3448050" cy="4286250"/>
          </a:xfrm>
        </p:grpSpPr>
        <p:sp>
          <p:nvSpPr>
            <p:cNvPr id="18" name="Rectangle 18"/>
            <p:cNvSpPr/>
            <p:nvPr/>
          </p:nvSpPr>
          <p:spPr>
            <a:xfrm>
              <a:off x="8286750" y="1752600"/>
              <a:ext cx="3448050" cy="4286250"/>
            </a:xfrm>
            <a:prstGeom prst="rect">
              <a:avLst/>
            </a:prstGeom>
            <a:solidFill>
              <a:schemeClr val="accent1"/>
            </a:solidFill>
            <a:ln>
              <a:noFill/>
            </a:ln>
          </p:spPr>
        </p:sp>
        <p:sp>
          <p:nvSpPr>
            <p:cNvPr id="19" name="TextBox 19"/>
            <p:cNvSpPr txBox="1"/>
            <p:nvPr/>
          </p:nvSpPr>
          <p:spPr>
            <a:xfrm>
              <a:off x="8506206" y="1905000"/>
              <a:ext cx="2843303"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The deliverable: evidence</a:t>
              </a:r>
            </a:p>
          </p:txBody>
        </p:sp>
        <p:sp>
          <p:nvSpPr>
            <p:cNvPr id="20" name="TextBox 20"/>
            <p:cNvSpPr txBox="1"/>
            <p:nvPr/>
          </p:nvSpPr>
          <p:spPr>
            <a:xfrm>
              <a:off x="8507730" y="2336800"/>
              <a:ext cx="2037588" cy="2436495"/>
            </a:xfrm>
            <a:prstGeom prst="rect">
              <a:avLst/>
            </a:prstGeom>
            <a:noFill/>
            <a:ln>
              <a:noFill/>
            </a:ln>
          </p:spPr>
          <p:txBody>
            <a:bodyPr wrap="none" lIns="0" tIns="0" rIns="0" bIns="0" anchor="t" anchorCtr="0">
              <a:spAutoFit/>
            </a:bodyPr>
            <a:lstStyle/>
            <a:p>
              <a:pPr algn="l">
                <a:lnSpc>
                  <a:spcPts val="3375"/>
                </a:lnSpc>
              </a:pPr>
              <a:r>
                <a:rPr lang="en-US" sz="1500" dirty="0">
                  <a:solidFill>
                    <a:srgbClr val="FFFDF7"/>
                  </a:solidFill>
                  <a:latin typeface="+mn-lt"/>
                  <a:ea typeface="+mn-ea"/>
                  <a:cs typeface="+mn-cs"/>
                </a:rPr>
                <a:t>Task and baseline</a:t>
              </a:r>
              <a:br>
                <a:rPr lang="en-US" sz="1500" dirty="0">
                  <a:solidFill>
                    <a:srgbClr val="FFFDF7"/>
                  </a:solidFill>
                  <a:latin typeface="+mn-lt"/>
                  <a:ea typeface="+mn-ea"/>
                  <a:cs typeface="+mn-cs"/>
                </a:rPr>
              </a:br>
              <a:r>
                <a:rPr lang="en-US" sz="1500" dirty="0">
                  <a:solidFill>
                    <a:srgbClr val="FFFDF7"/>
                  </a:solidFill>
                  <a:latin typeface="+mn-lt"/>
                  <a:ea typeface="+mn-ea"/>
                  <a:cs typeface="+mn-cs"/>
                </a:rPr>
                <a:t>Deliberate change</a:t>
              </a:r>
              <a:br>
                <a:rPr lang="en-US" sz="1500" dirty="0">
                  <a:solidFill>
                    <a:srgbClr val="FFFDF7"/>
                  </a:solidFill>
                  <a:latin typeface="+mn-lt"/>
                  <a:ea typeface="+mn-ea"/>
                  <a:cs typeface="+mn-cs"/>
                </a:rPr>
              </a:br>
              <a:r>
                <a:rPr lang="en-US" sz="1500" dirty="0">
                  <a:solidFill>
                    <a:srgbClr val="FFFDF7"/>
                  </a:solidFill>
                  <a:latin typeface="+mn-lt"/>
                  <a:ea typeface="+mn-ea"/>
                  <a:cs typeface="+mn-cs"/>
                </a:rPr>
                <a:t>Observed failures</a:t>
              </a:r>
              <a:br>
                <a:rPr lang="en-US" sz="1500" dirty="0">
                  <a:solidFill>
                    <a:srgbClr val="FFFDF7"/>
                  </a:solidFill>
                  <a:latin typeface="+mn-lt"/>
                  <a:ea typeface="+mn-ea"/>
                  <a:cs typeface="+mn-cs"/>
                </a:rPr>
              </a:br>
              <a:r>
                <a:rPr lang="en-US" sz="1500" dirty="0">
                  <a:solidFill>
                    <a:srgbClr val="FFFDF7"/>
                  </a:solidFill>
                  <a:latin typeface="+mn-lt"/>
                  <a:ea typeface="+mn-ea"/>
                  <a:cs typeface="+mn-cs"/>
                </a:rPr>
                <a:t>Quality + effort + cost</a:t>
              </a:r>
              <a:br>
                <a:rPr lang="en-US" sz="1500" dirty="0">
                  <a:solidFill>
                    <a:srgbClr val="FFFDF7"/>
                  </a:solidFill>
                  <a:latin typeface="+mn-lt"/>
                  <a:ea typeface="+mn-ea"/>
                  <a:cs typeface="+mn-cs"/>
                </a:rPr>
              </a:br>
              <a:r>
                <a:rPr lang="en-US" sz="1500" dirty="0">
                  <a:solidFill>
                    <a:srgbClr val="FFFDF7"/>
                  </a:solidFill>
                  <a:latin typeface="+mn-lt"/>
                  <a:ea typeface="+mn-ea"/>
                  <a:cs typeface="+mn-cs"/>
                </a:rPr>
                <a:t>Limits and uncertainty</a:t>
              </a:r>
              <a:br>
                <a:rPr lang="en-US" sz="1500" dirty="0">
                  <a:solidFill>
                    <a:srgbClr val="FFFDF7"/>
                  </a:solidFill>
                  <a:latin typeface="+mn-lt"/>
                  <a:ea typeface="+mn-ea"/>
                  <a:cs typeface="+mn-cs"/>
                </a:rPr>
              </a:br>
              <a:r>
                <a:rPr lang="en-US" sz="1500" dirty="0">
                  <a:solidFill>
                    <a:srgbClr val="FFFDF7"/>
                  </a:solidFill>
                  <a:latin typeface="+mn-lt"/>
                  <a:ea typeface="+mn-ea"/>
                  <a:cs typeface="+mn-cs"/>
                </a:rPr>
                <a:t>Continue / revise / retire</a:t>
              </a:r>
            </a:p>
          </p:txBody>
        </p:sp>
      </p:grpSp>
      <p:grpSp>
        <p:nvGrpSpPr>
          <p:cNvPr id="24" name="footer"/>
          <p:cNvGrpSpPr/>
          <p:nvPr/>
        </p:nvGrpSpPr>
        <p:grpSpPr>
          <a:xfrm>
            <a:off x="452438" y="6400800"/>
            <a:ext cx="11287124" cy="176212"/>
            <a:chOff x="452438" y="6400800"/>
            <a:chExt cx="11287124" cy="176212"/>
          </a:xfrm>
        </p:grpSpPr>
        <p:sp>
          <p:nvSpPr>
            <p:cNvPr id="22" name="TextBox 22"/>
            <p:cNvSpPr txBox="1"/>
            <p:nvPr/>
          </p:nvSpPr>
          <p:spPr>
            <a:xfrm>
              <a:off x="452438" y="6400800"/>
              <a:ext cx="8115375"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learning exercise informed by Ramp, Arize and Contour. A small experiment is neither production approval nor sufficient statistical validation.</a:t>
              </a:r>
            </a:p>
          </p:txBody>
        </p:sp>
        <p:sp>
          <p:nvSpPr>
            <p:cNvPr id="23" name="TextBox 23"/>
            <p:cNvSpPr txBox="1"/>
            <p:nvPr/>
          </p:nvSpPr>
          <p:spPr>
            <a:xfrm>
              <a:off x="11359512" y="64008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27 / 37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034331" cy="1110107"/>
            <a:chOff x="443484" y="371475"/>
            <a:chExt cx="8034331" cy="1110107"/>
          </a:xfrm>
        </p:grpSpPr>
        <p:sp>
          <p:nvSpPr>
            <p:cNvPr id="2" name="TextBox 2"/>
            <p:cNvSpPr txBox="1"/>
            <p:nvPr/>
          </p:nvSpPr>
          <p:spPr>
            <a:xfrm>
              <a:off x="451104" y="371475"/>
              <a:ext cx="4735061"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CONFERENCE REPORT-BACK / THE PRACTICAL RETURN</a:t>
              </a:r>
            </a:p>
          </p:txBody>
        </p:sp>
        <p:sp>
          <p:nvSpPr>
            <p:cNvPr id="3" name="TextBox 3"/>
            <p:cNvSpPr txBox="1"/>
            <p:nvPr/>
          </p:nvSpPr>
          <p:spPr>
            <a:xfrm>
              <a:off x="443484" y="603250"/>
              <a:ext cx="8034331"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Return with three decisions and one comparison</a:t>
              </a:r>
            </a:p>
          </p:txBody>
        </p:sp>
        <p:sp>
          <p:nvSpPr>
            <p:cNvPr id="4" name="TextBox 4"/>
            <p:cNvSpPr txBox="1"/>
            <p:nvPr/>
          </p:nvSpPr>
          <p:spPr>
            <a:xfrm>
              <a:off x="448818" y="1158875"/>
              <a:ext cx="6889519"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Choose the work, boundary and evidence before the next experiment.</a:t>
              </a:r>
            </a:p>
          </p:txBody>
        </p:sp>
      </p:grpSp>
      <p:grpSp>
        <p:nvGrpSpPr>
          <p:cNvPr id="9" name="work"/>
          <p:cNvGrpSpPr/>
          <p:nvPr/>
        </p:nvGrpSpPr>
        <p:grpSpPr>
          <a:xfrm>
            <a:off x="443484" y="1917700"/>
            <a:ext cx="3198533" cy="2496820"/>
            <a:chOff x="443484" y="1917700"/>
            <a:chExt cx="3198533" cy="2496820"/>
          </a:xfrm>
        </p:grpSpPr>
        <p:sp>
          <p:nvSpPr>
            <p:cNvPr id="6" name="TextBox 6"/>
            <p:cNvSpPr txBox="1"/>
            <p:nvPr/>
          </p:nvSpPr>
          <p:spPr>
            <a:xfrm>
              <a:off x="443484" y="1917700"/>
              <a:ext cx="994560" cy="528066"/>
            </a:xfrm>
            <a:prstGeom prst="rect">
              <a:avLst/>
            </a:prstGeom>
            <a:noFill/>
            <a:ln>
              <a:noFill/>
            </a:ln>
          </p:spPr>
          <p:txBody>
            <a:bodyPr wrap="none" lIns="0" tIns="0" rIns="0" bIns="0" anchor="t" anchorCtr="0">
              <a:spAutoFit/>
            </a:bodyPr>
            <a:lstStyle/>
            <a:p>
              <a:pPr algn="l"/>
              <a:r>
                <a:rPr lang="en-US" sz="2700" dirty="0">
                  <a:solidFill>
                    <a:schemeClr val="accent2"/>
                  </a:solidFill>
                  <a:latin typeface="+mj-lt"/>
                  <a:ea typeface="+mj-ea"/>
                  <a:cs typeface="+mj-cs"/>
                </a:rPr>
                <a:t>Work</a:t>
              </a:r>
            </a:p>
          </p:txBody>
        </p:sp>
        <p:sp>
          <p:nvSpPr>
            <p:cNvPr id="7" name="TextBox 7"/>
            <p:cNvSpPr txBox="1"/>
            <p:nvPr/>
          </p:nvSpPr>
          <p:spPr>
            <a:xfrm>
              <a:off x="448056" y="2432050"/>
              <a:ext cx="2310072" cy="637794"/>
            </a:xfrm>
            <a:prstGeom prst="rect">
              <a:avLst/>
            </a:prstGeom>
            <a:noFill/>
            <a:ln>
              <a:noFill/>
            </a:ln>
          </p:spPr>
          <p:txBody>
            <a:bodyPr wrap="none" lIns="0" tIns="0" rIns="0" bIns="0" anchor="t" anchorCtr="0">
              <a:spAutoFit/>
            </a:bodyPr>
            <a:lstStyle/>
            <a:p>
              <a:pPr algn="l">
                <a:lnSpc>
                  <a:spcPts val="2250"/>
                </a:lnSpc>
              </a:pPr>
              <a:r>
                <a:rPr lang="en-US" sz="1800" dirty="0">
                  <a:solidFill>
                    <a:schemeClr val="dk1"/>
                  </a:solidFill>
                  <a:latin typeface="+mj-lt"/>
                  <a:ea typeface="+mj-ea"/>
                  <a:cs typeface="+mj-cs"/>
                </a:rPr>
                <a:t>Whose accepted output</a:t>
              </a:r>
              <a:br>
                <a:rPr lang="en-US" sz="1800" dirty="0">
                  <a:solidFill>
                    <a:schemeClr val="dk1"/>
                  </a:solidFill>
                  <a:latin typeface="+mj-lt"/>
                  <a:ea typeface="+mj-ea"/>
                  <a:cs typeface="+mj-cs"/>
                </a:rPr>
              </a:br>
              <a:r>
                <a:rPr lang="en-US" sz="1800" dirty="0">
                  <a:solidFill>
                    <a:schemeClr val="dk1"/>
                  </a:solidFill>
                  <a:latin typeface="+mj-lt"/>
                  <a:ea typeface="+mj-ea"/>
                  <a:cs typeface="+mj-cs"/>
                </a:rPr>
                <a:t>matters?</a:t>
              </a:r>
            </a:p>
          </p:txBody>
        </p:sp>
        <p:sp>
          <p:nvSpPr>
            <p:cNvPr id="8" name="TextBox 8"/>
            <p:cNvSpPr txBox="1"/>
            <p:nvPr/>
          </p:nvSpPr>
          <p:spPr>
            <a:xfrm>
              <a:off x="449580" y="3054350"/>
              <a:ext cx="3192437" cy="13601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Name the bottleneck and the person</a:t>
              </a:r>
              <a:br>
                <a:rPr lang="en-US" sz="1500" dirty="0">
                  <a:solidFill>
                    <a:schemeClr val="dk1"/>
                  </a:solidFill>
                  <a:latin typeface="+mn-lt"/>
                  <a:ea typeface="+mn-ea"/>
                  <a:cs typeface="+mn-cs"/>
                </a:rPr>
              </a:br>
              <a:r>
                <a:rPr lang="en-US" sz="1500" dirty="0">
                  <a:solidFill>
                    <a:schemeClr val="dk1"/>
                  </a:solidFill>
                  <a:latin typeface="+mn-lt"/>
                  <a:ea typeface="+mn-ea"/>
                  <a:cs typeface="+mn-cs"/>
                </a:rPr>
                <a:t>whose work should improve.</a:t>
              </a:r>
              <a:br>
                <a:rPr lang="en-US" sz="1500" dirty="0">
                  <a:solidFill>
                    <a:schemeClr val="dk1"/>
                  </a:solidFill>
                  <a:latin typeface="+mn-lt"/>
                  <a:ea typeface="+mn-ea"/>
                  <a:cs typeface="+mn-cs"/>
                </a:rPr>
              </a:br>
              <a:r>
                <a:rPr lang="en-US" sz="1500" dirty="0">
                  <a:solidFill>
                    <a:schemeClr val="dk1"/>
                  </a:solidFill>
                  <a:latin typeface="+mn-lt"/>
                  <a:ea typeface="+mn-ea"/>
                  <a:cs typeface="+mn-cs"/>
                </a:rPr>
                <a:t>Choose a research insight, reviewed</a:t>
              </a:r>
              <a:br>
                <a:rPr lang="en-US" sz="1500" dirty="0">
                  <a:solidFill>
                    <a:schemeClr val="dk1"/>
                  </a:solidFill>
                  <a:latin typeface="+mn-lt"/>
                  <a:ea typeface="+mn-ea"/>
                  <a:cs typeface="+mn-cs"/>
                </a:rPr>
              </a:br>
              <a:r>
                <a:rPr lang="en-US" sz="1500" dirty="0">
                  <a:solidFill>
                    <a:schemeClr val="dk1"/>
                  </a:solidFill>
                  <a:latin typeface="+mn-lt"/>
                  <a:ea typeface="+mn-ea"/>
                  <a:cs typeface="+mn-cs"/>
                </a:rPr>
                <a:t>planning analysis or evidence-backed</a:t>
              </a:r>
              <a:br>
                <a:rPr lang="en-US" sz="1500" dirty="0">
                  <a:solidFill>
                    <a:schemeClr val="dk1"/>
                  </a:solidFill>
                  <a:latin typeface="+mn-lt"/>
                  <a:ea typeface="+mn-ea"/>
                  <a:cs typeface="+mn-cs"/>
                </a:rPr>
              </a:br>
              <a:r>
                <a:rPr lang="en-US" sz="1500" dirty="0">
                  <a:solidFill>
                    <a:schemeClr val="dk1"/>
                  </a:solidFill>
                  <a:latin typeface="+mn-lt"/>
                  <a:ea typeface="+mn-ea"/>
                  <a:cs typeface="+mn-cs"/>
                </a:rPr>
                <a:t>artifact before discussing tools.</a:t>
              </a:r>
            </a:p>
          </p:txBody>
        </p:sp>
      </p:grpSp>
      <p:grpSp>
        <p:nvGrpSpPr>
          <p:cNvPr id="13" name="boundary"/>
          <p:cNvGrpSpPr/>
          <p:nvPr/>
        </p:nvGrpSpPr>
        <p:grpSpPr>
          <a:xfrm>
            <a:off x="4177284" y="1917700"/>
            <a:ext cx="3029026" cy="2496820"/>
            <a:chOff x="4177284" y="1917700"/>
            <a:chExt cx="3029026" cy="2496820"/>
          </a:xfrm>
        </p:grpSpPr>
        <p:sp>
          <p:nvSpPr>
            <p:cNvPr id="10" name="TextBox 10"/>
            <p:cNvSpPr txBox="1"/>
            <p:nvPr/>
          </p:nvSpPr>
          <p:spPr>
            <a:xfrm>
              <a:off x="4177284" y="1917700"/>
              <a:ext cx="1688765" cy="528066"/>
            </a:xfrm>
            <a:prstGeom prst="rect">
              <a:avLst/>
            </a:prstGeom>
            <a:noFill/>
            <a:ln>
              <a:noFill/>
            </a:ln>
          </p:spPr>
          <p:txBody>
            <a:bodyPr wrap="none" lIns="0" tIns="0" rIns="0" bIns="0" anchor="t" anchorCtr="0">
              <a:spAutoFit/>
            </a:bodyPr>
            <a:lstStyle/>
            <a:p>
              <a:pPr algn="l"/>
              <a:r>
                <a:rPr lang="en-US" sz="2700" dirty="0">
                  <a:solidFill>
                    <a:schemeClr val="accent2"/>
                  </a:solidFill>
                  <a:latin typeface="+mj-lt"/>
                  <a:ea typeface="+mj-ea"/>
                  <a:cs typeface="+mj-cs"/>
                </a:rPr>
                <a:t>Boundary</a:t>
              </a:r>
            </a:p>
          </p:txBody>
        </p:sp>
        <p:sp>
          <p:nvSpPr>
            <p:cNvPr id="11" name="TextBox 11"/>
            <p:cNvSpPr txBox="1"/>
            <p:nvPr/>
          </p:nvSpPr>
          <p:spPr>
            <a:xfrm>
              <a:off x="4181856" y="2432050"/>
              <a:ext cx="2117796" cy="637794"/>
            </a:xfrm>
            <a:prstGeom prst="rect">
              <a:avLst/>
            </a:prstGeom>
            <a:noFill/>
            <a:ln>
              <a:noFill/>
            </a:ln>
          </p:spPr>
          <p:txBody>
            <a:bodyPr wrap="none" lIns="0" tIns="0" rIns="0" bIns="0" anchor="t" anchorCtr="0">
              <a:spAutoFit/>
            </a:bodyPr>
            <a:lstStyle/>
            <a:p>
              <a:pPr algn="l">
                <a:lnSpc>
                  <a:spcPts val="2250"/>
                </a:lnSpc>
              </a:pPr>
              <a:r>
                <a:rPr lang="en-US" sz="1800" dirty="0">
                  <a:solidFill>
                    <a:schemeClr val="dk1"/>
                  </a:solidFill>
                  <a:latin typeface="+mj-lt"/>
                  <a:ea typeface="+mj-ea"/>
                  <a:cs typeface="+mj-cs"/>
                </a:rPr>
                <a:t>What may the system</a:t>
              </a:r>
              <a:br>
                <a:rPr lang="en-US" sz="1800" dirty="0">
                  <a:solidFill>
                    <a:schemeClr val="dk1"/>
                  </a:solidFill>
                  <a:latin typeface="+mj-lt"/>
                  <a:ea typeface="+mj-ea"/>
                  <a:cs typeface="+mj-cs"/>
                </a:rPr>
              </a:br>
              <a:r>
                <a:rPr lang="en-US" sz="1800" dirty="0">
                  <a:solidFill>
                    <a:schemeClr val="dk1"/>
                  </a:solidFill>
                  <a:latin typeface="+mj-lt"/>
                  <a:ea typeface="+mj-ea"/>
                  <a:cs typeface="+mj-cs"/>
                </a:rPr>
                <a:t>use and do?</a:t>
              </a:r>
            </a:p>
          </p:txBody>
        </p:sp>
        <p:sp>
          <p:nvSpPr>
            <p:cNvPr id="12" name="TextBox 12"/>
            <p:cNvSpPr txBox="1"/>
            <p:nvPr/>
          </p:nvSpPr>
          <p:spPr>
            <a:xfrm>
              <a:off x="4183380" y="3054350"/>
              <a:ext cx="3022930" cy="13601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Sources, information cutoff,</a:t>
              </a:r>
              <a:br>
                <a:rPr lang="en-US" sz="1500" dirty="0">
                  <a:solidFill>
                    <a:schemeClr val="dk1"/>
                  </a:solidFill>
                  <a:latin typeface="+mn-lt"/>
                  <a:ea typeface="+mn-ea"/>
                  <a:cs typeface="+mn-cs"/>
                </a:rPr>
              </a:br>
              <a:r>
                <a:rPr lang="en-US" sz="1500" dirty="0">
                  <a:solidFill>
                    <a:schemeClr val="dk1"/>
                  </a:solidFill>
                  <a:latin typeface="+mn-lt"/>
                  <a:ea typeface="+mn-ea"/>
                  <a:cs typeface="+mn-cs"/>
                </a:rPr>
                <a:t>calculations, actions and retained</a:t>
              </a:r>
              <a:br>
                <a:rPr lang="en-US" sz="1500" dirty="0">
                  <a:solidFill>
                    <a:schemeClr val="dk1"/>
                  </a:solidFill>
                  <a:latin typeface="+mn-lt"/>
                  <a:ea typeface="+mn-ea"/>
                  <a:cs typeface="+mn-cs"/>
                </a:rPr>
              </a:br>
              <a:r>
                <a:rPr lang="en-US" sz="1500" dirty="0">
                  <a:solidFill>
                    <a:schemeClr val="dk1"/>
                  </a:solidFill>
                  <a:latin typeface="+mn-lt"/>
                  <a:ea typeface="+mn-ea"/>
                  <a:cs typeface="+mn-cs"/>
                </a:rPr>
                <a:t>human judgments. Define blockers</a:t>
              </a:r>
              <a:br>
                <a:rPr lang="en-US" sz="1500" dirty="0">
                  <a:solidFill>
                    <a:schemeClr val="dk1"/>
                  </a:solidFill>
                  <a:latin typeface="+mn-lt"/>
                  <a:ea typeface="+mn-ea"/>
                  <a:cs typeface="+mn-cs"/>
                </a:rPr>
              </a:br>
              <a:r>
                <a:rPr lang="en-US" sz="1500" dirty="0">
                  <a:solidFill>
                    <a:schemeClr val="dk1"/>
                  </a:solidFill>
                  <a:latin typeface="+mn-lt"/>
                  <a:ea typeface="+mn-ea"/>
                  <a:cs typeface="+mn-cs"/>
                </a:rPr>
                <a:t>and how missing evidence changes</a:t>
              </a:r>
              <a:br>
                <a:rPr lang="en-US" sz="1500" dirty="0">
                  <a:solidFill>
                    <a:schemeClr val="dk1"/>
                  </a:solidFill>
                  <a:latin typeface="+mn-lt"/>
                  <a:ea typeface="+mn-ea"/>
                  <a:cs typeface="+mn-cs"/>
                </a:rPr>
              </a:br>
              <a:r>
                <a:rPr lang="en-US" sz="1500" dirty="0">
                  <a:solidFill>
                    <a:schemeClr val="dk1"/>
                  </a:solidFill>
                  <a:latin typeface="+mn-lt"/>
                  <a:ea typeface="+mn-ea"/>
                  <a:cs typeface="+mn-cs"/>
                </a:rPr>
                <a:t>the task.</a:t>
              </a:r>
            </a:p>
          </p:txBody>
        </p:sp>
      </p:grpSp>
      <p:grpSp>
        <p:nvGrpSpPr>
          <p:cNvPr id="17" name="evidence"/>
          <p:cNvGrpSpPr/>
          <p:nvPr/>
        </p:nvGrpSpPr>
        <p:grpSpPr>
          <a:xfrm>
            <a:off x="7911084" y="1917700"/>
            <a:ext cx="3699682" cy="2230120"/>
            <a:chOff x="7911084" y="1917700"/>
            <a:chExt cx="3699682" cy="2230120"/>
          </a:xfrm>
        </p:grpSpPr>
        <p:sp>
          <p:nvSpPr>
            <p:cNvPr id="14" name="TextBox 14"/>
            <p:cNvSpPr txBox="1"/>
            <p:nvPr/>
          </p:nvSpPr>
          <p:spPr>
            <a:xfrm>
              <a:off x="7911084" y="1917700"/>
              <a:ext cx="1559897" cy="528066"/>
            </a:xfrm>
            <a:prstGeom prst="rect">
              <a:avLst/>
            </a:prstGeom>
            <a:noFill/>
            <a:ln>
              <a:noFill/>
            </a:ln>
          </p:spPr>
          <p:txBody>
            <a:bodyPr wrap="none" lIns="0" tIns="0" rIns="0" bIns="0" anchor="t" anchorCtr="0">
              <a:spAutoFit/>
            </a:bodyPr>
            <a:lstStyle/>
            <a:p>
              <a:pPr algn="l"/>
              <a:r>
                <a:rPr lang="en-US" sz="2700" dirty="0">
                  <a:solidFill>
                    <a:schemeClr val="accent2"/>
                  </a:solidFill>
                  <a:latin typeface="+mj-lt"/>
                  <a:ea typeface="+mj-ea"/>
                  <a:cs typeface="+mj-cs"/>
                </a:rPr>
                <a:t>Evidence</a:t>
              </a:r>
            </a:p>
          </p:txBody>
        </p:sp>
        <p:sp>
          <p:nvSpPr>
            <p:cNvPr id="15" name="TextBox 15"/>
            <p:cNvSpPr txBox="1"/>
            <p:nvPr/>
          </p:nvSpPr>
          <p:spPr>
            <a:xfrm>
              <a:off x="7915656" y="2524125"/>
              <a:ext cx="3695110"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j-lt"/>
                  <a:ea typeface="+mj-ea"/>
                  <a:cs typeface="+mj-cs"/>
                </a:rPr>
                <a:t>What would change the decision?</a:t>
              </a:r>
            </a:p>
          </p:txBody>
        </p:sp>
        <p:sp>
          <p:nvSpPr>
            <p:cNvPr id="16" name="TextBox 16"/>
            <p:cNvSpPr txBox="1"/>
            <p:nvPr/>
          </p:nvSpPr>
          <p:spPr>
            <a:xfrm>
              <a:off x="7917180" y="3054350"/>
              <a:ext cx="3467557" cy="10934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Compare candidate and existing process</a:t>
              </a:r>
              <a:br>
                <a:rPr lang="en-US" sz="1500" dirty="0">
                  <a:solidFill>
                    <a:schemeClr val="dk1"/>
                  </a:solidFill>
                  <a:latin typeface="+mn-lt"/>
                  <a:ea typeface="+mn-ea"/>
                  <a:cs typeface="+mn-cs"/>
                </a:rPr>
              </a:br>
              <a:r>
                <a:rPr lang="en-US" sz="1500" dirty="0">
                  <a:solidFill>
                    <a:schemeClr val="dk1"/>
                  </a:solidFill>
                  <a:latin typeface="+mn-lt"/>
                  <a:ea typeface="+mn-ea"/>
                  <a:cs typeface="+mn-cs"/>
                </a:rPr>
                <a:t>on equivalent work and agreed</a:t>
              </a:r>
              <a:br>
                <a:rPr lang="en-US" sz="1500" dirty="0">
                  <a:solidFill>
                    <a:schemeClr val="dk1"/>
                  </a:solidFill>
                  <a:latin typeface="+mn-lt"/>
                  <a:ea typeface="+mn-ea"/>
                  <a:cs typeface="+mn-cs"/>
                </a:rPr>
              </a:br>
              <a:r>
                <a:rPr lang="en-US" sz="1500" dirty="0">
                  <a:solidFill>
                    <a:schemeClr val="dk1"/>
                  </a:solidFill>
                  <a:latin typeface="+mn-lt"/>
                  <a:ea typeface="+mn-ea"/>
                  <a:cs typeface="+mn-cs"/>
                </a:rPr>
                <a:t>acceptance. Include critical failures,</a:t>
              </a:r>
              <a:br>
                <a:rPr lang="en-US" sz="1500" dirty="0">
                  <a:solidFill>
                    <a:schemeClr val="dk1"/>
                  </a:solidFill>
                  <a:latin typeface="+mn-lt"/>
                  <a:ea typeface="+mn-ea"/>
                  <a:cs typeface="+mn-cs"/>
                </a:rPr>
              </a:br>
              <a:r>
                <a:rPr lang="en-US" sz="1500" dirty="0">
                  <a:solidFill>
                    <a:schemeClr val="dk1"/>
                  </a:solidFill>
                  <a:latin typeface="+mn-lt"/>
                  <a:ea typeface="+mn-ea"/>
                  <a:cs typeface="+mn-cs"/>
                </a:rPr>
                <a:t>all attempts, review effort and cost.</a:t>
              </a:r>
            </a:p>
          </p:txBody>
        </p:sp>
      </p:grpSp>
      <p:grpSp>
        <p:nvGrpSpPr>
          <p:cNvPr id="21" name="comparison-decision"/>
          <p:cNvGrpSpPr/>
          <p:nvPr/>
        </p:nvGrpSpPr>
        <p:grpSpPr>
          <a:xfrm>
            <a:off x="457200" y="4933950"/>
            <a:ext cx="11277600" cy="1181100"/>
            <a:chOff x="457200" y="4933950"/>
            <a:chExt cx="11277600" cy="1181100"/>
          </a:xfrm>
        </p:grpSpPr>
        <p:sp>
          <p:nvSpPr>
            <p:cNvPr id="18" name="Rectangle 18"/>
            <p:cNvSpPr/>
            <p:nvPr/>
          </p:nvSpPr>
          <p:spPr>
            <a:xfrm>
              <a:off x="457200" y="4933950"/>
              <a:ext cx="11277600" cy="1181100"/>
            </a:xfrm>
            <a:prstGeom prst="rect">
              <a:avLst/>
            </a:prstGeom>
            <a:solidFill>
              <a:schemeClr val="accent1"/>
            </a:solidFill>
            <a:ln>
              <a:noFill/>
            </a:ln>
          </p:spPr>
        </p:sp>
        <p:sp>
          <p:nvSpPr>
            <p:cNvPr id="19" name="TextBox 19"/>
            <p:cNvSpPr txBox="1"/>
            <p:nvPr/>
          </p:nvSpPr>
          <p:spPr>
            <a:xfrm>
              <a:off x="676656" y="5086350"/>
              <a:ext cx="7017859"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Agree in advance what supports continuing, revising or retiring.</a:t>
              </a:r>
            </a:p>
          </p:txBody>
        </p:sp>
        <p:sp>
          <p:nvSpPr>
            <p:cNvPr id="20" name="TextBox 20"/>
            <p:cNvSpPr txBox="1"/>
            <p:nvPr/>
          </p:nvSpPr>
          <p:spPr>
            <a:xfrm>
              <a:off x="678180" y="5530850"/>
              <a:ext cx="8327708"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The report-back is a decision peers can assess. Keep uncertainty visible; conference claims alone</a:t>
              </a:r>
              <a:br>
                <a:rPr lang="en-US" sz="1500" dirty="0">
                  <a:solidFill>
                    <a:srgbClr val="FFFDF7"/>
                  </a:solidFill>
                  <a:latin typeface="+mn-lt"/>
                  <a:ea typeface="+mn-ea"/>
                  <a:cs typeface="+mn-cs"/>
                </a:rPr>
              </a:br>
              <a:r>
                <a:rPr lang="en-US" sz="1500" dirty="0">
                  <a:solidFill>
                    <a:srgbClr val="FFFDF7"/>
                  </a:solidFill>
                  <a:latin typeface="+mn-lt"/>
                  <a:ea typeface="+mn-ea"/>
                  <a:cs typeface="+mn-cs"/>
                </a:rPr>
                <a:t>do not establish internal readiness. Owners, scope and timing remain explicit discussion decisions.</a:t>
              </a:r>
            </a:p>
          </p:txBody>
        </p:sp>
      </p:grpSp>
      <p:grpSp>
        <p:nvGrpSpPr>
          <p:cNvPr id="24" name="footer"/>
          <p:cNvGrpSpPr/>
          <p:nvPr/>
        </p:nvGrpSpPr>
        <p:grpSpPr>
          <a:xfrm>
            <a:off x="452438" y="6438900"/>
            <a:ext cx="11287124" cy="176212"/>
            <a:chOff x="452438" y="6438900"/>
            <a:chExt cx="11287124" cy="176212"/>
          </a:xfrm>
        </p:grpSpPr>
        <p:sp>
          <p:nvSpPr>
            <p:cNvPr id="22" name="TextBox 22"/>
            <p:cNvSpPr txBox="1"/>
            <p:nvPr/>
          </p:nvSpPr>
          <p:spPr>
            <a:xfrm>
              <a:off x="452438" y="6438900"/>
              <a:ext cx="5293459"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Synthesis of the conference mechanisms. This briefing announces no Fidelity project commitment.</a:t>
              </a:r>
            </a:p>
          </p:txBody>
        </p:sp>
        <p:sp>
          <p:nvSpPr>
            <p:cNvPr id="23" name="TextBox 23"/>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28 / 37</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6758863" cy="1110107"/>
            <a:chOff x="443484" y="371475"/>
            <a:chExt cx="6758863" cy="1110107"/>
          </a:xfrm>
        </p:grpSpPr>
        <p:sp>
          <p:nvSpPr>
            <p:cNvPr id="2" name="TextBox 2"/>
            <p:cNvSpPr txBox="1"/>
            <p:nvPr/>
          </p:nvSpPr>
          <p:spPr>
            <a:xfrm>
              <a:off x="451104" y="371475"/>
              <a:ext cx="1074418"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DISCUSSION</a:t>
              </a:r>
            </a:p>
          </p:txBody>
        </p:sp>
        <p:sp>
          <p:nvSpPr>
            <p:cNvPr id="3" name="TextBox 3"/>
            <p:cNvSpPr txBox="1"/>
            <p:nvPr/>
          </p:nvSpPr>
          <p:spPr>
            <a:xfrm>
              <a:off x="443484" y="603250"/>
              <a:ext cx="6758863" cy="528066"/>
            </a:xfrm>
            <a:prstGeom prst="rect">
              <a:avLst/>
            </a:prstGeom>
            <a:noFill/>
            <a:ln>
              <a:noFill/>
            </a:ln>
          </p:spPr>
          <p:txBody>
            <a:bodyPr wrap="none" lIns="0" tIns="0" rIns="0" bIns="0" anchor="t" anchorCtr="0">
              <a:spAutoFit/>
            </a:bodyPr>
            <a:lstStyle/>
            <a:p>
              <a:pPr algn="l"/>
              <a:r>
                <a:rPr lang="en-US" sz="2700" dirty="0">
                  <a:solidFill>
                    <a:srgbClr val="FFFDF7"/>
                  </a:solidFill>
                  <a:latin typeface="+mj-lt"/>
                  <a:ea typeface="+mj-ea"/>
                  <a:cs typeface="+mj-cs"/>
                </a:rPr>
                <a:t>Use disagreement to choose the next test</a:t>
              </a:r>
            </a:p>
          </p:txBody>
        </p:sp>
        <p:sp>
          <p:nvSpPr>
            <p:cNvPr id="4" name="TextBox 4"/>
            <p:cNvSpPr txBox="1"/>
            <p:nvPr/>
          </p:nvSpPr>
          <p:spPr>
            <a:xfrm>
              <a:off x="448818" y="1158875"/>
              <a:ext cx="6481029" cy="322707"/>
            </a:xfrm>
            <a:prstGeom prst="rect">
              <a:avLst/>
            </a:prstGeom>
            <a:noFill/>
            <a:ln>
              <a:noFill/>
            </a:ln>
          </p:spPr>
          <p:txBody>
            <a:bodyPr wrap="none" lIns="0" tIns="0" rIns="0" bIns="0" anchor="t" anchorCtr="0">
              <a:spAutoFit/>
            </a:bodyPr>
            <a:lstStyle/>
            <a:p>
              <a:pPr algn="l"/>
              <a:r>
                <a:rPr lang="en-US" sz="1650" dirty="0">
                  <a:solidFill>
                    <a:srgbClr val="E7F0EA"/>
                  </a:solidFill>
                  <a:latin typeface="+mn-lt"/>
                  <a:ea typeface="+mn-ea"/>
                  <a:cs typeface="+mn-cs"/>
                </a:rPr>
                <a:t>Start with a concrete workflow and one consequential uncertainty.</a:t>
              </a:r>
            </a:p>
          </p:txBody>
        </p:sp>
      </p:grpSp>
      <p:grpSp>
        <p:nvGrpSpPr>
          <p:cNvPr id="9" name="value-prompt"/>
          <p:cNvGrpSpPr/>
          <p:nvPr/>
        </p:nvGrpSpPr>
        <p:grpSpPr>
          <a:xfrm>
            <a:off x="448056" y="1978025"/>
            <a:ext cx="7743711" cy="960120"/>
            <a:chOff x="448056" y="1978025"/>
            <a:chExt cx="7743711" cy="960120"/>
          </a:xfrm>
        </p:grpSpPr>
        <p:sp>
          <p:nvSpPr>
            <p:cNvPr id="6" name="TextBox 6"/>
            <p:cNvSpPr txBox="1"/>
            <p:nvPr/>
          </p:nvSpPr>
          <p:spPr>
            <a:xfrm>
              <a:off x="448056" y="2000250"/>
              <a:ext cx="660007"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Value</a:t>
              </a:r>
            </a:p>
          </p:txBody>
        </p:sp>
        <p:sp>
          <p:nvSpPr>
            <p:cNvPr id="7" name="TextBox 7"/>
            <p:cNvSpPr txBox="1"/>
            <p:nvPr/>
          </p:nvSpPr>
          <p:spPr>
            <a:xfrm>
              <a:off x="2563368" y="1978025"/>
              <a:ext cx="5493425" cy="322707"/>
            </a:xfrm>
            <a:prstGeom prst="rect">
              <a:avLst/>
            </a:prstGeom>
            <a:noFill/>
            <a:ln>
              <a:noFill/>
            </a:ln>
          </p:spPr>
          <p:txBody>
            <a:bodyPr wrap="none" lIns="0" tIns="0" rIns="0" bIns="0" anchor="t" anchorCtr="0">
              <a:spAutoFit/>
            </a:bodyPr>
            <a:lstStyle/>
            <a:p>
              <a:pPr algn="l"/>
              <a:r>
                <a:rPr lang="en-US" sz="1650" dirty="0">
                  <a:solidFill>
                    <a:srgbClr val="FFFDF7"/>
                  </a:solidFill>
                  <a:latin typeface="+mn-lt"/>
                  <a:ea typeface="+mn-ea"/>
                  <a:cs typeface="+mn-cs"/>
                </a:rPr>
                <a:t>Which accepted work product improves, and for whom?</a:t>
              </a:r>
            </a:p>
          </p:txBody>
        </p:sp>
        <p:sp>
          <p:nvSpPr>
            <p:cNvPr id="8" name="TextBox 8"/>
            <p:cNvSpPr txBox="1"/>
            <p:nvPr/>
          </p:nvSpPr>
          <p:spPr>
            <a:xfrm>
              <a:off x="2564130" y="2378075"/>
              <a:ext cx="5627637"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E7F0EA"/>
                  </a:solidFill>
                  <a:latin typeface="+mn-lt"/>
                  <a:ea typeface="+mn-ea"/>
                  <a:cs typeface="+mn-cs"/>
                </a:rPr>
                <a:t>Challenge whether faster generation saves total effort after review.</a:t>
              </a:r>
              <a:br>
                <a:rPr lang="en-US" sz="1500" dirty="0">
                  <a:solidFill>
                    <a:srgbClr val="E7F0EA"/>
                  </a:solidFill>
                  <a:latin typeface="+mn-lt"/>
                  <a:ea typeface="+mn-ea"/>
                  <a:cs typeface="+mn-cs"/>
                </a:rPr>
              </a:br>
              <a:r>
                <a:rPr lang="en-US" sz="1500" dirty="0">
                  <a:solidFill>
                    <a:srgbClr val="E7F0EA"/>
                  </a:solidFill>
                  <a:latin typeface="+mn-lt"/>
                  <a:ea typeface="+mn-ea"/>
                  <a:cs typeface="+mn-cs"/>
                </a:rPr>
                <a:t>Name a measurable bottleneck rather than a favored tool.</a:t>
              </a:r>
            </a:p>
          </p:txBody>
        </p:sp>
      </p:grpSp>
      <p:grpSp>
        <p:nvGrpSpPr>
          <p:cNvPr id="14" name="risk-prompt"/>
          <p:cNvGrpSpPr/>
          <p:nvPr/>
        </p:nvGrpSpPr>
        <p:grpSpPr>
          <a:xfrm>
            <a:off x="448056" y="3219450"/>
            <a:ext cx="11286744" cy="1071245"/>
            <a:chOff x="448056" y="3219450"/>
            <a:chExt cx="11286744" cy="1071245"/>
          </a:xfrm>
        </p:grpSpPr>
        <p:sp>
          <p:nvSpPr>
            <p:cNvPr id="10" name="Line 10"/>
            <p:cNvSpPr/>
            <p:nvPr/>
          </p:nvSpPr>
          <p:spPr>
            <a:xfrm>
              <a:off x="457200" y="3219450"/>
              <a:ext cx="11277600" cy="9525"/>
            </a:xfrm>
            <a:custGeom>
              <a:avLst/>
              <a:gdLst/>
              <a:ahLst/>
              <a:cxnLst/>
              <a:rect l="l" t="t" r="r" b="b"/>
              <a:pathLst>
                <a:path w="11277600" h="9525">
                  <a:moveTo>
                    <a:pt x="0" y="0"/>
                  </a:moveTo>
                  <a:lnTo>
                    <a:pt x="11277600" y="0"/>
                  </a:lnTo>
                </a:path>
              </a:pathLst>
            </a:custGeom>
            <a:noFill/>
            <a:ln w="9525">
              <a:solidFill>
                <a:srgbClr val="50616A"/>
              </a:solidFill>
            </a:ln>
          </p:spPr>
        </p:sp>
        <p:sp>
          <p:nvSpPr>
            <p:cNvPr id="11" name="TextBox 11"/>
            <p:cNvSpPr txBox="1"/>
            <p:nvPr/>
          </p:nvSpPr>
          <p:spPr>
            <a:xfrm>
              <a:off x="448056" y="3352800"/>
              <a:ext cx="51813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Risk</a:t>
              </a:r>
            </a:p>
          </p:txBody>
        </p:sp>
        <p:sp>
          <p:nvSpPr>
            <p:cNvPr id="12" name="TextBox 12"/>
            <p:cNvSpPr txBox="1"/>
            <p:nvPr/>
          </p:nvSpPr>
          <p:spPr>
            <a:xfrm>
              <a:off x="2563368" y="3330575"/>
              <a:ext cx="5542096" cy="322707"/>
            </a:xfrm>
            <a:prstGeom prst="rect">
              <a:avLst/>
            </a:prstGeom>
            <a:noFill/>
            <a:ln>
              <a:noFill/>
            </a:ln>
          </p:spPr>
          <p:txBody>
            <a:bodyPr wrap="none" lIns="0" tIns="0" rIns="0" bIns="0" anchor="t" anchorCtr="0">
              <a:spAutoFit/>
            </a:bodyPr>
            <a:lstStyle/>
            <a:p>
              <a:pPr algn="l"/>
              <a:r>
                <a:rPr lang="en-US" sz="1650" dirty="0">
                  <a:solidFill>
                    <a:srgbClr val="FFFDF7"/>
                  </a:solidFill>
                  <a:latin typeface="+mn-lt"/>
                  <a:ea typeface="+mn-ea"/>
                  <a:cs typeface="+mn-cs"/>
                </a:rPr>
                <a:t>Which consequential failure could ordinary review miss?</a:t>
              </a:r>
            </a:p>
          </p:txBody>
        </p:sp>
        <p:sp>
          <p:nvSpPr>
            <p:cNvPr id="13" name="TextBox 13"/>
            <p:cNvSpPr txBox="1"/>
            <p:nvPr/>
          </p:nvSpPr>
          <p:spPr>
            <a:xfrm>
              <a:off x="2564130" y="3730625"/>
              <a:ext cx="6401448" cy="560070"/>
            </a:xfrm>
            <a:prstGeom prst="rect">
              <a:avLst/>
            </a:prstGeom>
            <a:noFill/>
            <a:ln>
              <a:noFill/>
            </a:ln>
          </p:spPr>
          <p:txBody>
            <a:bodyPr wrap="none" lIns="0" tIns="0" rIns="0" bIns="0" anchor="t" anchorCtr="0">
              <a:spAutoFit/>
            </a:bodyPr>
            <a:lstStyle/>
            <a:p>
              <a:pPr algn="l">
                <a:lnSpc>
                  <a:spcPts val="2100"/>
                </a:lnSpc>
              </a:pPr>
              <a:r>
                <a:rPr lang="en-US" sz="1500" dirty="0">
                  <a:solidFill>
                    <a:srgbClr val="E7F0EA"/>
                  </a:solidFill>
                  <a:latin typeface="+mn-lt"/>
                  <a:ea typeface="+mn-ea"/>
                  <a:cs typeface="+mn-cs"/>
                </a:rPr>
                <a:t>An unsupported fact, wrong period, unauthorized action or bypassed denial.</a:t>
              </a:r>
              <a:br>
                <a:rPr lang="en-US" sz="1500" dirty="0">
                  <a:solidFill>
                    <a:srgbClr val="E7F0EA"/>
                  </a:solidFill>
                  <a:latin typeface="+mn-lt"/>
                  <a:ea typeface="+mn-ea"/>
                  <a:cs typeface="+mn-cs"/>
                </a:rPr>
              </a:br>
              <a:r>
                <a:rPr lang="en-US" sz="1500" dirty="0">
                  <a:solidFill>
                    <a:srgbClr val="E7F0EA"/>
                  </a:solidFill>
                  <a:latin typeface="+mn-lt"/>
                  <a:ea typeface="+mn-ea"/>
                  <a:cs typeface="+mn-cs"/>
                </a:rPr>
                <a:t>Correct refusal is a control success. Test the reviewer or judge as well.</a:t>
              </a:r>
            </a:p>
          </p:txBody>
        </p:sp>
      </p:grpSp>
      <p:grpSp>
        <p:nvGrpSpPr>
          <p:cNvPr id="19" name="test-prompt"/>
          <p:cNvGrpSpPr/>
          <p:nvPr/>
        </p:nvGrpSpPr>
        <p:grpSpPr>
          <a:xfrm>
            <a:off x="448056" y="4572000"/>
            <a:ext cx="11286744" cy="1337945"/>
            <a:chOff x="448056" y="4572000"/>
            <a:chExt cx="11286744" cy="1337945"/>
          </a:xfrm>
        </p:grpSpPr>
        <p:sp>
          <p:nvSpPr>
            <p:cNvPr id="15" name="Line 15"/>
            <p:cNvSpPr/>
            <p:nvPr/>
          </p:nvSpPr>
          <p:spPr>
            <a:xfrm>
              <a:off x="457200" y="4572000"/>
              <a:ext cx="11277600" cy="9525"/>
            </a:xfrm>
            <a:custGeom>
              <a:avLst/>
              <a:gdLst/>
              <a:ahLst/>
              <a:cxnLst/>
              <a:rect l="l" t="t" r="r" b="b"/>
              <a:pathLst>
                <a:path w="11277600" h="9525">
                  <a:moveTo>
                    <a:pt x="0" y="0"/>
                  </a:moveTo>
                  <a:lnTo>
                    <a:pt x="11277600" y="0"/>
                  </a:lnTo>
                </a:path>
              </a:pathLst>
            </a:custGeom>
            <a:noFill/>
            <a:ln w="9525">
              <a:solidFill>
                <a:srgbClr val="50616A"/>
              </a:solidFill>
            </a:ln>
          </p:spPr>
        </p:sp>
        <p:sp>
          <p:nvSpPr>
            <p:cNvPr id="16" name="TextBox 16"/>
            <p:cNvSpPr txBox="1"/>
            <p:nvPr/>
          </p:nvSpPr>
          <p:spPr>
            <a:xfrm>
              <a:off x="448056" y="4705350"/>
              <a:ext cx="516971"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Test</a:t>
              </a:r>
            </a:p>
          </p:txBody>
        </p:sp>
        <p:sp>
          <p:nvSpPr>
            <p:cNvPr id="17" name="TextBox 17"/>
            <p:cNvSpPr txBox="1"/>
            <p:nvPr/>
          </p:nvSpPr>
          <p:spPr>
            <a:xfrm>
              <a:off x="2563368" y="4683125"/>
              <a:ext cx="6543710" cy="322707"/>
            </a:xfrm>
            <a:prstGeom prst="rect">
              <a:avLst/>
            </a:prstGeom>
            <a:noFill/>
            <a:ln>
              <a:noFill/>
            </a:ln>
          </p:spPr>
          <p:txBody>
            <a:bodyPr wrap="none" lIns="0" tIns="0" rIns="0" bIns="0" anchor="t" anchorCtr="0">
              <a:spAutoFit/>
            </a:bodyPr>
            <a:lstStyle/>
            <a:p>
              <a:pPr algn="l"/>
              <a:r>
                <a:rPr lang="en-US" sz="1650" dirty="0">
                  <a:solidFill>
                    <a:srgbClr val="FFFDF7"/>
                  </a:solidFill>
                  <a:latin typeface="+mn-lt"/>
                  <a:ea typeface="+mn-ea"/>
                  <a:cs typeface="+mn-cs"/>
                </a:rPr>
                <a:t>What baseline, checks and cost evidence would change our view?</a:t>
              </a:r>
            </a:p>
          </p:txBody>
        </p:sp>
        <p:sp>
          <p:nvSpPr>
            <p:cNvPr id="18" name="TextBox 18"/>
            <p:cNvSpPr txBox="1"/>
            <p:nvPr/>
          </p:nvSpPr>
          <p:spPr>
            <a:xfrm>
              <a:off x="2564130" y="5083175"/>
              <a:ext cx="5744108"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E7F0EA"/>
                  </a:solidFill>
                  <a:latin typeface="+mn-lt"/>
                  <a:ea typeface="+mn-ea"/>
                  <a:cs typeface="+mn-cs"/>
                </a:rPr>
                <a:t>Record one candidate experiment and one unresolved question.</a:t>
              </a:r>
              <a:br>
                <a:rPr lang="en-US" sz="1500" dirty="0">
                  <a:solidFill>
                    <a:srgbClr val="E7F0EA"/>
                  </a:solidFill>
                  <a:latin typeface="+mn-lt"/>
                  <a:ea typeface="+mn-ea"/>
                  <a:cs typeface="+mn-cs"/>
                </a:rPr>
              </a:br>
              <a:r>
                <a:rPr lang="en-US" sz="1500" dirty="0">
                  <a:solidFill>
                    <a:srgbClr val="E7F0EA"/>
                  </a:solidFill>
                  <a:latin typeface="+mn-lt"/>
                  <a:ea typeface="+mn-ea"/>
                  <a:cs typeface="+mn-cs"/>
                </a:rPr>
                <a:t>A missing prerequisite or “do not proceed” can be a useful outcome;</a:t>
              </a:r>
              <a:br>
                <a:rPr lang="en-US" sz="1500" dirty="0">
                  <a:solidFill>
                    <a:srgbClr val="E7F0EA"/>
                  </a:solidFill>
                  <a:latin typeface="+mn-lt"/>
                  <a:ea typeface="+mn-ea"/>
                  <a:cs typeface="+mn-cs"/>
                </a:rPr>
              </a:br>
              <a:r>
                <a:rPr lang="en-US" sz="1500" dirty="0">
                  <a:solidFill>
                    <a:srgbClr val="E7F0EA"/>
                  </a:solidFill>
                  <a:latin typeface="+mn-lt"/>
                  <a:ea typeface="+mn-ea"/>
                  <a:cs typeface="+mn-cs"/>
                </a:rPr>
                <a:t>avoid forcing consensus or an immediate project commitment.</a:t>
              </a:r>
            </a:p>
          </p:txBody>
        </p:sp>
      </p:grpSp>
      <p:grpSp>
        <p:nvGrpSpPr>
          <p:cNvPr id="22" name="footer"/>
          <p:cNvGrpSpPr/>
          <p:nvPr/>
        </p:nvGrpSpPr>
        <p:grpSpPr>
          <a:xfrm>
            <a:off x="452438" y="6438900"/>
            <a:ext cx="11287124" cy="176212"/>
            <a:chOff x="452438" y="6438900"/>
            <a:chExt cx="11287124" cy="176212"/>
          </a:xfrm>
        </p:grpSpPr>
        <p:sp>
          <p:nvSpPr>
            <p:cNvPr id="20" name="TextBox 20"/>
            <p:cNvSpPr txBox="1"/>
            <p:nvPr/>
          </p:nvSpPr>
          <p:spPr>
            <a:xfrm>
              <a:off x="452438" y="6438900"/>
              <a:ext cx="4599154" cy="176212"/>
            </a:xfrm>
            <a:prstGeom prst="rect">
              <a:avLst/>
            </a:prstGeom>
            <a:noFill/>
            <a:ln>
              <a:noFill/>
            </a:ln>
          </p:spPr>
          <p:txBody>
            <a:bodyPr wrap="none" lIns="0" tIns="0" rIns="0" bIns="0" anchor="t" anchorCtr="0">
              <a:spAutoFit/>
            </a:bodyPr>
            <a:lstStyle/>
            <a:p>
              <a:pPr algn="l"/>
              <a:r>
                <a:rPr lang="en-US" sz="900" dirty="0">
                  <a:solidFill>
                    <a:srgbClr val="E7F0EA"/>
                  </a:solidFill>
                  <a:latin typeface="+mn-lt"/>
                  <a:ea typeface="+mn-ea"/>
                  <a:cs typeface="+mn-cs"/>
                </a:rPr>
                <a:t>End of the 29-slide core briefing • Eight reference pages follow for independent study.</a:t>
              </a:r>
            </a:p>
          </p:txBody>
        </p:sp>
        <p:sp>
          <p:nvSpPr>
            <p:cNvPr id="21" name="TextBox 21"/>
            <p:cNvSpPr txBox="1"/>
            <p:nvPr/>
          </p:nvSpPr>
          <p:spPr>
            <a:xfrm>
              <a:off x="11359512" y="6438900"/>
              <a:ext cx="380050" cy="176212"/>
            </a:xfrm>
            <a:prstGeom prst="rect">
              <a:avLst/>
            </a:prstGeom>
            <a:noFill/>
            <a:ln>
              <a:noFill/>
            </a:ln>
          </p:spPr>
          <p:txBody>
            <a:bodyPr wrap="none" lIns="0" tIns="0" rIns="0" bIns="0" anchor="t" anchorCtr="0">
              <a:spAutoFit/>
            </a:bodyPr>
            <a:lstStyle/>
            <a:p>
              <a:pPr algn="r"/>
              <a:r>
                <a:rPr lang="en-US" sz="900" dirty="0">
                  <a:solidFill>
                    <a:srgbClr val="E7F0EA"/>
                  </a:solidFill>
                  <a:latin typeface="+mn-lt"/>
                  <a:ea typeface="+mn-ea"/>
                  <a:cs typeface="+mn-cs"/>
                </a:rPr>
                <a:t>29 / 37</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746455" cy="1110107"/>
            <a:chOff x="443484" y="371475"/>
            <a:chExt cx="9746455" cy="1110107"/>
          </a:xfrm>
        </p:grpSpPr>
        <p:sp>
          <p:nvSpPr>
            <p:cNvPr id="2" name="TextBox 2"/>
            <p:cNvSpPr txBox="1"/>
            <p:nvPr/>
          </p:nvSpPr>
          <p:spPr>
            <a:xfrm>
              <a:off x="451104" y="371475"/>
              <a:ext cx="360664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APPENDIX / A SHARED REVIEW CONTRACT</a:t>
              </a:r>
            </a:p>
          </p:txBody>
        </p:sp>
        <p:sp>
          <p:nvSpPr>
            <p:cNvPr id="3" name="TextBox 3"/>
            <p:cNvSpPr txBox="1"/>
            <p:nvPr/>
          </p:nvSpPr>
          <p:spPr>
            <a:xfrm>
              <a:off x="443484" y="603250"/>
              <a:ext cx="8664671"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One checklist connects the complete agent workflow</a:t>
              </a:r>
            </a:p>
          </p:txBody>
        </p:sp>
        <p:sp>
          <p:nvSpPr>
            <p:cNvPr id="4" name="TextBox 4"/>
            <p:cNvSpPr txBox="1"/>
            <p:nvPr/>
          </p:nvSpPr>
          <p:spPr>
            <a:xfrm>
              <a:off x="448818" y="1158875"/>
              <a:ext cx="974112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Replace broad goals such as accuracy and safety with behavior a reviewer and test can recognize.</a:t>
              </a:r>
            </a:p>
          </p:txBody>
        </p:sp>
      </p:grpSp>
      <p:graphicFrame>
        <p:nvGraphicFramePr>
          <p:cNvPr id="6" name="implementation-checklist"/>
          <p:cNvGraphicFramePr>
            <a:graphicFrameLocks noGrp="1"/>
          </p:cNvGraphicFramePr>
          <p:nvPr/>
        </p:nvGraphicFramePr>
        <p:xfrm>
          <a:off x="457200" y="1752600"/>
          <a:ext cx="11277600" cy="3829050"/>
        </p:xfrm>
        <a:graphic>
          <a:graphicData uri="http://schemas.openxmlformats.org/drawingml/2006/table">
            <a:tbl>
              <a:tblPr firstRow="1" bandRow="0">
                <a:tableStyleId>{5C22544A-7EE6-4342-B048-85BDC9FD1C3A}</a:tableStyleId>
              </a:tblPr>
              <a:tblGrid>
                <a:gridCol w="1905000"/>
                <a:gridCol w="4572000"/>
                <a:gridCol w="4800600"/>
              </a:tblGrid>
              <a:tr h="495300">
                <a:tc>
                  <a:txBody>
                    <a:bodyPr/>
                    <a:lstStyle/>
                    <a:p>
                      <a:pPr/>
                      <a:r>
                        <a:rPr lang="en-US" sz="1350" b="1">
                          <a:solidFill>
                            <a:srgbClr val="FFFDF7"/>
                          </a:solidFill>
                          <a:latin typeface="Arial"/>
                          <a:ea typeface="Microsoft YaHei"/>
                          <a:cs typeface="Arial"/>
                        </a:rPr>
                        <a:t>Responsibility</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What to specify</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What to inspect</a:t>
                      </a:r>
                    </a:p>
                  </a:txBody>
                  <a:tcPr anchor="ctr" marL="152400" marR="152400" marT="76200" marB="76200">
                    <a:lnL>
                      <a:noFill/>
                    </a:lnL>
                    <a:lnR>
                      <a:noFill/>
                    </a:lnR>
                    <a:lnT>
                      <a:noFill/>
                    </a:lnT>
                    <a:lnB w="9525">
                      <a:solidFill>
                        <a:schemeClr val="accent6"/>
                      </a:solidFill>
                      <a:prstDash val="solid"/>
                    </a:lnB>
                    <a:solidFill>
                      <a:schemeClr val="accent1"/>
                    </a:solidFill>
                  </a:tcPr>
                </a:tc>
              </a:tr>
              <a:tr h="666750">
                <a:tc>
                  <a:txBody>
                    <a:bodyPr/>
                    <a:lstStyle/>
                    <a:p>
                      <a:pPr/>
                      <a:r>
                        <a:rPr lang="en-US" sz="1350" b="0">
                          <a:solidFill>
                            <a:schemeClr val="dk1"/>
                          </a:solidFill>
                          <a:latin typeface="Arial"/>
                          <a:ea typeface="Microsoft YaHei"/>
                          <a:cs typeface="Arial"/>
                        </a:rPr>
                        <a:t>Task</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User, accepted work, baseline and acceptance.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Can a reviewer recognize completed work?</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Evidence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Entity, period, units, source/version, cutoff and access.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Can each material claim be reproduced?</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Authority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Resources, proposals, approvals and execution.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Can a denied action bypass the boundary?</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Evaluation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Cases, rubric, critical failures and calibrated judges.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Which serious failure could still receive a pass?</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Operation</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Versions, traces, release owner, stop and rollback.</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Can failure be diagnosed and repair verified?</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8" name="revisit-exposure"/>
          <p:cNvGrpSpPr/>
          <p:nvPr/>
        </p:nvGrpSpPr>
        <p:grpSpPr>
          <a:xfrm>
            <a:off x="450342" y="5813425"/>
            <a:ext cx="9029483" cy="492633"/>
            <a:chOff x="450342" y="5813425"/>
            <a:chExt cx="9029483" cy="492633"/>
          </a:xfrm>
        </p:grpSpPr>
        <p:sp>
          <p:nvSpPr>
            <p:cNvPr id="7" name="TextBox 7"/>
            <p:cNvSpPr txBox="1"/>
            <p:nvPr/>
          </p:nvSpPr>
          <p:spPr>
            <a:xfrm>
              <a:off x="450342" y="5813425"/>
              <a:ext cx="9029483"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accent2"/>
                  </a:solidFill>
                  <a:latin typeface="+mn-lt"/>
                  <a:ea typeface="+mn-ea"/>
                  <a:cs typeface="+mn-cs"/>
                </a:rPr>
                <a:t>Retain versions, disagreement and accepted limits. A new source, user group, tool or permission can change exposure</a:t>
              </a:r>
              <a:br>
                <a:rPr lang="en-US" sz="1350" dirty="0">
                  <a:solidFill>
                    <a:schemeClr val="accent2"/>
                  </a:solidFill>
                  <a:latin typeface="+mn-lt"/>
                  <a:ea typeface="+mn-ea"/>
                  <a:cs typeface="+mn-cs"/>
                </a:rPr>
              </a:br>
              <a:r>
                <a:rPr lang="en-US" sz="1350" dirty="0">
                  <a:solidFill>
                    <a:schemeClr val="accent2"/>
                  </a:solidFill>
                  <a:latin typeface="+mn-lt"/>
                  <a:ea typeface="+mn-ea"/>
                  <a:cs typeface="+mn-cs"/>
                </a:rPr>
                <a:t>without changing the prompt; reassess when uncertainty could alter the decision.</a:t>
              </a:r>
            </a:p>
          </p:txBody>
        </p:sp>
      </p:grpSp>
      <p:grpSp>
        <p:nvGrpSpPr>
          <p:cNvPr id="11" name="footer"/>
          <p:cNvGrpSpPr/>
          <p:nvPr/>
        </p:nvGrpSpPr>
        <p:grpSpPr>
          <a:xfrm>
            <a:off x="452438" y="6496050"/>
            <a:ext cx="11287124" cy="176212"/>
            <a:chOff x="452438" y="6496050"/>
            <a:chExt cx="11287124" cy="176212"/>
          </a:xfrm>
        </p:grpSpPr>
        <p:sp>
          <p:nvSpPr>
            <p:cNvPr id="9" name="TextBox 9"/>
            <p:cNvSpPr txBox="1"/>
            <p:nvPr/>
          </p:nvSpPr>
          <p:spPr>
            <a:xfrm>
              <a:off x="452438" y="6496050"/>
              <a:ext cx="6095101"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synthesis connecting the conference’s task, evidence, authority, evaluation and operation mechanisms.</a:t>
              </a:r>
            </a:p>
          </p:txBody>
        </p:sp>
        <p:sp>
          <p:nvSpPr>
            <p:cNvPr id="10" name="TextBox 10"/>
            <p:cNvSpPr txBox="1"/>
            <p:nvPr/>
          </p:nvSpPr>
          <p:spPr>
            <a:xfrm>
              <a:off x="11359512" y="64960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30 / 37</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10154017" cy="1110107"/>
            <a:chOff x="443484" y="371475"/>
            <a:chExt cx="10154017" cy="1110107"/>
          </a:xfrm>
        </p:grpSpPr>
        <p:sp>
          <p:nvSpPr>
            <p:cNvPr id="2" name="TextBox 2"/>
            <p:cNvSpPr txBox="1"/>
            <p:nvPr/>
          </p:nvSpPr>
          <p:spPr>
            <a:xfrm>
              <a:off x="451104" y="371475"/>
              <a:ext cx="4337085"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APPENDIX / SELECTED COMPANY MECHANISM MAP</a:t>
              </a:r>
            </a:p>
          </p:txBody>
        </p:sp>
        <p:sp>
          <p:nvSpPr>
            <p:cNvPr id="3" name="TextBox 3"/>
            <p:cNvSpPr txBox="1"/>
            <p:nvPr/>
          </p:nvSpPr>
          <p:spPr>
            <a:xfrm>
              <a:off x="443484" y="603250"/>
              <a:ext cx="9174796"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Company cases teach mechanisms, not one architecture</a:t>
              </a:r>
            </a:p>
          </p:txBody>
        </p:sp>
        <p:sp>
          <p:nvSpPr>
            <p:cNvPr id="4" name="TextBox 4"/>
            <p:cNvSpPr txBox="1"/>
            <p:nvPr/>
          </p:nvSpPr>
          <p:spPr>
            <a:xfrm>
              <a:off x="448818" y="1158875"/>
              <a:ext cx="1014868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Use a peer pattern to generate a design or evaluation question; assess maturity and effects separately.</a:t>
              </a:r>
            </a:p>
          </p:txBody>
        </p:sp>
      </p:grpSp>
      <p:graphicFrame>
        <p:nvGraphicFramePr>
          <p:cNvPr id="6" name="company-mechanisms"/>
          <p:cNvGraphicFramePr>
            <a:graphicFrameLocks noGrp="1"/>
          </p:cNvGraphicFramePr>
          <p:nvPr/>
        </p:nvGraphicFramePr>
        <p:xfrm>
          <a:off x="457200" y="1752600"/>
          <a:ext cx="11277600" cy="3829050"/>
        </p:xfrm>
        <a:graphic>
          <a:graphicData uri="http://schemas.openxmlformats.org/drawingml/2006/table">
            <a:tbl>
              <a:tblPr firstRow="1" bandRow="0">
                <a:tableStyleId>{5C22544A-7EE6-4342-B048-85BDC9FD1C3A}</a:tableStyleId>
              </a:tblPr>
              <a:tblGrid>
                <a:gridCol w="2190750"/>
                <a:gridCol w="4476750"/>
                <a:gridCol w="4610100"/>
              </a:tblGrid>
              <a:tr h="495300">
                <a:tc>
                  <a:txBody>
                    <a:bodyPr/>
                    <a:lstStyle/>
                    <a:p>
                      <a:pPr/>
                      <a:r>
                        <a:rPr lang="en-US" sz="1350" b="1">
                          <a:solidFill>
                            <a:srgbClr val="FFFDF7"/>
                          </a:solidFill>
                          <a:latin typeface="Arial"/>
                          <a:ea typeface="Microsoft YaHei"/>
                          <a:cs typeface="Arial"/>
                        </a:rPr>
                        <a:t>Problem</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Selected cases</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Transferable mechanism</a:t>
                      </a:r>
                    </a:p>
                  </a:txBody>
                  <a:tcPr anchor="ctr" marL="152400" marR="152400" marT="76200" marB="76200">
                    <a:lnL>
                      <a:noFill/>
                    </a:lnL>
                    <a:lnR>
                      <a:noFill/>
                    </a:lnR>
                    <a:lnT>
                      <a:noFill/>
                    </a:lnT>
                    <a:lnB w="9525">
                      <a:solidFill>
                        <a:schemeClr val="accent6"/>
                      </a:solidFill>
                      <a:prstDash val="solid"/>
                    </a:lnB>
                    <a:solidFill>
                      <a:schemeClr val="accent1"/>
                    </a:solidFill>
                  </a:tcPr>
                </a:tc>
              </a:tr>
              <a:tr h="666750">
                <a:tc>
                  <a:txBody>
                    <a:bodyPr/>
                    <a:lstStyle/>
                    <a:p>
                      <a:pPr/>
                      <a:r>
                        <a:rPr lang="en-US" sz="1350" b="0">
                          <a:solidFill>
                            <a:schemeClr val="dk1"/>
                          </a:solidFill>
                          <a:latin typeface="Arial"/>
                          <a:ea typeface="Microsoft YaHei"/>
                          <a:cs typeface="Arial"/>
                        </a:rPr>
                        <a:t>Evidence / research</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Bridgewater · Kepler · Contour</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Time scope, typed facts and credible comparisons.</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Wealth workflows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Range · Morgan Stanley · UBS · RBC</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Expert methods, knowledge access and reviewed follow-through.</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Authority / controls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Two Sigma · Wise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Owned agents, resource scope, approvals and execution boundaries.</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Engineering platforms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Monzo · Optiver · Vanguard</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Shared runtime, task qualification and financial invariants.</a:t>
                      </a:r>
                    </a:p>
                  </a:txBody>
                  <a:tcPr anchor="ctr" marL="152400" marR="152400" marT="76200" marB="76200">
                    <a:lnL>
                      <a:noFill/>
                    </a:lnL>
                    <a:lnR>
                      <a:noFill/>
                    </a:lnR>
                    <a:lnT>
                      <a:noFill/>
                    </a:lnT>
                    <a:lnB w="9525">
                      <a:solidFill>
                        <a:schemeClr val="accent6"/>
                      </a:solidFill>
                      <a:prstDash val="solid"/>
                    </a:lnB>
                    <a:noFill/>
                  </a:tcPr>
                </a:tc>
              </a:tr>
              <a:tr h="666750">
                <a:tc>
                  <a:txBody>
                    <a:bodyPr/>
                    <a:lstStyle/>
                    <a:p>
                      <a:pPr/>
                      <a:r>
                        <a:rPr lang="en-US" sz="1350" b="0">
                          <a:solidFill>
                            <a:schemeClr val="dk1"/>
                          </a:solidFill>
                          <a:latin typeface="Arial"/>
                          <a:ea typeface="Microsoft YaHei"/>
                          <a:cs typeface="Arial"/>
                        </a:rPr>
                        <a:t>Improvement / learning</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Ramp · Arize · Sonar · Capital One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Task ablations, trace diagnosis, layered verification and deliberate maintenance.</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8" name="case-comparison-boundary"/>
          <p:cNvGrpSpPr/>
          <p:nvPr/>
        </p:nvGrpSpPr>
        <p:grpSpPr>
          <a:xfrm>
            <a:off x="450342" y="5813425"/>
            <a:ext cx="9230045" cy="492633"/>
            <a:chOff x="450342" y="5813425"/>
            <a:chExt cx="9230045" cy="492633"/>
          </a:xfrm>
        </p:grpSpPr>
        <p:sp>
          <p:nvSpPr>
            <p:cNvPr id="7" name="TextBox 7"/>
            <p:cNvSpPr txBox="1"/>
            <p:nvPr/>
          </p:nvSpPr>
          <p:spPr>
            <a:xfrm>
              <a:off x="450342" y="5813425"/>
              <a:ext cx="9230045"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Compare equivalent work. Architecture describes intended operation; production use shows adoption. Neither establishes</a:t>
              </a:r>
              <a:br>
                <a:rPr lang="en-US" sz="1350" dirty="0">
                  <a:solidFill>
                    <a:schemeClr val="dk1"/>
                  </a:solidFill>
                  <a:latin typeface="+mn-lt"/>
                  <a:ea typeface="+mn-ea"/>
                  <a:cs typeface="+mn-cs"/>
                </a:rPr>
              </a:br>
              <a:r>
                <a:rPr lang="en-US" sz="1350" dirty="0">
                  <a:solidFill>
                    <a:schemeClr val="dk1"/>
                  </a:solidFill>
                  <a:latin typeface="+mn-lt"/>
                  <a:ea typeface="+mn-ea"/>
                  <a:cs typeface="+mn-cs"/>
                </a:rPr>
                <a:t>quality, net time saved or causal value. This selected map is not a representative survey or a firm-maturity ranking.</a:t>
              </a:r>
            </a:p>
          </p:txBody>
        </p:sp>
      </p:grpSp>
      <p:grpSp>
        <p:nvGrpSpPr>
          <p:cNvPr id="11" name="footer"/>
          <p:cNvGrpSpPr/>
          <p:nvPr/>
        </p:nvGrpSpPr>
        <p:grpSpPr>
          <a:xfrm>
            <a:off x="452438" y="6496050"/>
            <a:ext cx="11287124" cy="176212"/>
            <a:chOff x="452438" y="6496050"/>
            <a:chExt cx="11287124" cy="176212"/>
          </a:xfrm>
        </p:grpSpPr>
        <p:sp>
          <p:nvSpPr>
            <p:cNvPr id="9" name="TextBox 9"/>
            <p:cNvSpPr txBox="1"/>
            <p:nvPr/>
          </p:nvSpPr>
          <p:spPr>
            <a:xfrm>
              <a:off x="452438" y="6496050"/>
              <a:ext cx="764954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The source HTML contains an expanded 25-firm atlas. Company affiliation alone does not establish deployment of every discussed technique.</a:t>
              </a:r>
            </a:p>
          </p:txBody>
        </p:sp>
        <p:sp>
          <p:nvSpPr>
            <p:cNvPr id="10" name="TextBox 10"/>
            <p:cNvSpPr txBox="1"/>
            <p:nvPr/>
          </p:nvSpPr>
          <p:spPr>
            <a:xfrm>
              <a:off x="11359512" y="64960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31 / 37</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524995" cy="1110107"/>
            <a:chOff x="443484" y="371475"/>
            <a:chExt cx="8524995" cy="1110107"/>
          </a:xfrm>
        </p:grpSpPr>
        <p:sp>
          <p:nvSpPr>
            <p:cNvPr id="2" name="TextBox 2"/>
            <p:cNvSpPr txBox="1"/>
            <p:nvPr/>
          </p:nvSpPr>
          <p:spPr>
            <a:xfrm>
              <a:off x="451104" y="371475"/>
              <a:ext cx="435596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APPENDIX / COMPACT EVALUATION SPECIFICATION</a:t>
              </a:r>
            </a:p>
          </p:txBody>
        </p:sp>
        <p:sp>
          <p:nvSpPr>
            <p:cNvPr id="3" name="TextBox 3"/>
            <p:cNvSpPr txBox="1"/>
            <p:nvPr/>
          </p:nvSpPr>
          <p:spPr>
            <a:xfrm>
              <a:off x="443484" y="603250"/>
              <a:ext cx="8103723"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Version the evaluation contract with the decision</a:t>
              </a:r>
            </a:p>
          </p:txBody>
        </p:sp>
        <p:sp>
          <p:nvSpPr>
            <p:cNvPr id="4" name="TextBox 4"/>
            <p:cNvSpPr txBox="1"/>
            <p:nvPr/>
          </p:nvSpPr>
          <p:spPr>
            <a:xfrm>
              <a:off x="448818" y="1158875"/>
              <a:ext cx="851966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judge or rubric change can alter reported quality even when the agent is unchanged.</a:t>
              </a:r>
            </a:p>
          </p:txBody>
        </p:sp>
      </p:grpSp>
      <p:grpSp>
        <p:nvGrpSpPr>
          <p:cNvPr id="9" name="illustrative-schema"/>
          <p:cNvGrpSpPr/>
          <p:nvPr/>
        </p:nvGrpSpPr>
        <p:grpSpPr>
          <a:xfrm>
            <a:off x="457200" y="1752600"/>
            <a:ext cx="5334000" cy="4286250"/>
            <a:chOff x="457200" y="1752600"/>
            <a:chExt cx="5334000" cy="4286250"/>
          </a:xfrm>
        </p:grpSpPr>
        <p:sp>
          <p:nvSpPr>
            <p:cNvPr id="6" name="Rectangle 6"/>
            <p:cNvSpPr/>
            <p:nvPr/>
          </p:nvSpPr>
          <p:spPr>
            <a:xfrm>
              <a:off x="457200" y="1752600"/>
              <a:ext cx="5334000" cy="4286250"/>
            </a:xfrm>
            <a:prstGeom prst="rect">
              <a:avLst/>
            </a:prstGeom>
            <a:solidFill>
              <a:schemeClr val="accent1"/>
            </a:solidFill>
            <a:ln>
              <a:noFill/>
            </a:ln>
          </p:spPr>
        </p:sp>
        <p:sp>
          <p:nvSpPr>
            <p:cNvPr id="7" name="TextBox 7"/>
            <p:cNvSpPr txBox="1"/>
            <p:nvPr/>
          </p:nvSpPr>
          <p:spPr>
            <a:xfrm>
              <a:off x="679704" y="1962150"/>
              <a:ext cx="4801629"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mn-lt"/>
                  <a:ea typeface="+mn-ea"/>
                  <a:cs typeface="+mn-cs"/>
                </a:rPr>
                <a:t>ILLUSTRATIVE SCHEMA / NOT A RUNNABLE FRAMEWORK</a:t>
              </a:r>
            </a:p>
          </p:txBody>
        </p:sp>
        <p:sp>
          <p:nvSpPr>
            <p:cNvPr id="8" name="TextBox 8"/>
            <p:cNvSpPr txBox="1"/>
            <p:nvPr/>
          </p:nvSpPr>
          <p:spPr>
            <a:xfrm>
              <a:off x="679704" y="2425700"/>
              <a:ext cx="3784092" cy="2768346"/>
            </a:xfrm>
            <a:prstGeom prst="rect">
              <a:avLst/>
            </a:prstGeom>
            <a:noFill/>
            <a:ln>
              <a:noFill/>
            </a:ln>
          </p:spPr>
          <p:txBody>
            <a:bodyPr wrap="none" lIns="0" tIns="0" rIns="0" bIns="0" anchor="t" anchorCtr="0">
              <a:spAutoFit/>
            </a:bodyPr>
            <a:lstStyle/>
            <a:p>
              <a:pPr algn="l">
                <a:lnSpc>
                  <a:spcPts val="2100"/>
                </a:lnSpc>
              </a:pPr>
              <a:r>
                <a:rPr lang="en-US" sz="1200" dirty="0">
                  <a:solidFill>
                    <a:srgbClr val="FFFDF7"/>
                  </a:solidFill>
                  <a:latin typeface="Consolas"/>
                  <a:ea typeface="Consolas"/>
                  <a:cs typeface="Consolas"/>
                </a:rPr>
                <a:t>task: draft_review_packet</a:t>
              </a:r>
            </a:p>
            <a:p>
              <a:pPr algn="l">
                <a:lnSpc>
                  <a:spcPts val="2100"/>
                </a:lnSpc>
                <a:spcBef>
                  <a:spcPts val="450"/>
                </a:spcBef>
              </a:pPr>
              <a:r>
                <a:rPr lang="en-US" sz="1200" dirty="0">
                  <a:solidFill>
                    <a:srgbClr val="FFFDF7"/>
                  </a:solidFill>
                  <a:latin typeface="Consolas"/>
                  <a:ea typeface="Consolas"/>
                  <a:cs typeface="Consolas"/>
                </a:rPr>
                <a:t>snapshot: approved_inputs_v1</a:t>
              </a:r>
            </a:p>
            <a:p>
              <a:pPr algn="l">
                <a:lnSpc>
                  <a:spcPts val="2100"/>
                </a:lnSpc>
                <a:spcBef>
                  <a:spcPts val="450"/>
                </a:spcBef>
              </a:pPr>
              <a:r>
                <a:rPr lang="en-US" sz="1200" dirty="0">
                  <a:solidFill>
                    <a:srgbClr val="FFFDF7"/>
                  </a:solidFill>
                  <a:latin typeface="Consolas"/>
                  <a:ea typeface="Consolas"/>
                  <a:cs typeface="Consolas"/>
                </a:rPr>
                <a:t>acceptance: reviewed_complete_output</a:t>
              </a:r>
            </a:p>
            <a:p>
              <a:pPr algn="l">
                <a:lnSpc>
                  <a:spcPts val="2100"/>
                </a:lnSpc>
                <a:spcBef>
                  <a:spcPts val="450"/>
                </a:spcBef>
              </a:pPr>
              <a:r>
                <a:rPr lang="en-US" sz="1200" dirty="0">
                  <a:solidFill>
                    <a:srgbClr val="FFFDF7"/>
                  </a:solidFill>
                  <a:latin typeface="Consolas"/>
                  <a:ea typeface="Consolas"/>
                  <a:cs typeface="Consolas"/>
                </a:rPr>
                <a:t>critical: unauthorized_access,</a:t>
              </a:r>
              <a:br>
                <a:rPr lang="en-US" sz="1200" dirty="0">
                  <a:solidFill>
                    <a:srgbClr val="FFFDF7"/>
                  </a:solidFill>
                  <a:latin typeface="Consolas"/>
                  <a:ea typeface="Consolas"/>
                  <a:cs typeface="Consolas"/>
                </a:rPr>
              </a:br>
              <a:r>
                <a:rPr lang="en-US" sz="1200" dirty="0">
                  <a:solidFill>
                    <a:srgbClr val="FFFDF7"/>
                  </a:solidFill>
                  <a:latin typeface="Consolas"/>
                  <a:ea typeface="Consolas"/>
                  <a:cs typeface="Consolas"/>
                </a:rPr>
                <a:t>unsupported_number</a:t>
              </a:r>
            </a:p>
            <a:p>
              <a:pPr algn="l">
                <a:lnSpc>
                  <a:spcPts val="2100"/>
                </a:lnSpc>
                <a:spcBef>
                  <a:spcPts val="450"/>
                </a:spcBef>
              </a:pPr>
              <a:r>
                <a:rPr lang="en-US" sz="1200" dirty="0">
                  <a:solidFill>
                    <a:srgbClr val="FFFDF7"/>
                  </a:solidFill>
                  <a:latin typeface="Consolas"/>
                  <a:ea typeface="Consolas"/>
                  <a:cs typeface="Consolas"/>
                </a:rPr>
                <a:t>cases: common, missing, difficult, regression</a:t>
              </a:r>
            </a:p>
            <a:p>
              <a:pPr algn="l">
                <a:lnSpc>
                  <a:spcPts val="2100"/>
                </a:lnSpc>
                <a:spcBef>
                  <a:spcPts val="450"/>
                </a:spcBef>
              </a:pPr>
              <a:r>
                <a:rPr lang="en-US" sz="1200" dirty="0">
                  <a:solidFill>
                    <a:srgbClr val="FFFDF7"/>
                  </a:solidFill>
                  <a:latin typeface="Consolas"/>
                  <a:ea typeface="Consolas"/>
                  <a:cs typeface="Consolas"/>
                </a:rPr>
                <a:t>judge: model + rubric + threshold + version</a:t>
              </a:r>
            </a:p>
            <a:p>
              <a:pPr algn="l">
                <a:lnSpc>
                  <a:spcPts val="2100"/>
                </a:lnSpc>
                <a:spcBef>
                  <a:spcPts val="450"/>
                </a:spcBef>
              </a:pPr>
              <a:r>
                <a:rPr lang="en-US" sz="1200" dirty="0">
                  <a:solidFill>
                    <a:srgbClr val="FFFDF7"/>
                  </a:solidFill>
                  <a:latin typeface="Consolas"/>
                  <a:ea typeface="Consolas"/>
                  <a:cs typeface="Consolas"/>
                </a:rPr>
                <a:t>compare: baseline_vs_candidate</a:t>
              </a:r>
            </a:p>
            <a:p>
              <a:pPr algn="l">
                <a:lnSpc>
                  <a:spcPts val="2100"/>
                </a:lnSpc>
                <a:spcBef>
                  <a:spcPts val="450"/>
                </a:spcBef>
              </a:pPr>
              <a:r>
                <a:rPr lang="en-US" sz="1200" dirty="0">
                  <a:solidFill>
                    <a:srgbClr val="FFFDF7"/>
                  </a:solidFill>
                  <a:latin typeface="Consolas"/>
                  <a:ea typeface="Consolas"/>
                  <a:cs typeface="Consolas"/>
                </a:rPr>
                <a:t>decision: accountable_owner</a:t>
              </a:r>
            </a:p>
          </p:txBody>
        </p:sp>
      </p:grpSp>
      <p:grpSp>
        <p:nvGrpSpPr>
          <p:cNvPr id="12" name="permitted-completion"/>
          <p:cNvGrpSpPr/>
          <p:nvPr/>
        </p:nvGrpSpPr>
        <p:grpSpPr>
          <a:xfrm>
            <a:off x="6086856" y="1838325"/>
            <a:ext cx="4675784" cy="985520"/>
            <a:chOff x="6086856" y="1838325"/>
            <a:chExt cx="4675784" cy="985520"/>
          </a:xfrm>
        </p:grpSpPr>
        <p:sp>
          <p:nvSpPr>
            <p:cNvPr id="10" name="TextBox 10"/>
            <p:cNvSpPr txBox="1"/>
            <p:nvPr/>
          </p:nvSpPr>
          <p:spPr>
            <a:xfrm>
              <a:off x="6086856" y="1838325"/>
              <a:ext cx="361092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Define the permitted completion</a:t>
              </a:r>
            </a:p>
          </p:txBody>
        </p:sp>
        <p:sp>
          <p:nvSpPr>
            <p:cNvPr id="11" name="TextBox 11"/>
            <p:cNvSpPr txBox="1"/>
            <p:nvPr/>
          </p:nvSpPr>
          <p:spPr>
            <a:xfrm>
              <a:off x="6088380" y="2263775"/>
              <a:ext cx="4674260"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Outputs, action limits and clarification/abstention.</a:t>
              </a:r>
              <a:br>
                <a:rPr lang="en-US" sz="1500" dirty="0">
                  <a:solidFill>
                    <a:schemeClr val="dk1"/>
                  </a:solidFill>
                  <a:latin typeface="+mn-lt"/>
                  <a:ea typeface="+mn-ea"/>
                  <a:cs typeface="+mn-cs"/>
                </a:rPr>
              </a:br>
              <a:r>
                <a:rPr lang="en-US" sz="1500" dirty="0">
                  <a:solidFill>
                    <a:schemeClr val="dk1"/>
                  </a:solidFill>
                  <a:latin typeface="+mn-lt"/>
                  <a:ea typeface="+mn-ea"/>
                  <a:cs typeface="+mn-cs"/>
                </a:rPr>
                <a:t>Unauthorized access fails; correct refusal can succeed.</a:t>
              </a:r>
            </a:p>
          </p:txBody>
        </p:sp>
      </p:grpSp>
      <p:grpSp>
        <p:nvGrpSpPr>
          <p:cNvPr id="16" name="version-evaluator"/>
          <p:cNvGrpSpPr/>
          <p:nvPr/>
        </p:nvGrpSpPr>
        <p:grpSpPr>
          <a:xfrm>
            <a:off x="6086856" y="3248025"/>
            <a:ext cx="5647944" cy="1090295"/>
            <a:chOff x="6086856" y="3248025"/>
            <a:chExt cx="5647944" cy="1090295"/>
          </a:xfrm>
        </p:grpSpPr>
        <p:sp>
          <p:nvSpPr>
            <p:cNvPr id="13" name="Line 13"/>
            <p:cNvSpPr/>
            <p:nvPr/>
          </p:nvSpPr>
          <p:spPr>
            <a:xfrm>
              <a:off x="6096000" y="3248025"/>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14" name="TextBox 14"/>
            <p:cNvSpPr txBox="1"/>
            <p:nvPr/>
          </p:nvSpPr>
          <p:spPr>
            <a:xfrm>
              <a:off x="6086856" y="3352800"/>
              <a:ext cx="464776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Version the evaluator, not only the system</a:t>
              </a:r>
            </a:p>
          </p:txBody>
        </p:sp>
        <p:sp>
          <p:nvSpPr>
            <p:cNvPr id="15" name="TextBox 15"/>
            <p:cNvSpPr txBox="1"/>
            <p:nvPr/>
          </p:nvSpPr>
          <p:spPr>
            <a:xfrm>
              <a:off x="6088380" y="3778250"/>
              <a:ext cx="5002949"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Retain judge model, prompt, rubric and threshold.</a:t>
              </a:r>
              <a:br>
                <a:rPr lang="en-US" sz="1500" dirty="0">
                  <a:solidFill>
                    <a:schemeClr val="dk1"/>
                  </a:solidFill>
                  <a:latin typeface="+mn-lt"/>
                  <a:ea typeface="+mn-ea"/>
                  <a:cs typeface="+mn-cs"/>
                </a:rPr>
              </a:br>
              <a:r>
                <a:rPr lang="en-US" sz="1500" dirty="0">
                  <a:solidFill>
                    <a:schemeClr val="dk1"/>
                  </a:solidFill>
                  <a:latin typeface="+mn-lt"/>
                  <a:ea typeface="+mn-ea"/>
                  <a:cs typeface="+mn-cs"/>
                </a:rPr>
                <a:t>Recalibrate on reviewed cases when they or users change.</a:t>
              </a:r>
            </a:p>
          </p:txBody>
        </p:sp>
      </p:grpSp>
      <p:grpSp>
        <p:nvGrpSpPr>
          <p:cNvPr id="20" name="decision-specific-evidence"/>
          <p:cNvGrpSpPr/>
          <p:nvPr/>
        </p:nvGrpSpPr>
        <p:grpSpPr>
          <a:xfrm>
            <a:off x="6086856" y="4733925"/>
            <a:ext cx="5647944" cy="1356995"/>
            <a:chOff x="6086856" y="4733925"/>
            <a:chExt cx="5647944" cy="1356995"/>
          </a:xfrm>
        </p:grpSpPr>
        <p:sp>
          <p:nvSpPr>
            <p:cNvPr id="17" name="Line 17"/>
            <p:cNvSpPr/>
            <p:nvPr/>
          </p:nvSpPr>
          <p:spPr>
            <a:xfrm>
              <a:off x="6096000" y="4733925"/>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18" name="TextBox 18"/>
            <p:cNvSpPr txBox="1"/>
            <p:nvPr/>
          </p:nvSpPr>
          <p:spPr>
            <a:xfrm>
              <a:off x="6086856" y="4838700"/>
              <a:ext cx="347145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Select evidence for the decision</a:t>
              </a:r>
            </a:p>
          </p:txBody>
        </p:sp>
        <p:sp>
          <p:nvSpPr>
            <p:cNvPr id="19" name="TextBox 19"/>
            <p:cNvSpPr txBox="1"/>
            <p:nvPr/>
          </p:nvSpPr>
          <p:spPr>
            <a:xfrm>
              <a:off x="6088380" y="5264150"/>
              <a:ext cx="4865180"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Model choice, less review and greater execution authority</a:t>
              </a:r>
              <a:br>
                <a:rPr lang="en-US" sz="1500" dirty="0">
                  <a:solidFill>
                    <a:schemeClr val="dk1"/>
                  </a:solidFill>
                  <a:latin typeface="+mn-lt"/>
                  <a:ea typeface="+mn-ea"/>
                  <a:cs typeface="+mn-cs"/>
                </a:rPr>
              </a:br>
              <a:r>
                <a:rPr lang="en-US" sz="1500" dirty="0">
                  <a:solidFill>
                    <a:schemeClr val="dk1"/>
                  </a:solidFill>
                  <a:latin typeface="+mn-lt"/>
                  <a:ea typeface="+mn-ea"/>
                  <a:cs typeface="+mn-cs"/>
                </a:rPr>
                <a:t>require different evidence. Finite tests support a scoped</a:t>
              </a:r>
              <a:br>
                <a:rPr lang="en-US" sz="1500" dirty="0">
                  <a:solidFill>
                    <a:schemeClr val="dk1"/>
                  </a:solidFill>
                  <a:latin typeface="+mn-lt"/>
                  <a:ea typeface="+mn-ea"/>
                  <a:cs typeface="+mn-cs"/>
                </a:rPr>
              </a:br>
              <a:r>
                <a:rPr lang="en-US" sz="1500" dirty="0">
                  <a:solidFill>
                    <a:schemeClr val="dk1"/>
                  </a:solidFill>
                  <a:latin typeface="+mn-lt"/>
                  <a:ea typeface="+mn-ea"/>
                  <a:cs typeface="+mn-cs"/>
                </a:rPr>
                <a:t>judgment with known limits, not proof of zero failure.</a:t>
              </a:r>
            </a:p>
          </p:txBody>
        </p:sp>
      </p:grpSp>
      <p:grpSp>
        <p:nvGrpSpPr>
          <p:cNvPr id="23" name="footer"/>
          <p:cNvGrpSpPr/>
          <p:nvPr/>
        </p:nvGrpSpPr>
        <p:grpSpPr>
          <a:xfrm>
            <a:off x="452438" y="6410325"/>
            <a:ext cx="11287124" cy="176212"/>
            <a:chOff x="452438" y="6410325"/>
            <a:chExt cx="11287124" cy="176212"/>
          </a:xfrm>
        </p:grpSpPr>
        <p:sp>
          <p:nvSpPr>
            <p:cNvPr id="21" name="TextBox 21"/>
            <p:cNvSpPr txBox="1"/>
            <p:nvPr/>
          </p:nvSpPr>
          <p:spPr>
            <a:xfrm>
              <a:off x="452438" y="6410325"/>
              <a:ext cx="6870353"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schema informed by Ramp and the system-failure discussion. Adapt the contract to the actual task and consequence.</a:t>
              </a:r>
            </a:p>
          </p:txBody>
        </p:sp>
        <p:sp>
          <p:nvSpPr>
            <p:cNvPr id="22" name="TextBox 22"/>
            <p:cNvSpPr txBox="1"/>
            <p:nvPr/>
          </p:nvSpPr>
          <p:spPr>
            <a:xfrm>
              <a:off x="11359512" y="64103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32 / 37</a:t>
              </a:r>
            </a:p>
          </p:txBody>
        </p:sp>
      </p:grpSp>
    </p:spTree>
  </p:cSld>
  <p:clrMapOvr>
    <a:masterClrMapping/>
  </p:clrMapOvr>
  <p:transition xmlns:p14="http://schemas.microsoft.com/office/powerpoint/2010/main" p14:dur="400">
    <p:fade/>
  </p:transition>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7698188" cy="1110107"/>
            <a:chOff x="443484" y="371475"/>
            <a:chExt cx="7698188" cy="1110107"/>
          </a:xfrm>
        </p:grpSpPr>
        <p:sp>
          <p:nvSpPr>
            <p:cNvPr id="2" name="TextBox 2"/>
            <p:cNvSpPr txBox="1"/>
            <p:nvPr/>
          </p:nvSpPr>
          <p:spPr>
            <a:xfrm>
              <a:off x="451104" y="371475"/>
              <a:ext cx="3170500" cy="234696"/>
            </a:xfrm>
            <a:prstGeom prst="rect">
              <a:avLst/>
            </a:prstGeom>
            <a:noFill/>
            <a:ln>
              <a:noFill/>
            </a:ln>
          </p:spPr>
          <p:txBody>
            <a:bodyPr wrap="none" lIns="0" tIns="0" rIns="0" bIns="0" anchor="t" anchorCtr="0">
              <a:spAutoFit/>
            </a:bodyPr>
            <a:lstStyle/>
            <a:p>
              <a:pPr algn="l"/>
              <a:r>
                <a:rPr lang="en-US" sz="1200" dirty="0">
                  <a:solidFill>
                    <a:srgbClr val="8B411C"/>
                  </a:solidFill>
                  <a:latin typeface="+mn-lt"/>
                  <a:ea typeface="+mn-ea"/>
                  <a:cs typeface="+mn-cs"/>
                </a:rPr>
                <a:t>APPENDIX / SYNTHETIC TYPED CLAIM</a:t>
              </a:r>
            </a:p>
          </p:txBody>
        </p:sp>
        <p:sp>
          <p:nvSpPr>
            <p:cNvPr id="3" name="TextBox 3"/>
            <p:cNvSpPr txBox="1"/>
            <p:nvPr/>
          </p:nvSpPr>
          <p:spPr>
            <a:xfrm>
              <a:off x="443484" y="603250"/>
              <a:ext cx="7698188"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Keep the typed claim attached to its derivation</a:t>
              </a:r>
            </a:p>
          </p:txBody>
        </p:sp>
        <p:sp>
          <p:nvSpPr>
            <p:cNvPr id="4" name="TextBox 4"/>
            <p:cNvSpPr txBox="1"/>
            <p:nvPr/>
          </p:nvSpPr>
          <p:spPr>
            <a:xfrm>
              <a:off x="448818" y="1158875"/>
              <a:ext cx="6877790"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AsterCo’s growth value is a ratio; its revenue inputs are USD millions.</a:t>
              </a:r>
            </a:p>
          </p:txBody>
        </p:sp>
      </p:grpSp>
      <p:grpSp>
        <p:nvGrpSpPr>
          <p:cNvPr id="9" name="typed-claim"/>
          <p:cNvGrpSpPr/>
          <p:nvPr/>
        </p:nvGrpSpPr>
        <p:grpSpPr>
          <a:xfrm>
            <a:off x="457200" y="1752600"/>
            <a:ext cx="5334000" cy="4286250"/>
            <a:chOff x="457200" y="1752600"/>
            <a:chExt cx="5334000" cy="4286250"/>
          </a:xfrm>
        </p:grpSpPr>
        <p:sp>
          <p:nvSpPr>
            <p:cNvPr id="6" name="Freeform 6"/>
            <p:cNvSpPr/>
            <p:nvPr/>
          </p:nvSpPr>
          <p:spPr>
            <a:xfrm>
              <a:off x="457200" y="1752600"/>
              <a:ext cx="5334000" cy="4286250"/>
            </a:xfrm>
            <a:prstGeom prst="foldedCorner">
              <a:avLst/>
            </a:prstGeom>
            <a:solidFill>
              <a:schemeClr val="lt2"/>
            </a:solidFill>
            <a:ln>
              <a:noFill/>
            </a:ln>
          </p:spPr>
        </p:sp>
        <p:sp>
          <p:nvSpPr>
            <p:cNvPr id="7" name="TextBox 7"/>
            <p:cNvSpPr txBox="1"/>
            <p:nvPr/>
          </p:nvSpPr>
          <p:spPr>
            <a:xfrm>
              <a:off x="679704" y="1962150"/>
              <a:ext cx="4365589"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ALL ENTITIES, VALUES AND DOCUMENTS INVENTED</a:t>
              </a:r>
            </a:p>
          </p:txBody>
        </p:sp>
        <p:sp>
          <p:nvSpPr>
            <p:cNvPr id="8" name="TextBox 8"/>
            <p:cNvSpPr txBox="1"/>
            <p:nvPr/>
          </p:nvSpPr>
          <p:spPr>
            <a:xfrm>
              <a:off x="679704" y="2413000"/>
              <a:ext cx="2526792" cy="2501646"/>
            </a:xfrm>
            <a:prstGeom prst="rect">
              <a:avLst/>
            </a:prstGeom>
            <a:noFill/>
            <a:ln>
              <a:noFill/>
            </a:ln>
          </p:spPr>
          <p:txBody>
            <a:bodyPr wrap="none" lIns="0" tIns="0" rIns="0" bIns="0" anchor="t" anchorCtr="0">
              <a:spAutoFit/>
            </a:bodyPr>
            <a:lstStyle/>
            <a:p>
              <a:pPr algn="l">
                <a:lnSpc>
                  <a:spcPts val="2550"/>
                </a:lnSpc>
              </a:pPr>
              <a:r>
                <a:rPr lang="en-US" sz="1200" dirty="0">
                  <a:solidFill>
                    <a:schemeClr val="dk1"/>
                  </a:solidFill>
                  <a:latin typeface="Consolas"/>
                  <a:ea typeface="Consolas"/>
                  <a:cs typeface="Consolas"/>
                </a:rPr>
                <a:t>entity: AsterCo</a:t>
              </a:r>
              <a:br>
                <a:rPr lang="en-US" sz="1200" dirty="0">
                  <a:solidFill>
                    <a:schemeClr val="dk1"/>
                  </a:solidFill>
                  <a:latin typeface="Consolas"/>
                  <a:ea typeface="Consolas"/>
                  <a:cs typeface="Consolas"/>
                </a:rPr>
              </a:br>
              <a:r>
                <a:rPr lang="en-US" sz="1200" dirty="0">
                  <a:solidFill>
                    <a:schemeClr val="dk1"/>
                  </a:solidFill>
                  <a:latin typeface="Consolas"/>
                  <a:ea typeface="Consolas"/>
                  <a:cs typeface="Consolas"/>
                </a:rPr>
                <a:t>metric: annual_revenue_growth</a:t>
              </a:r>
              <a:br>
                <a:rPr lang="en-US" sz="1200" dirty="0">
                  <a:solidFill>
                    <a:schemeClr val="dk1"/>
                  </a:solidFill>
                  <a:latin typeface="Consolas"/>
                  <a:ea typeface="Consolas"/>
                  <a:cs typeface="Consolas"/>
                </a:rPr>
              </a:br>
              <a:r>
                <a:rPr lang="en-US" sz="1200" dirty="0">
                  <a:solidFill>
                    <a:schemeClr val="dk1"/>
                  </a:solidFill>
                  <a:latin typeface="Consolas"/>
                  <a:ea typeface="Consolas"/>
                  <a:cs typeface="Consolas"/>
                </a:rPr>
                <a:t>period: FY2025</a:t>
              </a:r>
              <a:br>
                <a:rPr lang="en-US" sz="1200" dirty="0">
                  <a:solidFill>
                    <a:schemeClr val="dk1"/>
                  </a:solidFill>
                  <a:latin typeface="Consolas"/>
                  <a:ea typeface="Consolas"/>
                  <a:cs typeface="Consolas"/>
                </a:rPr>
              </a:br>
              <a:r>
                <a:rPr lang="en-US" sz="1200" dirty="0">
                  <a:solidFill>
                    <a:schemeClr val="dk1"/>
                  </a:solidFill>
                  <a:latin typeface="Consolas"/>
                  <a:ea typeface="Consolas"/>
                  <a:cs typeface="Consolas"/>
                </a:rPr>
                <a:t>unit: ratio</a:t>
              </a:r>
              <a:br>
                <a:rPr lang="en-US" sz="1200" dirty="0">
                  <a:solidFill>
                    <a:schemeClr val="dk1"/>
                  </a:solidFill>
                  <a:latin typeface="Consolas"/>
                  <a:ea typeface="Consolas"/>
                  <a:cs typeface="Consolas"/>
                </a:rPr>
              </a:br>
              <a:r>
                <a:rPr lang="en-US" sz="1200" dirty="0">
                  <a:solidFill>
                    <a:schemeClr val="dk1"/>
                  </a:solidFill>
                  <a:latin typeface="Consolas"/>
                  <a:ea typeface="Consolas"/>
                  <a:cs typeface="Consolas"/>
                </a:rPr>
                <a:t>value: 0.20</a:t>
              </a:r>
              <a:br>
                <a:rPr lang="en-US" sz="1200" dirty="0">
                  <a:solidFill>
                    <a:schemeClr val="dk1"/>
                  </a:solidFill>
                  <a:latin typeface="Consolas"/>
                  <a:ea typeface="Consolas"/>
                  <a:cs typeface="Consolas"/>
                </a:rPr>
              </a:br>
              <a:r>
                <a:rPr lang="en-US" sz="1200" dirty="0">
                  <a:solidFill>
                    <a:schemeClr val="dk1"/>
                  </a:solidFill>
                  <a:latin typeface="Consolas"/>
                  <a:ea typeface="Consolas"/>
                  <a:cs typeface="Consolas"/>
                </a:rPr>
                <a:t>inputs: D1=100; D3=120 # USD_m</a:t>
              </a:r>
              <a:br>
                <a:rPr lang="en-US" sz="1200" dirty="0">
                  <a:solidFill>
                    <a:schemeClr val="dk1"/>
                  </a:solidFill>
                  <a:latin typeface="Consolas"/>
                  <a:ea typeface="Consolas"/>
                  <a:cs typeface="Consolas"/>
                </a:rPr>
              </a:br>
              <a:r>
                <a:rPr lang="en-US" sz="1200" dirty="0">
                  <a:solidFill>
                    <a:schemeClr val="dk1"/>
                  </a:solidFill>
                  <a:latin typeface="Consolas"/>
                  <a:ea typeface="Consolas"/>
                  <a:cs typeface="Consolas"/>
                </a:rPr>
                <a:t>as_of: 2026-03-01</a:t>
              </a:r>
              <a:br>
                <a:rPr lang="en-US" sz="1200" dirty="0">
                  <a:solidFill>
                    <a:schemeClr val="dk1"/>
                  </a:solidFill>
                  <a:latin typeface="Consolas"/>
                  <a:ea typeface="Consolas"/>
                  <a:cs typeface="Consolas"/>
                </a:rPr>
              </a:br>
              <a:r>
                <a:rPr lang="en-US" sz="1200" dirty="0">
                  <a:solidFill>
                    <a:schemeClr val="dk1"/>
                  </a:solidFill>
                  <a:latin typeface="Consolas"/>
                  <a:ea typeface="Consolas"/>
                  <a:cs typeface="Consolas"/>
                </a:rPr>
                <a:t>calculation: (120 - 100) / 100</a:t>
              </a:r>
            </a:p>
          </p:txBody>
        </p:sp>
      </p:grpSp>
      <p:grpSp>
        <p:nvGrpSpPr>
          <p:cNvPr id="12" name="metric-unit"/>
          <p:cNvGrpSpPr/>
          <p:nvPr/>
        </p:nvGrpSpPr>
        <p:grpSpPr>
          <a:xfrm>
            <a:off x="6086856" y="1838325"/>
            <a:ext cx="4729010" cy="985520"/>
            <a:chOff x="6086856" y="1838325"/>
            <a:chExt cx="4729010" cy="985520"/>
          </a:xfrm>
        </p:grpSpPr>
        <p:sp>
          <p:nvSpPr>
            <p:cNvPr id="10" name="TextBox 10"/>
            <p:cNvSpPr txBox="1"/>
            <p:nvPr/>
          </p:nvSpPr>
          <p:spPr>
            <a:xfrm>
              <a:off x="6086856" y="1838325"/>
              <a:ext cx="3789804"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0.20 growth ≠ USD120m revenue</a:t>
              </a:r>
            </a:p>
          </p:txBody>
        </p:sp>
        <p:sp>
          <p:nvSpPr>
            <p:cNvPr id="11" name="TextBox 11"/>
            <p:cNvSpPr txBox="1"/>
            <p:nvPr/>
          </p:nvSpPr>
          <p:spPr>
            <a:xfrm>
              <a:off x="6088380" y="2263775"/>
              <a:ext cx="4727486"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Preserve entity, metric definition, period and unit.</a:t>
              </a:r>
              <a:br>
                <a:rPr lang="en-US" sz="1500" dirty="0">
                  <a:solidFill>
                    <a:schemeClr val="dk1"/>
                  </a:solidFill>
                  <a:latin typeface="+mn-lt"/>
                  <a:ea typeface="+mn-ea"/>
                  <a:cs typeface="+mn-cs"/>
                </a:rPr>
              </a:br>
              <a:r>
                <a:rPr lang="en-US" sz="1500" dirty="0">
                  <a:solidFill>
                    <a:schemeClr val="dk1"/>
                  </a:solidFill>
                  <a:latin typeface="+mn-lt"/>
                  <a:ea typeface="+mn-ea"/>
                  <a:cs typeface="+mn-cs"/>
                </a:rPr>
                <a:t>A document match cannot establish a valid comparison.</a:t>
              </a:r>
            </a:p>
          </p:txBody>
        </p:sp>
      </p:grpSp>
      <p:grpSp>
        <p:nvGrpSpPr>
          <p:cNvPr id="16" name="source-identity"/>
          <p:cNvGrpSpPr/>
          <p:nvPr/>
        </p:nvGrpSpPr>
        <p:grpSpPr>
          <a:xfrm>
            <a:off x="6086856" y="3248025"/>
            <a:ext cx="5647944" cy="1090295"/>
            <a:chOff x="6086856" y="3248025"/>
            <a:chExt cx="5647944" cy="1090295"/>
          </a:xfrm>
        </p:grpSpPr>
        <p:sp>
          <p:nvSpPr>
            <p:cNvPr id="13" name="Line 13"/>
            <p:cNvSpPr/>
            <p:nvPr/>
          </p:nvSpPr>
          <p:spPr>
            <a:xfrm>
              <a:off x="6096000" y="3248025"/>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14" name="TextBox 14"/>
            <p:cNvSpPr txBox="1"/>
            <p:nvPr/>
          </p:nvSpPr>
          <p:spPr>
            <a:xfrm>
              <a:off x="6086856" y="3352800"/>
              <a:ext cx="400437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Retain source identity and eligibility</a:t>
              </a:r>
            </a:p>
          </p:txBody>
        </p:sp>
        <p:sp>
          <p:nvSpPr>
            <p:cNvPr id="15" name="TextBox 15"/>
            <p:cNvSpPr txBox="1"/>
            <p:nvPr/>
          </p:nvSpPr>
          <p:spPr>
            <a:xfrm>
              <a:off x="6088380" y="3778250"/>
              <a:ext cx="4558017"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Document, passage, version and available-as-of time.</a:t>
              </a:r>
              <a:br>
                <a:rPr lang="en-US" sz="1500" dirty="0">
                  <a:solidFill>
                    <a:schemeClr val="dk1"/>
                  </a:solidFill>
                  <a:latin typeface="+mn-lt"/>
                  <a:ea typeface="+mn-ea"/>
                  <a:cs typeface="+mn-cs"/>
                </a:rPr>
              </a:br>
              <a:r>
                <a:rPr lang="en-US" sz="1500" dirty="0">
                  <a:solidFill>
                    <a:schemeClr val="dk1"/>
                  </a:solidFill>
                  <a:latin typeface="+mn-lt"/>
                  <a:ea typeface="+mn-ea"/>
                  <a:cs typeface="+mn-cs"/>
                </a:rPr>
                <a:t>Publication, reporting period and access are distinct.</a:t>
              </a:r>
            </a:p>
          </p:txBody>
        </p:sp>
      </p:grpSp>
      <p:grpSp>
        <p:nvGrpSpPr>
          <p:cNvPr id="20" name="correction-propagation"/>
          <p:cNvGrpSpPr/>
          <p:nvPr/>
        </p:nvGrpSpPr>
        <p:grpSpPr>
          <a:xfrm>
            <a:off x="6086856" y="4733925"/>
            <a:ext cx="5647944" cy="1356995"/>
            <a:chOff x="6086856" y="4733925"/>
            <a:chExt cx="5647944" cy="1356995"/>
          </a:xfrm>
        </p:grpSpPr>
        <p:sp>
          <p:nvSpPr>
            <p:cNvPr id="17" name="Line 17"/>
            <p:cNvSpPr/>
            <p:nvPr/>
          </p:nvSpPr>
          <p:spPr>
            <a:xfrm>
              <a:off x="6096000" y="4733925"/>
              <a:ext cx="5638800" cy="9525"/>
            </a:xfrm>
            <a:custGeom>
              <a:avLst/>
              <a:gdLst/>
              <a:ahLst/>
              <a:cxnLst/>
              <a:rect l="l" t="t" r="r" b="b"/>
              <a:pathLst>
                <a:path w="5638800" h="9525">
                  <a:moveTo>
                    <a:pt x="0" y="0"/>
                  </a:moveTo>
                  <a:lnTo>
                    <a:pt x="5638800" y="0"/>
                  </a:lnTo>
                </a:path>
              </a:pathLst>
            </a:custGeom>
            <a:noFill/>
            <a:ln w="9525">
              <a:solidFill>
                <a:schemeClr val="accent6"/>
              </a:solidFill>
            </a:ln>
          </p:spPr>
        </p:sp>
        <p:sp>
          <p:nvSpPr>
            <p:cNvPr id="18" name="TextBox 18"/>
            <p:cNvSpPr txBox="1"/>
            <p:nvPr/>
          </p:nvSpPr>
          <p:spPr>
            <a:xfrm>
              <a:off x="6086856" y="4838700"/>
              <a:ext cx="4355351"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Propagate corrections through artifacts</a:t>
              </a:r>
            </a:p>
          </p:txBody>
        </p:sp>
        <p:sp>
          <p:nvSpPr>
            <p:cNvPr id="19" name="TextBox 19"/>
            <p:cNvSpPr txBox="1"/>
            <p:nvPr/>
          </p:nvSpPr>
          <p:spPr>
            <a:xfrm>
              <a:off x="6088380" y="5264150"/>
              <a:ext cx="4632350"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Recompute dependent claims, charts and tables;</a:t>
              </a:r>
              <a:br>
                <a:rPr lang="en-US" sz="1500" dirty="0">
                  <a:solidFill>
                    <a:schemeClr val="dk1"/>
                  </a:solidFill>
                  <a:latin typeface="+mn-lt"/>
                  <a:ea typeface="+mn-ea"/>
                  <a:cs typeface="+mn-cs"/>
                </a:rPr>
              </a:br>
              <a:r>
                <a:rPr lang="en-US" sz="1500" dirty="0">
                  <a:solidFill>
                    <a:schemeClr val="dk1"/>
                  </a:solidFill>
                  <a:latin typeface="+mn-lt"/>
                  <a:ea typeface="+mn-ea"/>
                  <a:cs typeface="+mn-cs"/>
                </a:rPr>
                <a:t>retain earlier values and change reasons. Verify export</a:t>
              </a:r>
              <a:br>
                <a:rPr lang="en-US" sz="1500" dirty="0">
                  <a:solidFill>
                    <a:schemeClr val="dk1"/>
                  </a:solidFill>
                  <a:latin typeface="+mn-lt"/>
                  <a:ea typeface="+mn-ea"/>
                  <a:cs typeface="+mn-cs"/>
                </a:rPr>
              </a:br>
              <a:r>
                <a:rPr lang="en-US" sz="1500" dirty="0">
                  <a:solidFill>
                    <a:schemeClr val="dk1"/>
                  </a:solidFill>
                  <a:latin typeface="+mn-lt"/>
                  <a:ea typeface="+mn-ea"/>
                  <a:cs typeface="+mn-cs"/>
                </a:rPr>
                <a:t>has preserved units, periods and evidence links.</a:t>
              </a:r>
            </a:p>
          </p:txBody>
        </p:sp>
      </p:grpSp>
      <p:grpSp>
        <p:nvGrpSpPr>
          <p:cNvPr id="23" name="footer"/>
          <p:cNvGrpSpPr/>
          <p:nvPr/>
        </p:nvGrpSpPr>
        <p:grpSpPr>
          <a:xfrm>
            <a:off x="452438" y="6410325"/>
            <a:ext cx="11287124" cy="176212"/>
            <a:chOff x="452438" y="6410325"/>
            <a:chExt cx="11287124" cy="176212"/>
          </a:xfrm>
        </p:grpSpPr>
        <p:sp>
          <p:nvSpPr>
            <p:cNvPr id="21" name="TextBox 21"/>
            <p:cNvSpPr txBox="1"/>
            <p:nvPr/>
          </p:nvSpPr>
          <p:spPr>
            <a:xfrm>
              <a:off x="452438" y="6410325"/>
              <a:ext cx="710913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contract informed by Kepler and Bridgewater, not verified coverage of either implementation. All AsterCo data is synthetic.</a:t>
              </a:r>
            </a:p>
          </p:txBody>
        </p:sp>
        <p:sp>
          <p:nvSpPr>
            <p:cNvPr id="22" name="TextBox 22"/>
            <p:cNvSpPr txBox="1"/>
            <p:nvPr/>
          </p:nvSpPr>
          <p:spPr>
            <a:xfrm>
              <a:off x="11359512" y="641032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33 / 37</a:t>
              </a:r>
            </a:p>
          </p:txBody>
        </p:sp>
      </p:grpSp>
    </p:spTree>
  </p:cSld>
  <p:clrMapOvr>
    <a:masterClrMapping/>
  </p:clrMapOvr>
  <p:transition xmlns:p14="http://schemas.microsoft.com/office/powerpoint/2010/main" p14:dur="400">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104716" cy="1110107"/>
            <a:chOff x="443484" y="371475"/>
            <a:chExt cx="9104716" cy="1110107"/>
          </a:xfrm>
        </p:grpSpPr>
        <p:sp>
          <p:nvSpPr>
            <p:cNvPr id="2" name="TextBox 2"/>
            <p:cNvSpPr txBox="1"/>
            <p:nvPr/>
          </p:nvSpPr>
          <p:spPr>
            <a:xfrm>
              <a:off x="451104" y="371475"/>
              <a:ext cx="4924763"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APPENDIX / GENERATION IS DIFFERENT FROM SELECTION</a:t>
              </a:r>
            </a:p>
          </p:txBody>
        </p:sp>
        <p:sp>
          <p:nvSpPr>
            <p:cNvPr id="3" name="TextBox 3"/>
            <p:cNvSpPr txBox="1"/>
            <p:nvPr/>
          </p:nvSpPr>
          <p:spPr>
            <a:xfrm>
              <a:off x="443484" y="603250"/>
              <a:ext cx="7122834"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pass@k is not deployed selection reliability</a:t>
              </a:r>
            </a:p>
          </p:txBody>
        </p:sp>
        <p:sp>
          <p:nvSpPr>
            <p:cNvPr id="4" name="TextBox 4"/>
            <p:cNvSpPr txBox="1"/>
            <p:nvPr/>
          </p:nvSpPr>
          <p:spPr>
            <a:xfrm>
              <a:off x="448818" y="1158875"/>
              <a:ext cx="9099382"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benchmark can recognize a passing candidate that an operational selector fails to choose.</a:t>
              </a:r>
            </a:p>
          </p:txBody>
        </p:sp>
      </p:grpSp>
      <p:grpSp>
        <p:nvGrpSpPr>
          <p:cNvPr id="10" name="benchmark-question"/>
          <p:cNvGrpSpPr/>
          <p:nvPr/>
        </p:nvGrpSpPr>
        <p:grpSpPr>
          <a:xfrm>
            <a:off x="457200" y="1752600"/>
            <a:ext cx="5334000" cy="2419350"/>
            <a:chOff x="457200" y="1752600"/>
            <a:chExt cx="5334000" cy="2419350"/>
          </a:xfrm>
        </p:grpSpPr>
        <p:sp>
          <p:nvSpPr>
            <p:cNvPr id="6" name="Rectangle 6"/>
            <p:cNvSpPr/>
            <p:nvPr/>
          </p:nvSpPr>
          <p:spPr>
            <a:xfrm>
              <a:off x="457200" y="1752600"/>
              <a:ext cx="5334000" cy="2419350"/>
            </a:xfrm>
            <a:prstGeom prst="rect">
              <a:avLst/>
            </a:prstGeom>
            <a:solidFill>
              <a:schemeClr val="lt2"/>
            </a:solidFill>
            <a:ln>
              <a:noFill/>
            </a:ln>
          </p:spPr>
        </p:sp>
        <p:sp>
          <p:nvSpPr>
            <p:cNvPr id="7" name="TextBox 7"/>
            <p:cNvSpPr txBox="1"/>
            <p:nvPr/>
          </p:nvSpPr>
          <p:spPr>
            <a:xfrm>
              <a:off x="676656" y="1905000"/>
              <a:ext cx="471885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Benchmark: was any candidate successful?</a:t>
              </a:r>
            </a:p>
          </p:txBody>
        </p:sp>
        <p:sp>
          <p:nvSpPr>
            <p:cNvPr id="8" name="TextBox 8"/>
            <p:cNvSpPr txBox="1"/>
            <p:nvPr/>
          </p:nvSpPr>
          <p:spPr>
            <a:xfrm>
              <a:off x="678180" y="2435225"/>
              <a:ext cx="4018178" cy="8267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At least one of k sampled candidates meets the</a:t>
              </a:r>
              <a:br>
                <a:rPr lang="en-US" sz="1500" dirty="0">
                  <a:solidFill>
                    <a:schemeClr val="dk1"/>
                  </a:solidFill>
                  <a:latin typeface="+mn-lt"/>
                  <a:ea typeface="+mn-ea"/>
                  <a:cs typeface="+mn-cs"/>
                </a:rPr>
              </a:br>
              <a:r>
                <a:rPr lang="en-US" sz="1500" dirty="0">
                  <a:solidFill>
                    <a:schemeClr val="dk1"/>
                  </a:solidFill>
                  <a:latin typeface="+mn-lt"/>
                  <a:ea typeface="+mn-ea"/>
                  <a:cs typeface="+mn-cs"/>
                </a:rPr>
                <a:t>specified test; summarize the result over tasks.</a:t>
              </a:r>
              <a:br>
                <a:rPr lang="en-US" sz="1500" dirty="0">
                  <a:solidFill>
                    <a:schemeClr val="dk1"/>
                  </a:solidFill>
                  <a:latin typeface="+mn-lt"/>
                  <a:ea typeface="+mn-ea"/>
                  <a:cs typeface="+mn-cs"/>
                </a:rPr>
              </a:br>
              <a:r>
                <a:rPr lang="en-US" sz="1500" dirty="0">
                  <a:solidFill>
                    <a:schemeClr val="dk1"/>
                  </a:solidFill>
                  <a:latin typeface="+mn-lt"/>
                  <a:ea typeface="+mn-ea"/>
                  <a:cs typeface="+mn-cs"/>
                </a:rPr>
                <a:t>State k, task distribution and the test.</a:t>
              </a:r>
            </a:p>
          </p:txBody>
        </p:sp>
        <p:sp>
          <p:nvSpPr>
            <p:cNvPr id="9" name="TextBox 9"/>
            <p:cNvSpPr txBox="1"/>
            <p:nvPr/>
          </p:nvSpPr>
          <p:spPr>
            <a:xfrm>
              <a:off x="678942" y="3616325"/>
              <a:ext cx="4151273"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Ground-truth recognition can behave like an oracle.</a:t>
              </a:r>
            </a:p>
          </p:txBody>
        </p:sp>
      </p:grpSp>
      <p:grpSp>
        <p:nvGrpSpPr>
          <p:cNvPr id="15" name="deployment-question"/>
          <p:cNvGrpSpPr/>
          <p:nvPr/>
        </p:nvGrpSpPr>
        <p:grpSpPr>
          <a:xfrm>
            <a:off x="6096000" y="1752600"/>
            <a:ext cx="5638800" cy="2419350"/>
            <a:chOff x="6096000" y="1752600"/>
            <a:chExt cx="5638800" cy="2419350"/>
          </a:xfrm>
        </p:grpSpPr>
        <p:sp>
          <p:nvSpPr>
            <p:cNvPr id="11" name="Rectangle 11"/>
            <p:cNvSpPr/>
            <p:nvPr/>
          </p:nvSpPr>
          <p:spPr>
            <a:xfrm>
              <a:off x="6096000" y="1752600"/>
              <a:ext cx="5638800" cy="2419350"/>
            </a:xfrm>
            <a:prstGeom prst="rect">
              <a:avLst/>
            </a:prstGeom>
            <a:solidFill>
              <a:schemeClr val="accent1"/>
            </a:solidFill>
            <a:ln>
              <a:noFill/>
            </a:ln>
          </p:spPr>
        </p:sp>
        <p:sp>
          <p:nvSpPr>
            <p:cNvPr id="12" name="TextBox 12"/>
            <p:cNvSpPr txBox="1"/>
            <p:nvPr/>
          </p:nvSpPr>
          <p:spPr>
            <a:xfrm>
              <a:off x="6315456" y="1905000"/>
              <a:ext cx="5095244" cy="352044"/>
            </a:xfrm>
            <a:prstGeom prst="rect">
              <a:avLst/>
            </a:prstGeom>
            <a:noFill/>
            <a:ln>
              <a:noFill/>
            </a:ln>
          </p:spPr>
          <p:txBody>
            <a:bodyPr wrap="none" lIns="0" tIns="0" rIns="0" bIns="0" anchor="t" anchorCtr="0">
              <a:spAutoFit/>
            </a:bodyPr>
            <a:lstStyle/>
            <a:p>
              <a:pPr algn="l"/>
              <a:r>
                <a:rPr lang="en-US" sz="1800" dirty="0">
                  <a:solidFill>
                    <a:schemeClr val="accent3"/>
                  </a:solidFill>
                  <a:latin typeface="+mj-lt"/>
                  <a:ea typeface="+mj-ea"/>
                  <a:cs typeface="+mj-cs"/>
                </a:rPr>
                <a:t>Deployment: can the system choose correctly?</a:t>
              </a:r>
            </a:p>
          </p:txBody>
        </p:sp>
        <p:sp>
          <p:nvSpPr>
            <p:cNvPr id="13" name="TextBox 13"/>
            <p:cNvSpPr txBox="1"/>
            <p:nvPr/>
          </p:nvSpPr>
          <p:spPr>
            <a:xfrm>
              <a:off x="6316980" y="2435225"/>
              <a:ext cx="4758728" cy="826770"/>
            </a:xfrm>
            <a:prstGeom prst="rect">
              <a:avLst/>
            </a:prstGeom>
            <a:noFill/>
            <a:ln>
              <a:noFill/>
            </a:ln>
          </p:spPr>
          <p:txBody>
            <a:bodyPr wrap="none" lIns="0" tIns="0" rIns="0" bIns="0" anchor="t" anchorCtr="0">
              <a:spAutoFit/>
            </a:bodyPr>
            <a:lstStyle/>
            <a:p>
              <a:pPr algn="l">
                <a:lnSpc>
                  <a:spcPts val="2100"/>
                </a:lnSpc>
              </a:pPr>
              <a:r>
                <a:rPr lang="en-US" sz="1500" dirty="0">
                  <a:solidFill>
                    <a:srgbClr val="FFFDF7"/>
                  </a:solidFill>
                  <a:latin typeface="+mn-lt"/>
                  <a:ea typeface="+mn-ea"/>
                  <a:cs typeface="+mn-cs"/>
                </a:rPr>
                <a:t>Run the actual verifier, ranker or human-review process.</a:t>
              </a:r>
              <a:br>
                <a:rPr lang="en-US" sz="1500" dirty="0">
                  <a:solidFill>
                    <a:srgbClr val="FFFDF7"/>
                  </a:solidFill>
                  <a:latin typeface="+mn-lt"/>
                  <a:ea typeface="+mn-ea"/>
                  <a:cs typeface="+mn-cs"/>
                </a:rPr>
              </a:br>
              <a:r>
                <a:rPr lang="en-US" sz="1500" dirty="0">
                  <a:solidFill>
                    <a:srgbClr val="FFFDF7"/>
                  </a:solidFill>
                  <a:latin typeface="+mn-lt"/>
                  <a:ea typeface="+mn-ea"/>
                  <a:cs typeface="+mn-cs"/>
                </a:rPr>
                <a:t>Measure chosen-output acceptance, missed defects,</a:t>
              </a:r>
              <a:br>
                <a:rPr lang="en-US" sz="1500" dirty="0">
                  <a:solidFill>
                    <a:srgbClr val="FFFDF7"/>
                  </a:solidFill>
                  <a:latin typeface="+mn-lt"/>
                  <a:ea typeface="+mn-ea"/>
                  <a:cs typeface="+mn-cs"/>
                </a:rPr>
              </a:br>
              <a:r>
                <a:rPr lang="en-US" sz="1500" dirty="0">
                  <a:solidFill>
                    <a:srgbClr val="FFFDF7"/>
                  </a:solidFill>
                  <a:latin typeface="+mn-lt"/>
                  <a:ea typeface="+mn-ea"/>
                  <a:cs typeface="+mn-cs"/>
                </a:rPr>
                <a:t>rejected useful candidates and first-attempt behavior.</a:t>
              </a:r>
            </a:p>
          </p:txBody>
        </p:sp>
        <p:sp>
          <p:nvSpPr>
            <p:cNvPr id="14" name="TextBox 14"/>
            <p:cNvSpPr txBox="1"/>
            <p:nvPr/>
          </p:nvSpPr>
          <p:spPr>
            <a:xfrm>
              <a:off x="6317742" y="3616325"/>
              <a:ext cx="3604729" cy="264033"/>
            </a:xfrm>
            <a:prstGeom prst="rect">
              <a:avLst/>
            </a:prstGeom>
            <a:noFill/>
            <a:ln>
              <a:noFill/>
            </a:ln>
          </p:spPr>
          <p:txBody>
            <a:bodyPr wrap="none" lIns="0" tIns="0" rIns="0" bIns="0" anchor="t" anchorCtr="0">
              <a:spAutoFit/>
            </a:bodyPr>
            <a:lstStyle/>
            <a:p>
              <a:pPr algn="l"/>
              <a:r>
                <a:rPr lang="en-US" sz="1350" dirty="0">
                  <a:solidFill>
                    <a:srgbClr val="E7F0EA"/>
                  </a:solidFill>
                  <a:latin typeface="+mn-lt"/>
                  <a:ea typeface="+mn-ea"/>
                  <a:cs typeface="+mn-cs"/>
                </a:rPr>
                <a:t>Critical action/evidence conditions still apply.</a:t>
              </a:r>
            </a:p>
          </p:txBody>
        </p:sp>
      </p:grpSp>
      <p:grpSp>
        <p:nvGrpSpPr>
          <p:cNvPr id="17" name="attempt-costs"/>
          <p:cNvGrpSpPr/>
          <p:nvPr/>
        </p:nvGrpSpPr>
        <p:grpSpPr>
          <a:xfrm>
            <a:off x="449580" y="4578350"/>
            <a:ext cx="8942299" cy="560070"/>
            <a:chOff x="449580" y="4578350"/>
            <a:chExt cx="8942299" cy="560070"/>
          </a:xfrm>
        </p:grpSpPr>
        <p:sp>
          <p:nvSpPr>
            <p:cNvPr id="16" name="TextBox 16"/>
            <p:cNvSpPr txBox="1"/>
            <p:nvPr/>
          </p:nvSpPr>
          <p:spPr>
            <a:xfrm>
              <a:off x="449580" y="4578350"/>
              <a:ext cx="8942299" cy="5600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Count all candidates, tool calls, verification, review and latency. Compare explicit budgets and acceptance</a:t>
              </a:r>
              <a:br>
                <a:rPr lang="en-US" sz="1500" dirty="0">
                  <a:solidFill>
                    <a:schemeClr val="dk1"/>
                  </a:solidFill>
                  <a:latin typeface="+mn-lt"/>
                  <a:ea typeface="+mn-ea"/>
                  <a:cs typeface="+mn-cs"/>
                </a:rPr>
              </a:br>
              <a:r>
                <a:rPr lang="en-US" sz="1500" dirty="0">
                  <a:solidFill>
                    <a:schemeClr val="dk1"/>
                  </a:solidFill>
                  <a:latin typeface="+mn-lt"/>
                  <a:ea typeface="+mn-ea"/>
                  <a:cs typeface="+mn-cs"/>
                </a:rPr>
                <a:t>standards. More attempts can increase success opportunity while also increasing cost and exposure.</a:t>
              </a:r>
            </a:p>
          </p:txBody>
        </p:sp>
      </p:grpSp>
      <p:grpSp>
        <p:nvGrpSpPr>
          <p:cNvPr id="19" name="metric-boundary"/>
          <p:cNvGrpSpPr/>
          <p:nvPr/>
        </p:nvGrpSpPr>
        <p:grpSpPr>
          <a:xfrm>
            <a:off x="450342" y="5619750"/>
            <a:ext cx="8838590" cy="511683"/>
            <a:chOff x="450342" y="5619750"/>
            <a:chExt cx="8838590" cy="511683"/>
          </a:xfrm>
        </p:grpSpPr>
        <p:sp>
          <p:nvSpPr>
            <p:cNvPr id="18" name="TextBox 18"/>
            <p:cNvSpPr txBox="1"/>
            <p:nvPr/>
          </p:nvSpPr>
          <p:spPr>
            <a:xfrm>
              <a:off x="450342" y="5619750"/>
              <a:ext cx="8838590" cy="51168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2"/>
                  </a:solidFill>
                  <a:latin typeface="+mn-lt"/>
                  <a:ea typeface="+mn-ea"/>
                  <a:cs typeface="+mn-cs"/>
                </a:rPr>
                <a:t>Keep partial-credit quality, pass@k, first-attempt success and selected-output reliability distinct. Chen et al.’s</a:t>
              </a:r>
              <a:br>
                <a:rPr lang="en-US" sz="1350" dirty="0">
                  <a:solidFill>
                    <a:schemeClr val="accent2"/>
                  </a:solidFill>
                  <a:latin typeface="+mn-lt"/>
                  <a:ea typeface="+mn-ea"/>
                  <a:cs typeface="+mn-cs"/>
                </a:rPr>
              </a:br>
              <a:r>
                <a:rPr lang="en-US" sz="1350" dirty="0">
                  <a:solidFill>
                    <a:schemeClr val="accent2"/>
                  </a:solidFill>
                  <a:latin typeface="+mn-lt"/>
                  <a:ea typeface="+mn-ea"/>
                  <a:cs typeface="+mn-cs"/>
                </a:rPr>
                <a:t>HumanEval paper supplies the metric/selection distinction, not a finance performance result or a general retry policy.</a:t>
              </a:r>
            </a:p>
          </p:txBody>
        </p:sp>
      </p:grpSp>
      <p:grpSp>
        <p:nvGrpSpPr>
          <p:cNvPr id="22" name="footer"/>
          <p:cNvGrpSpPr/>
          <p:nvPr/>
        </p:nvGrpSpPr>
        <p:grpSpPr>
          <a:xfrm>
            <a:off x="452438" y="6477000"/>
            <a:ext cx="11287124" cy="176212"/>
            <a:chOff x="452438" y="6477000"/>
            <a:chExt cx="11287124" cy="176212"/>
          </a:xfrm>
        </p:grpSpPr>
        <p:sp>
          <p:nvSpPr>
            <p:cNvPr id="20" name="TextBox 20"/>
            <p:cNvSpPr txBox="1"/>
            <p:nvPr/>
          </p:nvSpPr>
          <p:spPr>
            <a:xfrm>
              <a:off x="452438" y="6477000"/>
              <a:ext cx="6570600"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Primary reference: Chen et al., Evaluating Large Language Models Trained on Code (2021); link on page 37 and in notes.</a:t>
              </a:r>
            </a:p>
          </p:txBody>
        </p:sp>
        <p:sp>
          <p:nvSpPr>
            <p:cNvPr id="21" name="TextBox 21"/>
            <p:cNvSpPr txBox="1"/>
            <p:nvPr/>
          </p:nvSpPr>
          <p:spPr>
            <a:xfrm>
              <a:off x="11359512" y="647700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34 / 37</a:t>
              </a:r>
            </a:p>
          </p:txBody>
        </p:sp>
      </p:grpSp>
    </p:spTree>
  </p:cSld>
  <p:clrMapOvr>
    <a:masterClrMapping/>
  </p:clrMapOvr>
  <p:transition xmlns:p14="http://schemas.microsoft.com/office/powerpoint/2010/main" p14:dur="400">
    <p:fade/>
  </p:transition>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300925" cy="1110107"/>
            <a:chOff x="443484" y="371475"/>
            <a:chExt cx="9300925" cy="1110107"/>
          </a:xfrm>
        </p:grpSpPr>
        <p:sp>
          <p:nvSpPr>
            <p:cNvPr id="2" name="TextBox 2"/>
            <p:cNvSpPr txBox="1"/>
            <p:nvPr/>
          </p:nvSpPr>
          <p:spPr>
            <a:xfrm>
              <a:off x="451104" y="371475"/>
              <a:ext cx="403336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APPENDIX / DENOMINATORS AND COMPARISON</a:t>
              </a:r>
            </a:p>
          </p:txBody>
        </p:sp>
        <p:sp>
          <p:nvSpPr>
            <p:cNvPr id="3" name="TextBox 3"/>
            <p:cNvSpPr txBox="1"/>
            <p:nvPr/>
          </p:nvSpPr>
          <p:spPr>
            <a:xfrm>
              <a:off x="443484" y="603250"/>
              <a:ext cx="6045052"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Pair accepted-task rate with full cost</a:t>
              </a:r>
            </a:p>
          </p:txBody>
        </p:sp>
        <p:sp>
          <p:nvSpPr>
            <p:cNvPr id="4" name="TextBox 4"/>
            <p:cNvSpPr txBox="1"/>
            <p:nvPr/>
          </p:nvSpPr>
          <p:spPr>
            <a:xfrm>
              <a:off x="448818" y="1158875"/>
              <a:ext cx="9295591"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Agree eligibility, completion, exclusions, quality and task mix before reporting an improvement.</a:t>
              </a:r>
            </a:p>
          </p:txBody>
        </p:sp>
      </p:grpSp>
      <p:graphicFrame>
        <p:nvGraphicFramePr>
          <p:cNvPr id="6" name="measurement-contract"/>
          <p:cNvGraphicFramePr>
            <a:graphicFrameLocks noGrp="1"/>
          </p:cNvGraphicFramePr>
          <p:nvPr/>
        </p:nvGraphicFramePr>
        <p:xfrm>
          <a:off x="457200" y="1752600"/>
          <a:ext cx="11277600" cy="3619500"/>
        </p:xfrm>
        <a:graphic>
          <a:graphicData uri="http://schemas.openxmlformats.org/drawingml/2006/table">
            <a:tbl>
              <a:tblPr firstRow="1" bandRow="0">
                <a:tableStyleId>{5C22544A-7EE6-4342-B048-85BDC9FD1C3A}</a:tableStyleId>
              </a:tblPr>
              <a:tblGrid>
                <a:gridCol w="2476500"/>
                <a:gridCol w="4381500"/>
                <a:gridCol w="4419600"/>
              </a:tblGrid>
              <a:tr h="495300">
                <a:tc>
                  <a:txBody>
                    <a:bodyPr/>
                    <a:lstStyle/>
                    <a:p>
                      <a:pPr/>
                      <a:r>
                        <a:rPr lang="en-US" sz="1350" b="1">
                          <a:solidFill>
                            <a:srgbClr val="FFFDF7"/>
                          </a:solidFill>
                          <a:latin typeface="Arial"/>
                          <a:ea typeface="Microsoft YaHei"/>
                          <a:cs typeface="Arial"/>
                        </a:rPr>
                        <a:t>Measure</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Definition to agree</a:t>
                      </a:r>
                    </a:p>
                  </a:txBody>
                  <a:tcPr anchor="ctr" marL="152400" marR="152400" marT="76200" marB="76200">
                    <a:lnL>
                      <a:noFill/>
                    </a:lnL>
                    <a:lnR>
                      <a:noFill/>
                    </a:lnR>
                    <a:lnT>
                      <a:noFill/>
                    </a:lnT>
                    <a:lnB w="9525">
                      <a:solidFill>
                        <a:schemeClr val="accent6"/>
                      </a:solidFill>
                      <a:prstDash val="solid"/>
                    </a:lnB>
                    <a:solidFill>
                      <a:schemeClr val="accent1"/>
                    </a:solidFill>
                  </a:tcPr>
                </a:tc>
                <a:tc>
                  <a:txBody>
                    <a:bodyPr/>
                    <a:lstStyle/>
                    <a:p>
                      <a:pPr/>
                      <a:r>
                        <a:rPr lang="en-US" sz="1350" b="1">
                          <a:solidFill>
                            <a:srgbClr val="FFFDF7"/>
                          </a:solidFill>
                          <a:latin typeface="Arial"/>
                          <a:ea typeface="Microsoft YaHei"/>
                          <a:cs typeface="Arial"/>
                        </a:rPr>
                        <a:t>Interpretation boundary</a:t>
                      </a:r>
                    </a:p>
                  </a:txBody>
                  <a:tcPr anchor="ctr" marL="152400" marR="152400" marT="76200" marB="76200">
                    <a:lnL>
                      <a:noFill/>
                    </a:lnL>
                    <a:lnR>
                      <a:noFill/>
                    </a:lnR>
                    <a:lnT>
                      <a:noFill/>
                    </a:lnT>
                    <a:lnB w="9525">
                      <a:solidFill>
                        <a:schemeClr val="accent6"/>
                      </a:solidFill>
                      <a:prstDash val="solid"/>
                    </a:lnB>
                    <a:solidFill>
                      <a:schemeClr val="accent1"/>
                    </a:solidFill>
                  </a:tcPr>
                </a:tc>
              </a:tr>
              <a:tr h="781050">
                <a:tc>
                  <a:txBody>
                    <a:bodyPr/>
                    <a:lstStyle/>
                    <a:p>
                      <a:pPr/>
                      <a:r>
                        <a:rPr lang="en-US" sz="1350" b="0">
                          <a:solidFill>
                            <a:schemeClr val="dk1"/>
                          </a:solidFill>
                          <a:latin typeface="Arial"/>
                          <a:ea typeface="Microsoft YaHei"/>
                          <a:cs typeface="Arial"/>
                        </a:rPr>
                        <a:t>Accepted-task rate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Accepted / eligible assigned tasks.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Show excluded, rejected and abandoned outcomes.</a:t>
                      </a:r>
                    </a:p>
                  </a:txBody>
                  <a:tcPr anchor="ctr" marL="152400" marR="152400" marT="76200" marB="76200">
                    <a:lnL>
                      <a:noFill/>
                    </a:lnL>
                    <a:lnR>
                      <a:noFill/>
                    </a:lnR>
                    <a:lnT>
                      <a:noFill/>
                    </a:lnT>
                    <a:lnB w="9525">
                      <a:solidFill>
                        <a:schemeClr val="accent6"/>
                      </a:solidFill>
                      <a:prstDash val="solid"/>
                    </a:lnB>
                    <a:noFill/>
                  </a:tcPr>
                </a:tc>
              </a:tr>
              <a:tr h="781050">
                <a:tc>
                  <a:txBody>
                    <a:bodyPr/>
                    <a:lstStyle/>
                    <a:p>
                      <a:pPr/>
                      <a:r>
                        <a:rPr lang="en-US" sz="1350" b="0">
                          <a:solidFill>
                            <a:schemeClr val="dk1"/>
                          </a:solidFill>
                          <a:latin typeface="Arial"/>
                          <a:ea typeface="Microsoft YaHei"/>
                          <a:cs typeface="Arial"/>
                        </a:rPr>
                        <a:t>Cost per accepted task</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Total workflow cost / accepted tasks.</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Include failed attempts, retries, verification, review and rework.</a:t>
                      </a:r>
                    </a:p>
                  </a:txBody>
                  <a:tcPr anchor="ctr" marL="152400" marR="152400" marT="76200" marB="76200">
                    <a:lnL>
                      <a:noFill/>
                    </a:lnL>
                    <a:lnR>
                      <a:noFill/>
                    </a:lnR>
                    <a:lnT>
                      <a:noFill/>
                    </a:lnT>
                    <a:lnB w="9525">
                      <a:solidFill>
                        <a:schemeClr val="accent6"/>
                      </a:solidFill>
                      <a:prstDash val="solid"/>
                    </a:lnB>
                    <a:noFill/>
                  </a:tcPr>
                </a:tc>
              </a:tr>
              <a:tr h="781050">
                <a:tc>
                  <a:txBody>
                    <a:bodyPr/>
                    <a:lstStyle/>
                    <a:p>
                      <a:pPr/>
                      <a:r>
                        <a:rPr lang="en-US" sz="1350" b="0">
                          <a:solidFill>
                            <a:schemeClr val="dk1"/>
                          </a:solidFill>
                          <a:latin typeface="Arial"/>
                          <a:ea typeface="Microsoft YaHei"/>
                          <a:cs typeface="Arial"/>
                        </a:rPr>
                        <a:t>Capacity</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Accepted outputs / human effort or period.</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Compare equivalent work, quality and task mix.</a:t>
                      </a:r>
                    </a:p>
                  </a:txBody>
                  <a:tcPr anchor="ctr" marL="152400" marR="152400" marT="76200" marB="76200">
                    <a:lnL>
                      <a:noFill/>
                    </a:lnL>
                    <a:lnR>
                      <a:noFill/>
                    </a:lnR>
                    <a:lnT>
                      <a:noFill/>
                    </a:lnT>
                    <a:lnB w="9525">
                      <a:solidFill>
                        <a:schemeClr val="accent6"/>
                      </a:solidFill>
                      <a:prstDash val="solid"/>
                    </a:lnB>
                    <a:noFill/>
                  </a:tcPr>
                </a:tc>
              </a:tr>
              <a:tr h="781050">
                <a:tc>
                  <a:txBody>
                    <a:bodyPr/>
                    <a:lstStyle/>
                    <a:p>
                      <a:pPr/>
                      <a:r>
                        <a:rPr lang="en-US" sz="1350" b="0">
                          <a:solidFill>
                            <a:schemeClr val="dk1"/>
                          </a:solidFill>
                          <a:latin typeface="Arial"/>
                          <a:ea typeface="Microsoft YaHei"/>
                          <a:cs typeface="Arial"/>
                        </a:rPr>
                        <a:t>Business impact</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Outcome against a credible alternative.</a:t>
                      </a:r>
                    </a:p>
                  </a:txBody>
                  <a:tcPr anchor="ctr" marL="152400" marR="152400" marT="76200" marB="76200">
                    <a:lnL>
                      <a:noFill/>
                    </a:lnL>
                    <a:lnR>
                      <a:noFill/>
                    </a:lnR>
                    <a:lnT>
                      <a:noFill/>
                    </a:lnT>
                    <a:lnB w="9525">
                      <a:solidFill>
                        <a:schemeClr val="accent6"/>
                      </a:solidFill>
                      <a:prstDash val="solid"/>
                    </a:lnB>
                    <a:noFill/>
                  </a:tcPr>
                </a:tc>
                <a:tc>
                  <a:txBody>
                    <a:bodyPr/>
                    <a:lstStyle/>
                    <a:p>
                      <a:pPr/>
                      <a:r>
                        <a:rPr lang="en-US" sz="1350" b="0">
                          <a:solidFill>
                            <a:schemeClr val="dk1"/>
                          </a:solidFill>
                          <a:latin typeface="Arial"/>
                          <a:ea typeface="Microsoft YaHei"/>
                          <a:cs typeface="Arial"/>
                        </a:rPr>
                        <a:t>Account for selection and other drivers; process speed is not causal revenue or returns.</a:t>
                      </a:r>
                    </a:p>
                  </a:txBody>
                  <a:tcPr anchor="ctr" marL="152400" marR="152400" marT="76200" marB="76200">
                    <a:lnL>
                      <a:noFill/>
                    </a:lnL>
                    <a:lnR>
                      <a:noFill/>
                    </a:lnR>
                    <a:lnT>
                      <a:noFill/>
                    </a:lnT>
                    <a:lnB w="9525">
                      <a:solidFill>
                        <a:schemeClr val="accent6"/>
                      </a:solidFill>
                      <a:prstDash val="solid"/>
                    </a:lnB>
                    <a:noFill/>
                  </a:tcPr>
                </a:tc>
              </a:tr>
            </a:tbl>
          </a:graphicData>
        </a:graphic>
      </p:graphicFrame>
      <p:grpSp>
        <p:nvGrpSpPr>
          <p:cNvPr id="8" name="effort-and-attribution"/>
          <p:cNvGrpSpPr/>
          <p:nvPr/>
        </p:nvGrpSpPr>
        <p:grpSpPr>
          <a:xfrm>
            <a:off x="450342" y="5591175"/>
            <a:ext cx="9296739" cy="759333"/>
            <a:chOff x="450342" y="5591175"/>
            <a:chExt cx="9296739" cy="759333"/>
          </a:xfrm>
        </p:grpSpPr>
        <p:sp>
          <p:nvSpPr>
            <p:cNvPr id="7" name="TextBox 7"/>
            <p:cNvSpPr txBox="1"/>
            <p:nvPr/>
          </p:nvSpPr>
          <p:spPr>
            <a:xfrm>
              <a:off x="450342" y="5591175"/>
              <a:ext cx="9296739" cy="759333"/>
            </a:xfrm>
            <a:prstGeom prst="rect">
              <a:avLst/>
            </a:prstGeom>
            <a:noFill/>
            <a:ln>
              <a:noFill/>
            </a:ln>
          </p:spPr>
          <p:txBody>
            <a:bodyPr wrap="none" lIns="0" tIns="0" rIns="0" bIns="0" anchor="t" anchorCtr="0">
              <a:spAutoFit/>
            </a:bodyPr>
            <a:lstStyle/>
            <a:p>
              <a:pPr algn="l">
                <a:lnSpc>
                  <a:spcPts val="1950"/>
                </a:lnSpc>
              </a:pPr>
              <a:r>
                <a:rPr lang="en-US" sz="1350" dirty="0">
                  <a:solidFill>
                    <a:schemeClr val="dk1"/>
                  </a:solidFill>
                  <a:latin typeface="+mn-lt"/>
                  <a:ea typeface="+mn-ea"/>
                  <a:cs typeface="+mn-cs"/>
                </a:rPr>
                <a:t>Count preparation, correction, evidence checking, approval and follow-up alongside system costs. Report both acceptance</a:t>
              </a:r>
              <a:br>
                <a:rPr lang="en-US" sz="1350" dirty="0">
                  <a:solidFill>
                    <a:schemeClr val="dk1"/>
                  </a:solidFill>
                  <a:latin typeface="+mn-lt"/>
                  <a:ea typeface="+mn-ea"/>
                  <a:cs typeface="+mn-cs"/>
                </a:rPr>
              </a:br>
              <a:r>
                <a:rPr lang="en-US" sz="1350" dirty="0">
                  <a:solidFill>
                    <a:schemeClr val="dk1"/>
                  </a:solidFill>
                  <a:latin typeface="+mn-lt"/>
                  <a:ea typeface="+mn-ea"/>
                  <a:cs typeface="+mn-cs"/>
                </a:rPr>
                <a:t>rate and unit cost: low cost can coexist with poor coverage. Contour’s roughly three-month tracking account contains no</a:t>
              </a:r>
              <a:br>
                <a:rPr lang="en-US" sz="1350" dirty="0">
                  <a:solidFill>
                    <a:schemeClr val="dk1"/>
                  </a:solidFill>
                  <a:latin typeface="+mn-lt"/>
                  <a:ea typeface="+mn-ea"/>
                  <a:cs typeface="+mn-cs"/>
                </a:rPr>
              </a:br>
              <a:r>
                <a:rPr lang="en-US" sz="1350" dirty="0">
                  <a:solidFill>
                    <a:schemeClr val="dk1"/>
                  </a:solidFill>
                  <a:latin typeface="+mn-lt"/>
                  <a:ea typeface="+mn-ea"/>
                  <a:cs typeface="+mn-cs"/>
                </a:rPr>
                <a:t>captured sample, assignment, controls or causal estimate; it motivates a comparison, not a universal validation window.</a:t>
              </a:r>
            </a:p>
          </p:txBody>
        </p:sp>
      </p:grpSp>
      <p:grpSp>
        <p:nvGrpSpPr>
          <p:cNvPr id="11" name="footer"/>
          <p:cNvGrpSpPr/>
          <p:nvPr/>
        </p:nvGrpSpPr>
        <p:grpSpPr>
          <a:xfrm>
            <a:off x="452438" y="6505575"/>
            <a:ext cx="11287124" cy="176212"/>
            <a:chOff x="452438" y="6505575"/>
            <a:chExt cx="11287124" cy="176212"/>
          </a:xfrm>
        </p:grpSpPr>
        <p:sp>
          <p:nvSpPr>
            <p:cNvPr id="9" name="TextBox 9"/>
            <p:cNvSpPr txBox="1"/>
            <p:nvPr/>
          </p:nvSpPr>
          <p:spPr>
            <a:xfrm>
              <a:off x="452438" y="6505575"/>
              <a:ext cx="607198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Proposed measurement definitions informed by Contour. No ROI, capacity or causal financial effect is fabricated.</a:t>
              </a:r>
            </a:p>
          </p:txBody>
        </p:sp>
        <p:sp>
          <p:nvSpPr>
            <p:cNvPr id="10" name="TextBox 10"/>
            <p:cNvSpPr txBox="1"/>
            <p:nvPr/>
          </p:nvSpPr>
          <p:spPr>
            <a:xfrm>
              <a:off x="11359512" y="65055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35 / 37</a:t>
              </a:r>
            </a:p>
          </p:txBody>
        </p:sp>
      </p:grpSp>
    </p:spTree>
  </p:cSld>
  <p:clrMapOvr>
    <a:masterClrMapping/>
  </p:clrMapOvr>
  <p:transition xmlns:p14="http://schemas.microsoft.com/office/powerpoint/2010/main" p14:dur="400">
    <p:fade/>
  </p:transition>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8387868" cy="1110107"/>
            <a:chOff x="443484" y="371475"/>
            <a:chExt cx="8387868" cy="1110107"/>
          </a:xfrm>
        </p:grpSpPr>
        <p:sp>
          <p:nvSpPr>
            <p:cNvPr id="2" name="TextBox 2"/>
            <p:cNvSpPr txBox="1"/>
            <p:nvPr/>
          </p:nvSpPr>
          <p:spPr>
            <a:xfrm>
              <a:off x="451104" y="371475"/>
              <a:ext cx="3397959"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APPENDIX / PRODUCTIVE UNCERTAINTY</a:t>
              </a:r>
            </a:p>
          </p:txBody>
        </p:sp>
        <p:sp>
          <p:nvSpPr>
            <p:cNvPr id="3" name="TextBox 3"/>
            <p:cNvSpPr txBox="1"/>
            <p:nvPr/>
          </p:nvSpPr>
          <p:spPr>
            <a:xfrm>
              <a:off x="443484" y="603250"/>
              <a:ext cx="7149577"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Turn unknowns into engineering questions</a:t>
              </a:r>
            </a:p>
          </p:txBody>
        </p:sp>
        <p:sp>
          <p:nvSpPr>
            <p:cNvPr id="4" name="TextBox 4"/>
            <p:cNvSpPr txBox="1"/>
            <p:nvPr/>
          </p:nvSpPr>
          <p:spPr>
            <a:xfrm>
              <a:off x="448818" y="1158875"/>
              <a:ext cx="8382534"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A useful follow-up identifies the inspection or test needed to support a stronger claim.</a:t>
              </a:r>
            </a:p>
          </p:txBody>
        </p:sp>
      </p:grpSp>
      <p:grpSp>
        <p:nvGrpSpPr>
          <p:cNvPr id="8" name="checker-questions"/>
          <p:cNvGrpSpPr/>
          <p:nvPr/>
        </p:nvGrpSpPr>
        <p:grpSpPr>
          <a:xfrm>
            <a:off x="448056" y="1857375"/>
            <a:ext cx="3198285" cy="2109470"/>
            <a:chOff x="448056" y="1857375"/>
            <a:chExt cx="3198285" cy="2109470"/>
          </a:xfrm>
        </p:grpSpPr>
        <p:sp>
          <p:nvSpPr>
            <p:cNvPr id="6" name="TextBox 6"/>
            <p:cNvSpPr txBox="1"/>
            <p:nvPr/>
          </p:nvSpPr>
          <p:spPr>
            <a:xfrm>
              <a:off x="448056" y="1857375"/>
              <a:ext cx="3198285"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What does the checker miss?</a:t>
              </a:r>
            </a:p>
          </p:txBody>
        </p:sp>
        <p:sp>
          <p:nvSpPr>
            <p:cNvPr id="7" name="TextBox 7"/>
            <p:cNvSpPr txBox="1"/>
            <p:nvPr/>
          </p:nvSpPr>
          <p:spPr>
            <a:xfrm>
              <a:off x="449580" y="2339975"/>
              <a:ext cx="3085871" cy="16268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For citation checks, judges or</a:t>
              </a:r>
              <a:br>
                <a:rPr lang="en-US" sz="1500" dirty="0">
                  <a:solidFill>
                    <a:schemeClr val="dk1"/>
                  </a:solidFill>
                  <a:latin typeface="+mn-lt"/>
                  <a:ea typeface="+mn-ea"/>
                  <a:cs typeface="+mn-cs"/>
                </a:rPr>
              </a:br>
              <a:r>
                <a:rPr lang="en-US" sz="1500" dirty="0">
                  <a:solidFill>
                    <a:schemeClr val="dk1"/>
                  </a:solidFill>
                  <a:latin typeface="+mn-lt"/>
                  <a:ea typeface="+mn-ea"/>
                  <a:cs typeface="+mn-cs"/>
                </a:rPr>
                <a:t>approval triage: which serious errors</a:t>
              </a:r>
              <a:br>
                <a:rPr lang="en-US" sz="1500" dirty="0">
                  <a:solidFill>
                    <a:schemeClr val="dk1"/>
                  </a:solidFill>
                  <a:latin typeface="+mn-lt"/>
                  <a:ea typeface="+mn-ea"/>
                  <a:cs typeface="+mn-cs"/>
                </a:rPr>
              </a:br>
              <a:r>
                <a:rPr lang="en-US" sz="1500" dirty="0">
                  <a:solidFill>
                    <a:schemeClr val="dk1"/>
                  </a:solidFill>
                  <a:latin typeface="+mn-lt"/>
                  <a:ea typeface="+mn-ea"/>
                  <a:cs typeface="+mn-cs"/>
                </a:rPr>
                <a:t>pass? What happens when support</a:t>
              </a:r>
              <a:br>
                <a:rPr lang="en-US" sz="1500" dirty="0">
                  <a:solidFill>
                    <a:schemeClr val="dk1"/>
                  </a:solidFill>
                  <a:latin typeface="+mn-lt"/>
                  <a:ea typeface="+mn-ea"/>
                  <a:cs typeface="+mn-cs"/>
                </a:rPr>
              </a:br>
              <a:r>
                <a:rPr lang="en-US" sz="1500" dirty="0">
                  <a:solidFill>
                    <a:schemeClr val="dk1"/>
                  </a:solidFill>
                  <a:latin typeface="+mn-lt"/>
                  <a:ea typeface="+mn-ea"/>
                  <a:cs typeface="+mn-cs"/>
                </a:rPr>
                <a:t>fails? Independent components can</a:t>
              </a:r>
              <a:br>
                <a:rPr lang="en-US" sz="1500" dirty="0">
                  <a:solidFill>
                    <a:schemeClr val="dk1"/>
                  </a:solidFill>
                  <a:latin typeface="+mn-lt"/>
                  <a:ea typeface="+mn-ea"/>
                  <a:cs typeface="+mn-cs"/>
                </a:rPr>
              </a:br>
              <a:r>
                <a:rPr lang="en-US" sz="1500" dirty="0">
                  <a:solidFill>
                    <a:schemeClr val="dk1"/>
                  </a:solidFill>
                  <a:latin typeface="+mn-lt"/>
                  <a:ea typeface="+mn-ea"/>
                  <a:cs typeface="+mn-cs"/>
                </a:rPr>
                <a:t>share blind spots. Request failures</a:t>
              </a:r>
              <a:br>
                <a:rPr lang="en-US" sz="1500" dirty="0">
                  <a:solidFill>
                    <a:schemeClr val="dk1"/>
                  </a:solidFill>
                  <a:latin typeface="+mn-lt"/>
                  <a:ea typeface="+mn-ea"/>
                  <a:cs typeface="+mn-cs"/>
                </a:rPr>
              </a:br>
              <a:r>
                <a:rPr lang="en-US" sz="1500" dirty="0">
                  <a:solidFill>
                    <a:schemeClr val="dk1"/>
                  </a:solidFill>
                  <a:latin typeface="+mn-lt"/>
                  <a:ea typeface="+mn-ea"/>
                  <a:cs typeface="+mn-cs"/>
                </a:rPr>
                <a:t>and adjudication procedures.</a:t>
              </a:r>
            </a:p>
          </p:txBody>
        </p:sp>
      </p:grpSp>
      <p:grpSp>
        <p:nvGrpSpPr>
          <p:cNvPr id="11" name="measurement-questions"/>
          <p:cNvGrpSpPr/>
          <p:nvPr/>
        </p:nvGrpSpPr>
        <p:grpSpPr>
          <a:xfrm>
            <a:off x="4181856" y="1857375"/>
            <a:ext cx="3420052" cy="2376170"/>
            <a:chOff x="4181856" y="1857375"/>
            <a:chExt cx="3420052" cy="2376170"/>
          </a:xfrm>
        </p:grpSpPr>
        <p:sp>
          <p:nvSpPr>
            <p:cNvPr id="9" name="TextBox 9"/>
            <p:cNvSpPr txBox="1"/>
            <p:nvPr/>
          </p:nvSpPr>
          <p:spPr>
            <a:xfrm>
              <a:off x="4181856" y="1857375"/>
              <a:ext cx="342005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What does the result measure?</a:t>
              </a:r>
            </a:p>
          </p:txBody>
        </p:sp>
        <p:sp>
          <p:nvSpPr>
            <p:cNvPr id="10" name="TextBox 10"/>
            <p:cNvSpPr txBox="1"/>
            <p:nvPr/>
          </p:nvSpPr>
          <p:spPr>
            <a:xfrm>
              <a:off x="4183380" y="2339975"/>
              <a:ext cx="3033141" cy="18935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Request baseline, task population;</a:t>
              </a:r>
              <a:br>
                <a:rPr lang="en-US" sz="1500" dirty="0">
                  <a:solidFill>
                    <a:schemeClr val="dk1"/>
                  </a:solidFill>
                  <a:latin typeface="+mn-lt"/>
                  <a:ea typeface="+mn-ea"/>
                  <a:cs typeface="+mn-cs"/>
                </a:rPr>
              </a:br>
              <a:r>
                <a:rPr lang="en-US" sz="1500" dirty="0">
                  <a:solidFill>
                    <a:schemeClr val="dk1"/>
                  </a:solidFill>
                  <a:latin typeface="+mn-lt"/>
                  <a:ea typeface="+mn-ea"/>
                  <a:cs typeface="+mn-cs"/>
                </a:rPr>
                <a:t>exclusions, sample, uncertainty</a:t>
              </a:r>
              <a:br>
                <a:rPr lang="en-US" sz="1500" dirty="0">
                  <a:solidFill>
                    <a:schemeClr val="dk1"/>
                  </a:solidFill>
                  <a:latin typeface="+mn-lt"/>
                  <a:ea typeface="+mn-ea"/>
                  <a:cs typeface="+mn-cs"/>
                </a:rPr>
              </a:br>
              <a:r>
                <a:rPr lang="en-US" sz="1500" dirty="0">
                  <a:solidFill>
                    <a:schemeClr val="dk1"/>
                  </a:solidFill>
                  <a:latin typeface="+mn-lt"/>
                  <a:ea typeface="+mn-ea"/>
                  <a:cs typeface="+mn-cs"/>
                </a:rPr>
                <a:t>and full human effort.</a:t>
              </a:r>
              <a:br>
                <a:rPr lang="en-US" sz="1500" dirty="0">
                  <a:solidFill>
                    <a:schemeClr val="dk1"/>
                  </a:solidFill>
                  <a:latin typeface="+mn-lt"/>
                  <a:ea typeface="+mn-ea"/>
                  <a:cs typeface="+mn-cs"/>
                </a:rPr>
              </a:br>
              <a:r>
                <a:rPr lang="en-US" sz="1500" dirty="0">
                  <a:solidFill>
                    <a:schemeClr val="dk1"/>
                  </a:solidFill>
                  <a:latin typeface="+mn-lt"/>
                  <a:ea typeface="+mn-ea"/>
                  <a:cs typeface="+mn-cs"/>
                </a:rPr>
                <a:t>Distinguish adoption, pilot,</a:t>
              </a:r>
              <a:br>
                <a:rPr lang="en-US" sz="1500" dirty="0">
                  <a:solidFill>
                    <a:schemeClr val="dk1"/>
                  </a:solidFill>
                  <a:latin typeface="+mn-lt"/>
                  <a:ea typeface="+mn-ea"/>
                  <a:cs typeface="+mn-cs"/>
                </a:rPr>
              </a:br>
              <a:r>
                <a:rPr lang="en-US" sz="1500" dirty="0">
                  <a:solidFill>
                    <a:schemeClr val="dk1"/>
                  </a:solidFill>
                  <a:latin typeface="+mn-lt"/>
                  <a:ea typeface="+mn-ea"/>
                  <a:cs typeface="+mn-cs"/>
                </a:rPr>
                <a:t>estimated opportunity and</a:t>
              </a:r>
              <a:br>
                <a:rPr lang="en-US" sz="1500" dirty="0">
                  <a:solidFill>
                    <a:schemeClr val="dk1"/>
                  </a:solidFill>
                  <a:latin typeface="+mn-lt"/>
                  <a:ea typeface="+mn-ea"/>
                  <a:cs typeface="+mn-cs"/>
                </a:rPr>
              </a:br>
              <a:r>
                <a:rPr lang="en-US" sz="1500" dirty="0">
                  <a:solidFill>
                    <a:schemeClr val="dk1"/>
                  </a:solidFill>
                  <a:latin typeface="+mn-lt"/>
                  <a:ea typeface="+mn-ea"/>
                  <a:cs typeface="+mn-cs"/>
                </a:rPr>
                <a:t>realized outcome. Retain disclosure</a:t>
              </a:r>
              <a:br>
                <a:rPr lang="en-US" sz="1500" dirty="0">
                  <a:solidFill>
                    <a:schemeClr val="dk1"/>
                  </a:solidFill>
                  <a:latin typeface="+mn-lt"/>
                  <a:ea typeface="+mn-ea"/>
                  <a:cs typeface="+mn-cs"/>
                </a:rPr>
              </a:br>
              <a:r>
                <a:rPr lang="en-US" sz="1500" dirty="0">
                  <a:solidFill>
                    <a:schemeClr val="dk1"/>
                  </a:solidFill>
                  <a:latin typeface="+mn-lt"/>
                  <a:ea typeface="+mn-ea"/>
                  <a:cs typeface="+mn-cs"/>
                </a:rPr>
                <a:t>dates when comparing firms.</a:t>
              </a:r>
            </a:p>
          </p:txBody>
        </p:sp>
      </p:grpSp>
      <p:grpSp>
        <p:nvGrpSpPr>
          <p:cNvPr id="14" name="scope-questions"/>
          <p:cNvGrpSpPr/>
          <p:nvPr/>
        </p:nvGrpSpPr>
        <p:grpSpPr>
          <a:xfrm>
            <a:off x="7915656" y="1857375"/>
            <a:ext cx="3564407" cy="2109470"/>
            <a:chOff x="7915656" y="1857375"/>
            <a:chExt cx="3564407" cy="2109470"/>
          </a:xfrm>
        </p:grpSpPr>
        <p:sp>
          <p:nvSpPr>
            <p:cNvPr id="12" name="TextBox 12"/>
            <p:cNvSpPr txBox="1"/>
            <p:nvPr/>
          </p:nvSpPr>
          <p:spPr>
            <a:xfrm>
              <a:off x="7915656" y="1857375"/>
              <a:ext cx="3514622" cy="352044"/>
            </a:xfrm>
            <a:prstGeom prst="rect">
              <a:avLst/>
            </a:prstGeom>
            <a:noFill/>
            <a:ln>
              <a:noFill/>
            </a:ln>
          </p:spPr>
          <p:txBody>
            <a:bodyPr wrap="none" lIns="0" tIns="0" rIns="0" bIns="0" anchor="t" anchorCtr="0">
              <a:spAutoFit/>
            </a:bodyPr>
            <a:lstStyle/>
            <a:p>
              <a:pPr algn="l"/>
              <a:r>
                <a:rPr lang="en-US" sz="1800" dirty="0">
                  <a:solidFill>
                    <a:schemeClr val="accent2"/>
                  </a:solidFill>
                  <a:latin typeface="+mj-lt"/>
                  <a:ea typeface="+mj-ea"/>
                  <a:cs typeface="+mj-cs"/>
                </a:rPr>
                <a:t>What scope was demonstrated?</a:t>
              </a:r>
            </a:p>
          </p:txBody>
        </p:sp>
        <p:sp>
          <p:nvSpPr>
            <p:cNvPr id="13" name="TextBox 13"/>
            <p:cNvSpPr txBox="1"/>
            <p:nvPr/>
          </p:nvSpPr>
          <p:spPr>
            <a:xfrm>
              <a:off x="7917180" y="2339975"/>
              <a:ext cx="3562883" cy="1626870"/>
            </a:xfrm>
            <a:prstGeom prst="rect">
              <a:avLst/>
            </a:prstGeom>
            <a:noFill/>
            <a:ln>
              <a:noFill/>
            </a:ln>
          </p:spPr>
          <p:txBody>
            <a:bodyPr wrap="none" lIns="0" tIns="0" rIns="0" bIns="0" anchor="t" anchorCtr="0">
              <a:spAutoFit/>
            </a:bodyPr>
            <a:lstStyle/>
            <a:p>
              <a:pPr algn="l">
                <a:lnSpc>
                  <a:spcPts val="2100"/>
                </a:lnSpc>
              </a:pPr>
              <a:r>
                <a:rPr lang="en-US" sz="1500" dirty="0">
                  <a:solidFill>
                    <a:schemeClr val="dk1"/>
                  </a:solidFill>
                  <a:latin typeface="+mn-lt"/>
                  <a:ea typeface="+mn-ea"/>
                  <a:cs typeface="+mn-cs"/>
                </a:rPr>
                <a:t>Clarify production scope, entitlements,</a:t>
              </a:r>
              <a:br>
                <a:rPr lang="en-US" sz="1500" dirty="0">
                  <a:solidFill>
                    <a:schemeClr val="dk1"/>
                  </a:solidFill>
                  <a:latin typeface="+mn-lt"/>
                  <a:ea typeface="+mn-ea"/>
                  <a:cs typeface="+mn-cs"/>
                </a:rPr>
              </a:br>
              <a:r>
                <a:rPr lang="en-US" sz="1500" dirty="0">
                  <a:solidFill>
                    <a:schemeClr val="dk1"/>
                  </a:solidFill>
                  <a:latin typeface="+mn-lt"/>
                  <a:ea typeface="+mn-ea"/>
                  <a:cs typeface="+mn-cs"/>
                </a:rPr>
                <a:t>model/data versions and stop conditions.</a:t>
              </a:r>
              <a:br>
                <a:rPr lang="en-US" sz="1500" dirty="0">
                  <a:solidFill>
                    <a:schemeClr val="dk1"/>
                  </a:solidFill>
                  <a:latin typeface="+mn-lt"/>
                  <a:ea typeface="+mn-ea"/>
                  <a:cs typeface="+mn-cs"/>
                </a:rPr>
              </a:br>
              <a:r>
                <a:rPr lang="en-US" sz="1500" dirty="0">
                  <a:solidFill>
                    <a:schemeClr val="dk1"/>
                  </a:solidFill>
                  <a:latin typeface="+mn-lt"/>
                  <a:ea typeface="+mn-ea"/>
                  <a:cs typeface="+mn-cs"/>
                </a:rPr>
                <a:t>A company affiliation does not establish</a:t>
              </a:r>
              <a:br>
                <a:rPr lang="en-US" sz="1500" dirty="0">
                  <a:solidFill>
                    <a:schemeClr val="dk1"/>
                  </a:solidFill>
                  <a:latin typeface="+mn-lt"/>
                  <a:ea typeface="+mn-ea"/>
                  <a:cs typeface="+mn-cs"/>
                </a:rPr>
              </a:br>
              <a:r>
                <a:rPr lang="en-US" sz="1500" dirty="0">
                  <a:solidFill>
                    <a:schemeClr val="dk1"/>
                  </a:solidFill>
                  <a:latin typeface="+mn-lt"/>
                  <a:ea typeface="+mn-ea"/>
                  <a:cs typeface="+mn-cs"/>
                </a:rPr>
                <a:t>deployment of every discussed technique.</a:t>
              </a:r>
              <a:br>
                <a:rPr lang="en-US" sz="1500" dirty="0">
                  <a:solidFill>
                    <a:schemeClr val="dk1"/>
                  </a:solidFill>
                  <a:latin typeface="+mn-lt"/>
                  <a:ea typeface="+mn-ea"/>
                  <a:cs typeface="+mn-cs"/>
                </a:rPr>
              </a:br>
              <a:r>
                <a:rPr lang="en-US" sz="1500" dirty="0">
                  <a:solidFill>
                    <a:schemeClr val="dk1"/>
                  </a:solidFill>
                  <a:latin typeface="+mn-lt"/>
                  <a:ea typeface="+mn-ea"/>
                  <a:cs typeface="+mn-cs"/>
                </a:rPr>
                <a:t>Mechanism and reported scale do not</a:t>
              </a:r>
              <a:br>
                <a:rPr lang="en-US" sz="1500" dirty="0">
                  <a:solidFill>
                    <a:schemeClr val="dk1"/>
                  </a:solidFill>
                  <a:latin typeface="+mn-lt"/>
                  <a:ea typeface="+mn-ea"/>
                  <a:cs typeface="+mn-cs"/>
                </a:rPr>
              </a:br>
              <a:r>
                <a:rPr lang="en-US" sz="1500" dirty="0">
                  <a:solidFill>
                    <a:schemeClr val="dk1"/>
                  </a:solidFill>
                  <a:latin typeface="+mn-lt"/>
                  <a:ea typeface="+mn-ea"/>
                  <a:cs typeface="+mn-cs"/>
                </a:rPr>
                <a:t>by themselves establish effectiveness.</a:t>
              </a:r>
            </a:p>
          </p:txBody>
        </p:sp>
      </p:grpSp>
      <p:grpSp>
        <p:nvGrpSpPr>
          <p:cNvPr id="17" name="unresolved-source-details"/>
          <p:cNvGrpSpPr/>
          <p:nvPr/>
        </p:nvGrpSpPr>
        <p:grpSpPr>
          <a:xfrm>
            <a:off x="457200" y="4648200"/>
            <a:ext cx="11277600" cy="1600200"/>
            <a:chOff x="457200" y="4648200"/>
            <a:chExt cx="11277600" cy="1600200"/>
          </a:xfrm>
        </p:grpSpPr>
        <p:sp>
          <p:nvSpPr>
            <p:cNvPr id="15" name="Rectangle 15"/>
            <p:cNvSpPr/>
            <p:nvPr/>
          </p:nvSpPr>
          <p:spPr>
            <a:xfrm>
              <a:off x="457200" y="4648200"/>
              <a:ext cx="11277600" cy="1600200"/>
            </a:xfrm>
            <a:prstGeom prst="rect">
              <a:avLst/>
            </a:prstGeom>
            <a:solidFill>
              <a:srgbClr val="F1F4EE"/>
            </a:solidFill>
            <a:ln>
              <a:noFill/>
            </a:ln>
          </p:spPr>
        </p:sp>
        <p:sp>
          <p:nvSpPr>
            <p:cNvPr id="16" name="TextBox 16"/>
            <p:cNvSpPr txBox="1"/>
            <p:nvPr/>
          </p:nvSpPr>
          <p:spPr>
            <a:xfrm>
              <a:off x="678942" y="4762500"/>
              <a:ext cx="9220238" cy="1254633"/>
            </a:xfrm>
            <a:prstGeom prst="rect">
              <a:avLst/>
            </a:prstGeom>
            <a:noFill/>
            <a:ln>
              <a:noFill/>
            </a:ln>
          </p:spPr>
          <p:txBody>
            <a:bodyPr wrap="none" lIns="0" tIns="0" rIns="0" bIns="0" anchor="t" anchorCtr="0">
              <a:spAutoFit/>
            </a:bodyPr>
            <a:lstStyle/>
            <a:p>
              <a:pPr algn="l">
                <a:lnSpc>
                  <a:spcPts val="1950"/>
                </a:lnSpc>
              </a:pPr>
              <a:r>
                <a:rPr lang="en-US" sz="1350" dirty="0">
                  <a:solidFill>
                    <a:schemeClr val="accent5"/>
                  </a:solidFill>
                  <a:latin typeface="+mn-lt"/>
                  <a:ea typeface="+mn-ea"/>
                  <a:cs typeface="+mn-cs"/>
                </a:rPr>
                <a:t>Keep unresolved terms explicit: “crunchable”, “roundedness”, reversed reactive/proactive wording and Comet/NatWest.</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Sonar’s roughly 50K-line example lacks model, workload and benchmark conditions; its confidence product is conceptual.</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Kepler’s rough retrieval settings are incomplete, so do not turn them into defaults. The failure study’s expected-loss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product lacks defined events, conditioning and severity units; incident rankings and growth claims lack denominators</a:t>
              </a:r>
              <a:br>
                <a:rPr lang="en-US" sz="1350" dirty="0">
                  <a:solidFill>
                    <a:schemeClr val="accent5"/>
                  </a:solidFill>
                  <a:latin typeface="+mn-lt"/>
                  <a:ea typeface="+mn-ea"/>
                  <a:cs typeface="+mn-cs"/>
                </a:rPr>
              </a:br>
              <a:r>
                <a:rPr lang="en-US" sz="1350" dirty="0">
                  <a:solidFill>
                    <a:schemeClr val="accent5"/>
                  </a:solidFill>
                  <a:latin typeface="+mn-lt"/>
                  <a:ea typeface="+mn-ea"/>
                  <a:cs typeface="+mn-cs"/>
                </a:rPr>
                <a:t>and methods. These are clarification topics, not established thresholds, prevalence or expected-loss estimates.</a:t>
              </a:r>
            </a:p>
          </p:txBody>
        </p:sp>
      </p:grpSp>
      <p:grpSp>
        <p:nvGrpSpPr>
          <p:cNvPr id="20" name="footer"/>
          <p:cNvGrpSpPr/>
          <p:nvPr/>
        </p:nvGrpSpPr>
        <p:grpSpPr>
          <a:xfrm>
            <a:off x="452438" y="6505575"/>
            <a:ext cx="11287124" cy="176212"/>
            <a:chOff x="452438" y="6505575"/>
            <a:chExt cx="11287124" cy="176212"/>
          </a:xfrm>
        </p:grpSpPr>
        <p:sp>
          <p:nvSpPr>
            <p:cNvPr id="18" name="TextBox 18"/>
            <p:cNvSpPr txBox="1"/>
            <p:nvPr/>
          </p:nvSpPr>
          <p:spPr>
            <a:xfrm>
              <a:off x="452438" y="6505575"/>
              <a:ext cx="5342967"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context retained from OpenAI, Bridgewater, Kepler, Sonar, failure-study and banking notes.</a:t>
              </a:r>
            </a:p>
          </p:txBody>
        </p:sp>
        <p:sp>
          <p:nvSpPr>
            <p:cNvPr id="19" name="TextBox 19"/>
            <p:cNvSpPr txBox="1"/>
            <p:nvPr/>
          </p:nvSpPr>
          <p:spPr>
            <a:xfrm>
              <a:off x="11359512" y="6505575"/>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36 / 37</a:t>
              </a:r>
            </a:p>
          </p:txBody>
        </p:sp>
      </p:grpSp>
    </p:spTree>
  </p:cSld>
  <p:clrMapOvr>
    <a:masterClrMapping/>
  </p:clrMapOvr>
  <p:transition xmlns:p14="http://schemas.microsoft.com/office/powerpoint/2010/main" p14:dur="400">
    <p:fade/>
  </p:transition>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title"/>
          <p:cNvGrpSpPr/>
          <p:nvPr/>
        </p:nvGrpSpPr>
        <p:grpSpPr>
          <a:xfrm>
            <a:off x="443484" y="371475"/>
            <a:ext cx="9586187" cy="1110107"/>
            <a:chOff x="443484" y="371475"/>
            <a:chExt cx="9586187" cy="1110107"/>
          </a:xfrm>
        </p:grpSpPr>
        <p:sp>
          <p:nvSpPr>
            <p:cNvPr id="2" name="TextBox 2"/>
            <p:cNvSpPr txBox="1"/>
            <p:nvPr/>
          </p:nvSpPr>
          <p:spPr>
            <a:xfrm>
              <a:off x="451104" y="371475"/>
              <a:ext cx="399598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mn-lt"/>
                  <a:ea typeface="+mn-ea"/>
                  <a:cs typeface="+mn-cs"/>
                </a:rPr>
                <a:t>APPENDIX / CLICKABLE PRIMARY REFERENCES</a:t>
              </a:r>
            </a:p>
          </p:txBody>
        </p:sp>
        <p:sp>
          <p:nvSpPr>
            <p:cNvPr id="3" name="TextBox 3"/>
            <p:cNvSpPr txBox="1"/>
            <p:nvPr/>
          </p:nvSpPr>
          <p:spPr>
            <a:xfrm>
              <a:off x="443484" y="603250"/>
              <a:ext cx="8207315" cy="528066"/>
            </a:xfrm>
            <a:prstGeom prst="rect">
              <a:avLst/>
            </a:prstGeom>
            <a:noFill/>
            <a:ln>
              <a:noFill/>
            </a:ln>
          </p:spPr>
          <p:txBody>
            <a:bodyPr wrap="none" lIns="0" tIns="0" rIns="0" bIns="0" anchor="t" anchorCtr="0">
              <a:spAutoFit/>
            </a:bodyPr>
            <a:lstStyle/>
            <a:p>
              <a:pPr algn="l"/>
              <a:r>
                <a:rPr lang="en-US" sz="2700" dirty="0">
                  <a:solidFill>
                    <a:schemeClr val="accent1"/>
                  </a:solidFill>
                  <a:latin typeface="+mj-lt"/>
                  <a:ea typeface="+mj-ea"/>
                  <a:cs typeface="+mj-cs"/>
                </a:rPr>
                <a:t>Follow the sources and preserve their boundaries</a:t>
              </a:r>
            </a:p>
          </p:txBody>
        </p:sp>
        <p:sp>
          <p:nvSpPr>
            <p:cNvPr id="4" name="TextBox 4"/>
            <p:cNvSpPr txBox="1"/>
            <p:nvPr/>
          </p:nvSpPr>
          <p:spPr>
            <a:xfrm>
              <a:off x="448818" y="1158875"/>
              <a:ext cx="9580853" cy="322707"/>
            </a:xfrm>
            <a:prstGeom prst="rect">
              <a:avLst/>
            </a:prstGeom>
            <a:noFill/>
            <a:ln>
              <a:noFill/>
            </a:ln>
          </p:spPr>
          <p:txBody>
            <a:bodyPr wrap="none" lIns="0" tIns="0" rIns="0" bIns="0" anchor="t" anchorCtr="0">
              <a:spAutoFit/>
            </a:bodyPr>
            <a:lstStyle/>
            <a:p>
              <a:pPr algn="l"/>
              <a:r>
                <a:rPr lang="en-US" sz="1650" dirty="0">
                  <a:solidFill>
                    <a:schemeClr val="accent1"/>
                  </a:solidFill>
                  <a:latin typeface="+mn-lt"/>
                  <a:ea typeface="+mn-ea"/>
                  <a:cs typeface="+mn-cs"/>
                </a:rPr>
                <a:t>The corpus contains 39 references; the complete catalog is retained in this page’s speaker notes.</a:t>
              </a:r>
            </a:p>
          </p:txBody>
        </p:sp>
      </p:grpSp>
      <p:grpSp>
        <p:nvGrpSpPr>
          <p:cNvPr id="15" name="conference-links"/>
          <p:cNvGrpSpPr/>
          <p:nvPr/>
        </p:nvGrpSpPr>
        <p:grpSpPr>
          <a:xfrm>
            <a:off x="448056" y="1819275"/>
            <a:ext cx="3885828" cy="3756533"/>
            <a:chOff x="448056" y="1819275"/>
            <a:chExt cx="3885828" cy="3756533"/>
          </a:xfrm>
        </p:grpSpPr>
        <p:sp>
          <p:nvSpPr>
            <p:cNvPr id="6" name="TextBox 6"/>
            <p:cNvSpPr txBox="1"/>
            <p:nvPr/>
          </p:nvSpPr>
          <p:spPr>
            <a:xfrm>
              <a:off x="448056" y="1819275"/>
              <a:ext cx="2502018"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Company mechanisms</a:t>
              </a:r>
            </a:p>
          </p:txBody>
        </p:sp>
        <p:grpSp>
          <p:nvGrpSpPr>
            <p:cNvPr id="14" name="Group 14"/>
            <p:cNvGrpSpPr/>
            <p:nvPr/>
          </p:nvGrpSpPr>
          <p:grpSpPr>
            <a:xfrm>
              <a:off x="450342" y="2339975"/>
              <a:ext cx="3883542" cy="3235833"/>
              <a:chOff x="450342" y="2339975"/>
              <a:chExt cx="3883542" cy="3235833"/>
            </a:xfrm>
          </p:grpSpPr>
          <p:sp>
            <p:nvSpPr>
              <p:cNvPr id="7" name="TextBox 7">
                <a:hlinkClick r:id="rId2"/>
              </p:cNvPr>
              <p:cNvSpPr txBox="1"/>
              <p:nvPr/>
            </p:nvSpPr>
            <p:spPr>
              <a:xfrm>
                <a:off x="450342" y="2339975"/>
                <a:ext cx="3883542"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Bridgewater / Vault and investment evidence</a:t>
                </a:r>
              </a:p>
            </p:txBody>
          </p:sp>
          <p:sp>
            <p:nvSpPr>
              <p:cNvPr id="8" name="TextBox 8">
                <a:hlinkClick r:id="rId3"/>
              </p:cNvPr>
              <p:cNvSpPr txBox="1"/>
              <p:nvPr/>
            </p:nvSpPr>
            <p:spPr>
              <a:xfrm>
                <a:off x="450342" y="2835275"/>
                <a:ext cx="3794725"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Kepler / Do Not Let Models Invent Numbers</a:t>
                </a:r>
              </a:p>
            </p:txBody>
          </p:sp>
          <p:sp>
            <p:nvSpPr>
              <p:cNvPr id="9" name="TextBox 9">
                <a:hlinkClick r:id="rId4"/>
              </p:cNvPr>
              <p:cNvSpPr txBox="1"/>
              <p:nvPr/>
            </p:nvSpPr>
            <p:spPr>
              <a:xfrm>
                <a:off x="450342" y="3330575"/>
                <a:ext cx="2203348"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Ramp / End-to-End Evals</a:t>
                </a:r>
              </a:p>
            </p:txBody>
          </p:sp>
          <p:sp>
            <p:nvSpPr>
              <p:cNvPr id="10" name="TextBox 10">
                <a:hlinkClick r:id="rId5"/>
              </p:cNvPr>
              <p:cNvSpPr txBox="1"/>
              <p:nvPr/>
            </p:nvSpPr>
            <p:spPr>
              <a:xfrm>
                <a:off x="450342" y="3825875"/>
                <a:ext cx="3850782"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Range / Financial Planners Write the Agents</a:t>
                </a:r>
              </a:p>
            </p:txBody>
          </p:sp>
          <p:sp>
            <p:nvSpPr>
              <p:cNvPr id="11" name="TextBox 11">
                <a:hlinkClick r:id="rId6"/>
              </p:cNvPr>
              <p:cNvSpPr txBox="1"/>
              <p:nvPr/>
            </p:nvSpPr>
            <p:spPr>
              <a:xfrm>
                <a:off x="450342" y="4321175"/>
                <a:ext cx="3209640"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Two Sigma / Acceleration and Safety</a:t>
                </a:r>
              </a:p>
            </p:txBody>
          </p:sp>
          <p:sp>
            <p:nvSpPr>
              <p:cNvPr id="12" name="TextBox 12">
                <a:hlinkClick r:id="rId7"/>
              </p:cNvPr>
              <p:cNvSpPr txBox="1"/>
              <p:nvPr/>
            </p:nvSpPr>
            <p:spPr>
              <a:xfrm>
                <a:off x="450342" y="4816475"/>
                <a:ext cx="3619476"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Contour / Proving Alpha and Useful Work</a:t>
                </a:r>
              </a:p>
            </p:txBody>
          </p:sp>
          <p:sp>
            <p:nvSpPr>
              <p:cNvPr id="13" name="TextBox 13">
                <a:hlinkClick r:id="rId8"/>
              </p:cNvPr>
              <p:cNvSpPr txBox="1"/>
              <p:nvPr/>
            </p:nvSpPr>
            <p:spPr>
              <a:xfrm>
                <a:off x="450342" y="5311775"/>
                <a:ext cx="332314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Arize / What Does an AI Engineer Do?</a:t>
                </a:r>
              </a:p>
            </p:txBody>
          </p:sp>
        </p:grpSp>
      </p:grpSp>
      <p:grpSp>
        <p:nvGrpSpPr>
          <p:cNvPr id="25" name="context-links"/>
          <p:cNvGrpSpPr/>
          <p:nvPr/>
        </p:nvGrpSpPr>
        <p:grpSpPr>
          <a:xfrm>
            <a:off x="6086856" y="1819275"/>
            <a:ext cx="4436036" cy="3756533"/>
            <a:chOff x="6086856" y="1819275"/>
            <a:chExt cx="4436036" cy="3756533"/>
          </a:xfrm>
        </p:grpSpPr>
        <p:sp>
          <p:nvSpPr>
            <p:cNvPr id="16" name="TextBox 16"/>
            <p:cNvSpPr txBox="1"/>
            <p:nvPr/>
          </p:nvSpPr>
          <p:spPr>
            <a:xfrm>
              <a:off x="6086856" y="1819275"/>
              <a:ext cx="4350934" cy="352044"/>
            </a:xfrm>
            <a:prstGeom prst="rect">
              <a:avLst/>
            </a:prstGeom>
            <a:noFill/>
            <a:ln>
              <a:noFill/>
            </a:ln>
          </p:spPr>
          <p:txBody>
            <a:bodyPr wrap="none" lIns="0" tIns="0" rIns="0" bIns="0" anchor="t" anchorCtr="0">
              <a:spAutoFit/>
            </a:bodyPr>
            <a:lstStyle/>
            <a:p>
              <a:pPr algn="l"/>
              <a:r>
                <a:rPr lang="en-US" sz="1800" dirty="0">
                  <a:solidFill>
                    <a:schemeClr val="accent1"/>
                  </a:solidFill>
                  <a:latin typeface="+mj-lt"/>
                  <a:ea typeface="+mj-ea"/>
                  <a:cs typeface="+mj-cs"/>
                </a:rPr>
                <a:t>Controls, historical context and method</a:t>
              </a:r>
            </a:p>
          </p:txBody>
        </p:sp>
        <p:grpSp>
          <p:nvGrpSpPr>
            <p:cNvPr id="23" name="Group 23"/>
            <p:cNvGrpSpPr/>
            <p:nvPr/>
          </p:nvGrpSpPr>
          <p:grpSpPr>
            <a:xfrm>
              <a:off x="6089142" y="2339975"/>
              <a:ext cx="3972011" cy="2740533"/>
              <a:chOff x="6089142" y="2339975"/>
              <a:chExt cx="3972011" cy="2740533"/>
            </a:xfrm>
          </p:grpSpPr>
          <p:sp>
            <p:nvSpPr>
              <p:cNvPr id="17" name="TextBox 17">
                <a:hlinkClick r:id="rId9"/>
              </p:cNvPr>
              <p:cNvSpPr txBox="1"/>
              <p:nvPr/>
            </p:nvSpPr>
            <p:spPr>
              <a:xfrm>
                <a:off x="6089142" y="2339975"/>
                <a:ext cx="3281169"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Wise / Humans, Agents and Authority</a:t>
                </a:r>
              </a:p>
            </p:txBody>
          </p:sp>
          <p:sp>
            <p:nvSpPr>
              <p:cNvPr id="18" name="TextBox 18">
                <a:hlinkClick r:id="rId10"/>
              </p:cNvPr>
              <p:cNvSpPr txBox="1"/>
              <p:nvPr/>
            </p:nvSpPr>
            <p:spPr>
              <a:xfrm>
                <a:off x="6089142" y="2835275"/>
                <a:ext cx="3912978"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Sonar / The Machine that Changed the World</a:t>
                </a:r>
              </a:p>
            </p:txBody>
          </p:sp>
          <p:sp>
            <p:nvSpPr>
              <p:cNvPr id="19" name="TextBox 19">
                <a:hlinkClick r:id="rId11"/>
              </p:cNvPr>
              <p:cNvSpPr txBox="1"/>
              <p:nvPr/>
            </p:nvSpPr>
            <p:spPr>
              <a:xfrm>
                <a:off x="6089142" y="3330575"/>
                <a:ext cx="397201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Morgan Stanley / Debrief launch — June 2024</a:t>
                </a:r>
              </a:p>
            </p:txBody>
          </p:sp>
          <p:sp>
            <p:nvSpPr>
              <p:cNvPr id="20" name="TextBox 20">
                <a:hlinkClick r:id="rId12"/>
              </p:cNvPr>
              <p:cNvSpPr txBox="1"/>
              <p:nvPr/>
            </p:nvSpPr>
            <p:spPr>
              <a:xfrm>
                <a:off x="6089142" y="3825875"/>
                <a:ext cx="3717247"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UBS / Results disclosure — February 2025</a:t>
                </a:r>
              </a:p>
            </p:txBody>
          </p:sp>
          <p:sp>
            <p:nvSpPr>
              <p:cNvPr id="21" name="TextBox 21">
                <a:hlinkClick r:id="rId13"/>
              </p:cNvPr>
              <p:cNvSpPr txBox="1"/>
              <p:nvPr/>
            </p:nvSpPr>
            <p:spPr>
              <a:xfrm>
                <a:off x="6089142" y="4321175"/>
                <a:ext cx="297463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RBC / Investor Day — March 2025</a:t>
                </a:r>
              </a:p>
            </p:txBody>
          </p:sp>
          <p:sp>
            <p:nvSpPr>
              <p:cNvPr id="22" name="TextBox 22">
                <a:hlinkClick r:id="rId14"/>
              </p:cNvPr>
              <p:cNvSpPr txBox="1"/>
              <p:nvPr/>
            </p:nvSpPr>
            <p:spPr>
              <a:xfrm>
                <a:off x="6089142" y="4816475"/>
                <a:ext cx="3903853"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Chen et al. / HumanEval and pass@k — 2021</a:t>
                </a:r>
              </a:p>
            </p:txBody>
          </p:sp>
        </p:grpSp>
        <p:sp>
          <p:nvSpPr>
            <p:cNvPr id="24" name="TextBox 24"/>
            <p:cNvSpPr txBox="1"/>
            <p:nvPr/>
          </p:nvSpPr>
          <p:spPr>
            <a:xfrm>
              <a:off x="6089142" y="5311775"/>
              <a:ext cx="4433750" cy="264033"/>
            </a:xfrm>
            <a:prstGeom prst="rect">
              <a:avLst/>
            </a:prstGeom>
            <a:noFill/>
            <a:ln>
              <a:noFill/>
            </a:ln>
          </p:spPr>
          <p:txBody>
            <a:bodyPr wrap="none" lIns="0" tIns="0" rIns="0" bIns="0" anchor="t" anchorCtr="0">
              <a:spAutoFit/>
            </a:bodyPr>
            <a:lstStyle/>
            <a:p>
              <a:pPr algn="l"/>
              <a:r>
                <a:rPr lang="en-US" sz="1350" dirty="0">
                  <a:solidFill>
                    <a:schemeClr val="accent5"/>
                  </a:solidFill>
                  <a:latin typeface="+mn-lt"/>
                  <a:ea typeface="+mn-ea"/>
                  <a:cs typeface="+mn-cs"/>
                </a:rPr>
                <a:t>Session links identify speakers and advertised content.</a:t>
              </a:r>
            </a:p>
          </p:txBody>
        </p:sp>
      </p:grpSp>
      <p:grpSp>
        <p:nvGrpSpPr>
          <p:cNvPr id="27" name="evidence-boundaries"/>
          <p:cNvGrpSpPr/>
          <p:nvPr/>
        </p:nvGrpSpPr>
        <p:grpSpPr>
          <a:xfrm>
            <a:off x="450342" y="5861050"/>
            <a:ext cx="9248836" cy="492633"/>
            <a:chOff x="450342" y="5861050"/>
            <a:chExt cx="9248836" cy="492633"/>
          </a:xfrm>
        </p:grpSpPr>
        <p:sp>
          <p:nvSpPr>
            <p:cNvPr id="26" name="TextBox 26"/>
            <p:cNvSpPr txBox="1"/>
            <p:nvPr/>
          </p:nvSpPr>
          <p:spPr>
            <a:xfrm>
              <a:off x="450342" y="5861050"/>
              <a:ext cx="9248836" cy="492633"/>
            </a:xfrm>
            <a:prstGeom prst="rect">
              <a:avLst/>
            </a:prstGeom>
            <a:noFill/>
            <a:ln>
              <a:noFill/>
            </a:ln>
          </p:spPr>
          <p:txBody>
            <a:bodyPr wrap="none" lIns="0" tIns="0" rIns="0" bIns="0" anchor="t" anchorCtr="0">
              <a:spAutoFit/>
            </a:bodyPr>
            <a:lstStyle/>
            <a:p>
              <a:pPr algn="l">
                <a:lnSpc>
                  <a:spcPts val="1800"/>
                </a:lnSpc>
              </a:pPr>
              <a:r>
                <a:rPr lang="en-US" sz="1350" dirty="0">
                  <a:solidFill>
                    <a:schemeClr val="dk1"/>
                  </a:solidFill>
                  <a:latin typeface="+mn-lt"/>
                  <a:ea typeface="+mn-ea"/>
                  <a:cs typeface="+mn-cs"/>
                </a:rPr>
                <a:t>Attendee notes capture live claims; program-only cases remain context. Dated corporate disclosures are not latest-state</a:t>
              </a:r>
              <a:br>
                <a:rPr lang="en-US" sz="1350" dirty="0">
                  <a:solidFill>
                    <a:schemeClr val="dk1"/>
                  </a:solidFill>
                  <a:latin typeface="+mn-lt"/>
                  <a:ea typeface="+mn-ea"/>
                  <a:cs typeface="+mn-cs"/>
                </a:rPr>
              </a:br>
              <a:r>
                <a:rPr lang="en-US" sz="1350" dirty="0">
                  <a:solidFill>
                    <a:schemeClr val="dk1"/>
                  </a:solidFill>
                  <a:latin typeface="+mn-lt"/>
                  <a:ea typeface="+mn-ea"/>
                  <a:cs typeface="+mn-cs"/>
                </a:rPr>
                <a:t>or independently verified causal outcomes. Rubrics/control paths are proposed; AsterCo and review packets are invented.</a:t>
              </a:r>
            </a:p>
          </p:txBody>
        </p:sp>
      </p:grpSp>
      <p:grpSp>
        <p:nvGrpSpPr>
          <p:cNvPr id="30" name="footer"/>
          <p:cNvGrpSpPr/>
          <p:nvPr/>
        </p:nvGrpSpPr>
        <p:grpSpPr>
          <a:xfrm>
            <a:off x="452438" y="6496050"/>
            <a:ext cx="11287124" cy="176212"/>
            <a:chOff x="452438" y="6496050"/>
            <a:chExt cx="11287124" cy="176212"/>
          </a:xfrm>
        </p:grpSpPr>
        <p:sp>
          <p:nvSpPr>
            <p:cNvPr id="28" name="TextBox 28"/>
            <p:cNvSpPr txBox="1"/>
            <p:nvPr/>
          </p:nvSpPr>
          <p:spPr>
            <a:xfrm>
              <a:off x="452438" y="6496050"/>
              <a:ext cx="5348346" cy="176212"/>
            </a:xfrm>
            <a:prstGeom prst="rect">
              <a:avLst/>
            </a:prstGeom>
            <a:noFill/>
            <a:ln>
              <a:noFill/>
            </a:ln>
          </p:spPr>
          <p:txBody>
            <a:bodyPr wrap="none" lIns="0" tIns="0" rIns="0" bIns="0" anchor="t" anchorCtr="0">
              <a:spAutoFit/>
            </a:bodyPr>
            <a:lstStyle/>
            <a:p>
              <a:pPr algn="l"/>
              <a:r>
                <a:rPr lang="en-US" sz="900" dirty="0">
                  <a:solidFill>
                    <a:schemeClr val="accent5"/>
                  </a:solidFill>
                  <a:latin typeface="+mn-lt"/>
                  <a:ea typeface="+mn-ea"/>
                  <a:cs typeface="+mn-cs"/>
                </a:rPr>
                <a:t>Source: the supplied conference HTML, consolidated prior research and twelve identified note sets.</a:t>
              </a:r>
            </a:p>
          </p:txBody>
        </p:sp>
        <p:sp>
          <p:nvSpPr>
            <p:cNvPr id="29" name="TextBox 29"/>
            <p:cNvSpPr txBox="1"/>
            <p:nvPr/>
          </p:nvSpPr>
          <p:spPr>
            <a:xfrm>
              <a:off x="11359512" y="6496050"/>
              <a:ext cx="380050" cy="176212"/>
            </a:xfrm>
            <a:prstGeom prst="rect">
              <a:avLst/>
            </a:prstGeom>
            <a:noFill/>
            <a:ln>
              <a:noFill/>
            </a:ln>
          </p:spPr>
          <p:txBody>
            <a:bodyPr wrap="none" lIns="0" tIns="0" rIns="0" bIns="0" anchor="t" anchorCtr="0">
              <a:spAutoFit/>
            </a:bodyPr>
            <a:lstStyle/>
            <a:p>
              <a:pPr algn="r"/>
              <a:r>
                <a:rPr lang="en-US" sz="900" dirty="0">
                  <a:solidFill>
                    <a:schemeClr val="accent5"/>
                  </a:solidFill>
                  <a:latin typeface="+mn-lt"/>
                  <a:ea typeface="+mn-ea"/>
                  <a:cs typeface="+mn-cs"/>
                </a:rPr>
                <a:t>37 / 37</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ai-engineer-conference-takeaways">
  <a:themeElements>
    <a:clrScheme name="ai-engineer-conference-takeaways">
      <a:dk1>
        <a:srgbClr val="132F3B"/>
      </a:dk1>
      <a:lt1>
        <a:srgbClr val="FFFDF7"/>
      </a:lt1>
      <a:dk2>
        <a:srgbClr val="1F497D"/>
      </a:dk2>
      <a:lt2>
        <a:srgbClr val="E7F0EA"/>
      </a:lt2>
      <a:accent1>
        <a:srgbClr val="102E3A"/>
      </a:accent1>
      <a:accent2>
        <a:srgbClr val="075E52"/>
      </a:accent2>
      <a:accent3>
        <a:srgbClr val="D5EF8C"/>
      </a:accent3>
      <a:accent4>
        <a:srgbClr val="102E3A"/>
      </a:accent4>
      <a:accent5>
        <a:srgbClr val="50616A"/>
      </a:accent5>
      <a:accent6>
        <a:srgbClr val="CBD4D1"/>
      </a:accent6>
      <a:hlink>
        <a:srgbClr val="075E52"/>
      </a:hlink>
      <a:folHlink>
        <a:srgbClr val="D5EF8C"/>
      </a:folHlink>
    </a:clrScheme>
    <a:fontScheme name="ai-engineer-conference-takeaways">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engineer-conference-takeaway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ai-engineer-conference-takeaways">
  <a:themeElements>
    <a:clrScheme name="ai-engineer-conference-takeaways">
      <a:dk1>
        <a:srgbClr val="132F3B"/>
      </a:dk1>
      <a:lt1>
        <a:srgbClr val="FFFDF7"/>
      </a:lt1>
      <a:dk2>
        <a:srgbClr val="1F497D"/>
      </a:dk2>
      <a:lt2>
        <a:srgbClr val="E7F0EA"/>
      </a:lt2>
      <a:accent1>
        <a:srgbClr val="102E3A"/>
      </a:accent1>
      <a:accent2>
        <a:srgbClr val="075E52"/>
      </a:accent2>
      <a:accent3>
        <a:srgbClr val="D5EF8C"/>
      </a:accent3>
      <a:accent4>
        <a:srgbClr val="102E3A"/>
      </a:accent4>
      <a:accent5>
        <a:srgbClr val="50616A"/>
      </a:accent5>
      <a:accent6>
        <a:srgbClr val="CBD4D1"/>
      </a:accent6>
      <a:hlink>
        <a:srgbClr val="075E52"/>
      </a:hlink>
      <a:folHlink>
        <a:srgbClr val="D5EF8C"/>
      </a:folHlink>
    </a:clrScheme>
    <a:fontScheme name="ai-engineer-conference-takeaways">
      <a:majorFont>
        <a:latin typeface="Cambria"/>
        <a:ea typeface="SimSun"/>
        <a:cs typeface="Cambr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i-engineer-conference-takeaway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37</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2026-10-17T15:01:25Z</dcterms:created>
  <dcterms:modified xsi:type="dcterms:W3CDTF">2026-10-17T15:01:25Z</dcterms:modified>
  <cp:category/>
  <cp:contentStatus/>
</cp:coreProperties>
</file>