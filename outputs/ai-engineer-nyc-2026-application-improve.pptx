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  <Relationship Id="rId3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practical lesson I want to bring back from AI Engineer is to judge progress by accepted work. A generated query, a tool call and a polished page are intermediate outputs. The question is whether a person can use the resulting work product with a defensible amount of checking. This briefing applies that idea to two different starting points: Fidelity’s institutional sales-data and meeting-preparation applications, and my personal analytics agent. For Fidelity, the opportunity is to help users discover, clarify, investigate and prepare within reviewed definitions. For the personal agent, the opportunity is to connect project understanding to a checked analytical result and a consistent report. These pages contain the reasoning and examples for independent review; the discussion should help us choose the next bounded release rather than agree to a broad agent platform.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two applications should not receive the same backlog. Fidelity’s current interaction is predominantly one shot, so the first investments are grounded definitions, data navigation and relevant semantic context. Conversation, bounded investigation and one measured Salesforce preparation journey can then build on that working product. The personal agent already has multi-step specialists and evidence stores; its next investments are more precise count and forecast contracts, quantitative narrative bindings, preservation of metric and grain meaning, and numerical outcome checks. Both tracks should compare the new work product with the existing process on accepted quality, total human effort, full known cost and consequential failure modes. A release can generate more sophisticated behavior while making the user’s total job harder, which is why those dimensions belong together.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 have grouped the conference stories by the mechanism we can transfer. Bridgewater’s Vault points toward task-specific knowledge, temporal scoping and concise human briefs. Kepler connects material numbers to typed facts, calculation and citation checks. Range makes the professional method explicit through expert-authored skills, including reasons and exceptions. Ramp’s end-to-end evaluation approach suggests testing one context, skill, memory or model change at a time. The ownership and authority lessons from Two Sigma and Wise support scoped tools and explicit permission to act. Contour brings the analysis back to useful work against a credible alternative, including review effort and cost. This grouping is our synthesis, and a reported company implementation does not establish a speedup or return on investment in our setting. Each mechanism should lead to a local experiment with an observable acceptance test.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Fidelity baseline comes from the reported experience, not an inspection of application code or production data. There is a lightweight LLM intent classifier and a SQL-generation model, and complex questions also receive a one-shot treatment. Conversation and memory are not supported, and users need help understanding what the data surface contains. Each request supplies roughly twenty to thirty thousand tokens of table and column semantics. The reported thirty to forty-five seconds refers to SQL-model latency; intent handling and data execution add further time, and these figures are not measured median or tail latency. The current accuracy process compares returned row counts and uses an LLM to judge the returned data. Salesforce integration is underway, but the effect on preparation and daily work has not yet been established. That baseline motivates a combined usability, correctness and workflow agenda.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proposed coordinator expands the task around the existing SQL generator. A user’s question, authorized CRM entity context and compact session state first establish the task. A shared reviewed catalog supplies entity meaning, metrics, dates, grain, join routes and version information. The coordinator can explain a term, reveal supported data, clarify ambiguity, request a simple query or run a bounded investigation. The SQL engine stays a useful analytical tool with a specific responsibility. The result should include its source scope and a useful next step rather than only a returned table. Authorization applies twice: filter metadata before it enters model context, then recheck permissions when executing against the source. This diagram describes a proposed architecture, not the current implementation.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question about the meaning of “live” exposes a useful product boundary. We do not know its actual business definition in this review, so the assistant should search the authoritative glossary or catalog rather than guess. If several reviewed definitions match, it should ask which meaning applies; otherwise it can explain the supported definition with its source and offer a relevant example. Definition-only work can often use metadata without querying source data. The same experience can expose topic browsing, supported questions and explanations of unavailable data. That helps users learn what the product can do at the moment they need it. Evaluate definition correctness, useful discovery, the next question users can successfully ask, and time to a useful response. These tasks deserve a first-class route through the application.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Semantic retrieval should start with business roles, not merely similar column names. After restricting metadata to the authorized scope, retrieve candidate measures, dimensions, filters, entities and time roles. Once the requested measure is selected, close its dependencies: the reviewed definition, denominator, physical mapping, date rules, keys, cardinality and required join routes. Those dependencies make the measure valid. A near match does not prove question coverage, and missing definitions or unresolved ambiguity should remain visible. Versioned catalog metadata can be reused while source data refreshes independently. The experiment is to reduce context while preserving required-definition coverage, join coverage and final result correctness. The smallest useful package is the one that retains enough meaning to answer correctly, not simply the one with the fewest tokens.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should be a controlled comparison in one sales domain. The baseline uses the current full semantic context, reported at twenty to thirty thousand tokens. The candidate uses role-selected definitions with complete metric and join dependencies. Hold the model, behavior, settings, questions, source snapshot and evaluation contract fixed so that context selection is the change being tested. Record coverage and correct results together with tokens and stage timing. Separate retrieval, routing, generation, validation and database execution from the full task duration, and report both median and tail latency. Fewer input tokens may help, but the measured stages determine whether that explains a gain. One-shot versus bounded repair is a later, separate comparison; combining the two changes would make attribution difficult. We are proposing the experiment, not promising a particular context size or speedup.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Every identifier and number in this example is invented teaching data. For advisor A17 and product P-A, purchases of eight hundred thousand dollars and redemptions of one million dollars produce negative two hundred thousand dollars of net flow. The firm’s positive five million dollars is a separate aggregation scope. The deliberately wrong candidate labels that firm figure as A17’s result while still returning exactly one row. Row-count agreement therefore passes, but the business answer is wrong. Comparing keyed values, the definition of net flow and the entity and grain exposes the error. An LLM judgment can add semantic coverage, but it needs calibration against adjudicated expert cases. Even the correct negative advisor result does not establish dissatisfaction or competitor displacement. That commercial interpretation requires additional evidence and discovery.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evaluation contract should leave five dimensions independently inspectable. Execution checks valid SQL, source permissions and query limits. Typed-result checks compare complete keyed rows or multisets while preserving duplicates and nulls; ordering, top-k ties and column-specific tolerances must be specified before grading. Business meaning checks entity, metric, grain, denominator, date role, period, units and coverage. Conversation checks definitions, discovery, clarification, state updates and freshness. Useful sales work checks factual support, useful questions, disclosed material gaps, approved material and rep effort. Freeze the source data and as-of conditions, and review reference SQL independently. Alternative SQL implementations can be correct, so the reference should define the accepted result rather than force a single syntax. Calibrate LLM semantic judgments on expert-adjudicated cases and keep critical defects visible instead of hiding them inside a single average accuracy score.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Conversation memory should be explicit task state that the user can inspect and correct. Persist resolved advisor, office and firm identifiers, the metric, grouping, filters, period, information cutoff, semantic version, saved result identifiers and unresolved questions. In the last-quarter follow-up, the period changes while the intended entity, metric, grouping and filters carry forward. Changing the advisor or measure requires a deliberate state update. Session context, reviewed business knowledge and saved evidence have different responsibilities: the first holds the active task, the second holds definitions, and the third holds data snapshots. Show active scope and allow correction or reset. Reusing a conversation does not make old evidence current. Multi-turn evaluation should test completion, scope carryover, clarification, freshness and cross-advisor leakage, including cases where preserving prior state would be wrong.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For a question about falling advisor flows and contributing product families, make the decomposition visible. Resolve the measure, comparison window and advisor scope; retrieve advisor-level change; calculate product-family contributions at a compatible grain; reconcile the components to the requested total; then explain the supported findings and uncertainty. This provides intermediate evidence that a one-shot answer often lacks. Actual schema, execution or validation feedback may justify repair, but attempts and total time need a predefined budget. Retain every attempt and permit an unresolved or clarification outcome. Recheck permissions and scope at each step. Held-out reference answers must not enter the runtime repair path, because that would invalidate assessment. Product contributions are arithmetic decompositions; they do not by themselves identify causal drivers of a sales change.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intended user is a Fidelity institutional salesperson serving advisors as distribution partners. A useful preparation packet answers four business questions. Why meet covers the objective, resolved advisor identity and prior commitments. What changed selects relevant activity since the last interaction while preserving period and coverage. What to ask separates commercial hypotheses from observed facts and turns them into questions the rep can validate. What to bring identifies current approved product and share-class material and flags unresolved requirements. Every material number should carry entity, metric, period, units, snapshot and calculation. Historical analysis needs effective-dated relationships so that today’s hierarchy is not silently projected into the past. Fidelity activity is only the observed scope; it does not establish an advisor’s entire wallet. The rep’s review completes preparation.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schematic brief uses entirely invented advisor, product, record and numerical data. A17’s purchases are eight hundred thousand dollars, redemptions are one million, and net flow is negative two hundred thousand. The positive five million firm aggregate stays explicitly separate. A prior meeting record requests a share-class and implementation discussion. Those are the facts available in this scenario. The idea that a focused approved comparison may move the conversation forward is a commercial hypothesis, not an observed outcome. Ask which implementation constraints matter and confirm the exact product and share class, document version, approval context and valid time. The rep reviews and adjusts the preparation before use. Accepting a draft does not authorize an outbound action, and negative flow alone does not prove dissatisfaction or displacement.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Range’s financial-planning method offers a practical way to author a professional skill. Pick one repeated workflow with recognizable acceptance. Teach why the salesperson or product specialist performs each step, including exceptions. Pack the facts, definitions, authorized sources, clarification questions and action limits that make the method executable. Test ordinary cases, ambiguous cases and consequential failures; missing information should change the workflow rather than be smoothed over. Ship with an owner, reviewer, change history and regression checks for revisions. Domain experts contribute the method and its reasons alongside the steps. Applying that process to advisor-sales preparation is our proposed transfer from Range’s planning use case. Adoption alone establishes neither a capacity gain nor business value; those require evaluation in the local workflow.</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Salesforce integration makes the assistant available in a useful context, but availability does not establish workflow value. Observe where reps begin, what information they copy, which colleagues they consult, which claims they verify and how they act after meetings. Choose one identifiable job, such as preparing for a meeting with a resolved advisor, and place the scoped packet in that record’s context. Compare similar existing and assisted cases, counterbalancing preparation order where feasible to reduce learning effects. Include preparation, checking, rework and post-meeting action in the baseline. Measure time to an accepted brief, active review and rework, useful questions, material omissions, return use and completed follow-through. Qualified opportunities and sales effects are separate outcome questions with their own attribution problems. They should not be inferred from a shorter preparation session.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roadmap is a sequence of working releases with evidence gates. The first slice observes CRM tasks, strengthens result grading, selects one domain and establishes definition and discovery examples. That produces trusted references, visible failure classes and a workflow baseline. The next working release adds glossary and data navigation with selected semantics, followed by explicit session state and follow-up checks; isolate their effects rather than changing everything together. Controlled expansion adds one bounded complex-question workflow and one rep-reviewed meeting packet, then pilots the complete journey. The evidence should include correct results, coverage, stage timing, scope carryover, consequential failures and total human effort. These are not fixed thirty-, sixty- or ninety-day promises. Owners, thresholds and timing remain to be agreed, and quality and effort determine whether expansion is justified.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personal project begins from a different point. The October fifteenth read-only review found semantic discovery, SQL-owned warehouse access, Python analysis over named saved data, typed complete datasets, lineage, immutable scope and report revisions. Deterministic comparisons, persistent artifacts, Stop and Resume, retries and portable replay are valuable existing capabilities. The paired evaluation harness already freezes receipts and fingerprints and protects boundary and first-attempt outcomes. Preserve those ownership and evidence paths rather than introducing another framework. The planned frontier is broader workspace reading and search followed by controlled authoring and checks connected to accepted evidence. This presentation does not report a new implementation or a fresh model or provider evaluation. The recommendations are focused extensions to the inspected foundation.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Three small boundaries deserve focused fixtures. First, canonical metric selection is optional at the tool boundary, and the general fanout guard iterates sum and average rather than ordinary count. KPI work should declare the counted population and measure meaning, with cases for counts, distinct counts, denominators and many-side joins; valid custom extracts should remain possible. Second, successful execution is required for completion, but the forecast descriptor is optional. A completed forecast should require saved predictions and the existing evaluation contract, or return a supported partial outcome. Third, empty or all-null Snowflake data should retain declared types rather than relying only on observed values. A successful script and a well-formed batch are useful checks, but neither establishes the full analytical claim. These are code-review opportunities identified in the dated review, not reproduced production incidents.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existing report cards already resolve stored evidence, while narrative and callout bodies and infographic values remain strings. Ordinary cards also allow free-form prefix and suffix units. This creates a boundary where a correct table can coexist with a wrong quantitative sentence or an unsupported currency label. Extend the declarative report contract with typed numeric spans and reuse the saved-cell and comparison resolvers. In the invented A17 example, the advisor’s negative two hundred thousand dollars must be the same in the card, sentence and callout; the firm’s positive five million belongs to a different scope. The binding should carry entity, period, units, snapshot and calculation, not just a formatted value. Acceptance means that changed evidence updates every bound appearance and that wrong-scope bindings and unsupported unit labels fail before saving.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Lineage and matching columns need complementary checks on meaning. The reviewed source SQL path retains canonical metric bindings, while saved-SQL reshaping omits that binding. Preserve identity through unambiguous projections and renames, but require a new justified meaning when a calculation scales a value or changes its aggregation. Refresh currently checks column names and types before copying the prior grain description. Add validation of declared keys, time bucket, aggregation or measure, scope and full-result key uniqueness. A daily-to-monthly refresh can retain the same physical schema while changing row meaning; duplicate keys or a changed measure can do the same. Reject or clarify those changes while permitting legitimate new values and typed empty results. Keep source completeness unknown when undeclared: save time and the last observed transaction are not evidence of a complete source.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useful extension to evaluation is to inspect the stored outcome. For counts and totals, recompute from named Parquet bindings and check denominators. For forecasts, inspect saved predictions and windows and recompute error using the existing forecast contract; the words holdout and MAE do not prove those operations happened. For reports, compare values, scope and units with accepted saved evidence. Retain the paired harness’s receipts, fingerprints and human review. Add reviewer and rubric identity, an adjudicated defect pack and separation of development, regression and final assessment by task family and exposure record. Turn failures into regression cases, then reviewed skill or definition updates; a user correction should not automatically become business truth. Extend token and active-time diagnostics with reviewer effort and known or estimated cost across all attempts per accepted task, keeping unknown costs explicit.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selected workspace direction becomes concrete through one assignment: find the retention definition, inspect the SQL, identify a denominator mistake, propose a patch and reconcile against approved saved evidence. Begin with bounded project reading and search within assignment-level source scope. Then add controlled authoring and checks with explicit tool permissions, keeping the existing coordinator, SQL and Python specialists and evidence stores. Workspace text is context; it does not by itself establish an accepted business definition or grant execution authority. The current subprocess has time and output bounds, which are not an isolation sandbox; broader shell work requires an execution-isolation design. This remains planned HANDOFF work rather than a delivered capability. Later artifact validation should exercise charts in a real browser and check disclosures, keyboard access, narrow layouts and print behavior. This presentation does not claim those browser checks were performed.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next decision is a bounded work product and the test that earns expansion. For Fidelity, bring representative questions, choose one sales domain, agree entity, metric and date definitions, and establish trusted reference results. Instrument stage latency and observe how reps prepare for an advisor meeting. For the personal agent, begin with one count or forecast correctness fixture, one bound quantitative lead or callout and one numerical outcome oracle, then connect one workspace assignment to a checked result. In both tracks, compare quality, consequential failures, total human effort and full known cost. Record whether to continue, revise or stop, including what remains uncertain. Accepted work is the unit of progress. The discussion should agree owners, thresholds and timing rather than treat this presentation as an assigned delivery commitment.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reference suite makes the accuracy contract diagnostic. Same-cardinality wrong values test false accuracy; duplicated joins test population and aggregation; advisor hierarchy and date-role cases test business scope. The ambiguous live question should retrieve definitions or clarify, while an unavailable measure should disclose the limit rather than invent coverage. Follow-up questions test deliberate state changes, stale evidence tests freshness, and denied-access cases test authority. A correctly denied action is a control success. Each case needs an expected clarification, supported result or refusal, not merely a fluency score. Keep reference answers outside runtime repair, review them independently and separate assessment families from tuning. These are proposed cases for a defect pack, not measured incident rates.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Agree populations and denominators before comparing systems. Task acceptance is accepted work over eligible assigned tasks in an agreed window, with rejected, abandoned and excluded outcomes visible. Quality combines typed-result equivalence and business-scope correctness, with critical defects reported separately. Latency includes median and tail times by stage and end to end, plus first-correct time for bounded work, attempts and timeouts. Human effort includes active preparation, review and rework, distinguished from waiting and accompanied by reviewer role and case mix. Cost includes known or explicitly estimated attempt, tool, data, review and support costs over accepted tasks; unknown components and assumptions must remain explicit. Measure later business effects separately. This is a measurement definition table, with no fabricated results, targets or return on investment.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code-reference table makes the personal roadmap reviewable at its owning boundary. Start count-grain work in semantic SQL and the text-to-SQL tool contract, forecast completion in the analysis tools, and empty-result typing in the Snowflake adapter. Narrative and unit binding span reporting schemas, renderer and comparison logic. Reshape and refresh live in text-to-SQL tools and presentation handling; outcome checks begin in the live evaluation tests and documented-example grader. HANDOFF and the coordinator explain the planned workspace direction and current scope. The application paths are relative to the data analytics agent package, while tests, scripts and HANDOFF are at repository root. These anchors are from the October fifteenth read-only review and identify starting points, not delivered changes or a provider study.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links provide a route back to the evidence behind the mechanisms. Conference sources cover Bridgewater’s task knowledge and temporal scope, Kepler’s checked numbers, Range’s expert-authored methods, Ramp’s complete-task comparisons, Contour’s credible alternative, and the broader ownership and authority context from Two Sigma and Wise. The technical references include Snowflake’s Verified Query Repository for reviewed examples, Databricks Genie quality guidance for curated semantics, Anthropic’s evaluation guidance for agent outcomes and Snowflake Cortex Code for workspace-oriented analytical engineering. Those sources support patterns; our local architecture and release choices remain recommendations. Fidelity’s baseline is user-reported, personal implementation claims come from the October fifteenth read-only review, and synthetic examples are labeled. No measured return on investment or speedup is asserted.</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i-engineer-application-dem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i-engineer-application-dem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en-US">
          <a:solidFill>
            <a:schemeClr val="tx1"/>
          </a:solidFill>
          <a:latin typeface="+mn-lt"/>
          <a:ea typeface="+mn-ea"/>
          <a:cs typeface="+mn-cs"/>
        </a:defRPr>
      </a:lvl9pPr>
    </p:bodyStyle>
    <p:otherStyle>
      <a:defPPr>
        <a:defRPr lang="en-US"/>
      </a:defPPr>
      <a:lvl1pPr marL="0" algn="l" defTabSz="457200" rtl="0" eaLnBrk="1" latinLnBrk="0" hangingPunct="1">
        <a:defRPr sz="1500" kern="1200" lang="en-US">
          <a:solidFill>
            <a:schemeClr val="tx1"/>
          </a:solidFill>
          <a:latin typeface="+mn-lt"/>
          <a:ea typeface="+mn-ea"/>
          <a:cs typeface="+mn-cs"/>
        </a:defRPr>
      </a:lvl1pPr>
      <a:lvl2pPr marL="457200" algn="l" defTabSz="457200" rtl="0" eaLnBrk="1" latinLnBrk="0" hangingPunct="1">
        <a:defRPr sz="1400" kern="1200" lang="en-US">
          <a:solidFill>
            <a:schemeClr val="tx1"/>
          </a:solidFill>
          <a:latin typeface="+mn-lt"/>
          <a:ea typeface="+mn-ea"/>
          <a:cs typeface="+mn-cs"/>
        </a:defRPr>
      </a:lvl2pPr>
      <a:lvl3pPr marL="914400" algn="l" defTabSz="457200" rtl="0" eaLnBrk="1" latinLnBrk="0" hangingPunct="1">
        <a:defRPr sz="1300" kern="1200" lang="en-US">
          <a:solidFill>
            <a:schemeClr val="tx1"/>
          </a:solidFill>
          <a:latin typeface="+mn-lt"/>
          <a:ea typeface="+mn-ea"/>
          <a:cs typeface="+mn-cs"/>
        </a:defRPr>
      </a:lvl3pPr>
      <a:lvl4pPr marL="1371600" algn="l" defTabSz="457200" rtl="0" eaLnBrk="1" latinLnBrk="0" hangingPunct="1">
        <a:defRPr sz="1200" kern="1200" lang="en-US">
          <a:solidFill>
            <a:schemeClr val="tx1"/>
          </a:solidFill>
          <a:latin typeface="+mn-lt"/>
          <a:ea typeface="+mn-ea"/>
          <a:cs typeface="+mn-cs"/>
        </a:defRPr>
      </a:lvl4pPr>
      <a:lvl5pPr marL="1828800" algn="l" defTabSz="457200" rtl="0" eaLnBrk="1" latinLnBrk="0" hangingPunct="1">
        <a:defRPr sz="1100" kern="1200" lang="en-US">
          <a:solidFill>
            <a:schemeClr val="tx1"/>
          </a:solidFill>
          <a:latin typeface="+mn-lt"/>
          <a:ea typeface="+mn-ea"/>
          <a:cs typeface="+mn-cs"/>
        </a:defRPr>
      </a:lvl5pPr>
      <a:lvl6pPr marL="2286000" algn="l" defTabSz="457200" rtl="0" eaLnBrk="1" latinLnBrk="0" hangingPunct="1">
        <a:defRPr sz="1050" kern="1200" lang="en-US">
          <a:solidFill>
            <a:schemeClr val="tx1"/>
          </a:solidFill>
          <a:latin typeface="+mn-lt"/>
          <a:ea typeface="+mn-ea"/>
          <a:cs typeface="+mn-cs"/>
        </a:defRPr>
      </a:lvl6pPr>
      <a:lvl7pPr marL="2743200" algn="l" defTabSz="457200" rtl="0" eaLnBrk="1" latinLnBrk="0" hangingPunct="1">
        <a:defRPr sz="950" kern="1200" lang="en-US">
          <a:solidFill>
            <a:schemeClr val="tx1"/>
          </a:solidFill>
          <a:latin typeface="+mn-lt"/>
          <a:ea typeface="+mn-ea"/>
          <a:cs typeface="+mn-cs"/>
        </a:defRPr>
      </a:lvl7pPr>
      <a:lvl8pPr marL="3200400" algn="l" defTabSz="457200" rtl="0" eaLnBrk="1" latinLnBrk="0" hangingPunct="1">
        <a:defRPr sz="850" kern="1200" lang="en-US">
          <a:solidFill>
            <a:schemeClr val="tx1"/>
          </a:solidFill>
          <a:latin typeface="+mn-lt"/>
          <a:ea typeface="+mn-ea"/>
          <a:cs typeface="+mn-cs"/>
        </a:defRPr>
      </a:lvl8pPr>
      <a:lvl9pPr marL="3657600" algn="l" defTabSz="457200" rtl="0" eaLnBrk="1" latinLnBrk="0" hangingPunct="1">
        <a:defRPr sz="8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ai.engineer/nyc/2026/schedule?session=a84ca3a8-cc2f-4b50-a635-fc380f6f04f6" TargetMode="External"/>
  <Relationship Id="rId3" Type="http://schemas.openxmlformats.org/officeDocument/2006/relationships/hyperlink" Target="https://ai.engineer/nyc/2026/schedule?session=2d29f925-f16b-41b3-8086-de0524829cbe" TargetMode="External"/>
  <Relationship Id="rId4" Type="http://schemas.openxmlformats.org/officeDocument/2006/relationships/hyperlink" Target="https://ai.engineer/nyc/2026/schedule?session=9b002687-09cf-42e2-9282-532ed9d0c184" TargetMode="External"/>
  <Relationship Id="rId5" Type="http://schemas.openxmlformats.org/officeDocument/2006/relationships/hyperlink" Target="https://ai.engineer/nyc/2026/schedule?session=4607dbbe-8f94-4b0e-91ce-257d1cfb5448" TargetMode="External"/>
  <Relationship Id="rId6" Type="http://schemas.openxmlformats.org/officeDocument/2006/relationships/hyperlink" Target="https://ai.engineer/nyc/2026/schedule?session=ae273f0b-db0f-4638-8ae3-05874bebf9ca" TargetMode="External"/>
  <Relationship Id="rId7" Type="http://schemas.openxmlformats.org/officeDocument/2006/relationships/hyperlink" Target="https://ai.engineer/nyc/2026/schedule" TargetMode="External"/>
  <Relationship Id="rId8" Type="http://schemas.openxmlformats.org/officeDocument/2006/relationships/hyperlink" Target="https://docs.snowflake.com/en/user-guide/views-semantic/verified-query-repository" TargetMode="External"/>
  <Relationship Id="rId9" Type="http://schemas.openxmlformats.org/officeDocument/2006/relationships/hyperlink" Target="https://docs.databricks.com/aws/en/genie-agents/tune-quality" TargetMode="External"/>
  <Relationship Id="rId10" Type="http://schemas.openxmlformats.org/officeDocument/2006/relationships/hyperlink" Target="https://www.anthropic.com/engineering/demystifying-evals-for-ai-agents" TargetMode="External"/>
  <Relationship Id="rId11" Type="http://schemas.openxmlformats.org/officeDocument/2006/relationships/hyperlink" Target="https://docs.snowflake.com/en/user-guide/cortex-code/cortex-code" TargetMode="External"/>
  <Relationship Id="rId12" Type="http://schemas.openxmlformats.org/officeDocument/2006/relationships/notesSlide" Target="../notesSlides/notesSlide2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opening-title"/>
          <p:cNvGrpSpPr/>
          <p:nvPr/>
        </p:nvGrpSpPr>
        <p:grpSpPr>
          <a:xfrm>
            <a:off x="443484" y="400050"/>
            <a:ext cx="5496276" cy="1803019"/>
            <a:chOff x="443484" y="400050"/>
            <a:chExt cx="5496276" cy="1803019"/>
          </a:xfrm>
        </p:grpSpPr>
        <p:sp>
          <p:nvSpPr>
            <p:cNvPr id="2" name="TextBox 2"/>
            <p:cNvSpPr txBox="1"/>
            <p:nvPr/>
          </p:nvSpPr>
          <p:spPr>
            <a:xfrm>
              <a:off x="451104" y="400050"/>
              <a:ext cx="3777842"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AI ENGINEER NYC 2026 / APPLICATION DEMO</a:t>
              </a:r>
            </a:p>
          </p:txBody>
        </p:sp>
        <p:sp>
          <p:nvSpPr>
            <p:cNvPr id="3" name="TextBox 3"/>
            <p:cNvSpPr txBox="1"/>
            <p:nvPr/>
          </p:nvSpPr>
          <p:spPr>
            <a:xfrm>
              <a:off x="443484" y="927100"/>
              <a:ext cx="5177929" cy="528066"/>
            </a:xfrm>
            <a:prstGeom prst="rect">
              <a:avLst/>
            </a:prstGeom>
            <a:noFill/>
            <a:ln>
              <a:noFill/>
            </a:ln>
          </p:spPr>
          <p:txBody>
            <a:bodyPr wrap="none" lIns="0" tIns="0" rIns="0" bIns="0" anchor="t" anchorCtr="0">
              <a:spAutoFit/>
            </a:bodyPr>
            <a:lstStyle/>
            <a:p>
              <a:pPr algn="l"/>
              <a:r>
                <a:rPr lang="en-US" sz="2700" dirty="0">
                  <a:solidFill>
                    <a:srgbClr val="FFFDF7"/>
                  </a:solidFill>
                  <a:latin typeface="+mj-lt"/>
                  <a:ea typeface="+mj-ea"/>
                  <a:cs typeface="+mj-cs"/>
                </a:rPr>
                <a:t>From queries to accepted work</a:t>
              </a:r>
            </a:p>
          </p:txBody>
        </p:sp>
        <p:sp>
          <p:nvSpPr>
            <p:cNvPr id="4" name="TextBox 4"/>
            <p:cNvSpPr txBox="1"/>
            <p:nvPr/>
          </p:nvSpPr>
          <p:spPr>
            <a:xfrm>
              <a:off x="448056" y="1527175"/>
              <a:ext cx="5491704" cy="675894"/>
            </a:xfrm>
            <a:prstGeom prst="rect">
              <a:avLst/>
            </a:prstGeom>
            <a:noFill/>
            <a:ln>
              <a:noFill/>
            </a:ln>
          </p:spPr>
          <p:txBody>
            <a:bodyPr wrap="none" lIns="0" tIns="0" rIns="0" bIns="0" anchor="t" anchorCtr="0">
              <a:spAutoFit/>
            </a:bodyPr>
            <a:lstStyle/>
            <a:p>
              <a:pPr algn="l">
                <a:lnSpc>
                  <a:spcPts val="2550"/>
                </a:lnSpc>
              </a:pPr>
              <a:r>
                <a:rPr lang="en-US" sz="1800" dirty="0">
                  <a:solidFill>
                    <a:srgbClr val="FFFDF7"/>
                  </a:solidFill>
                  <a:latin typeface="+mj-lt"/>
                  <a:ea typeface="+mj-ea"/>
                  <a:cs typeface="+mj-cs"/>
                </a:rPr>
                <a:t>Conference lessons applied to Fidelity institutional sales</a:t>
              </a:r>
              <a:br>
                <a:rPr lang="en-US" sz="1800" dirty="0">
                  <a:solidFill>
                    <a:srgbClr val="FFFDF7"/>
                  </a:solidFill>
                  <a:latin typeface="+mj-lt"/>
                  <a:ea typeface="+mj-ea"/>
                  <a:cs typeface="+mj-cs"/>
                </a:rPr>
              </a:br>
              <a:r>
                <a:rPr lang="en-US" sz="1800" dirty="0">
                  <a:solidFill>
                    <a:srgbClr val="FFFDF7"/>
                  </a:solidFill>
                  <a:latin typeface="+mj-lt"/>
                  <a:ea typeface="+mj-ea"/>
                  <a:cs typeface="+mj-cs"/>
                </a:rPr>
                <a:t>and a personal analytics workspace</a:t>
              </a:r>
            </a:p>
          </p:txBody>
        </p:sp>
      </p:grpSp>
      <p:grpSp>
        <p:nvGrpSpPr>
          <p:cNvPr id="9" name="shared-promise"/>
          <p:cNvGrpSpPr/>
          <p:nvPr/>
        </p:nvGrpSpPr>
        <p:grpSpPr>
          <a:xfrm>
            <a:off x="448818" y="2771775"/>
            <a:ext cx="11285982" cy="845820"/>
            <a:chOff x="448818" y="2771775"/>
            <a:chExt cx="11285982" cy="845820"/>
          </a:xfrm>
        </p:grpSpPr>
        <p:sp>
          <p:nvSpPr>
            <p:cNvPr id="6" name="Line 6"/>
            <p:cNvSpPr/>
            <p:nvPr/>
          </p:nvSpPr>
          <p:spPr>
            <a:xfrm>
              <a:off x="457200" y="2771775"/>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7" name="TextBox 7"/>
            <p:cNvSpPr txBox="1"/>
            <p:nvPr/>
          </p:nvSpPr>
          <p:spPr>
            <a:xfrm>
              <a:off x="448818" y="2968625"/>
              <a:ext cx="6098839"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Build the next release around a useful, checked work product.</a:t>
              </a:r>
            </a:p>
          </p:txBody>
        </p:sp>
        <p:sp>
          <p:nvSpPr>
            <p:cNvPr id="8" name="TextBox 8"/>
            <p:cNvSpPr txBox="1"/>
            <p:nvPr/>
          </p:nvSpPr>
          <p:spPr>
            <a:xfrm>
              <a:off x="449580" y="3324225"/>
              <a:ext cx="5970827" cy="293370"/>
            </a:xfrm>
            <a:prstGeom prst="rect">
              <a:avLst/>
            </a:prstGeom>
            <a:noFill/>
            <a:ln>
              <a:noFill/>
            </a:ln>
          </p:spPr>
          <p:txBody>
            <a:bodyPr wrap="none" lIns="0" tIns="0" rIns="0" bIns="0" anchor="t" anchorCtr="0">
              <a:spAutoFit/>
            </a:bodyPr>
            <a:lstStyle/>
            <a:p>
              <a:pPr algn="l"/>
              <a:r>
                <a:rPr lang="en-US" sz="1500" dirty="0">
                  <a:solidFill>
                    <a:srgbClr val="E7F0EA"/>
                  </a:solidFill>
                  <a:latin typeface="+mn-lt"/>
                  <a:ea typeface="+mn-ea"/>
                  <a:cs typeface="+mn-cs"/>
                </a:rPr>
                <a:t>Preserve the evidence that makes the decision to expand credible.</a:t>
              </a:r>
            </a:p>
          </p:txBody>
        </p:sp>
      </p:grpSp>
      <p:grpSp>
        <p:nvGrpSpPr>
          <p:cNvPr id="14" name="fidelity-route"/>
          <p:cNvGrpSpPr/>
          <p:nvPr/>
        </p:nvGrpSpPr>
        <p:grpSpPr>
          <a:xfrm>
            <a:off x="457200" y="3952875"/>
            <a:ext cx="5334000" cy="1666875"/>
            <a:chOff x="457200" y="3952875"/>
            <a:chExt cx="5334000" cy="1666875"/>
          </a:xfrm>
        </p:grpSpPr>
        <p:sp>
          <p:nvSpPr>
            <p:cNvPr id="10" name="Rectangle 10"/>
            <p:cNvSpPr/>
            <p:nvPr/>
          </p:nvSpPr>
          <p:spPr>
            <a:xfrm>
              <a:off x="457200" y="3952875"/>
              <a:ext cx="5334000" cy="1666875"/>
            </a:xfrm>
            <a:prstGeom prst="rect">
              <a:avLst/>
            </a:prstGeom>
            <a:noFill/>
            <a:ln w="9525">
              <a:solidFill>
                <a:srgbClr val="50616A"/>
              </a:solidFill>
            </a:ln>
          </p:spPr>
        </p:sp>
        <p:sp>
          <p:nvSpPr>
            <p:cNvPr id="11" name="TextBox 11"/>
            <p:cNvSpPr txBox="1"/>
            <p:nvPr/>
          </p:nvSpPr>
          <p:spPr>
            <a:xfrm>
              <a:off x="679704" y="4124325"/>
              <a:ext cx="1093569"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01 / FIDELITY</a:t>
              </a:r>
            </a:p>
          </p:txBody>
        </p:sp>
        <p:sp>
          <p:nvSpPr>
            <p:cNvPr id="12" name="TextBox 12"/>
            <p:cNvSpPr txBox="1"/>
            <p:nvPr/>
          </p:nvSpPr>
          <p:spPr>
            <a:xfrm>
              <a:off x="676656" y="4438650"/>
              <a:ext cx="4061180"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A conversational sales-data assistant</a:t>
              </a:r>
            </a:p>
          </p:txBody>
        </p:sp>
        <p:sp>
          <p:nvSpPr>
            <p:cNvPr id="13" name="TextBox 13"/>
            <p:cNvSpPr txBox="1"/>
            <p:nvPr/>
          </p:nvSpPr>
          <p:spPr>
            <a:xfrm>
              <a:off x="678180" y="4845050"/>
              <a:ext cx="3456546"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Discover, clarify, investigate and prepare</a:t>
              </a:r>
              <a:br>
                <a:rPr lang="en-US" sz="1500" dirty="0">
                  <a:solidFill>
                    <a:srgbClr val="E7F0EA"/>
                  </a:solidFill>
                  <a:latin typeface="+mn-lt"/>
                  <a:ea typeface="+mn-ea"/>
                  <a:cs typeface="+mn-cs"/>
                </a:rPr>
              </a:br>
              <a:r>
                <a:rPr lang="en-US" sz="1500" dirty="0">
                  <a:solidFill>
                    <a:srgbClr val="E7F0EA"/>
                  </a:solidFill>
                  <a:latin typeface="+mn-lt"/>
                  <a:ea typeface="+mn-ea"/>
                  <a:cs typeface="+mn-cs"/>
                </a:rPr>
                <a:t>within reviewed business definitions.</a:t>
              </a:r>
            </a:p>
          </p:txBody>
        </p:sp>
      </p:grpSp>
      <p:grpSp>
        <p:nvGrpSpPr>
          <p:cNvPr id="19" name="personal-route"/>
          <p:cNvGrpSpPr/>
          <p:nvPr/>
        </p:nvGrpSpPr>
        <p:grpSpPr>
          <a:xfrm>
            <a:off x="6096000" y="3952875"/>
            <a:ext cx="5638800" cy="1666875"/>
            <a:chOff x="6096000" y="3952875"/>
            <a:chExt cx="5638800" cy="1666875"/>
          </a:xfrm>
        </p:grpSpPr>
        <p:sp>
          <p:nvSpPr>
            <p:cNvPr id="15" name="Rectangle 15"/>
            <p:cNvSpPr/>
            <p:nvPr/>
          </p:nvSpPr>
          <p:spPr>
            <a:xfrm>
              <a:off x="6096000" y="3952875"/>
              <a:ext cx="5638800" cy="1666875"/>
            </a:xfrm>
            <a:prstGeom prst="rect">
              <a:avLst/>
            </a:prstGeom>
            <a:solidFill>
              <a:schemeClr val="accent2"/>
            </a:solidFill>
            <a:ln>
              <a:noFill/>
            </a:ln>
          </p:spPr>
        </p:sp>
        <p:sp>
          <p:nvSpPr>
            <p:cNvPr id="16" name="TextBox 16"/>
            <p:cNvSpPr txBox="1"/>
            <p:nvPr/>
          </p:nvSpPr>
          <p:spPr>
            <a:xfrm>
              <a:off x="6318504" y="4124325"/>
              <a:ext cx="2905319"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02 / PERSONAL ANALYTICS AGENT</a:t>
              </a:r>
            </a:p>
          </p:txBody>
        </p:sp>
        <p:sp>
          <p:nvSpPr>
            <p:cNvPr id="17" name="TextBox 17"/>
            <p:cNvSpPr txBox="1"/>
            <p:nvPr/>
          </p:nvSpPr>
          <p:spPr>
            <a:xfrm>
              <a:off x="6315456" y="4438650"/>
              <a:ext cx="4537176"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Evidence guarantees through completion</a:t>
              </a:r>
            </a:p>
          </p:txBody>
        </p:sp>
        <p:sp>
          <p:nvSpPr>
            <p:cNvPr id="18" name="TextBox 18"/>
            <p:cNvSpPr txBox="1"/>
            <p:nvPr/>
          </p:nvSpPr>
          <p:spPr>
            <a:xfrm>
              <a:off x="6316980" y="4845050"/>
              <a:ext cx="3743173"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Connect project understanding to a checked</a:t>
              </a:r>
              <a:br>
                <a:rPr lang="en-US" sz="1500" dirty="0">
                  <a:solidFill>
                    <a:srgbClr val="FFFDF7"/>
                  </a:solidFill>
                  <a:latin typeface="+mn-lt"/>
                  <a:ea typeface="+mn-ea"/>
                  <a:cs typeface="+mn-cs"/>
                </a:rPr>
              </a:br>
              <a:r>
                <a:rPr lang="en-US" sz="1500" dirty="0">
                  <a:solidFill>
                    <a:srgbClr val="FFFDF7"/>
                  </a:solidFill>
                  <a:latin typeface="+mn-lt"/>
                  <a:ea typeface="+mn-ea"/>
                  <a:cs typeface="+mn-cs"/>
                </a:rPr>
                <a:t>analytical result and a consistent report.</a:t>
              </a:r>
            </a:p>
          </p:txBody>
        </p:sp>
      </p:grpSp>
      <p:grpSp>
        <p:nvGrpSpPr>
          <p:cNvPr id="22" name="footer"/>
          <p:cNvGrpSpPr/>
          <p:nvPr/>
        </p:nvGrpSpPr>
        <p:grpSpPr>
          <a:xfrm>
            <a:off x="452438" y="6324600"/>
            <a:ext cx="11287124" cy="366712"/>
            <a:chOff x="452438" y="6324600"/>
            <a:chExt cx="11287124" cy="366712"/>
          </a:xfrm>
        </p:grpSpPr>
        <p:sp>
          <p:nvSpPr>
            <p:cNvPr id="20" name="TextBox 20"/>
            <p:cNvSpPr txBox="1"/>
            <p:nvPr/>
          </p:nvSpPr>
          <p:spPr>
            <a:xfrm>
              <a:off x="452438" y="6324600"/>
              <a:ext cx="6389767"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For data scientists, AI engineers and technical leads • 40 minutes + discussion • Detailed slides for independent review</a:t>
              </a:r>
            </a:p>
          </p:txBody>
        </p:sp>
        <p:sp>
          <p:nvSpPr>
            <p:cNvPr id="21" name="TextBox 21"/>
            <p:cNvSpPr txBox="1"/>
            <p:nvPr/>
          </p:nvSpPr>
          <p:spPr>
            <a:xfrm>
              <a:off x="11359512" y="651510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01 / 28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643723" cy="1169416"/>
            <a:chOff x="443484" y="371475"/>
            <a:chExt cx="5643723" cy="1169416"/>
          </a:xfrm>
        </p:grpSpPr>
        <p:sp>
          <p:nvSpPr>
            <p:cNvPr id="2" name="TextBox 2"/>
            <p:cNvSpPr txBox="1"/>
            <p:nvPr/>
          </p:nvSpPr>
          <p:spPr>
            <a:xfrm>
              <a:off x="451104" y="371475"/>
              <a:ext cx="206044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THE RECOMMENDATION</a:t>
              </a:r>
            </a:p>
          </p:txBody>
        </p:sp>
        <p:sp>
          <p:nvSpPr>
            <p:cNvPr id="3" name="TextBox 3"/>
            <p:cNvSpPr txBox="1"/>
            <p:nvPr/>
          </p:nvSpPr>
          <p:spPr>
            <a:xfrm>
              <a:off x="443484" y="603250"/>
              <a:ext cx="5643723"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Two release paths turn the conference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into practical decisions</a:t>
              </a:r>
            </a:p>
          </p:txBody>
        </p:sp>
      </p:grpSp>
      <p:grpSp>
        <p:nvGrpSpPr>
          <p:cNvPr id="10" name="fidelity-priorities"/>
          <p:cNvGrpSpPr/>
          <p:nvPr/>
        </p:nvGrpSpPr>
        <p:grpSpPr>
          <a:xfrm>
            <a:off x="457200" y="1790700"/>
            <a:ext cx="5334000" cy="3219450"/>
            <a:chOff x="457200" y="1790700"/>
            <a:chExt cx="5334000" cy="3219450"/>
          </a:xfrm>
        </p:grpSpPr>
        <p:sp>
          <p:nvSpPr>
            <p:cNvPr id="5" name="Rectangle 5"/>
            <p:cNvSpPr/>
            <p:nvPr/>
          </p:nvSpPr>
          <p:spPr>
            <a:xfrm>
              <a:off x="457200" y="1790700"/>
              <a:ext cx="5334000" cy="3219450"/>
            </a:xfrm>
            <a:prstGeom prst="rect">
              <a:avLst/>
            </a:prstGeom>
            <a:solidFill>
              <a:schemeClr val="lt2"/>
            </a:solidFill>
            <a:ln>
              <a:noFill/>
            </a:ln>
          </p:spPr>
        </p:sp>
        <p:sp>
          <p:nvSpPr>
            <p:cNvPr id="6" name="TextBox 6"/>
            <p:cNvSpPr txBox="1"/>
            <p:nvPr/>
          </p:nvSpPr>
          <p:spPr>
            <a:xfrm>
              <a:off x="676656" y="1933575"/>
              <a:ext cx="379060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Fidelity: expand the complete task</a:t>
              </a:r>
            </a:p>
          </p:txBody>
        </p:sp>
        <p:sp>
          <p:nvSpPr>
            <p:cNvPr id="7" name="TextBox 7"/>
            <p:cNvSpPr txBox="1"/>
            <p:nvPr/>
          </p:nvSpPr>
          <p:spPr>
            <a:xfrm>
              <a:off x="678180" y="2378075"/>
              <a:ext cx="397619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Start with grounded definitions, data navigation</a:t>
              </a:r>
              <a:br>
                <a:rPr lang="en-US" sz="1500" dirty="0">
                  <a:solidFill>
                    <a:schemeClr val="dk1"/>
                  </a:solidFill>
                  <a:latin typeface="+mn-lt"/>
                  <a:ea typeface="+mn-ea"/>
                  <a:cs typeface="+mn-cs"/>
                </a:rPr>
              </a:br>
              <a:r>
                <a:rPr lang="en-US" sz="1500" dirty="0">
                  <a:solidFill>
                    <a:schemeClr val="dk1"/>
                  </a:solidFill>
                  <a:latin typeface="+mn-lt"/>
                  <a:ea typeface="+mn-ea"/>
                  <a:cs typeface="+mn-cs"/>
                </a:rPr>
                <a:t>and question-scoped semantic context.</a:t>
              </a:r>
            </a:p>
          </p:txBody>
        </p:sp>
        <p:sp>
          <p:nvSpPr>
            <p:cNvPr id="8" name="TextBox 8"/>
            <p:cNvSpPr txBox="1"/>
            <p:nvPr/>
          </p:nvSpPr>
          <p:spPr>
            <a:xfrm>
              <a:off x="678180" y="3168650"/>
              <a:ext cx="421991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Then add explicit conversation state and bounded</a:t>
              </a:r>
              <a:br>
                <a:rPr lang="en-US" sz="1500" dirty="0">
                  <a:solidFill>
                    <a:schemeClr val="dk1"/>
                  </a:solidFill>
                  <a:latin typeface="+mn-lt"/>
                  <a:ea typeface="+mn-ea"/>
                  <a:cs typeface="+mn-cs"/>
                </a:rPr>
              </a:br>
              <a:r>
                <a:rPr lang="en-US" sz="1500" dirty="0">
                  <a:solidFill>
                    <a:schemeClr val="dk1"/>
                  </a:solidFill>
                  <a:latin typeface="+mn-lt"/>
                  <a:ea typeface="+mn-ea"/>
                  <a:cs typeface="+mn-cs"/>
                </a:rPr>
                <a:t>investigation for complex questions.</a:t>
              </a:r>
            </a:p>
          </p:txBody>
        </p:sp>
        <p:sp>
          <p:nvSpPr>
            <p:cNvPr id="9" name="TextBox 9"/>
            <p:cNvSpPr txBox="1"/>
            <p:nvPr/>
          </p:nvSpPr>
          <p:spPr>
            <a:xfrm>
              <a:off x="678180" y="3959225"/>
              <a:ext cx="366868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Pilot one rep-reviewed meeting-preparation</a:t>
              </a:r>
              <a:br>
                <a:rPr lang="en-US" sz="1500" dirty="0">
                  <a:solidFill>
                    <a:schemeClr val="dk1"/>
                  </a:solidFill>
                  <a:latin typeface="+mn-lt"/>
                  <a:ea typeface="+mn-ea"/>
                  <a:cs typeface="+mn-cs"/>
                </a:rPr>
              </a:br>
              <a:r>
                <a:rPr lang="en-US" sz="1500" dirty="0">
                  <a:solidFill>
                    <a:schemeClr val="dk1"/>
                  </a:solidFill>
                  <a:latin typeface="+mn-lt"/>
                  <a:ea typeface="+mn-ea"/>
                  <a:cs typeface="+mn-cs"/>
                </a:rPr>
                <a:t>journey in the Salesforce workflow.</a:t>
              </a:r>
            </a:p>
          </p:txBody>
        </p:sp>
      </p:grpSp>
      <p:grpSp>
        <p:nvGrpSpPr>
          <p:cNvPr id="15" name="personal-priorities"/>
          <p:cNvGrpSpPr/>
          <p:nvPr/>
        </p:nvGrpSpPr>
        <p:grpSpPr>
          <a:xfrm>
            <a:off x="6315456" y="1933575"/>
            <a:ext cx="4275608" cy="2585720"/>
            <a:chOff x="6315456" y="1933575"/>
            <a:chExt cx="4275608" cy="2585720"/>
          </a:xfrm>
        </p:grpSpPr>
        <p:sp>
          <p:nvSpPr>
            <p:cNvPr id="11" name="TextBox 11"/>
            <p:cNvSpPr txBox="1"/>
            <p:nvPr/>
          </p:nvSpPr>
          <p:spPr>
            <a:xfrm>
              <a:off x="6315456" y="1933575"/>
              <a:ext cx="4275608"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Personal agent: strengthen completion</a:t>
              </a:r>
            </a:p>
          </p:txBody>
        </p:sp>
        <p:sp>
          <p:nvSpPr>
            <p:cNvPr id="12" name="TextBox 12"/>
            <p:cNvSpPr txBox="1"/>
            <p:nvPr/>
          </p:nvSpPr>
          <p:spPr>
            <a:xfrm>
              <a:off x="6316980" y="2378075"/>
              <a:ext cx="420871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Close count and forecast correctness boundaries;</a:t>
              </a:r>
              <a:br>
                <a:rPr lang="en-US" sz="1500" dirty="0">
                  <a:solidFill>
                    <a:schemeClr val="dk1"/>
                  </a:solidFill>
                  <a:latin typeface="+mn-lt"/>
                  <a:ea typeface="+mn-ea"/>
                  <a:cs typeface="+mn-cs"/>
                </a:rPr>
              </a:br>
              <a:r>
                <a:rPr lang="en-US" sz="1500" dirty="0">
                  <a:solidFill>
                    <a:schemeClr val="dk1"/>
                  </a:solidFill>
                  <a:latin typeface="+mn-lt"/>
                  <a:ea typeface="+mn-ea"/>
                  <a:cs typeface="+mn-cs"/>
                </a:rPr>
                <a:t>bind narrative numbers to saved evidence.</a:t>
              </a:r>
            </a:p>
          </p:txBody>
        </p:sp>
        <p:sp>
          <p:nvSpPr>
            <p:cNvPr id="13" name="TextBox 13"/>
            <p:cNvSpPr txBox="1"/>
            <p:nvPr/>
          </p:nvSpPr>
          <p:spPr>
            <a:xfrm>
              <a:off x="6316980" y="3168650"/>
              <a:ext cx="3859225"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Preserve metric identity and grain through</a:t>
              </a:r>
              <a:br>
                <a:rPr lang="en-US" sz="1500" dirty="0">
                  <a:solidFill>
                    <a:schemeClr val="dk1"/>
                  </a:solidFill>
                  <a:latin typeface="+mn-lt"/>
                  <a:ea typeface="+mn-ea"/>
                  <a:cs typeface="+mn-cs"/>
                </a:rPr>
              </a:br>
              <a:r>
                <a:rPr lang="en-US" sz="1500" dirty="0">
                  <a:solidFill>
                    <a:schemeClr val="dk1"/>
                  </a:solidFill>
                  <a:latin typeface="+mn-lt"/>
                  <a:ea typeface="+mn-ea"/>
                  <a:cs typeface="+mn-cs"/>
                </a:rPr>
                <a:t>transformation, refresh and report generation.</a:t>
              </a:r>
            </a:p>
          </p:txBody>
        </p:sp>
        <p:sp>
          <p:nvSpPr>
            <p:cNvPr id="14" name="TextBox 14"/>
            <p:cNvSpPr txBox="1"/>
            <p:nvPr/>
          </p:nvSpPr>
          <p:spPr>
            <a:xfrm>
              <a:off x="6316980" y="3959225"/>
              <a:ext cx="398602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Use numerical outcome oracles, then complete</a:t>
              </a:r>
              <a:br>
                <a:rPr lang="en-US" sz="1500" dirty="0">
                  <a:solidFill>
                    <a:schemeClr val="dk1"/>
                  </a:solidFill>
                  <a:latin typeface="+mn-lt"/>
                  <a:ea typeface="+mn-ea"/>
                  <a:cs typeface="+mn-cs"/>
                </a:rPr>
              </a:br>
              <a:r>
                <a:rPr lang="en-US" sz="1500" dirty="0">
                  <a:solidFill>
                    <a:schemeClr val="dk1"/>
                  </a:solidFill>
                  <a:latin typeface="+mn-lt"/>
                  <a:ea typeface="+mn-ea"/>
                  <a:cs typeface="+mn-cs"/>
                </a:rPr>
                <a:t>one workspace-to-checked-result journey.</a:t>
              </a:r>
            </a:p>
          </p:txBody>
        </p:sp>
      </p:grpSp>
      <p:grpSp>
        <p:nvGrpSpPr>
          <p:cNvPr id="19" name="shared-release-test"/>
          <p:cNvGrpSpPr/>
          <p:nvPr/>
        </p:nvGrpSpPr>
        <p:grpSpPr>
          <a:xfrm>
            <a:off x="457200" y="5286375"/>
            <a:ext cx="11277600" cy="809625"/>
            <a:chOff x="457200" y="5286375"/>
            <a:chExt cx="11277600" cy="809625"/>
          </a:xfrm>
        </p:grpSpPr>
        <p:sp>
          <p:nvSpPr>
            <p:cNvPr id="16" name="Rectangle 16"/>
            <p:cNvSpPr/>
            <p:nvPr/>
          </p:nvSpPr>
          <p:spPr>
            <a:xfrm>
              <a:off x="457200" y="5286375"/>
              <a:ext cx="11277600" cy="809625"/>
            </a:xfrm>
            <a:prstGeom prst="rect">
              <a:avLst/>
            </a:prstGeom>
            <a:solidFill>
              <a:schemeClr val="accent1"/>
            </a:solidFill>
            <a:ln>
              <a:noFill/>
            </a:ln>
          </p:spPr>
        </p:sp>
        <p:sp>
          <p:nvSpPr>
            <p:cNvPr id="17" name="TextBox 17"/>
            <p:cNvSpPr txBox="1"/>
            <p:nvPr/>
          </p:nvSpPr>
          <p:spPr>
            <a:xfrm>
              <a:off x="677418" y="5397500"/>
              <a:ext cx="444364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The same release test applies to both tracks:</a:t>
              </a:r>
            </a:p>
          </p:txBody>
        </p:sp>
        <p:sp>
          <p:nvSpPr>
            <p:cNvPr id="18" name="TextBox 18"/>
            <p:cNvSpPr txBox="1"/>
            <p:nvPr/>
          </p:nvSpPr>
          <p:spPr>
            <a:xfrm>
              <a:off x="678180" y="5715000"/>
              <a:ext cx="7474251"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accepted work + total human effort + full known cost + consequential failure modes.</a:t>
              </a:r>
            </a:p>
          </p:txBody>
        </p:sp>
      </p:grpSp>
      <p:grpSp>
        <p:nvGrpSpPr>
          <p:cNvPr id="22" name="footer"/>
          <p:cNvGrpSpPr/>
          <p:nvPr/>
        </p:nvGrpSpPr>
        <p:grpSpPr>
          <a:xfrm>
            <a:off x="452438" y="6419850"/>
            <a:ext cx="11287124" cy="176212"/>
            <a:chOff x="452438" y="6419850"/>
            <a:chExt cx="11287124" cy="176212"/>
          </a:xfrm>
        </p:grpSpPr>
        <p:sp>
          <p:nvSpPr>
            <p:cNvPr id="20" name="TextBox 20"/>
            <p:cNvSpPr txBox="1"/>
            <p:nvPr/>
          </p:nvSpPr>
          <p:spPr>
            <a:xfrm>
              <a:off x="452438" y="6419850"/>
              <a:ext cx="555664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Recommendations based on the application roadmap; proposed local designs, not demonstrated gains.</a:t>
              </a:r>
            </a:p>
          </p:txBody>
        </p:sp>
        <p:sp>
          <p:nvSpPr>
            <p:cNvPr id="21" name="TextBox 21"/>
            <p:cNvSpPr txBox="1"/>
            <p:nvPr/>
          </p:nvSpPr>
          <p:spPr>
            <a:xfrm>
              <a:off x="11359512" y="64198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02 / 28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175321" cy="1169416"/>
            <a:chOff x="443484" y="371475"/>
            <a:chExt cx="5175321" cy="1169416"/>
          </a:xfrm>
        </p:grpSpPr>
        <p:sp>
          <p:nvSpPr>
            <p:cNvPr id="2" name="TextBox 2"/>
            <p:cNvSpPr txBox="1"/>
            <p:nvPr/>
          </p:nvSpPr>
          <p:spPr>
            <a:xfrm>
              <a:off x="451104" y="371475"/>
              <a:ext cx="241141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TRANSFER THE MECHANISM</a:t>
              </a:r>
            </a:p>
          </p:txBody>
        </p:sp>
        <p:sp>
          <p:nvSpPr>
            <p:cNvPr id="3" name="TextBox 3"/>
            <p:cNvSpPr txBox="1"/>
            <p:nvPr/>
          </p:nvSpPr>
          <p:spPr>
            <a:xfrm>
              <a:off x="443484" y="603250"/>
              <a:ext cx="517532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Six company mechanisms translate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into reusable engineering practices</a:t>
              </a:r>
            </a:p>
          </p:txBody>
        </p:sp>
      </p:grpSp>
      <p:grpSp>
        <p:nvGrpSpPr>
          <p:cNvPr id="8" name="bridgewater"/>
          <p:cNvGrpSpPr/>
          <p:nvPr/>
        </p:nvGrpSpPr>
        <p:grpSpPr>
          <a:xfrm>
            <a:off x="448056" y="1790700"/>
            <a:ext cx="5343144" cy="1052195"/>
            <a:chOff x="448056" y="1790700"/>
            <a:chExt cx="5343144" cy="1052195"/>
          </a:xfrm>
        </p:grpSpPr>
        <p:sp>
          <p:nvSpPr>
            <p:cNvPr id="5" name="Line 5"/>
            <p:cNvSpPr/>
            <p:nvPr/>
          </p:nvSpPr>
          <p:spPr>
            <a:xfrm>
              <a:off x="457200" y="17907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6" name="TextBox 6"/>
            <p:cNvSpPr txBox="1"/>
            <p:nvPr/>
          </p:nvSpPr>
          <p:spPr>
            <a:xfrm>
              <a:off x="448056" y="1885950"/>
              <a:ext cx="368308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Bridgewater / evidence packages</a:t>
              </a:r>
            </a:p>
          </p:txBody>
        </p:sp>
        <p:sp>
          <p:nvSpPr>
            <p:cNvPr id="7" name="TextBox 7"/>
            <p:cNvSpPr txBox="1"/>
            <p:nvPr/>
          </p:nvSpPr>
          <p:spPr>
            <a:xfrm>
              <a:off x="449580" y="2282825"/>
              <a:ext cx="427207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Task-specific knowledge and time scoping support</a:t>
              </a:r>
              <a:br>
                <a:rPr lang="en-US" sz="1500" dirty="0">
                  <a:solidFill>
                    <a:schemeClr val="dk1"/>
                  </a:solidFill>
                  <a:latin typeface="+mn-lt"/>
                  <a:ea typeface="+mn-ea"/>
                  <a:cs typeface="+mn-cs"/>
                </a:rPr>
              </a:br>
              <a:r>
                <a:rPr lang="en-US" sz="1500" dirty="0">
                  <a:solidFill>
                    <a:schemeClr val="dk1"/>
                  </a:solidFill>
                  <a:latin typeface="+mn-lt"/>
                  <a:ea typeface="+mn-ea"/>
                  <a:cs typeface="+mn-cs"/>
                </a:rPr>
                <a:t>relevant evidence and concise human briefs.</a:t>
              </a:r>
            </a:p>
          </p:txBody>
        </p:sp>
      </p:grpSp>
      <p:grpSp>
        <p:nvGrpSpPr>
          <p:cNvPr id="12" name="kepler"/>
          <p:cNvGrpSpPr/>
          <p:nvPr/>
        </p:nvGrpSpPr>
        <p:grpSpPr>
          <a:xfrm>
            <a:off x="6086856" y="1790700"/>
            <a:ext cx="5647944" cy="1052195"/>
            <a:chOff x="6086856" y="1790700"/>
            <a:chExt cx="5647944" cy="1052195"/>
          </a:xfrm>
        </p:grpSpPr>
        <p:sp>
          <p:nvSpPr>
            <p:cNvPr id="9" name="Line 9"/>
            <p:cNvSpPr/>
            <p:nvPr/>
          </p:nvSpPr>
          <p:spPr>
            <a:xfrm>
              <a:off x="6096000" y="1790700"/>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0" name="TextBox 10"/>
            <p:cNvSpPr txBox="1"/>
            <p:nvPr/>
          </p:nvSpPr>
          <p:spPr>
            <a:xfrm>
              <a:off x="6086856" y="1885950"/>
              <a:ext cx="311273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Kepler / grounded numbers</a:t>
              </a:r>
            </a:p>
          </p:txBody>
        </p:sp>
        <p:sp>
          <p:nvSpPr>
            <p:cNvPr id="11" name="TextBox 11"/>
            <p:cNvSpPr txBox="1"/>
            <p:nvPr/>
          </p:nvSpPr>
          <p:spPr>
            <a:xfrm>
              <a:off x="6088380" y="2282825"/>
              <a:ext cx="4145394"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Typed facts, code arithmetic and citation checks</a:t>
              </a:r>
              <a:br>
                <a:rPr lang="en-US" sz="1500" dirty="0">
                  <a:solidFill>
                    <a:schemeClr val="dk1"/>
                  </a:solidFill>
                  <a:latin typeface="+mn-lt"/>
                  <a:ea typeface="+mn-ea"/>
                  <a:cs typeface="+mn-cs"/>
                </a:rPr>
              </a:br>
              <a:r>
                <a:rPr lang="en-US" sz="1500" dirty="0">
                  <a:solidFill>
                    <a:schemeClr val="dk1"/>
                  </a:solidFill>
                  <a:latin typeface="+mn-lt"/>
                  <a:ea typeface="+mn-ea"/>
                  <a:cs typeface="+mn-cs"/>
                </a:rPr>
                <a:t>attach meaning and lineage to material numbers.</a:t>
              </a:r>
            </a:p>
          </p:txBody>
        </p:sp>
      </p:grpSp>
      <p:grpSp>
        <p:nvGrpSpPr>
          <p:cNvPr id="16" name="range"/>
          <p:cNvGrpSpPr/>
          <p:nvPr/>
        </p:nvGrpSpPr>
        <p:grpSpPr>
          <a:xfrm>
            <a:off x="448056" y="3190875"/>
            <a:ext cx="5343144" cy="1052195"/>
            <a:chOff x="448056" y="3190875"/>
            <a:chExt cx="5343144" cy="1052195"/>
          </a:xfrm>
        </p:grpSpPr>
        <p:sp>
          <p:nvSpPr>
            <p:cNvPr id="13" name="Line 13"/>
            <p:cNvSpPr/>
            <p:nvPr/>
          </p:nvSpPr>
          <p:spPr>
            <a:xfrm>
              <a:off x="457200" y="3190875"/>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4" name="TextBox 14"/>
            <p:cNvSpPr txBox="1"/>
            <p:nvPr/>
          </p:nvSpPr>
          <p:spPr>
            <a:xfrm>
              <a:off x="448056" y="3286125"/>
              <a:ext cx="338083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Range / expert-authored skills</a:t>
              </a:r>
            </a:p>
          </p:txBody>
        </p:sp>
        <p:sp>
          <p:nvSpPr>
            <p:cNvPr id="15" name="TextBox 15"/>
            <p:cNvSpPr txBox="1"/>
            <p:nvPr/>
          </p:nvSpPr>
          <p:spPr>
            <a:xfrm>
              <a:off x="449580" y="3683000"/>
              <a:ext cx="442055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Domain specialists encode the professional method:</a:t>
              </a:r>
              <a:br>
                <a:rPr lang="en-US" sz="1500" dirty="0">
                  <a:solidFill>
                    <a:schemeClr val="dk1"/>
                  </a:solidFill>
                  <a:latin typeface="+mn-lt"/>
                  <a:ea typeface="+mn-ea"/>
                  <a:cs typeface="+mn-cs"/>
                </a:rPr>
              </a:br>
              <a:r>
                <a:rPr lang="en-US" sz="1500" dirty="0">
                  <a:solidFill>
                    <a:schemeClr val="dk1"/>
                  </a:solidFill>
                  <a:latin typeface="+mn-lt"/>
                  <a:ea typeface="+mn-ea"/>
                  <a:cs typeface="+mn-cs"/>
                </a:rPr>
                <a:t>reasons, questions, exceptions and review.</a:t>
              </a:r>
            </a:p>
          </p:txBody>
        </p:sp>
      </p:grpSp>
      <p:grpSp>
        <p:nvGrpSpPr>
          <p:cNvPr id="20" name="ramp"/>
          <p:cNvGrpSpPr/>
          <p:nvPr/>
        </p:nvGrpSpPr>
        <p:grpSpPr>
          <a:xfrm>
            <a:off x="6086856" y="3190875"/>
            <a:ext cx="5647944" cy="1052195"/>
            <a:chOff x="6086856" y="3190875"/>
            <a:chExt cx="5647944" cy="1052195"/>
          </a:xfrm>
        </p:grpSpPr>
        <p:sp>
          <p:nvSpPr>
            <p:cNvPr id="17" name="Line 17"/>
            <p:cNvSpPr/>
            <p:nvPr/>
          </p:nvSpPr>
          <p:spPr>
            <a:xfrm>
              <a:off x="6096000" y="319087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8" name="TextBox 18"/>
            <p:cNvSpPr txBox="1"/>
            <p:nvPr/>
          </p:nvSpPr>
          <p:spPr>
            <a:xfrm>
              <a:off x="6086856" y="3286125"/>
              <a:ext cx="334810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Ramp / end-to-end evaluation</a:t>
              </a:r>
            </a:p>
          </p:txBody>
        </p:sp>
        <p:sp>
          <p:nvSpPr>
            <p:cNvPr id="19" name="TextBox 19"/>
            <p:cNvSpPr txBox="1"/>
            <p:nvPr/>
          </p:nvSpPr>
          <p:spPr>
            <a:xfrm>
              <a:off x="6088380" y="3683000"/>
              <a:ext cx="452589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Compare one context, skill, memory or model change</a:t>
              </a:r>
              <a:br>
                <a:rPr lang="en-US" sz="1500" dirty="0">
                  <a:solidFill>
                    <a:schemeClr val="dk1"/>
                  </a:solidFill>
                  <a:latin typeface="+mn-lt"/>
                  <a:ea typeface="+mn-ea"/>
                  <a:cs typeface="+mn-cs"/>
                </a:rPr>
              </a:br>
              <a:r>
                <a:rPr lang="en-US" sz="1500" dirty="0">
                  <a:solidFill>
                    <a:schemeClr val="dk1"/>
                  </a:solidFill>
                  <a:latin typeface="+mn-lt"/>
                  <a:ea typeface="+mn-ea"/>
                  <a:cs typeface="+mn-cs"/>
                </a:rPr>
                <a:t>at a time using complete tasks and ablations.</a:t>
              </a:r>
            </a:p>
          </p:txBody>
        </p:sp>
      </p:grpSp>
      <p:grpSp>
        <p:nvGrpSpPr>
          <p:cNvPr id="24" name="authority"/>
          <p:cNvGrpSpPr/>
          <p:nvPr/>
        </p:nvGrpSpPr>
        <p:grpSpPr>
          <a:xfrm>
            <a:off x="448056" y="4591050"/>
            <a:ext cx="5343144" cy="1052195"/>
            <a:chOff x="448056" y="4591050"/>
            <a:chExt cx="5343144" cy="1052195"/>
          </a:xfrm>
        </p:grpSpPr>
        <p:sp>
          <p:nvSpPr>
            <p:cNvPr id="21" name="Line 21"/>
            <p:cNvSpPr/>
            <p:nvPr/>
          </p:nvSpPr>
          <p:spPr>
            <a:xfrm>
              <a:off x="457200" y="459105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22" name="TextBox 22"/>
            <p:cNvSpPr txBox="1"/>
            <p:nvPr/>
          </p:nvSpPr>
          <p:spPr>
            <a:xfrm>
              <a:off x="448056" y="4686300"/>
              <a:ext cx="336407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Two Sigma / Wise / authority</a:t>
              </a:r>
            </a:p>
          </p:txBody>
        </p:sp>
        <p:sp>
          <p:nvSpPr>
            <p:cNvPr id="23" name="TextBox 23"/>
            <p:cNvSpPr txBox="1"/>
            <p:nvPr/>
          </p:nvSpPr>
          <p:spPr>
            <a:xfrm>
              <a:off x="449580" y="5083175"/>
              <a:ext cx="443087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Give tools scoped ownership and explicit permission</a:t>
              </a:r>
              <a:br>
                <a:rPr lang="en-US" sz="1500" dirty="0">
                  <a:solidFill>
                    <a:schemeClr val="dk1"/>
                  </a:solidFill>
                  <a:latin typeface="+mn-lt"/>
                  <a:ea typeface="+mn-ea"/>
                  <a:cs typeface="+mn-cs"/>
                </a:rPr>
              </a:br>
              <a:r>
                <a:rPr lang="en-US" sz="1500" dirty="0">
                  <a:solidFill>
                    <a:schemeClr val="dk1"/>
                  </a:solidFill>
                  <a:latin typeface="+mn-lt"/>
                  <a:ea typeface="+mn-ea"/>
                  <a:cs typeface="+mn-cs"/>
                </a:rPr>
                <a:t>to act; context alone grants no authority.</a:t>
              </a:r>
            </a:p>
          </p:txBody>
        </p:sp>
      </p:grpSp>
      <p:grpSp>
        <p:nvGrpSpPr>
          <p:cNvPr id="28" name="contour"/>
          <p:cNvGrpSpPr/>
          <p:nvPr/>
        </p:nvGrpSpPr>
        <p:grpSpPr>
          <a:xfrm>
            <a:off x="6086856" y="4591050"/>
            <a:ext cx="5647944" cy="1052195"/>
            <a:chOff x="6086856" y="4591050"/>
            <a:chExt cx="5647944" cy="1052195"/>
          </a:xfrm>
        </p:grpSpPr>
        <p:sp>
          <p:nvSpPr>
            <p:cNvPr id="25" name="Line 25"/>
            <p:cNvSpPr/>
            <p:nvPr/>
          </p:nvSpPr>
          <p:spPr>
            <a:xfrm>
              <a:off x="6096000" y="4591050"/>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26" name="TextBox 26"/>
            <p:cNvSpPr txBox="1"/>
            <p:nvPr/>
          </p:nvSpPr>
          <p:spPr>
            <a:xfrm>
              <a:off x="6086856" y="4686300"/>
              <a:ext cx="247523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Contour / useful work</a:t>
              </a:r>
            </a:p>
          </p:txBody>
        </p:sp>
        <p:sp>
          <p:nvSpPr>
            <p:cNvPr id="27" name="TextBox 27"/>
            <p:cNvSpPr txBox="1"/>
            <p:nvPr/>
          </p:nvSpPr>
          <p:spPr>
            <a:xfrm>
              <a:off x="6088380" y="5083175"/>
              <a:ext cx="403901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Compare acceptance, review effort and full cost</a:t>
              </a:r>
              <a:br>
                <a:rPr lang="en-US" sz="1500" dirty="0">
                  <a:solidFill>
                    <a:schemeClr val="dk1"/>
                  </a:solidFill>
                  <a:latin typeface="+mn-lt"/>
                  <a:ea typeface="+mn-ea"/>
                  <a:cs typeface="+mn-cs"/>
                </a:rPr>
              </a:br>
              <a:r>
                <a:rPr lang="en-US" sz="1500" dirty="0">
                  <a:solidFill>
                    <a:schemeClr val="dk1"/>
                  </a:solidFill>
                  <a:latin typeface="+mn-lt"/>
                  <a:ea typeface="+mn-ea"/>
                  <a:cs typeface="+mn-cs"/>
                </a:rPr>
                <a:t>against a credible alternative.</a:t>
              </a:r>
            </a:p>
          </p:txBody>
        </p:sp>
      </p:grpSp>
      <p:grpSp>
        <p:nvGrpSpPr>
          <p:cNvPr id="32" name="footer"/>
          <p:cNvGrpSpPr/>
          <p:nvPr/>
        </p:nvGrpSpPr>
        <p:grpSpPr>
          <a:xfrm>
            <a:off x="452438" y="6200775"/>
            <a:ext cx="11287124" cy="385762"/>
            <a:chOff x="452438" y="6200775"/>
            <a:chExt cx="11287124" cy="385762"/>
          </a:xfrm>
        </p:grpSpPr>
        <p:sp>
          <p:nvSpPr>
            <p:cNvPr id="29" name="TextBox 29"/>
            <p:cNvSpPr txBox="1"/>
            <p:nvPr/>
          </p:nvSpPr>
          <p:spPr>
            <a:xfrm>
              <a:off x="452438" y="6200775"/>
              <a:ext cx="706555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Synthesis of conference mechanisms; grouping is our application framework. Company implementations do not establish local ROI.</a:t>
              </a:r>
            </a:p>
          </p:txBody>
        </p:sp>
        <p:sp>
          <p:nvSpPr>
            <p:cNvPr id="30" name="TextBox 30"/>
            <p:cNvSpPr txBox="1"/>
            <p:nvPr/>
          </p:nvSpPr>
          <p:spPr>
            <a:xfrm>
              <a:off x="452438" y="6410325"/>
              <a:ext cx="3515652"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Session links and primary technical guidance: reference page 28.</a:t>
              </a:r>
            </a:p>
          </p:txBody>
        </p:sp>
        <p:sp>
          <p:nvSpPr>
            <p:cNvPr id="31" name="TextBox 31"/>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03 / 28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718749" cy="1169416"/>
            <a:chOff x="443484" y="371475"/>
            <a:chExt cx="5718749" cy="1169416"/>
          </a:xfrm>
        </p:grpSpPr>
        <p:sp>
          <p:nvSpPr>
            <p:cNvPr id="2" name="TextBox 2"/>
            <p:cNvSpPr txBox="1"/>
            <p:nvPr/>
          </p:nvSpPr>
          <p:spPr>
            <a:xfrm>
              <a:off x="451104" y="371475"/>
              <a:ext cx="273435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FIDELITY / REPORTED BASELINE</a:t>
              </a:r>
            </a:p>
          </p:txBody>
        </p:sp>
        <p:sp>
          <p:nvSpPr>
            <p:cNvPr id="3" name="TextBox 3"/>
            <p:cNvSpPr txBox="1"/>
            <p:nvPr/>
          </p:nvSpPr>
          <p:spPr>
            <a:xfrm>
              <a:off x="443484" y="603250"/>
              <a:ext cx="5718749"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The current bottleneck spans usability,</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context and evaluation</a:t>
              </a:r>
            </a:p>
          </p:txBody>
        </p:sp>
      </p:grpSp>
      <p:grpSp>
        <p:nvGrpSpPr>
          <p:cNvPr id="8" name="semantic-volume"/>
          <p:cNvGrpSpPr/>
          <p:nvPr/>
        </p:nvGrpSpPr>
        <p:grpSpPr>
          <a:xfrm>
            <a:off x="457200" y="1752600"/>
            <a:ext cx="5334000" cy="1485900"/>
            <a:chOff x="457200" y="1752600"/>
            <a:chExt cx="5334000" cy="1485900"/>
          </a:xfrm>
        </p:grpSpPr>
        <p:sp>
          <p:nvSpPr>
            <p:cNvPr id="5" name="Rectangle 5"/>
            <p:cNvSpPr/>
            <p:nvPr/>
          </p:nvSpPr>
          <p:spPr>
            <a:xfrm>
              <a:off x="457200" y="1752600"/>
              <a:ext cx="5334000" cy="1485900"/>
            </a:xfrm>
            <a:prstGeom prst="rect">
              <a:avLst/>
            </a:prstGeom>
            <a:solidFill>
              <a:schemeClr val="accent1"/>
            </a:solidFill>
            <a:ln>
              <a:noFill/>
            </a:ln>
          </p:spPr>
        </p:sp>
        <p:sp>
          <p:nvSpPr>
            <p:cNvPr id="6" name="TextBox 6"/>
            <p:cNvSpPr txBox="1"/>
            <p:nvPr/>
          </p:nvSpPr>
          <p:spPr>
            <a:xfrm>
              <a:off x="666750" y="1870075"/>
              <a:ext cx="2392229" cy="933450"/>
            </a:xfrm>
            <a:prstGeom prst="rect">
              <a:avLst/>
            </a:prstGeom>
            <a:noFill/>
            <a:ln>
              <a:noFill/>
            </a:ln>
          </p:spPr>
          <p:txBody>
            <a:bodyPr wrap="none" lIns="0" tIns="0" rIns="0" bIns="0" anchor="t" anchorCtr="0">
              <a:spAutoFit/>
            </a:bodyPr>
            <a:lstStyle/>
            <a:p>
              <a:pPr algn="l"/>
              <a:r>
                <a:rPr lang="en-US" sz="4800" dirty="0">
                  <a:solidFill>
                    <a:schemeClr val="accent3"/>
                  </a:solidFill>
                  <a:latin typeface="+mn-lt"/>
                  <a:ea typeface="+mn-ea"/>
                  <a:cs typeface="+mn-cs"/>
                </a:rPr>
                <a:t>20–30K</a:t>
              </a:r>
            </a:p>
          </p:txBody>
        </p:sp>
        <p:sp>
          <p:nvSpPr>
            <p:cNvPr id="7" name="TextBox 7"/>
            <p:cNvSpPr txBox="1"/>
            <p:nvPr/>
          </p:nvSpPr>
          <p:spPr>
            <a:xfrm>
              <a:off x="678180" y="2733675"/>
              <a:ext cx="4168455"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tokens of table/column semantics per question</a:t>
              </a:r>
            </a:p>
          </p:txBody>
        </p:sp>
      </p:grpSp>
      <p:grpSp>
        <p:nvGrpSpPr>
          <p:cNvPr id="12" name="generation-latency"/>
          <p:cNvGrpSpPr/>
          <p:nvPr/>
        </p:nvGrpSpPr>
        <p:grpSpPr>
          <a:xfrm>
            <a:off x="6096000" y="1752600"/>
            <a:ext cx="5638800" cy="1485900"/>
            <a:chOff x="6096000" y="1752600"/>
            <a:chExt cx="5638800" cy="1485900"/>
          </a:xfrm>
        </p:grpSpPr>
        <p:sp>
          <p:nvSpPr>
            <p:cNvPr id="9" name="Rectangle 9"/>
            <p:cNvSpPr/>
            <p:nvPr/>
          </p:nvSpPr>
          <p:spPr>
            <a:xfrm>
              <a:off x="6096000" y="1752600"/>
              <a:ext cx="5638800" cy="1485900"/>
            </a:xfrm>
            <a:prstGeom prst="rect">
              <a:avLst/>
            </a:prstGeom>
            <a:solidFill>
              <a:schemeClr val="lt2"/>
            </a:solidFill>
            <a:ln>
              <a:noFill/>
            </a:ln>
          </p:spPr>
        </p:sp>
        <p:sp>
          <p:nvSpPr>
            <p:cNvPr id="10" name="TextBox 10"/>
            <p:cNvSpPr txBox="1"/>
            <p:nvPr/>
          </p:nvSpPr>
          <p:spPr>
            <a:xfrm>
              <a:off x="6305550" y="1870075"/>
              <a:ext cx="3020202" cy="933450"/>
            </a:xfrm>
            <a:prstGeom prst="rect">
              <a:avLst/>
            </a:prstGeom>
            <a:noFill/>
            <a:ln>
              <a:noFill/>
            </a:ln>
          </p:spPr>
          <p:txBody>
            <a:bodyPr wrap="none" lIns="0" tIns="0" rIns="0" bIns="0" anchor="t" anchorCtr="0">
              <a:spAutoFit/>
            </a:bodyPr>
            <a:lstStyle/>
            <a:p>
              <a:pPr algn="l"/>
              <a:r>
                <a:rPr lang="en-US" sz="4800" dirty="0">
                  <a:solidFill>
                    <a:schemeClr val="accent2"/>
                  </a:solidFill>
                  <a:latin typeface="+mn-lt"/>
                  <a:ea typeface="+mn-ea"/>
                  <a:cs typeface="+mn-cs"/>
                </a:rPr>
                <a:t>30–45 sec</a:t>
              </a:r>
            </a:p>
          </p:txBody>
        </p:sp>
        <p:sp>
          <p:nvSpPr>
            <p:cNvPr id="11" name="TextBox 11"/>
            <p:cNvSpPr txBox="1"/>
            <p:nvPr/>
          </p:nvSpPr>
          <p:spPr>
            <a:xfrm>
              <a:off x="6316980" y="2733675"/>
              <a:ext cx="436595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SQL-model latency; intent/data time is additional</a:t>
              </a:r>
            </a:p>
          </p:txBody>
        </p:sp>
      </p:grpSp>
      <p:grpSp>
        <p:nvGrpSpPr>
          <p:cNvPr id="15" name="architecture"/>
          <p:cNvGrpSpPr/>
          <p:nvPr/>
        </p:nvGrpSpPr>
        <p:grpSpPr>
          <a:xfrm>
            <a:off x="448056" y="3543300"/>
            <a:ext cx="4114571" cy="928370"/>
            <a:chOff x="448056" y="3543300"/>
            <a:chExt cx="4114571" cy="928370"/>
          </a:xfrm>
        </p:grpSpPr>
        <p:sp>
          <p:nvSpPr>
            <p:cNvPr id="13" name="TextBox 13"/>
            <p:cNvSpPr txBox="1"/>
            <p:nvPr/>
          </p:nvSpPr>
          <p:spPr>
            <a:xfrm>
              <a:off x="448056" y="3543300"/>
              <a:ext cx="332173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Two independent model roles</a:t>
              </a:r>
            </a:p>
          </p:txBody>
        </p:sp>
        <p:sp>
          <p:nvSpPr>
            <p:cNvPr id="14" name="TextBox 14"/>
            <p:cNvSpPr txBox="1"/>
            <p:nvPr/>
          </p:nvSpPr>
          <p:spPr>
            <a:xfrm>
              <a:off x="449580" y="3911600"/>
              <a:ext cx="411304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lightweight LLM intent classifier routes to SQL.</a:t>
              </a:r>
              <a:br>
                <a:rPr lang="en-US" sz="1500" dirty="0">
                  <a:solidFill>
                    <a:schemeClr val="dk1"/>
                  </a:solidFill>
                  <a:latin typeface="+mn-lt"/>
                  <a:ea typeface="+mn-ea"/>
                  <a:cs typeface="+mn-cs"/>
                </a:rPr>
              </a:br>
              <a:r>
                <a:rPr lang="en-US" sz="1500" dirty="0">
                  <a:solidFill>
                    <a:schemeClr val="dk1"/>
                  </a:solidFill>
                  <a:latin typeface="+mn-lt"/>
                  <a:ea typeface="+mn-ea"/>
                  <a:cs typeface="+mn-cs"/>
                </a:rPr>
                <a:t>Even complex questions remain one shot.</a:t>
              </a:r>
            </a:p>
          </p:txBody>
        </p:sp>
      </p:grpSp>
      <p:grpSp>
        <p:nvGrpSpPr>
          <p:cNvPr id="18" name="usability"/>
          <p:cNvGrpSpPr/>
          <p:nvPr/>
        </p:nvGrpSpPr>
        <p:grpSpPr>
          <a:xfrm>
            <a:off x="6086856" y="3543300"/>
            <a:ext cx="4125125" cy="928370"/>
            <a:chOff x="6086856" y="3543300"/>
            <a:chExt cx="4125125" cy="928370"/>
          </a:xfrm>
        </p:grpSpPr>
        <p:sp>
          <p:nvSpPr>
            <p:cNvPr id="16" name="TextBox 16"/>
            <p:cNvSpPr txBox="1"/>
            <p:nvPr/>
          </p:nvSpPr>
          <p:spPr>
            <a:xfrm>
              <a:off x="6086856" y="3543300"/>
              <a:ext cx="369324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Users must learn the data surface</a:t>
              </a:r>
            </a:p>
          </p:txBody>
        </p:sp>
        <p:sp>
          <p:nvSpPr>
            <p:cNvPr id="17" name="TextBox 17"/>
            <p:cNvSpPr txBox="1"/>
            <p:nvPr/>
          </p:nvSpPr>
          <p:spPr>
            <a:xfrm>
              <a:off x="6088380" y="3911600"/>
              <a:ext cx="4123601"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No conversation or memory. Definition questions</a:t>
              </a:r>
              <a:br>
                <a:rPr lang="en-US" sz="1500" dirty="0">
                  <a:solidFill>
                    <a:schemeClr val="dk1"/>
                  </a:solidFill>
                  <a:latin typeface="+mn-lt"/>
                  <a:ea typeface="+mn-ea"/>
                  <a:cs typeface="+mn-cs"/>
                </a:rPr>
              </a:br>
              <a:r>
                <a:rPr lang="en-US" sz="1500" dirty="0">
                  <a:solidFill>
                    <a:schemeClr val="dk1"/>
                  </a:solidFill>
                  <a:latin typeface="+mn-lt"/>
                  <a:ea typeface="+mn-ea"/>
                  <a:cs typeface="+mn-cs"/>
                </a:rPr>
                <a:t>such as “What does live mean?” are redirected.</a:t>
              </a:r>
            </a:p>
          </p:txBody>
        </p:sp>
      </p:grpSp>
      <p:grpSp>
        <p:nvGrpSpPr>
          <p:cNvPr id="21" name="evaluation"/>
          <p:cNvGrpSpPr/>
          <p:nvPr/>
        </p:nvGrpSpPr>
        <p:grpSpPr>
          <a:xfrm>
            <a:off x="448056" y="4914900"/>
            <a:ext cx="4220566" cy="928370"/>
            <a:chOff x="448056" y="4914900"/>
            <a:chExt cx="4220566" cy="928370"/>
          </a:xfrm>
        </p:grpSpPr>
        <p:sp>
          <p:nvSpPr>
            <p:cNvPr id="19" name="TextBox 19"/>
            <p:cNvSpPr txBox="1"/>
            <p:nvPr/>
          </p:nvSpPr>
          <p:spPr>
            <a:xfrm>
              <a:off x="448056" y="4914900"/>
              <a:ext cx="359213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Accuracy needs a wider contract</a:t>
              </a:r>
            </a:p>
          </p:txBody>
        </p:sp>
        <p:sp>
          <p:nvSpPr>
            <p:cNvPr id="20" name="TextBox 20"/>
            <p:cNvSpPr txBox="1"/>
            <p:nvPr/>
          </p:nvSpPr>
          <p:spPr>
            <a:xfrm>
              <a:off x="449580" y="5283200"/>
              <a:ext cx="421904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Current checks compare reference/generated row</a:t>
              </a:r>
              <a:br>
                <a:rPr lang="en-US" sz="1500" dirty="0">
                  <a:solidFill>
                    <a:schemeClr val="dk1"/>
                  </a:solidFill>
                  <a:latin typeface="+mn-lt"/>
                  <a:ea typeface="+mn-ea"/>
                  <a:cs typeface="+mn-cs"/>
                </a:rPr>
              </a:br>
              <a:r>
                <a:rPr lang="en-US" sz="1500" dirty="0">
                  <a:solidFill>
                    <a:schemeClr val="dk1"/>
                  </a:solidFill>
                  <a:latin typeface="+mn-lt"/>
                  <a:ea typeface="+mn-ea"/>
                  <a:cs typeface="+mn-cs"/>
                </a:rPr>
                <a:t>counts and use an LLM to judge returned data.</a:t>
              </a:r>
            </a:p>
          </p:txBody>
        </p:sp>
      </p:grpSp>
      <p:grpSp>
        <p:nvGrpSpPr>
          <p:cNvPr id="24" name="workflow"/>
          <p:cNvGrpSpPr/>
          <p:nvPr/>
        </p:nvGrpSpPr>
        <p:grpSpPr>
          <a:xfrm>
            <a:off x="6086856" y="4914900"/>
            <a:ext cx="4421993" cy="928370"/>
            <a:chOff x="6086856" y="4914900"/>
            <a:chExt cx="4421993" cy="928370"/>
          </a:xfrm>
        </p:grpSpPr>
        <p:sp>
          <p:nvSpPr>
            <p:cNvPr id="22" name="TextBox 22"/>
            <p:cNvSpPr txBox="1"/>
            <p:nvPr/>
          </p:nvSpPr>
          <p:spPr>
            <a:xfrm>
              <a:off x="6086856" y="4914900"/>
              <a:ext cx="442199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Workflow value is still an open question</a:t>
              </a:r>
            </a:p>
          </p:txBody>
        </p:sp>
        <p:sp>
          <p:nvSpPr>
            <p:cNvPr id="23" name="TextBox 23"/>
            <p:cNvSpPr txBox="1"/>
            <p:nvPr/>
          </p:nvSpPr>
          <p:spPr>
            <a:xfrm>
              <a:off x="6088380" y="5283200"/>
              <a:ext cx="410279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Salesforce integration is underway; its effect on</a:t>
              </a:r>
              <a:br>
                <a:rPr lang="en-US" sz="1500" dirty="0">
                  <a:solidFill>
                    <a:schemeClr val="dk1"/>
                  </a:solidFill>
                  <a:latin typeface="+mn-lt"/>
                  <a:ea typeface="+mn-ea"/>
                  <a:cs typeface="+mn-cs"/>
                </a:rPr>
              </a:br>
              <a:r>
                <a:rPr lang="en-US" sz="1500" dirty="0">
                  <a:solidFill>
                    <a:schemeClr val="dk1"/>
                  </a:solidFill>
                  <a:latin typeface="+mn-lt"/>
                  <a:ea typeface="+mn-ea"/>
                  <a:cs typeface="+mn-cs"/>
                </a:rPr>
                <a:t>sales preparation and daily work is unmeasured.</a:t>
              </a:r>
            </a:p>
          </p:txBody>
        </p:sp>
      </p:grpSp>
      <p:grpSp>
        <p:nvGrpSpPr>
          <p:cNvPr id="27" name="footer"/>
          <p:cNvGrpSpPr/>
          <p:nvPr/>
        </p:nvGrpSpPr>
        <p:grpSpPr>
          <a:xfrm>
            <a:off x="452438" y="6372225"/>
            <a:ext cx="11287124" cy="176212"/>
            <a:chOff x="452438" y="6372225"/>
            <a:chExt cx="11287124" cy="176212"/>
          </a:xfrm>
        </p:grpSpPr>
        <p:sp>
          <p:nvSpPr>
            <p:cNvPr id="25" name="TextBox 25"/>
            <p:cNvSpPr txBox="1"/>
            <p:nvPr/>
          </p:nvSpPr>
          <p:spPr>
            <a:xfrm>
              <a:off x="452438" y="6372225"/>
              <a:ext cx="5546928"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User-reported estimates, not measured p50/p95. Fidelity application code and data were not inspected.</a:t>
              </a:r>
            </a:p>
          </p:txBody>
        </p:sp>
        <p:sp>
          <p:nvSpPr>
            <p:cNvPr id="26" name="TextBox 26"/>
            <p:cNvSpPr txBox="1"/>
            <p:nvPr/>
          </p:nvSpPr>
          <p:spPr>
            <a:xfrm>
              <a:off x="11359512" y="63722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04 / 28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6352291" cy="1169416"/>
            <a:chOff x="443484" y="371475"/>
            <a:chExt cx="6352291" cy="1169416"/>
          </a:xfrm>
        </p:grpSpPr>
        <p:sp>
          <p:nvSpPr>
            <p:cNvPr id="2" name="TextBox 2"/>
            <p:cNvSpPr txBox="1"/>
            <p:nvPr/>
          </p:nvSpPr>
          <p:spPr>
            <a:xfrm>
              <a:off x="451104" y="371475"/>
              <a:ext cx="357827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FIDELITY / PROPOSED OPERATING MODEL</a:t>
              </a:r>
            </a:p>
          </p:txBody>
        </p:sp>
        <p:sp>
          <p:nvSpPr>
            <p:cNvPr id="3" name="TextBox 3"/>
            <p:cNvSpPr txBox="1"/>
            <p:nvPr/>
          </p:nvSpPr>
          <p:spPr>
            <a:xfrm>
              <a:off x="443484" y="603250"/>
              <a:ext cx="635229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A shared semantic coordinator can support</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 complete business question</a:t>
              </a:r>
            </a:p>
          </p:txBody>
        </p:sp>
      </p:grpSp>
      <p:grpSp>
        <p:nvGrpSpPr>
          <p:cNvPr id="9" name="today"/>
          <p:cNvGrpSpPr/>
          <p:nvPr/>
        </p:nvGrpSpPr>
        <p:grpSpPr>
          <a:xfrm>
            <a:off x="457200" y="1828800"/>
            <a:ext cx="2724150" cy="4171950"/>
            <a:chOff x="457200" y="1828800"/>
            <a:chExt cx="2724150" cy="4171950"/>
          </a:xfrm>
        </p:grpSpPr>
        <p:sp>
          <p:nvSpPr>
            <p:cNvPr id="5" name="Rectangle 5"/>
            <p:cNvSpPr/>
            <p:nvPr/>
          </p:nvSpPr>
          <p:spPr>
            <a:xfrm>
              <a:off x="457200" y="1828800"/>
              <a:ext cx="2724150" cy="4171950"/>
            </a:xfrm>
            <a:prstGeom prst="rect">
              <a:avLst/>
            </a:prstGeom>
            <a:solidFill>
              <a:srgbClr val="F1F4EE"/>
            </a:solidFill>
            <a:ln>
              <a:noFill/>
            </a:ln>
          </p:spPr>
        </p:sp>
        <p:sp>
          <p:nvSpPr>
            <p:cNvPr id="6" name="TextBox 6"/>
            <p:cNvSpPr txBox="1"/>
            <p:nvPr/>
          </p:nvSpPr>
          <p:spPr>
            <a:xfrm>
              <a:off x="657606" y="1962150"/>
              <a:ext cx="73132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Today</a:t>
              </a:r>
            </a:p>
          </p:txBody>
        </p:sp>
        <p:sp>
          <p:nvSpPr>
            <p:cNvPr id="7" name="TextBox 7"/>
            <p:cNvSpPr txBox="1"/>
            <p:nvPr/>
          </p:nvSpPr>
          <p:spPr>
            <a:xfrm>
              <a:off x="659130" y="2362200"/>
              <a:ext cx="1285799" cy="1493520"/>
            </a:xfrm>
            <a:prstGeom prst="rect">
              <a:avLst/>
            </a:prstGeom>
            <a:noFill/>
            <a:ln>
              <a:noFill/>
            </a:ln>
          </p:spPr>
          <p:txBody>
            <a:bodyPr wrap="none" lIns="0" tIns="0" rIns="0" bIns="0" anchor="t" anchorCtr="0">
              <a:spAutoFit/>
            </a:bodyPr>
            <a:lstStyle/>
            <a:p>
              <a:pPr algn="l">
                <a:lnSpc>
                  <a:spcPts val="3150"/>
                </a:lnSpc>
              </a:pPr>
              <a:r>
                <a:rPr lang="en-US" sz="1500" dirty="0">
                  <a:solidFill>
                    <a:schemeClr val="dk1"/>
                  </a:solidFill>
                  <a:latin typeface="+mn-lt"/>
                  <a:ea typeface="+mn-ea"/>
                  <a:cs typeface="+mn-cs"/>
                </a:rPr>
                <a:t>Question</a:t>
              </a:r>
              <a:br>
                <a:rPr lang="en-US" sz="1500" dirty="0">
                  <a:solidFill>
                    <a:schemeClr val="dk1"/>
                  </a:solidFill>
                  <a:latin typeface="+mn-lt"/>
                  <a:ea typeface="+mn-ea"/>
                  <a:cs typeface="+mn-cs"/>
                </a:rPr>
              </a:br>
              <a:r>
                <a:rPr lang="en-US" sz="1500" dirty="0">
                  <a:solidFill>
                    <a:schemeClr val="dk1"/>
                  </a:solidFill>
                  <a:latin typeface="+mn-lt"/>
                  <a:ea typeface="+mn-ea"/>
                  <a:cs typeface="+mn-cs"/>
                </a:rPr>
                <a:t>Intent classifier</a:t>
              </a:r>
              <a:br>
                <a:rPr lang="en-US" sz="1500" dirty="0">
                  <a:solidFill>
                    <a:schemeClr val="dk1"/>
                  </a:solidFill>
                  <a:latin typeface="+mn-lt"/>
                  <a:ea typeface="+mn-ea"/>
                  <a:cs typeface="+mn-cs"/>
                </a:rPr>
              </a:br>
              <a:r>
                <a:rPr lang="en-US" sz="1500" dirty="0">
                  <a:solidFill>
                    <a:schemeClr val="dk1"/>
                  </a:solidFill>
                  <a:latin typeface="+mn-lt"/>
                  <a:ea typeface="+mn-ea"/>
                  <a:cs typeface="+mn-cs"/>
                </a:rPr>
                <a:t>SQL generator</a:t>
              </a:r>
              <a:br>
                <a:rPr lang="en-US" sz="1500" dirty="0">
                  <a:solidFill>
                    <a:schemeClr val="dk1"/>
                  </a:solidFill>
                  <a:latin typeface="+mn-lt"/>
                  <a:ea typeface="+mn-ea"/>
                  <a:cs typeface="+mn-cs"/>
                </a:rPr>
              </a:br>
              <a:r>
                <a:rPr lang="en-US" sz="1500" dirty="0">
                  <a:solidFill>
                    <a:schemeClr val="dk1"/>
                  </a:solidFill>
                  <a:latin typeface="+mn-lt"/>
                  <a:ea typeface="+mn-ea"/>
                  <a:cs typeface="+mn-cs"/>
                </a:rPr>
                <a:t>Returned data</a:t>
              </a:r>
            </a:p>
          </p:txBody>
        </p:sp>
        <p:sp>
          <p:nvSpPr>
            <p:cNvPr id="8" name="TextBox 8"/>
            <p:cNvSpPr txBox="1"/>
            <p:nvPr/>
          </p:nvSpPr>
          <p:spPr>
            <a:xfrm>
              <a:off x="659892" y="4581525"/>
              <a:ext cx="1958268"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The SQL engine remains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valuable; expand the task</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around it.</a:t>
              </a:r>
            </a:p>
          </p:txBody>
        </p:sp>
      </p:grpSp>
      <p:grpSp>
        <p:nvGrpSpPr>
          <p:cNvPr id="23" name="proposed-system"/>
          <p:cNvGrpSpPr/>
          <p:nvPr/>
        </p:nvGrpSpPr>
        <p:grpSpPr>
          <a:xfrm>
            <a:off x="3486150" y="1828800"/>
            <a:ext cx="8248650" cy="4171950"/>
            <a:chOff x="3486150" y="1828800"/>
            <a:chExt cx="8248650" cy="4171950"/>
          </a:xfrm>
        </p:grpSpPr>
        <p:sp>
          <p:nvSpPr>
            <p:cNvPr id="10" name="Rectangle 10"/>
            <p:cNvSpPr/>
            <p:nvPr/>
          </p:nvSpPr>
          <p:spPr>
            <a:xfrm>
              <a:off x="3486150" y="1828800"/>
              <a:ext cx="8248650" cy="4171950"/>
            </a:xfrm>
            <a:prstGeom prst="rect">
              <a:avLst/>
            </a:prstGeom>
            <a:noFill/>
            <a:ln w="9525">
              <a:solidFill>
                <a:schemeClr val="accent2"/>
              </a:solidFill>
            </a:ln>
          </p:spPr>
        </p:sp>
        <p:sp>
          <p:nvSpPr>
            <p:cNvPr id="11" name="TextBox 11"/>
            <p:cNvSpPr txBox="1"/>
            <p:nvPr/>
          </p:nvSpPr>
          <p:spPr>
            <a:xfrm>
              <a:off x="3708654" y="2000250"/>
              <a:ext cx="394781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AUTHORIZED SCOPE / REVIEWED DEFINITIONS</a:t>
              </a:r>
            </a:p>
          </p:txBody>
        </p:sp>
        <p:sp>
          <p:nvSpPr>
            <p:cNvPr id="12" name="TextBox 12"/>
            <p:cNvSpPr txBox="1"/>
            <p:nvPr/>
          </p:nvSpPr>
          <p:spPr>
            <a:xfrm>
              <a:off x="3707130" y="2324100"/>
              <a:ext cx="501354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Question + CRM entity context + compact session state</a:t>
              </a:r>
            </a:p>
          </p:txBody>
        </p:sp>
        <p:sp>
          <p:nvSpPr>
            <p:cNvPr id="13" name="Line 13"/>
            <p:cNvSpPr/>
            <p:nvPr/>
          </p:nvSpPr>
          <p:spPr>
            <a:xfrm>
              <a:off x="7581900" y="2657475"/>
              <a:ext cx="1" cy="238125"/>
            </a:xfrm>
            <a:prstGeom prst="line">
              <a:avLst/>
            </a:prstGeom>
            <a:noFill/>
            <a:ln w="19050">
              <a:solidFill>
                <a:schemeClr val="accent2"/>
              </a:solidFill>
              <a:tailEnd type="triangle" w="lg" len="lg"/>
            </a:ln>
          </p:spPr>
        </p:sp>
        <p:sp>
          <p:nvSpPr>
            <p:cNvPr id="14" name="Rectangle 14"/>
            <p:cNvSpPr/>
            <p:nvPr/>
          </p:nvSpPr>
          <p:spPr>
            <a:xfrm>
              <a:off x="3714750" y="3009900"/>
              <a:ext cx="7791450" cy="1200150"/>
            </a:xfrm>
            <a:prstGeom prst="rect">
              <a:avLst/>
            </a:prstGeom>
            <a:solidFill>
              <a:schemeClr val="accent1"/>
            </a:solidFill>
            <a:ln>
              <a:noFill/>
            </a:ln>
          </p:spPr>
        </p:sp>
        <p:sp>
          <p:nvSpPr>
            <p:cNvPr id="15" name="TextBox 15"/>
            <p:cNvSpPr txBox="1"/>
            <p:nvPr/>
          </p:nvSpPr>
          <p:spPr>
            <a:xfrm>
              <a:off x="3934206" y="3114675"/>
              <a:ext cx="2404853"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Semantic coordinator</a:t>
              </a:r>
            </a:p>
          </p:txBody>
        </p:sp>
        <p:sp>
          <p:nvSpPr>
            <p:cNvPr id="16" name="TextBox 16"/>
            <p:cNvSpPr txBox="1"/>
            <p:nvPr/>
          </p:nvSpPr>
          <p:spPr>
            <a:xfrm>
              <a:off x="3935730" y="3514725"/>
              <a:ext cx="4325192"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Explain • Discover • Clarify • Query • Investigate</a:t>
              </a:r>
            </a:p>
          </p:txBody>
        </p:sp>
        <p:sp>
          <p:nvSpPr>
            <p:cNvPr id="17" name="TextBox 17"/>
            <p:cNvSpPr txBox="1"/>
            <p:nvPr/>
          </p:nvSpPr>
          <p:spPr>
            <a:xfrm>
              <a:off x="3936492" y="3854450"/>
              <a:ext cx="4925820" cy="264033"/>
            </a:xfrm>
            <a:prstGeom prst="rect">
              <a:avLst/>
            </a:prstGeom>
            <a:noFill/>
            <a:ln>
              <a:noFill/>
            </a:ln>
          </p:spPr>
          <p:txBody>
            <a:bodyPr wrap="none" lIns="0" tIns="0" rIns="0" bIns="0" anchor="t" anchorCtr="0">
              <a:spAutoFit/>
            </a:bodyPr>
            <a:lstStyle/>
            <a:p>
              <a:pPr algn="l"/>
              <a:r>
                <a:rPr lang="en-US" sz="1350" dirty="0">
                  <a:solidFill>
                    <a:srgbClr val="E7F0EA"/>
                  </a:solidFill>
                  <a:latin typeface="+mn-lt"/>
                  <a:ea typeface="+mn-ea"/>
                  <a:cs typeface="+mn-cs"/>
                </a:rPr>
                <a:t>Use the existing SQL generator as a bounded analytical tool.</a:t>
              </a:r>
            </a:p>
          </p:txBody>
        </p:sp>
        <p:sp>
          <p:nvSpPr>
            <p:cNvPr id="18" name="Line 18"/>
            <p:cNvSpPr/>
            <p:nvPr/>
          </p:nvSpPr>
          <p:spPr>
            <a:xfrm>
              <a:off x="7581900" y="4276725"/>
              <a:ext cx="1" cy="238125"/>
            </a:xfrm>
            <a:prstGeom prst="line">
              <a:avLst/>
            </a:prstGeom>
            <a:noFill/>
            <a:ln w="19050">
              <a:solidFill>
                <a:schemeClr val="accent2"/>
              </a:solidFill>
              <a:tailEnd type="triangle" w="lg" len="lg"/>
            </a:ln>
          </p:spPr>
        </p:sp>
        <p:sp>
          <p:nvSpPr>
            <p:cNvPr id="19" name="TextBox 19"/>
            <p:cNvSpPr txBox="1"/>
            <p:nvPr/>
          </p:nvSpPr>
          <p:spPr>
            <a:xfrm>
              <a:off x="3707130" y="4629150"/>
              <a:ext cx="460191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Checked answer + source scope + useful next step</a:t>
              </a:r>
            </a:p>
          </p:txBody>
        </p:sp>
        <p:sp>
          <p:nvSpPr>
            <p:cNvPr id="20" name="Line 20"/>
            <p:cNvSpPr/>
            <p:nvPr/>
          </p:nvSpPr>
          <p:spPr>
            <a:xfrm>
              <a:off x="3714750" y="5067300"/>
              <a:ext cx="7791450" cy="9525"/>
            </a:xfrm>
            <a:custGeom>
              <a:avLst/>
              <a:gdLst/>
              <a:ahLst/>
              <a:cxnLst/>
              <a:rect l="l" t="t" r="r" b="b"/>
              <a:pathLst>
                <a:path w="7791450" h="9525">
                  <a:moveTo>
                    <a:pt x="0" y="0"/>
                  </a:moveTo>
                  <a:lnTo>
                    <a:pt x="7791450" y="0"/>
                  </a:lnTo>
                </a:path>
              </a:pathLst>
            </a:custGeom>
            <a:noFill/>
            <a:ln w="9525">
              <a:solidFill>
                <a:schemeClr val="accent6"/>
              </a:solidFill>
            </a:ln>
          </p:spPr>
        </p:sp>
        <p:sp>
          <p:nvSpPr>
            <p:cNvPr id="21" name="TextBox 21"/>
            <p:cNvSpPr txBox="1"/>
            <p:nvPr/>
          </p:nvSpPr>
          <p:spPr>
            <a:xfrm>
              <a:off x="3707892" y="5226050"/>
              <a:ext cx="484815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Shared catalog: entity, metric, date, grain, joins and version.</a:t>
              </a:r>
            </a:p>
          </p:txBody>
        </p:sp>
        <p:sp>
          <p:nvSpPr>
            <p:cNvPr id="22" name="TextBox 22"/>
            <p:cNvSpPr txBox="1"/>
            <p:nvPr/>
          </p:nvSpPr>
          <p:spPr>
            <a:xfrm>
              <a:off x="3707892" y="5540375"/>
              <a:ext cx="568614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Filter metadata before context assembly; recheck access at execution.</a:t>
              </a:r>
            </a:p>
          </p:txBody>
        </p:sp>
      </p:grpSp>
      <p:grpSp>
        <p:nvGrpSpPr>
          <p:cNvPr id="26" name="footer"/>
          <p:cNvGrpSpPr/>
          <p:nvPr/>
        </p:nvGrpSpPr>
        <p:grpSpPr>
          <a:xfrm>
            <a:off x="452438" y="6381750"/>
            <a:ext cx="11287124" cy="176212"/>
            <a:chOff x="452438" y="6381750"/>
            <a:chExt cx="11287124" cy="176212"/>
          </a:xfrm>
        </p:grpSpPr>
        <p:sp>
          <p:nvSpPr>
            <p:cNvPr id="24" name="TextBox 24"/>
            <p:cNvSpPr txBox="1"/>
            <p:nvPr/>
          </p:nvSpPr>
          <p:spPr>
            <a:xfrm>
              <a:off x="452438" y="6381750"/>
              <a:ext cx="492676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design. Source permissions constrain both metadata exposure and data retrieval.</a:t>
              </a:r>
            </a:p>
          </p:txBody>
        </p:sp>
        <p:sp>
          <p:nvSpPr>
            <p:cNvPr id="25" name="TextBox 25"/>
            <p:cNvSpPr txBox="1"/>
            <p:nvPr/>
          </p:nvSpPr>
          <p:spPr>
            <a:xfrm>
              <a:off x="11359512" y="63817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05 / 28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994406" cy="1169416"/>
            <a:chOff x="443484" y="371475"/>
            <a:chExt cx="5994406" cy="1169416"/>
          </a:xfrm>
        </p:grpSpPr>
        <p:sp>
          <p:nvSpPr>
            <p:cNvPr id="2" name="TextBox 2"/>
            <p:cNvSpPr txBox="1"/>
            <p:nvPr/>
          </p:nvSpPr>
          <p:spPr>
            <a:xfrm>
              <a:off x="451104" y="371475"/>
              <a:ext cx="215579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DISCOVERY BEFORE SQL</a:t>
              </a:r>
            </a:p>
          </p:txBody>
        </p:sp>
        <p:sp>
          <p:nvSpPr>
            <p:cNvPr id="3" name="TextBox 3"/>
            <p:cNvSpPr txBox="1"/>
            <p:nvPr/>
          </p:nvSpPr>
          <p:spPr>
            <a:xfrm>
              <a:off x="443484" y="603250"/>
              <a:ext cx="5994406"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Definitions and data discovery are useful</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tasks in their own right</a:t>
              </a:r>
            </a:p>
          </p:txBody>
        </p:sp>
      </p:grpSp>
      <p:grpSp>
        <p:nvGrpSpPr>
          <p:cNvPr id="12" name="illustrative-conversation"/>
          <p:cNvGrpSpPr/>
          <p:nvPr/>
        </p:nvGrpSpPr>
        <p:grpSpPr>
          <a:xfrm>
            <a:off x="457200" y="1809750"/>
            <a:ext cx="5334000" cy="4000500"/>
            <a:chOff x="457200" y="1809750"/>
            <a:chExt cx="5334000" cy="4000500"/>
          </a:xfrm>
        </p:grpSpPr>
        <p:sp>
          <p:nvSpPr>
            <p:cNvPr id="5" name="Rectangle 5"/>
            <p:cNvSpPr/>
            <p:nvPr/>
          </p:nvSpPr>
          <p:spPr>
            <a:xfrm>
              <a:off x="457200" y="1809750"/>
              <a:ext cx="5334000" cy="4000500"/>
            </a:xfrm>
            <a:prstGeom prst="rect">
              <a:avLst/>
            </a:prstGeom>
            <a:solidFill>
              <a:schemeClr val="lt2"/>
            </a:solidFill>
            <a:ln>
              <a:noFill/>
            </a:ln>
          </p:spPr>
        </p:sp>
        <p:sp>
          <p:nvSpPr>
            <p:cNvPr id="6" name="TextBox 6"/>
            <p:cNvSpPr txBox="1"/>
            <p:nvPr/>
          </p:nvSpPr>
          <p:spPr>
            <a:xfrm>
              <a:off x="679704" y="2000250"/>
              <a:ext cx="2705956"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ILLUSTRATIVE RESPONSE PATH</a:t>
              </a:r>
            </a:p>
          </p:txBody>
        </p:sp>
        <p:sp>
          <p:nvSpPr>
            <p:cNvPr id="7" name="TextBox 7"/>
            <p:cNvSpPr txBox="1"/>
            <p:nvPr/>
          </p:nvSpPr>
          <p:spPr>
            <a:xfrm>
              <a:off x="676656" y="2400300"/>
              <a:ext cx="3309451"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“What is the meaning of live?”</a:t>
              </a:r>
            </a:p>
          </p:txBody>
        </p:sp>
        <p:sp>
          <p:nvSpPr>
            <p:cNvPr id="8" name="TextBox 8"/>
            <p:cNvSpPr txBox="1"/>
            <p:nvPr/>
          </p:nvSpPr>
          <p:spPr>
            <a:xfrm>
              <a:off x="678180" y="2930525"/>
              <a:ext cx="3922471"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Look up the authoritative glossary or catalog.</a:t>
              </a:r>
              <a:br>
                <a:rPr lang="en-US" sz="1500" dirty="0">
                  <a:solidFill>
                    <a:schemeClr val="dk1"/>
                  </a:solidFill>
                  <a:latin typeface="+mn-lt"/>
                  <a:ea typeface="+mn-ea"/>
                  <a:cs typeface="+mn-cs"/>
                </a:rPr>
              </a:br>
              <a:r>
                <a:rPr lang="en-US" sz="1500" dirty="0">
                  <a:solidFill>
                    <a:schemeClr val="dk1"/>
                  </a:solidFill>
                  <a:latin typeface="+mn-lt"/>
                  <a:ea typeface="+mn-ea"/>
                  <a:cs typeface="+mn-cs"/>
                </a:rPr>
                <a:t>If several definitions match, ask which applies.</a:t>
              </a:r>
            </a:p>
          </p:txBody>
        </p:sp>
        <p:sp>
          <p:nvSpPr>
            <p:cNvPr id="9" name="Line 9"/>
            <p:cNvSpPr/>
            <p:nvPr/>
          </p:nvSpPr>
          <p:spPr>
            <a:xfrm>
              <a:off x="685800" y="3695700"/>
              <a:ext cx="4876800" cy="9525"/>
            </a:xfrm>
            <a:custGeom>
              <a:avLst/>
              <a:gdLst/>
              <a:ahLst/>
              <a:cxnLst/>
              <a:rect l="l" t="t" r="r" b="b"/>
              <a:pathLst>
                <a:path w="4876800" h="9525">
                  <a:moveTo>
                    <a:pt x="0" y="0"/>
                  </a:moveTo>
                  <a:lnTo>
                    <a:pt x="4876800" y="0"/>
                  </a:lnTo>
                </a:path>
              </a:pathLst>
            </a:custGeom>
            <a:noFill/>
            <a:ln w="9525">
              <a:solidFill>
                <a:schemeClr val="accent6"/>
              </a:solidFill>
            </a:ln>
          </p:spPr>
        </p:sp>
        <p:sp>
          <p:nvSpPr>
            <p:cNvPr id="10" name="TextBox 10"/>
            <p:cNvSpPr txBox="1"/>
            <p:nvPr/>
          </p:nvSpPr>
          <p:spPr>
            <a:xfrm>
              <a:off x="678180" y="3902075"/>
              <a:ext cx="429352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Explain the reviewed definition and its source.</a:t>
              </a:r>
              <a:br>
                <a:rPr lang="en-US" sz="1500" dirty="0">
                  <a:solidFill>
                    <a:schemeClr val="dk1"/>
                  </a:solidFill>
                  <a:latin typeface="+mn-lt"/>
                  <a:ea typeface="+mn-ea"/>
                  <a:cs typeface="+mn-cs"/>
                </a:rPr>
              </a:br>
              <a:r>
                <a:rPr lang="en-US" sz="1500" dirty="0">
                  <a:solidFill>
                    <a:schemeClr val="dk1"/>
                  </a:solidFill>
                  <a:latin typeface="+mn-lt"/>
                  <a:ea typeface="+mn-ea"/>
                  <a:cs typeface="+mn-cs"/>
                </a:rPr>
                <a:t>Offer a supported example or useful next question.</a:t>
              </a:r>
            </a:p>
          </p:txBody>
        </p:sp>
        <p:sp>
          <p:nvSpPr>
            <p:cNvPr id="11" name="TextBox 11"/>
            <p:cNvSpPr txBox="1"/>
            <p:nvPr/>
          </p:nvSpPr>
          <p:spPr>
            <a:xfrm>
              <a:off x="678942" y="4819650"/>
              <a:ext cx="3835577"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8B411C"/>
                  </a:solidFill>
                  <a:latin typeface="+mn-lt"/>
                  <a:ea typeface="+mn-ea"/>
                  <a:cs typeface="+mn-cs"/>
                </a:rPr>
                <a:t>The actual business meaning of “live” is unknown</a:t>
              </a:r>
              <a:br>
                <a:rPr lang="en-US" sz="1350" dirty="0">
                  <a:solidFill>
                    <a:srgbClr val="8B411C"/>
                  </a:solidFill>
                  <a:latin typeface="+mn-lt"/>
                  <a:ea typeface="+mn-ea"/>
                  <a:cs typeface="+mn-cs"/>
                </a:rPr>
              </a:br>
              <a:r>
                <a:rPr lang="en-US" sz="1350" dirty="0">
                  <a:solidFill>
                    <a:srgbClr val="8B411C"/>
                  </a:solidFill>
                  <a:latin typeface="+mn-lt"/>
                  <a:ea typeface="+mn-ea"/>
                  <a:cs typeface="+mn-cs"/>
                </a:rPr>
                <a:t>in this review. Do not supply an invented meaning.</a:t>
              </a:r>
            </a:p>
          </p:txBody>
        </p:sp>
      </p:grpSp>
      <p:grpSp>
        <p:nvGrpSpPr>
          <p:cNvPr id="16" name="capabilities"/>
          <p:cNvGrpSpPr/>
          <p:nvPr/>
        </p:nvGrpSpPr>
        <p:grpSpPr>
          <a:xfrm>
            <a:off x="6086856" y="1905000"/>
            <a:ext cx="4537589" cy="2080895"/>
            <a:chOff x="6086856" y="1905000"/>
            <a:chExt cx="4537589" cy="2080895"/>
          </a:xfrm>
        </p:grpSpPr>
        <p:sp>
          <p:nvSpPr>
            <p:cNvPr id="13" name="TextBox 13"/>
            <p:cNvSpPr txBox="1"/>
            <p:nvPr/>
          </p:nvSpPr>
          <p:spPr>
            <a:xfrm>
              <a:off x="6086856" y="1905000"/>
              <a:ext cx="4537589"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Make the supported surface discoverable</a:t>
              </a:r>
            </a:p>
          </p:txBody>
        </p:sp>
        <p:sp>
          <p:nvSpPr>
            <p:cNvPr id="14" name="TextBox 14"/>
            <p:cNvSpPr txBox="1"/>
            <p:nvPr/>
          </p:nvSpPr>
          <p:spPr>
            <a:xfrm>
              <a:off x="6088380" y="2368550"/>
              <a:ext cx="425142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Offer “What can I ask?”, topic browsing and</a:t>
              </a:r>
              <a:br>
                <a:rPr lang="en-US" sz="1500" dirty="0">
                  <a:solidFill>
                    <a:schemeClr val="dk1"/>
                  </a:solidFill>
                  <a:latin typeface="+mn-lt"/>
                  <a:ea typeface="+mn-ea"/>
                  <a:cs typeface="+mn-cs"/>
                </a:rPr>
              </a:br>
              <a:r>
                <a:rPr lang="en-US" sz="1500" dirty="0">
                  <a:solidFill>
                    <a:schemeClr val="dk1"/>
                  </a:solidFill>
                  <a:latin typeface="+mn-lt"/>
                  <a:ea typeface="+mn-ea"/>
                  <a:cs typeface="+mn-cs"/>
                </a:rPr>
                <a:t>supported example questions near the entry point.</a:t>
              </a:r>
            </a:p>
          </p:txBody>
        </p:sp>
        <p:sp>
          <p:nvSpPr>
            <p:cNvPr id="15" name="TextBox 15"/>
            <p:cNvSpPr txBox="1"/>
            <p:nvPr/>
          </p:nvSpPr>
          <p:spPr>
            <a:xfrm>
              <a:off x="6088380" y="3159125"/>
              <a:ext cx="4113771"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Explain unavailable data and unresolved terms.</a:t>
              </a:r>
              <a:br>
                <a:rPr lang="en-US" sz="1500" dirty="0">
                  <a:solidFill>
                    <a:schemeClr val="dk1"/>
                  </a:solidFill>
                  <a:latin typeface="+mn-lt"/>
                  <a:ea typeface="+mn-ea"/>
                  <a:cs typeface="+mn-cs"/>
                </a:rPr>
              </a:br>
              <a:r>
                <a:rPr lang="en-US" sz="1500" dirty="0">
                  <a:solidFill>
                    <a:schemeClr val="dk1"/>
                  </a:solidFill>
                  <a:latin typeface="+mn-lt"/>
                  <a:ea typeface="+mn-ea"/>
                  <a:cs typeface="+mn-cs"/>
                </a:rPr>
                <a:t>A definition-only question needs metadata rather</a:t>
              </a:r>
              <a:br>
                <a:rPr lang="en-US" sz="1500" dirty="0">
                  <a:solidFill>
                    <a:schemeClr val="dk1"/>
                  </a:solidFill>
                  <a:latin typeface="+mn-lt"/>
                  <a:ea typeface="+mn-ea"/>
                  <a:cs typeface="+mn-cs"/>
                </a:rPr>
              </a:br>
              <a:r>
                <a:rPr lang="en-US" sz="1500" dirty="0">
                  <a:solidFill>
                    <a:schemeClr val="dk1"/>
                  </a:solidFill>
                  <a:latin typeface="+mn-lt"/>
                  <a:ea typeface="+mn-ea"/>
                  <a:cs typeface="+mn-cs"/>
                </a:rPr>
                <a:t>than a source SQL query.</a:t>
              </a:r>
            </a:p>
          </p:txBody>
        </p:sp>
      </p:grpSp>
      <p:grpSp>
        <p:nvGrpSpPr>
          <p:cNvPr id="20" name="discovery-acceptance"/>
          <p:cNvGrpSpPr/>
          <p:nvPr/>
        </p:nvGrpSpPr>
        <p:grpSpPr>
          <a:xfrm>
            <a:off x="6086856" y="4562475"/>
            <a:ext cx="5647944" cy="1099820"/>
            <a:chOff x="6086856" y="4562475"/>
            <a:chExt cx="5647944" cy="1099820"/>
          </a:xfrm>
        </p:grpSpPr>
        <p:sp>
          <p:nvSpPr>
            <p:cNvPr id="17" name="Line 17"/>
            <p:cNvSpPr/>
            <p:nvPr/>
          </p:nvSpPr>
          <p:spPr>
            <a:xfrm>
              <a:off x="6096000" y="4562475"/>
              <a:ext cx="5638800" cy="9525"/>
            </a:xfrm>
            <a:custGeom>
              <a:avLst/>
              <a:gdLst/>
              <a:ahLst/>
              <a:cxnLst/>
              <a:rect l="l" t="t" r="r" b="b"/>
              <a:pathLst>
                <a:path w="5638800" h="9525">
                  <a:moveTo>
                    <a:pt x="0" y="0"/>
                  </a:moveTo>
                  <a:lnTo>
                    <a:pt x="5638800" y="0"/>
                  </a:lnTo>
                </a:path>
              </a:pathLst>
            </a:custGeom>
            <a:noFill/>
            <a:ln w="19050">
              <a:solidFill>
                <a:schemeClr val="accent2"/>
              </a:solidFill>
            </a:ln>
          </p:spPr>
        </p:sp>
        <p:sp>
          <p:nvSpPr>
            <p:cNvPr id="18" name="TextBox 18"/>
            <p:cNvSpPr txBox="1"/>
            <p:nvPr/>
          </p:nvSpPr>
          <p:spPr>
            <a:xfrm>
              <a:off x="6086856" y="4695825"/>
              <a:ext cx="2943197"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Measure a useful response</a:t>
              </a:r>
            </a:p>
          </p:txBody>
        </p:sp>
        <p:sp>
          <p:nvSpPr>
            <p:cNvPr id="19" name="TextBox 19"/>
            <p:cNvSpPr txBox="1"/>
            <p:nvPr/>
          </p:nvSpPr>
          <p:spPr>
            <a:xfrm>
              <a:off x="6088380" y="5102225"/>
              <a:ext cx="425131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Check definition correctness, helpful discovery,</a:t>
              </a:r>
              <a:br>
                <a:rPr lang="en-US" sz="1500" dirty="0">
                  <a:solidFill>
                    <a:schemeClr val="dk1"/>
                  </a:solidFill>
                  <a:latin typeface="+mn-lt"/>
                  <a:ea typeface="+mn-ea"/>
                  <a:cs typeface="+mn-cs"/>
                </a:rPr>
              </a:br>
              <a:r>
                <a:rPr lang="en-US" sz="1500" dirty="0">
                  <a:solidFill>
                    <a:schemeClr val="dk1"/>
                  </a:solidFill>
                  <a:latin typeface="+mn-lt"/>
                  <a:ea typeface="+mn-ea"/>
                  <a:cs typeface="+mn-cs"/>
                </a:rPr>
                <a:t>useful next questions and time to useful response.</a:t>
              </a:r>
            </a:p>
          </p:txBody>
        </p:sp>
      </p:grpSp>
      <p:grpSp>
        <p:nvGrpSpPr>
          <p:cNvPr id="23" name="footer"/>
          <p:cNvGrpSpPr/>
          <p:nvPr/>
        </p:nvGrpSpPr>
        <p:grpSpPr>
          <a:xfrm>
            <a:off x="452438" y="6400800"/>
            <a:ext cx="11287124" cy="176212"/>
            <a:chOff x="452438" y="6400800"/>
            <a:chExt cx="11287124" cy="176212"/>
          </a:xfrm>
        </p:grpSpPr>
        <p:sp>
          <p:nvSpPr>
            <p:cNvPr id="21" name="TextBox 21"/>
            <p:cNvSpPr txBox="1"/>
            <p:nvPr/>
          </p:nvSpPr>
          <p:spPr>
            <a:xfrm>
              <a:off x="452438" y="6400800"/>
              <a:ext cx="5219938"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experience; grounded lookup and clarification replace an unsupported definition guess.</a:t>
              </a:r>
            </a:p>
          </p:txBody>
        </p:sp>
        <p:sp>
          <p:nvSpPr>
            <p:cNvPr id="22" name="TextBox 22"/>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06 / 28</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057638" cy="1169416"/>
            <a:chOff x="443484" y="371475"/>
            <a:chExt cx="5057638" cy="1169416"/>
          </a:xfrm>
        </p:grpSpPr>
        <p:sp>
          <p:nvSpPr>
            <p:cNvPr id="2" name="TextBox 2"/>
            <p:cNvSpPr txBox="1"/>
            <p:nvPr/>
          </p:nvSpPr>
          <p:spPr>
            <a:xfrm>
              <a:off x="451104" y="371475"/>
              <a:ext cx="2999471"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SEMANTIC CONTEXT ENGINEERING</a:t>
              </a:r>
            </a:p>
          </p:txBody>
        </p:sp>
        <p:sp>
          <p:nvSpPr>
            <p:cNvPr id="3" name="TextBox 3"/>
            <p:cNvSpPr txBox="1"/>
            <p:nvPr/>
          </p:nvSpPr>
          <p:spPr>
            <a:xfrm>
              <a:off x="443484" y="603250"/>
              <a:ext cx="5057638"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Select definitions by business role,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then close their dependencies</a:t>
              </a:r>
            </a:p>
          </p:txBody>
        </p:sp>
      </p:grpSp>
      <p:grpSp>
        <p:nvGrpSpPr>
          <p:cNvPr id="7" name="authorization"/>
          <p:cNvGrpSpPr/>
          <p:nvPr/>
        </p:nvGrpSpPr>
        <p:grpSpPr>
          <a:xfrm>
            <a:off x="457200" y="1752600"/>
            <a:ext cx="11277600" cy="581025"/>
            <a:chOff x="457200" y="1752600"/>
            <a:chExt cx="11277600" cy="581025"/>
          </a:xfrm>
        </p:grpSpPr>
        <p:sp>
          <p:nvSpPr>
            <p:cNvPr id="5" name="Rectangle 5"/>
            <p:cNvSpPr/>
            <p:nvPr/>
          </p:nvSpPr>
          <p:spPr>
            <a:xfrm>
              <a:off x="457200" y="1752600"/>
              <a:ext cx="11277600" cy="581025"/>
            </a:xfrm>
            <a:prstGeom prst="rect">
              <a:avLst/>
            </a:prstGeom>
            <a:solidFill>
              <a:schemeClr val="accent1"/>
            </a:solidFill>
            <a:ln>
              <a:noFill/>
            </a:ln>
          </p:spPr>
        </p:sp>
        <p:sp>
          <p:nvSpPr>
            <p:cNvPr id="6" name="TextBox 6"/>
            <p:cNvSpPr txBox="1"/>
            <p:nvPr/>
          </p:nvSpPr>
          <p:spPr>
            <a:xfrm>
              <a:off x="677418" y="1911350"/>
              <a:ext cx="7444402"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First boundary: expose only metadata authorized for the user and resource.</a:t>
              </a:r>
            </a:p>
          </p:txBody>
        </p:sp>
      </p:grpSp>
      <p:grpSp>
        <p:nvGrpSpPr>
          <p:cNvPr id="10" name="role-candidates"/>
          <p:cNvGrpSpPr/>
          <p:nvPr/>
        </p:nvGrpSpPr>
        <p:grpSpPr>
          <a:xfrm>
            <a:off x="448056" y="2628900"/>
            <a:ext cx="2897086" cy="1537970"/>
            <a:chOff x="448056" y="2628900"/>
            <a:chExt cx="2897086" cy="1537970"/>
          </a:xfrm>
        </p:grpSpPr>
        <p:sp>
          <p:nvSpPr>
            <p:cNvPr id="8" name="TextBox 8"/>
            <p:cNvSpPr txBox="1"/>
            <p:nvPr/>
          </p:nvSpPr>
          <p:spPr>
            <a:xfrm>
              <a:off x="448056" y="2628900"/>
              <a:ext cx="195875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Retrieve roles</a:t>
              </a:r>
            </a:p>
          </p:txBody>
        </p:sp>
        <p:sp>
          <p:nvSpPr>
            <p:cNvPr id="9" name="TextBox 9"/>
            <p:cNvSpPr txBox="1"/>
            <p:nvPr/>
          </p:nvSpPr>
          <p:spPr>
            <a:xfrm>
              <a:off x="449580" y="3073400"/>
              <a:ext cx="2895562"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Candidate measures, dimensions,</a:t>
              </a:r>
              <a:br>
                <a:rPr lang="en-US" sz="1500" dirty="0">
                  <a:solidFill>
                    <a:schemeClr val="dk1"/>
                  </a:solidFill>
                  <a:latin typeface="+mn-lt"/>
                  <a:ea typeface="+mn-ea"/>
                  <a:cs typeface="+mn-cs"/>
                </a:rPr>
              </a:br>
              <a:r>
                <a:rPr lang="en-US" sz="1500" dirty="0">
                  <a:solidFill>
                    <a:schemeClr val="dk1"/>
                  </a:solidFill>
                  <a:latin typeface="+mn-lt"/>
                  <a:ea typeface="+mn-ea"/>
                  <a:cs typeface="+mn-cs"/>
                </a:rPr>
                <a:t>filters, entities and time roles.</a:t>
              </a:r>
              <a:br>
                <a:rPr lang="en-US" sz="1500" dirty="0">
                  <a:solidFill>
                    <a:schemeClr val="dk1"/>
                  </a:solidFill>
                  <a:latin typeface="+mn-lt"/>
                  <a:ea typeface="+mn-ea"/>
                  <a:cs typeface="+mn-cs"/>
                </a:rPr>
              </a:br>
              <a:r>
                <a:rPr lang="en-US" sz="1500" dirty="0">
                  <a:solidFill>
                    <a:schemeClr val="dk1"/>
                  </a:solidFill>
                  <a:latin typeface="+mn-lt"/>
                  <a:ea typeface="+mn-ea"/>
                  <a:cs typeface="+mn-cs"/>
                </a:rPr>
                <a:t>Keep unresolved ambiguity</a:t>
              </a:r>
              <a:br>
                <a:rPr lang="en-US" sz="1500" dirty="0">
                  <a:solidFill>
                    <a:schemeClr val="dk1"/>
                  </a:solidFill>
                  <a:latin typeface="+mn-lt"/>
                  <a:ea typeface="+mn-ea"/>
                  <a:cs typeface="+mn-cs"/>
                </a:rPr>
              </a:br>
              <a:r>
                <a:rPr lang="en-US" sz="1500" dirty="0">
                  <a:solidFill>
                    <a:schemeClr val="dk1"/>
                  </a:solidFill>
                  <a:latin typeface="+mn-lt"/>
                  <a:ea typeface="+mn-ea"/>
                  <a:cs typeface="+mn-cs"/>
                </a:rPr>
                <a:t>visible.</a:t>
              </a:r>
            </a:p>
          </p:txBody>
        </p:sp>
      </p:grpSp>
      <p:sp>
        <p:nvSpPr>
          <p:cNvPr id="11" name="Freeform 11"/>
          <p:cNvSpPr/>
          <p:nvPr/>
        </p:nvSpPr>
        <p:spPr>
          <a:xfrm>
            <a:off x="3686175" y="2714625"/>
            <a:ext cx="457200" cy="704850"/>
          </a:xfrm>
          <a:prstGeom prst="chevron">
            <a:avLst/>
          </a:prstGeom>
          <a:solidFill>
            <a:schemeClr val="accent2"/>
          </a:solidFill>
          <a:ln>
            <a:noFill/>
          </a:ln>
        </p:spPr>
      </p:sp>
      <p:grpSp>
        <p:nvGrpSpPr>
          <p:cNvPr id="14" name="measure-dependencies"/>
          <p:cNvGrpSpPr/>
          <p:nvPr/>
        </p:nvGrpSpPr>
        <p:grpSpPr>
          <a:xfrm>
            <a:off x="4296156" y="2628900"/>
            <a:ext cx="2663952" cy="1537970"/>
            <a:chOff x="4296156" y="2628900"/>
            <a:chExt cx="2663952" cy="1537970"/>
          </a:xfrm>
        </p:grpSpPr>
        <p:sp>
          <p:nvSpPr>
            <p:cNvPr id="12" name="TextBox 12"/>
            <p:cNvSpPr txBox="1"/>
            <p:nvPr/>
          </p:nvSpPr>
          <p:spPr>
            <a:xfrm>
              <a:off x="4296156" y="2628900"/>
              <a:ext cx="228851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Resolve meaning</a:t>
              </a:r>
            </a:p>
          </p:txBody>
        </p:sp>
        <p:sp>
          <p:nvSpPr>
            <p:cNvPr id="13" name="TextBox 13"/>
            <p:cNvSpPr txBox="1"/>
            <p:nvPr/>
          </p:nvSpPr>
          <p:spPr>
            <a:xfrm>
              <a:off x="4297680" y="3073400"/>
              <a:ext cx="2662428"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For selected measures, include</a:t>
              </a:r>
              <a:br>
                <a:rPr lang="en-US" sz="1500" dirty="0">
                  <a:solidFill>
                    <a:schemeClr val="dk1"/>
                  </a:solidFill>
                  <a:latin typeface="+mn-lt"/>
                  <a:ea typeface="+mn-ea"/>
                  <a:cs typeface="+mn-cs"/>
                </a:rPr>
              </a:br>
              <a:r>
                <a:rPr lang="en-US" sz="1500" dirty="0">
                  <a:solidFill>
                    <a:schemeClr val="dk1"/>
                  </a:solidFill>
                  <a:latin typeface="+mn-lt"/>
                  <a:ea typeface="+mn-ea"/>
                  <a:cs typeface="+mn-cs"/>
                </a:rPr>
                <a:t>definitions, denominators,</a:t>
              </a:r>
              <a:br>
                <a:rPr lang="en-US" sz="1500" dirty="0">
                  <a:solidFill>
                    <a:schemeClr val="dk1"/>
                  </a:solidFill>
                  <a:latin typeface="+mn-lt"/>
                  <a:ea typeface="+mn-ea"/>
                  <a:cs typeface="+mn-cs"/>
                </a:rPr>
              </a:br>
              <a:r>
                <a:rPr lang="en-US" sz="1500" dirty="0">
                  <a:solidFill>
                    <a:schemeClr val="dk1"/>
                  </a:solidFill>
                  <a:latin typeface="+mn-lt"/>
                  <a:ea typeface="+mn-ea"/>
                  <a:cs typeface="+mn-cs"/>
                </a:rPr>
                <a:t>physical mappings and</a:t>
              </a:r>
              <a:br>
                <a:rPr lang="en-US" sz="1500" dirty="0">
                  <a:solidFill>
                    <a:schemeClr val="dk1"/>
                  </a:solidFill>
                  <a:latin typeface="+mn-lt"/>
                  <a:ea typeface="+mn-ea"/>
                  <a:cs typeface="+mn-cs"/>
                </a:rPr>
              </a:br>
              <a:r>
                <a:rPr lang="en-US" sz="1500" dirty="0">
                  <a:solidFill>
                    <a:schemeClr val="dk1"/>
                  </a:solidFill>
                  <a:latin typeface="+mn-lt"/>
                  <a:ea typeface="+mn-ea"/>
                  <a:cs typeface="+mn-cs"/>
                </a:rPr>
                <a:t>date rules.</a:t>
              </a:r>
            </a:p>
          </p:txBody>
        </p:sp>
      </p:grpSp>
      <p:sp>
        <p:nvSpPr>
          <p:cNvPr id="15" name="Freeform 15"/>
          <p:cNvSpPr/>
          <p:nvPr/>
        </p:nvSpPr>
        <p:spPr>
          <a:xfrm>
            <a:off x="7477125" y="2714625"/>
            <a:ext cx="457200" cy="704850"/>
          </a:xfrm>
          <a:prstGeom prst="chevron">
            <a:avLst/>
          </a:prstGeom>
          <a:solidFill>
            <a:schemeClr val="accent2"/>
          </a:solidFill>
          <a:ln>
            <a:noFill/>
          </a:ln>
        </p:spPr>
      </p:sp>
      <p:grpSp>
        <p:nvGrpSpPr>
          <p:cNvPr id="18" name="complete-package"/>
          <p:cNvGrpSpPr/>
          <p:nvPr/>
        </p:nvGrpSpPr>
        <p:grpSpPr>
          <a:xfrm>
            <a:off x="8087106" y="2628900"/>
            <a:ext cx="2928404" cy="1537970"/>
            <a:chOff x="8087106" y="2628900"/>
            <a:chExt cx="2928404" cy="1537970"/>
          </a:xfrm>
        </p:grpSpPr>
        <p:sp>
          <p:nvSpPr>
            <p:cNvPr id="16" name="TextBox 16"/>
            <p:cNvSpPr txBox="1"/>
            <p:nvPr/>
          </p:nvSpPr>
          <p:spPr>
            <a:xfrm>
              <a:off x="8087106" y="2628900"/>
              <a:ext cx="282922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Complete the package</a:t>
              </a:r>
            </a:p>
          </p:txBody>
        </p:sp>
        <p:sp>
          <p:nvSpPr>
            <p:cNvPr id="17" name="TextBox 17"/>
            <p:cNvSpPr txBox="1"/>
            <p:nvPr/>
          </p:nvSpPr>
          <p:spPr>
            <a:xfrm>
              <a:off x="8088630" y="3073400"/>
              <a:ext cx="2926880"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Add keys, cardinality and required</a:t>
              </a:r>
              <a:br>
                <a:rPr lang="en-US" sz="1500" dirty="0">
                  <a:solidFill>
                    <a:schemeClr val="dk1"/>
                  </a:solidFill>
                  <a:latin typeface="+mn-lt"/>
                  <a:ea typeface="+mn-ea"/>
                  <a:cs typeface="+mn-cs"/>
                </a:rPr>
              </a:br>
              <a:r>
                <a:rPr lang="en-US" sz="1500" dirty="0">
                  <a:solidFill>
                    <a:schemeClr val="dk1"/>
                  </a:solidFill>
                  <a:latin typeface="+mn-lt"/>
                  <a:ea typeface="+mn-ea"/>
                  <a:cs typeface="+mn-cs"/>
                </a:rPr>
                <a:t>join routes. A similar column name</a:t>
              </a:r>
              <a:br>
                <a:rPr lang="en-US" sz="1500" dirty="0">
                  <a:solidFill>
                    <a:schemeClr val="dk1"/>
                  </a:solidFill>
                  <a:latin typeface="+mn-lt"/>
                  <a:ea typeface="+mn-ea"/>
                  <a:cs typeface="+mn-cs"/>
                </a:rPr>
              </a:br>
              <a:r>
                <a:rPr lang="en-US" sz="1500" dirty="0">
                  <a:solidFill>
                    <a:schemeClr val="dk1"/>
                  </a:solidFill>
                  <a:latin typeface="+mn-lt"/>
                  <a:ea typeface="+mn-ea"/>
                  <a:cs typeface="+mn-cs"/>
                </a:rPr>
                <a:t>does not prove the question</a:t>
              </a:r>
              <a:br>
                <a:rPr lang="en-US" sz="1500" dirty="0">
                  <a:solidFill>
                    <a:schemeClr val="dk1"/>
                  </a:solidFill>
                  <a:latin typeface="+mn-lt"/>
                  <a:ea typeface="+mn-ea"/>
                  <a:cs typeface="+mn-cs"/>
                </a:rPr>
              </a:br>
              <a:r>
                <a:rPr lang="en-US" sz="1500" dirty="0">
                  <a:solidFill>
                    <a:schemeClr val="dk1"/>
                  </a:solidFill>
                  <a:latin typeface="+mn-lt"/>
                  <a:ea typeface="+mn-ea"/>
                  <a:cs typeface="+mn-cs"/>
                </a:rPr>
                <a:t>can be answered.</a:t>
              </a:r>
            </a:p>
          </p:txBody>
        </p:sp>
      </p:grpSp>
      <p:grpSp>
        <p:nvGrpSpPr>
          <p:cNvPr id="22" name="version-and-test"/>
          <p:cNvGrpSpPr/>
          <p:nvPr/>
        </p:nvGrpSpPr>
        <p:grpSpPr>
          <a:xfrm>
            <a:off x="457200" y="4752975"/>
            <a:ext cx="11277600" cy="1276350"/>
            <a:chOff x="457200" y="4752975"/>
            <a:chExt cx="11277600" cy="1276350"/>
          </a:xfrm>
        </p:grpSpPr>
        <p:sp>
          <p:nvSpPr>
            <p:cNvPr id="19" name="Rectangle 19"/>
            <p:cNvSpPr/>
            <p:nvPr/>
          </p:nvSpPr>
          <p:spPr>
            <a:xfrm>
              <a:off x="457200" y="4752975"/>
              <a:ext cx="11277600" cy="1276350"/>
            </a:xfrm>
            <a:prstGeom prst="rect">
              <a:avLst/>
            </a:prstGeom>
            <a:solidFill>
              <a:schemeClr val="lt2"/>
            </a:solidFill>
            <a:ln>
              <a:noFill/>
            </a:ln>
          </p:spPr>
        </p:sp>
        <p:sp>
          <p:nvSpPr>
            <p:cNvPr id="20" name="TextBox 20"/>
            <p:cNvSpPr txBox="1"/>
            <p:nvPr/>
          </p:nvSpPr>
          <p:spPr>
            <a:xfrm>
              <a:off x="677418" y="4921250"/>
              <a:ext cx="7000341"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Reuse versioned catalog metadata; refresh source data independently.</a:t>
              </a:r>
            </a:p>
          </p:txBody>
        </p:sp>
        <p:sp>
          <p:nvSpPr>
            <p:cNvPr id="21" name="TextBox 21"/>
            <p:cNvSpPr txBox="1"/>
            <p:nvPr/>
          </p:nvSpPr>
          <p:spPr>
            <a:xfrm>
              <a:off x="678180" y="5302250"/>
              <a:ext cx="8104784"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As context shrinks, test required-definition and join coverage alongside final result correctness.</a:t>
              </a:r>
              <a:br>
                <a:rPr lang="en-US" sz="1500" dirty="0">
                  <a:solidFill>
                    <a:schemeClr val="dk1"/>
                  </a:solidFill>
                  <a:latin typeface="+mn-lt"/>
                  <a:ea typeface="+mn-ea"/>
                  <a:cs typeface="+mn-cs"/>
                </a:rPr>
              </a:br>
              <a:r>
                <a:rPr lang="en-US" sz="1500" dirty="0">
                  <a:solidFill>
                    <a:schemeClr val="dk1"/>
                  </a:solidFill>
                  <a:latin typeface="+mn-lt"/>
                  <a:ea typeface="+mn-ea"/>
                  <a:cs typeface="+mn-cs"/>
                </a:rPr>
                <a:t>The goal is the smallest sufficient semantic package; missing definitions still require clarification.</a:t>
              </a:r>
            </a:p>
          </p:txBody>
        </p:sp>
      </p:grpSp>
      <p:grpSp>
        <p:nvGrpSpPr>
          <p:cNvPr id="25" name="footer"/>
          <p:cNvGrpSpPr/>
          <p:nvPr/>
        </p:nvGrpSpPr>
        <p:grpSpPr>
          <a:xfrm>
            <a:off x="452438" y="6400800"/>
            <a:ext cx="11287124" cy="176212"/>
            <a:chOff x="452438" y="6400800"/>
            <a:chExt cx="11287124" cy="176212"/>
          </a:xfrm>
        </p:grpSpPr>
        <p:sp>
          <p:nvSpPr>
            <p:cNvPr id="23" name="TextBox 23"/>
            <p:cNvSpPr txBox="1"/>
            <p:nvPr/>
          </p:nvSpPr>
          <p:spPr>
            <a:xfrm>
              <a:off x="452438" y="6400800"/>
              <a:ext cx="653244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retrieval design. Primary reference patterns: Snowflake VQR and Databricks Genie quality guidance (page 28).</a:t>
              </a:r>
            </a:p>
          </p:txBody>
        </p:sp>
        <p:sp>
          <p:nvSpPr>
            <p:cNvPr id="24" name="TextBox 24"/>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07 / 28</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748650" cy="1169416"/>
            <a:chOff x="443484" y="371475"/>
            <a:chExt cx="5748650" cy="1169416"/>
          </a:xfrm>
        </p:grpSpPr>
        <p:sp>
          <p:nvSpPr>
            <p:cNvPr id="2" name="TextBox 2"/>
            <p:cNvSpPr txBox="1"/>
            <p:nvPr/>
          </p:nvSpPr>
          <p:spPr>
            <a:xfrm>
              <a:off x="451104" y="371475"/>
              <a:ext cx="229797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AN ISOLATED EXPERIMENT</a:t>
              </a:r>
            </a:p>
          </p:txBody>
        </p:sp>
        <p:sp>
          <p:nvSpPr>
            <p:cNvPr id="3" name="TextBox 3"/>
            <p:cNvSpPr txBox="1"/>
            <p:nvPr/>
          </p:nvSpPr>
          <p:spPr>
            <a:xfrm>
              <a:off x="443484" y="603250"/>
              <a:ext cx="5748650"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Test semantic context reduction before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attributing a latency gain</a:t>
              </a:r>
            </a:p>
          </p:txBody>
        </p:sp>
      </p:grpSp>
      <p:graphicFrame>
        <p:nvGraphicFramePr>
          <p:cNvPr id="5" name="context-study"/>
          <p:cNvGraphicFramePr>
            <a:graphicFrameLocks noGrp="1"/>
          </p:cNvGraphicFramePr>
          <p:nvPr/>
        </p:nvGraphicFramePr>
        <p:xfrm>
          <a:off x="457200" y="1790700"/>
          <a:ext cx="11277600" cy="2933700"/>
        </p:xfrm>
        <a:graphic>
          <a:graphicData uri="http://schemas.openxmlformats.org/drawingml/2006/table">
            <a:tbl>
              <a:tblPr firstRow="1" bandRow="0">
                <a:tableStyleId>{5C22544A-7EE6-4342-B048-85BDC9FD1C3A}</a:tableStyleId>
              </a:tblPr>
              <a:tblGrid>
                <a:gridCol w="2133600"/>
                <a:gridCol w="4381500"/>
                <a:gridCol w="4762500"/>
              </a:tblGrid>
              <a:tr h="533400">
                <a:tc>
                  <a:txBody>
                    <a:bodyPr/>
                    <a:lstStyle/>
                    <a:p>
                      <a:pPr/>
                      <a:r>
                        <a:rPr lang="en-US" sz="1350" b="1">
                          <a:solidFill>
                            <a:srgbClr val="FFFDF7"/>
                          </a:solidFill>
                          <a:latin typeface="Arial"/>
                          <a:ea typeface="Microsoft YaHei"/>
                          <a:cs typeface="Arial"/>
                        </a:rPr>
                        <a:t>Comparison</a:t>
                      </a:r>
                    </a:p>
                  </a:txBody>
                  <a:tcPr anchor="ctr" marL="152400" marR="152400" marT="114300" marB="1143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Baseline / full semantics</a:t>
                      </a:r>
                    </a:p>
                  </a:txBody>
                  <a:tcPr anchor="ctr" marL="152400" marR="152400" marT="114300" marB="1143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Candidate / selected semantics</a:t>
                      </a:r>
                    </a:p>
                  </a:txBody>
                  <a:tcPr anchor="ctr" marL="152400" marR="152400" marT="114300" marB="114300">
                    <a:lnL>
                      <a:noFill/>
                    </a:lnL>
                    <a:lnR>
                      <a:noFill/>
                    </a:lnR>
                    <a:lnT>
                      <a:noFill/>
                    </a:lnT>
                    <a:lnB w="9525">
                      <a:solidFill>
                        <a:schemeClr val="accent6"/>
                      </a:solidFill>
                      <a:prstDash val="solid"/>
                    </a:lnB>
                    <a:solidFill>
                      <a:schemeClr val="accent1"/>
                    </a:solidFill>
                  </a:tcPr>
                </a:tc>
              </a:tr>
              <a:tr h="800100">
                <a:tc>
                  <a:txBody>
                    <a:bodyPr/>
                    <a:lstStyle/>
                    <a:p>
                      <a:pPr/>
                      <a:r>
                        <a:rPr lang="en-US" sz="1350" b="1">
                          <a:solidFill>
                            <a:schemeClr val="dk1"/>
                          </a:solidFill>
                          <a:latin typeface="Arial"/>
                          <a:ea typeface="Microsoft YaHei"/>
                          <a:cs typeface="Arial"/>
                        </a:rPr>
                        <a:t>Context</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Reported 20–30K tokens of table/column semantics.</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Role-selected definitions plus complete metric and join dependencies.</a:t>
                      </a:r>
                    </a:p>
                  </a:txBody>
                  <a:tcPr anchor="ctr" marL="152400" marR="152400" marT="114300" marB="114300">
                    <a:lnL>
                      <a:noFill/>
                    </a:lnL>
                    <a:lnR>
                      <a:noFill/>
                    </a:lnR>
                    <a:lnT>
                      <a:noFill/>
                    </a:lnT>
                    <a:lnB w="9525">
                      <a:solidFill>
                        <a:schemeClr val="accent6"/>
                      </a:solidFill>
                      <a:prstDash val="solid"/>
                    </a:lnB>
                    <a:noFill/>
                  </a:tcPr>
                </a:tc>
              </a:tr>
              <a:tr h="800100">
                <a:tc>
                  <a:txBody>
                    <a:bodyPr/>
                    <a:lstStyle/>
                    <a:p>
                      <a:pPr/>
                      <a:r>
                        <a:rPr lang="en-US" sz="1350" b="1">
                          <a:solidFill>
                            <a:schemeClr val="dk1"/>
                          </a:solidFill>
                          <a:latin typeface="Arial"/>
                          <a:ea typeface="Microsoft YaHei"/>
                          <a:cs typeface="Arial"/>
                        </a:rPr>
                        <a:t>Held fixed</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Same model, behavior, source snapshot and question set.</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Same settings and evaluation contract; change context selection only.</a:t>
                      </a:r>
                    </a:p>
                  </a:txBody>
                  <a:tcPr anchor="ctr" marL="152400" marR="152400" marT="114300" marB="114300">
                    <a:lnL>
                      <a:noFill/>
                    </a:lnL>
                    <a:lnR>
                      <a:noFill/>
                    </a:lnR>
                    <a:lnT>
                      <a:noFill/>
                    </a:lnT>
                    <a:lnB w="9525">
                      <a:solidFill>
                        <a:schemeClr val="accent6"/>
                      </a:solidFill>
                      <a:prstDash val="solid"/>
                    </a:lnB>
                    <a:noFill/>
                  </a:tcPr>
                </a:tc>
              </a:tr>
              <a:tr h="800100">
                <a:tc>
                  <a:txBody>
                    <a:bodyPr/>
                    <a:lstStyle/>
                    <a:p>
                      <a:pPr/>
                      <a:r>
                        <a:rPr lang="en-US" sz="1350" b="1">
                          <a:solidFill>
                            <a:schemeClr val="dk1"/>
                          </a:solidFill>
                          <a:latin typeface="Arial"/>
                          <a:ea typeface="Microsoft YaHei"/>
                          <a:cs typeface="Arial"/>
                        </a:rPr>
                        <a:t>Decision evidence</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Record stage timing, coverage and correct results.</a:t>
                      </a:r>
                    </a:p>
                  </a:txBody>
                  <a:tcPr anchor="ctr" marL="152400" marR="152400" marT="114300" marB="1143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Measure tokens, correctness and p50/p95 time; promise no gain in advance.</a:t>
                      </a:r>
                    </a:p>
                  </a:txBody>
                  <a:tcPr anchor="ctr" marL="152400" marR="152400" marT="114300" marB="114300">
                    <a:lnL>
                      <a:noFill/>
                    </a:lnL>
                    <a:lnR>
                      <a:noFill/>
                    </a:lnR>
                    <a:lnT>
                      <a:noFill/>
                    </a:lnT>
                    <a:lnB w="9525">
                      <a:solidFill>
                        <a:schemeClr val="accent6"/>
                      </a:solidFill>
                      <a:prstDash val="solid"/>
                    </a:lnB>
                    <a:noFill/>
                  </a:tcPr>
                </a:tc>
              </a:tr>
            </a:tbl>
          </a:graphicData>
        </a:graphic>
      </p:graphicFrame>
      <p:grpSp>
        <p:nvGrpSpPr>
          <p:cNvPr id="9" name="stage-measurement"/>
          <p:cNvGrpSpPr/>
          <p:nvPr/>
        </p:nvGrpSpPr>
        <p:grpSpPr>
          <a:xfrm>
            <a:off x="448818" y="5054600"/>
            <a:ext cx="8138440" cy="949833"/>
            <a:chOff x="448818" y="5054600"/>
            <a:chExt cx="8138440" cy="949833"/>
          </a:xfrm>
        </p:grpSpPr>
        <p:sp>
          <p:nvSpPr>
            <p:cNvPr id="6" name="TextBox 6"/>
            <p:cNvSpPr txBox="1"/>
            <p:nvPr/>
          </p:nvSpPr>
          <p:spPr>
            <a:xfrm>
              <a:off x="448818" y="5054600"/>
              <a:ext cx="2344295"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Instrument the full path:</a:t>
              </a:r>
            </a:p>
          </p:txBody>
        </p:sp>
        <p:sp>
          <p:nvSpPr>
            <p:cNvPr id="7" name="TextBox 7"/>
            <p:cNvSpPr txBox="1"/>
            <p:nvPr/>
          </p:nvSpPr>
          <p:spPr>
            <a:xfrm>
              <a:off x="449580" y="5391150"/>
              <a:ext cx="665998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retrieval → routing → generation → validation / database → total task time</a:t>
              </a:r>
            </a:p>
          </p:txBody>
        </p:sp>
        <p:sp>
          <p:nvSpPr>
            <p:cNvPr id="8" name="TextBox 8"/>
            <p:cNvSpPr txBox="1"/>
            <p:nvPr/>
          </p:nvSpPr>
          <p:spPr>
            <a:xfrm>
              <a:off x="450342" y="5740400"/>
              <a:ext cx="813691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Compare one-shot versus bounded repair separately. Inspect stage times before assigning causality.</a:t>
              </a:r>
            </a:p>
          </p:txBody>
        </p:sp>
      </p:grpSp>
      <p:grpSp>
        <p:nvGrpSpPr>
          <p:cNvPr id="12" name="footer"/>
          <p:cNvGrpSpPr/>
          <p:nvPr/>
        </p:nvGrpSpPr>
        <p:grpSpPr>
          <a:xfrm>
            <a:off x="452438" y="6391275"/>
            <a:ext cx="11287124" cy="176212"/>
            <a:chOff x="452438" y="6391275"/>
            <a:chExt cx="11287124" cy="176212"/>
          </a:xfrm>
        </p:grpSpPr>
        <p:sp>
          <p:nvSpPr>
            <p:cNvPr id="10" name="TextBox 10"/>
            <p:cNvSpPr txBox="1"/>
            <p:nvPr/>
          </p:nvSpPr>
          <p:spPr>
            <a:xfrm>
              <a:off x="452438" y="6391275"/>
              <a:ext cx="587602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One sales domain is the first experimental scope. No latency improvement has been measured in this review.</a:t>
              </a:r>
            </a:p>
          </p:txBody>
        </p:sp>
        <p:sp>
          <p:nvSpPr>
            <p:cNvPr id="11" name="TextBox 11"/>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08 / 28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729530" cy="1169416"/>
            <a:chOff x="443484" y="371475"/>
            <a:chExt cx="5729530" cy="1169416"/>
          </a:xfrm>
        </p:grpSpPr>
        <p:sp>
          <p:nvSpPr>
            <p:cNvPr id="2" name="TextBox 2"/>
            <p:cNvSpPr txBox="1"/>
            <p:nvPr/>
          </p:nvSpPr>
          <p:spPr>
            <a:xfrm>
              <a:off x="451104" y="371475"/>
              <a:ext cx="5721910"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SYNTHETIC TEACHING CASE / ALL ENTITIES AND VALUES INVENTED</a:t>
              </a:r>
            </a:p>
          </p:txBody>
        </p:sp>
        <p:sp>
          <p:nvSpPr>
            <p:cNvPr id="3" name="TextBox 3"/>
            <p:cNvSpPr txBox="1"/>
            <p:nvPr/>
          </p:nvSpPr>
          <p:spPr>
            <a:xfrm>
              <a:off x="443484" y="603250"/>
              <a:ext cx="4344406"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Equal row counts can conceal</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 wrong advisor result</a:t>
              </a:r>
            </a:p>
          </p:txBody>
        </p:sp>
      </p:grpSp>
      <p:grpSp>
        <p:nvGrpSpPr>
          <p:cNvPr id="6" name="scenario-definition"/>
          <p:cNvGrpSpPr/>
          <p:nvPr/>
        </p:nvGrpSpPr>
        <p:grpSpPr>
          <a:xfrm>
            <a:off x="449580" y="1806575"/>
            <a:ext cx="7316038" cy="560070"/>
            <a:chOff x="449580" y="1806575"/>
            <a:chExt cx="7316038" cy="560070"/>
          </a:xfrm>
        </p:grpSpPr>
        <p:sp>
          <p:nvSpPr>
            <p:cNvPr id="5" name="TextBox 5"/>
            <p:cNvSpPr txBox="1"/>
            <p:nvPr/>
          </p:nvSpPr>
          <p:spPr>
            <a:xfrm>
              <a:off x="449580" y="1806575"/>
              <a:ext cx="731603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 xml:space="preserve">Advisor A17 / product P-A: purchases $0.8m − redemptions $1.0m = </a:t>
              </a:r>
              <a:r>
                <a:rPr lang="en-US" sz="1500" b="1" dirty="0">
                  <a:solidFill>
                    <a:schemeClr val="dk1"/>
                  </a:solidFill>
                  <a:latin typeface="+mn-lt"/>
                  <a:ea typeface="+mn-ea"/>
                  <a:cs typeface="+mn-cs"/>
                </a:rPr>
                <a:t>net flow −$0.2m.</a:t>
              </a:r>
              <a:br>
                <a:rPr lang="en-US" sz="1500" b="1" dirty="0">
                  <a:solidFill>
                    <a:schemeClr val="dk1"/>
                  </a:solidFill>
                  <a:latin typeface="+mn-lt"/>
                  <a:ea typeface="+mn-ea"/>
                  <a:cs typeface="+mn-cs"/>
                </a:rPr>
              </a:br>
              <a:r>
                <a:rPr lang="en-US" sz="1500" dirty="0">
                  <a:solidFill>
                    <a:schemeClr val="dk1"/>
                  </a:solidFill>
                  <a:latin typeface="+mn-lt"/>
                  <a:ea typeface="+mn-ea"/>
                  <a:cs typeface="+mn-cs"/>
                </a:rPr>
                <a:t>The firm aggregate is +$5.0m, a different aggregation scope.</a:t>
              </a:r>
            </a:p>
          </p:txBody>
        </p:sp>
      </p:grpSp>
      <p:grpSp>
        <p:nvGrpSpPr>
          <p:cNvPr id="8" name="reference-caption"/>
          <p:cNvGrpSpPr/>
          <p:nvPr/>
        </p:nvGrpSpPr>
        <p:grpSpPr>
          <a:xfrm>
            <a:off x="448056" y="2705100"/>
            <a:ext cx="4419468" cy="352044"/>
            <a:chOff x="448056" y="2705100"/>
            <a:chExt cx="4419468" cy="352044"/>
          </a:xfrm>
        </p:grpSpPr>
        <p:sp>
          <p:nvSpPr>
            <p:cNvPr id="7" name="TextBox 7"/>
            <p:cNvSpPr txBox="1"/>
            <p:nvPr/>
          </p:nvSpPr>
          <p:spPr>
            <a:xfrm>
              <a:off x="448056" y="2705100"/>
              <a:ext cx="441946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Reference result / correct advisor scope</a:t>
              </a:r>
            </a:p>
          </p:txBody>
        </p:sp>
      </p:grpSp>
      <p:grpSp>
        <p:nvGrpSpPr>
          <p:cNvPr id="10" name="candidate-caption"/>
          <p:cNvGrpSpPr/>
          <p:nvPr/>
        </p:nvGrpSpPr>
        <p:grpSpPr>
          <a:xfrm>
            <a:off x="6086856" y="2705100"/>
            <a:ext cx="4477380" cy="352044"/>
            <a:chOff x="6086856" y="2705100"/>
            <a:chExt cx="4477380" cy="352044"/>
          </a:xfrm>
        </p:grpSpPr>
        <p:sp>
          <p:nvSpPr>
            <p:cNvPr id="9" name="TextBox 9"/>
            <p:cNvSpPr txBox="1"/>
            <p:nvPr/>
          </p:nvSpPr>
          <p:spPr>
            <a:xfrm>
              <a:off x="6086856" y="2705100"/>
              <a:ext cx="4477380" cy="352044"/>
            </a:xfrm>
            <a:prstGeom prst="rect">
              <a:avLst/>
            </a:prstGeom>
            <a:noFill/>
            <a:ln>
              <a:noFill/>
            </a:ln>
          </p:spPr>
          <p:txBody>
            <a:bodyPr wrap="none" lIns="0" tIns="0" rIns="0" bIns="0" anchor="t" anchorCtr="0">
              <a:spAutoFit/>
            </a:bodyPr>
            <a:lstStyle/>
            <a:p>
              <a:pPr algn="l"/>
              <a:r>
                <a:rPr lang="en-US" sz="1800" dirty="0">
                  <a:solidFill>
                    <a:srgbClr val="9B3025"/>
                  </a:solidFill>
                  <a:latin typeface="+mj-lt"/>
                  <a:ea typeface="+mj-ea"/>
                  <a:cs typeface="+mj-cs"/>
                </a:rPr>
                <a:t>Bad candidate / mislabeled firm number</a:t>
              </a:r>
            </a:p>
          </p:txBody>
        </p:sp>
      </p:grpSp>
      <p:graphicFrame>
        <p:nvGraphicFramePr>
          <p:cNvPr id="11" name="reference-result"/>
          <p:cNvGraphicFramePr>
            <a:graphicFrameLocks noGrp="1"/>
          </p:cNvGraphicFramePr>
          <p:nvPr/>
        </p:nvGraphicFramePr>
        <p:xfrm>
          <a:off x="457200" y="3209925"/>
          <a:ext cx="5334000" cy="1066800"/>
        </p:xfrm>
        <a:graphic>
          <a:graphicData uri="http://schemas.openxmlformats.org/drawingml/2006/table">
            <a:tbl>
              <a:tblPr firstRow="1" bandRow="0">
                <a:tableStyleId>{5C22544A-7EE6-4342-B048-85BDC9FD1C3A}</a:tableStyleId>
              </a:tblPr>
              <a:tblGrid>
                <a:gridCol w="1333500"/>
                <a:gridCol w="1333500"/>
                <a:gridCol w="1714500"/>
                <a:gridCol w="952500"/>
              </a:tblGrid>
              <a:tr h="533400">
                <a:tc>
                  <a:txBody>
                    <a:bodyPr/>
                    <a:lstStyle/>
                    <a:p>
                      <a:pPr/>
                      <a:r>
                        <a:rPr lang="en-US" sz="1350" b="1">
                          <a:solidFill>
                            <a:schemeClr val="dk1"/>
                          </a:solidFill>
                          <a:latin typeface="Arial"/>
                          <a:ea typeface="Microsoft YaHei"/>
                          <a:cs typeface="Arial"/>
                        </a:rPr>
                        <a:t>Advisor</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r>
                        <a:rPr lang="en-US" sz="1350" b="1">
                          <a:solidFill>
                            <a:schemeClr val="dk1"/>
                          </a:solidFill>
                          <a:latin typeface="Arial"/>
                          <a:ea typeface="Microsoft YaHei"/>
                          <a:cs typeface="Arial"/>
                        </a:rPr>
                        <a:t>Product</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lgn="r"/>
                      <a:r>
                        <a:rPr lang="en-US" sz="1350" b="1">
                          <a:solidFill>
                            <a:schemeClr val="dk1"/>
                          </a:solidFill>
                          <a:latin typeface="Arial"/>
                          <a:ea typeface="Microsoft YaHei"/>
                          <a:cs typeface="Arial"/>
                        </a:rPr>
                        <a:t>Net flow</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lgn="r"/>
                      <a:r>
                        <a:rPr lang="en-US" sz="1350" b="1">
                          <a:solidFill>
                            <a:schemeClr val="dk1"/>
                          </a:solidFill>
                          <a:latin typeface="Arial"/>
                          <a:ea typeface="Microsoft YaHei"/>
                          <a:cs typeface="Arial"/>
                        </a:rPr>
                        <a:t>Rows</a:t>
                      </a:r>
                    </a:p>
                  </a:txBody>
                  <a:tcPr anchor="ctr" marL="152400" marR="152400" marT="95250" marB="95250">
                    <a:lnL>
                      <a:noFill/>
                    </a:lnL>
                    <a:lnR>
                      <a:noFill/>
                    </a:lnR>
                    <a:lnT>
                      <a:noFill/>
                    </a:lnT>
                    <a:lnB w="9525">
                      <a:solidFill>
                        <a:schemeClr val="accent6"/>
                      </a:solidFill>
                      <a:prstDash val="solid"/>
                    </a:lnB>
                    <a:solidFill>
                      <a:schemeClr val="lt2"/>
                    </a:solidFill>
                  </a:tcPr>
                </a:tc>
              </a:tr>
              <a:tr h="533400">
                <a:tc>
                  <a:txBody>
                    <a:bodyPr/>
                    <a:lstStyle/>
                    <a:p>
                      <a:pPr/>
                      <a:r>
                        <a:rPr lang="en-US" sz="1350" b="0">
                          <a:solidFill>
                            <a:schemeClr val="dk1"/>
                          </a:solidFill>
                          <a:latin typeface="Arial"/>
                          <a:ea typeface="Microsoft YaHei"/>
                          <a:cs typeface="Arial"/>
                        </a:rPr>
                        <a:t>A17</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a:t>
                      </a:r>
                    </a:p>
                  </a:txBody>
                  <a:tcPr anchor="ctr" marL="152400" marR="152400" marT="95250" marB="9525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−$0.2m</a:t>
                      </a:r>
                    </a:p>
                  </a:txBody>
                  <a:tcPr anchor="ctr" marL="152400" marR="152400" marT="95250" marB="9525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1</a:t>
                      </a:r>
                    </a:p>
                  </a:txBody>
                  <a:tcPr anchor="ctr" marL="152400" marR="152400" marT="95250" marB="95250">
                    <a:lnL>
                      <a:noFill/>
                    </a:lnL>
                    <a:lnR>
                      <a:noFill/>
                    </a:lnR>
                    <a:lnT>
                      <a:noFill/>
                    </a:lnT>
                    <a:lnB w="9525">
                      <a:solidFill>
                        <a:schemeClr val="accent6"/>
                      </a:solidFill>
                      <a:prstDash val="solid"/>
                    </a:lnB>
                    <a:noFill/>
                  </a:tcPr>
                </a:tc>
              </a:tr>
            </a:tbl>
          </a:graphicData>
        </a:graphic>
      </p:graphicFrame>
      <p:graphicFrame>
        <p:nvGraphicFramePr>
          <p:cNvPr id="12" name="candidate-result"/>
          <p:cNvGraphicFramePr>
            <a:graphicFrameLocks noGrp="1"/>
          </p:cNvGraphicFramePr>
          <p:nvPr/>
        </p:nvGraphicFramePr>
        <p:xfrm>
          <a:off x="6096000" y="3209925"/>
          <a:ext cx="5638800" cy="1066800"/>
        </p:xfrm>
        <a:graphic>
          <a:graphicData uri="http://schemas.openxmlformats.org/drawingml/2006/table">
            <a:tbl>
              <a:tblPr firstRow="1" bandRow="0">
                <a:tableStyleId>{5C22544A-7EE6-4342-B048-85BDC9FD1C3A}</a:tableStyleId>
              </a:tblPr>
              <a:tblGrid>
                <a:gridCol w="1333500"/>
                <a:gridCol w="1333500"/>
                <a:gridCol w="2019300"/>
                <a:gridCol w="952500"/>
              </a:tblGrid>
              <a:tr h="533400">
                <a:tc>
                  <a:txBody>
                    <a:bodyPr/>
                    <a:lstStyle/>
                    <a:p>
                      <a:pPr/>
                      <a:r>
                        <a:rPr lang="en-US" sz="1350" b="1">
                          <a:solidFill>
                            <a:schemeClr val="dk1"/>
                          </a:solidFill>
                          <a:latin typeface="Arial"/>
                          <a:ea typeface="Microsoft YaHei"/>
                          <a:cs typeface="Arial"/>
                        </a:rPr>
                        <a:t>Advisor</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r>
                        <a:rPr lang="en-US" sz="1350" b="1">
                          <a:solidFill>
                            <a:schemeClr val="dk1"/>
                          </a:solidFill>
                          <a:latin typeface="Arial"/>
                          <a:ea typeface="Microsoft YaHei"/>
                          <a:cs typeface="Arial"/>
                        </a:rPr>
                        <a:t>Product</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lgn="r"/>
                      <a:r>
                        <a:rPr lang="en-US" sz="1350" b="1">
                          <a:solidFill>
                            <a:schemeClr val="dk1"/>
                          </a:solidFill>
                          <a:latin typeface="Arial"/>
                          <a:ea typeface="Microsoft YaHei"/>
                          <a:cs typeface="Arial"/>
                        </a:rPr>
                        <a:t>Net flow</a:t>
                      </a:r>
                    </a:p>
                  </a:txBody>
                  <a:tcPr anchor="ctr" marL="152400" marR="152400" marT="95250" marB="95250">
                    <a:lnL>
                      <a:noFill/>
                    </a:lnL>
                    <a:lnR>
                      <a:noFill/>
                    </a:lnR>
                    <a:lnT>
                      <a:noFill/>
                    </a:lnT>
                    <a:lnB w="9525">
                      <a:solidFill>
                        <a:schemeClr val="accent6"/>
                      </a:solidFill>
                      <a:prstDash val="solid"/>
                    </a:lnB>
                    <a:solidFill>
                      <a:schemeClr val="lt2"/>
                    </a:solidFill>
                  </a:tcPr>
                </a:tc>
                <a:tc>
                  <a:txBody>
                    <a:bodyPr/>
                    <a:lstStyle/>
                    <a:p>
                      <a:pPr algn="r"/>
                      <a:r>
                        <a:rPr lang="en-US" sz="1350" b="1">
                          <a:solidFill>
                            <a:schemeClr val="dk1"/>
                          </a:solidFill>
                          <a:latin typeface="Arial"/>
                          <a:ea typeface="Microsoft YaHei"/>
                          <a:cs typeface="Arial"/>
                        </a:rPr>
                        <a:t>Rows</a:t>
                      </a:r>
                    </a:p>
                  </a:txBody>
                  <a:tcPr anchor="ctr" marL="152400" marR="152400" marT="95250" marB="95250">
                    <a:lnL>
                      <a:noFill/>
                    </a:lnL>
                    <a:lnR>
                      <a:noFill/>
                    </a:lnR>
                    <a:lnT>
                      <a:noFill/>
                    </a:lnT>
                    <a:lnB w="9525">
                      <a:solidFill>
                        <a:schemeClr val="accent6"/>
                      </a:solidFill>
                      <a:prstDash val="solid"/>
                    </a:lnB>
                    <a:solidFill>
                      <a:schemeClr val="lt2"/>
                    </a:solidFill>
                  </a:tcPr>
                </a:tc>
              </a:tr>
              <a:tr h="533400">
                <a:tc>
                  <a:txBody>
                    <a:bodyPr/>
                    <a:lstStyle/>
                    <a:p>
                      <a:pPr/>
                      <a:r>
                        <a:rPr lang="en-US" sz="1350" b="0">
                          <a:solidFill>
                            <a:schemeClr val="dk1"/>
                          </a:solidFill>
                          <a:latin typeface="Arial"/>
                          <a:ea typeface="Microsoft YaHei"/>
                          <a:cs typeface="Arial"/>
                        </a:rPr>
                        <a:t>A17</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a:t>
                      </a:r>
                    </a:p>
                  </a:txBody>
                  <a:tcPr anchor="ctr" marL="152400" marR="152400" marT="95250" marB="95250">
                    <a:lnL>
                      <a:noFill/>
                    </a:lnL>
                    <a:lnR>
                      <a:noFill/>
                    </a:lnR>
                    <a:lnT>
                      <a:noFill/>
                    </a:lnT>
                    <a:lnB w="9525">
                      <a:solidFill>
                        <a:schemeClr val="accent6"/>
                      </a:solidFill>
                      <a:prstDash val="solid"/>
                    </a:lnB>
                    <a:noFill/>
                  </a:tcPr>
                </a:tc>
                <a:tc>
                  <a:txBody>
                    <a:bodyPr/>
                    <a:lstStyle/>
                    <a:p>
                      <a:pPr algn="r"/>
                      <a:r>
                        <a:rPr lang="en-US" sz="1350" b="0">
                          <a:solidFill>
                            <a:srgbClr val="9B3025"/>
                          </a:solidFill>
                          <a:latin typeface="Arial"/>
                          <a:ea typeface="Microsoft YaHei"/>
                          <a:cs typeface="Arial"/>
                        </a:rPr>
                        <a:t>+$5.0m</a:t>
                      </a:r>
                    </a:p>
                  </a:txBody>
                  <a:tcPr anchor="ctr" marL="152400" marR="152400" marT="95250" marB="9525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1</a:t>
                      </a:r>
                    </a:p>
                  </a:txBody>
                  <a:tcPr anchor="ctr" marL="152400" marR="152400" marT="95250" marB="95250">
                    <a:lnL>
                      <a:noFill/>
                    </a:lnL>
                    <a:lnR>
                      <a:noFill/>
                    </a:lnR>
                    <a:lnT>
                      <a:noFill/>
                    </a:lnT>
                    <a:lnB w="9525">
                      <a:solidFill>
                        <a:schemeClr val="accent6"/>
                      </a:solidFill>
                      <a:prstDash val="solid"/>
                    </a:lnB>
                    <a:noFill/>
                  </a:tcPr>
                </a:tc>
              </a:tr>
            </a:tbl>
          </a:graphicData>
        </a:graphic>
      </p:graphicFrame>
      <p:grpSp>
        <p:nvGrpSpPr>
          <p:cNvPr id="16" name="failure-explanation"/>
          <p:cNvGrpSpPr/>
          <p:nvPr/>
        </p:nvGrpSpPr>
        <p:grpSpPr>
          <a:xfrm>
            <a:off x="457200" y="4667250"/>
            <a:ext cx="11277600" cy="1362075"/>
            <a:chOff x="457200" y="4667250"/>
            <a:chExt cx="11277600" cy="1362075"/>
          </a:xfrm>
        </p:grpSpPr>
        <p:sp>
          <p:nvSpPr>
            <p:cNvPr id="13" name="Rectangle 13"/>
            <p:cNvSpPr/>
            <p:nvPr/>
          </p:nvSpPr>
          <p:spPr>
            <a:xfrm>
              <a:off x="457200" y="4667250"/>
              <a:ext cx="11277600" cy="1362075"/>
            </a:xfrm>
            <a:prstGeom prst="rect">
              <a:avLst/>
            </a:prstGeom>
            <a:solidFill>
              <a:schemeClr val="accent1"/>
            </a:solidFill>
            <a:ln>
              <a:noFill/>
            </a:ln>
          </p:spPr>
        </p:sp>
        <p:sp>
          <p:nvSpPr>
            <p:cNvPr id="14" name="TextBox 14"/>
            <p:cNvSpPr txBox="1"/>
            <p:nvPr/>
          </p:nvSpPr>
          <p:spPr>
            <a:xfrm>
              <a:off x="677418" y="4854575"/>
              <a:ext cx="499371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Cardinality agrees. The business answer is wrong.</a:t>
              </a:r>
            </a:p>
          </p:txBody>
        </p:sp>
        <p:sp>
          <p:nvSpPr>
            <p:cNvPr id="15" name="TextBox 15"/>
            <p:cNvSpPr txBox="1"/>
            <p:nvPr/>
          </p:nvSpPr>
          <p:spPr>
            <a:xfrm>
              <a:off x="678180" y="5264150"/>
              <a:ext cx="8031899"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Compare keyed values, the measure definition and entity/grain scope. An LLM judgment needs</a:t>
              </a:r>
              <a:br>
                <a:rPr lang="en-US" sz="1500" dirty="0">
                  <a:solidFill>
                    <a:srgbClr val="FFFDF7"/>
                  </a:solidFill>
                  <a:latin typeface="+mn-lt"/>
                  <a:ea typeface="+mn-ea"/>
                  <a:cs typeface="+mn-cs"/>
                </a:rPr>
              </a:br>
              <a:r>
                <a:rPr lang="en-US" sz="1500" dirty="0">
                  <a:solidFill>
                    <a:srgbClr val="FFFDF7"/>
                  </a:solidFill>
                  <a:latin typeface="+mn-lt"/>
                  <a:ea typeface="+mn-ea"/>
                  <a:cs typeface="+mn-cs"/>
                </a:rPr>
                <a:t>expert calibration; negative advisor flow alone proves neither dissatisfaction nor displacement.</a:t>
              </a:r>
            </a:p>
          </p:txBody>
        </p:sp>
      </p:grpSp>
      <p:grpSp>
        <p:nvGrpSpPr>
          <p:cNvPr id="19" name="footer"/>
          <p:cNvGrpSpPr/>
          <p:nvPr/>
        </p:nvGrpSpPr>
        <p:grpSpPr>
          <a:xfrm>
            <a:off x="452438" y="6391275"/>
            <a:ext cx="11287124" cy="176212"/>
            <a:chOff x="452438" y="6391275"/>
            <a:chExt cx="11287124" cy="176212"/>
          </a:xfrm>
        </p:grpSpPr>
        <p:sp>
          <p:nvSpPr>
            <p:cNvPr id="17" name="TextBox 17"/>
            <p:cNvSpPr txBox="1"/>
            <p:nvPr/>
          </p:nvSpPr>
          <p:spPr>
            <a:xfrm>
              <a:off x="452438" y="6391275"/>
              <a:ext cx="502444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Scenario data. The bad candidate is intentionally wrong; it is not a measured Fidelity incident.</a:t>
              </a:r>
            </a:p>
          </p:txBody>
        </p:sp>
        <p:sp>
          <p:nvSpPr>
            <p:cNvPr id="18" name="TextBox 18"/>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09 / 28</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814830" cy="1169416"/>
            <a:chOff x="443484" y="371475"/>
            <a:chExt cx="5814830" cy="1169416"/>
          </a:xfrm>
        </p:grpSpPr>
        <p:sp>
          <p:nvSpPr>
            <p:cNvPr id="2" name="TextBox 2"/>
            <p:cNvSpPr txBox="1"/>
            <p:nvPr/>
          </p:nvSpPr>
          <p:spPr>
            <a:xfrm>
              <a:off x="451104" y="371475"/>
              <a:ext cx="386277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EVALUATION AS AN ACCEPTANCE CONTRACT</a:t>
              </a:r>
            </a:p>
          </p:txBody>
        </p:sp>
        <p:sp>
          <p:nvSpPr>
            <p:cNvPr id="3" name="TextBox 3"/>
            <p:cNvSpPr txBox="1"/>
            <p:nvPr/>
          </p:nvSpPr>
          <p:spPr>
            <a:xfrm>
              <a:off x="443484" y="603250"/>
              <a:ext cx="5814830"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A layered evaluation contract separates</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execution from accepted work</a:t>
              </a:r>
            </a:p>
          </p:txBody>
        </p:sp>
      </p:grpSp>
      <p:graphicFrame>
        <p:nvGraphicFramePr>
          <p:cNvPr id="5" name="evaluation-layers"/>
          <p:cNvGraphicFramePr>
            <a:graphicFrameLocks noGrp="1"/>
          </p:cNvGraphicFramePr>
          <p:nvPr/>
        </p:nvGraphicFramePr>
        <p:xfrm>
          <a:off x="457200" y="1752600"/>
          <a:ext cx="11277600" cy="3695700"/>
        </p:xfrm>
        <a:graphic>
          <a:graphicData uri="http://schemas.openxmlformats.org/drawingml/2006/table">
            <a:tbl>
              <a:tblPr firstRow="1" bandRow="0">
                <a:tableStyleId>{5C22544A-7EE6-4342-B048-85BDC9FD1C3A}</a:tableStyleId>
              </a:tblPr>
              <a:tblGrid>
                <a:gridCol w="2000251"/>
                <a:gridCol w="9277349"/>
              </a:tblGrid>
              <a:tr h="457200">
                <a:tc>
                  <a:txBody>
                    <a:bodyPr/>
                    <a:lstStyle/>
                    <a:p>
                      <a:pPr/>
                      <a:r>
                        <a:rPr lang="en-US" sz="1350" b="1">
                          <a:solidFill>
                            <a:srgbClr val="FFFDF7"/>
                          </a:solidFill>
                          <a:latin typeface="Arial"/>
                          <a:ea typeface="Microsoft YaHei"/>
                          <a:cs typeface="Arial"/>
                        </a:rPr>
                        <a:t>Layer</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Evidence required</a:t>
                      </a:r>
                    </a:p>
                  </a:txBody>
                  <a:tcPr anchor="ctr" marL="152400" marR="152400" marT="76200" marB="76200">
                    <a:lnL>
                      <a:noFill/>
                    </a:lnL>
                    <a:lnR>
                      <a:noFill/>
                    </a:lnR>
                    <a:lnT>
                      <a:noFill/>
                    </a:lnT>
                    <a:lnB w="9525">
                      <a:solidFill>
                        <a:schemeClr val="accent6"/>
                      </a:solidFill>
                      <a:prstDash val="solid"/>
                    </a:lnB>
                    <a:solidFill>
                      <a:schemeClr val="accent1"/>
                    </a:solidFill>
                  </a:tcPr>
                </a:tc>
              </a:tr>
              <a:tr h="495300">
                <a:tc>
                  <a:txBody>
                    <a:bodyPr/>
                    <a:lstStyle/>
                    <a:p>
                      <a:pPr/>
                      <a:r>
                        <a:rPr lang="en-US" sz="1350" b="1">
                          <a:solidFill>
                            <a:schemeClr val="dk1"/>
                          </a:solidFill>
                          <a:latin typeface="Arial"/>
                          <a:ea typeface="Microsoft YaHei"/>
                          <a:cs typeface="Arial"/>
                        </a:rPr>
                        <a:t>1 / Execution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Valid SQL within source permissions and query limits.</a:t>
                      </a:r>
                    </a:p>
                  </a:txBody>
                  <a:tcPr anchor="ctr" marL="152400" marR="152400" marT="76200" marB="76200">
                    <a:lnL>
                      <a:noFill/>
                    </a:lnL>
                    <a:lnR>
                      <a:noFill/>
                    </a:lnR>
                    <a:lnT>
                      <a:noFill/>
                    </a:lnT>
                    <a:lnB w="9525">
                      <a:solidFill>
                        <a:schemeClr val="accent6"/>
                      </a:solidFill>
                      <a:prstDash val="solid"/>
                    </a:lnB>
                    <a:noFill/>
                  </a:tcPr>
                </a:tc>
              </a:tr>
              <a:tr h="762000">
                <a:tc>
                  <a:txBody>
                    <a:bodyPr/>
                    <a:lstStyle/>
                    <a:p>
                      <a:pPr/>
                      <a:r>
                        <a:rPr lang="en-US" sz="1350" b="1">
                          <a:solidFill>
                            <a:schemeClr val="dk1"/>
                          </a:solidFill>
                          <a:latin typeface="Arial"/>
                          <a:ea typeface="Microsoft YaHei"/>
                          <a:cs typeface="Arial"/>
                        </a:rPr>
                        <a:t>2 / Typed result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Complete keyed rows or multisets; preserve duplicates and NULLs. Define ordering, top-k ties and column-specific tolerances before grading.</a:t>
                      </a:r>
                    </a:p>
                  </a:txBody>
                  <a:tcPr anchor="ctr" marL="152400" marR="152400" marT="76200" marB="76200">
                    <a:lnL>
                      <a:noFill/>
                    </a:lnL>
                    <a:lnR>
                      <a:noFill/>
                    </a:lnR>
                    <a:lnT>
                      <a:noFill/>
                    </a:lnT>
                    <a:lnB w="9525">
                      <a:solidFill>
                        <a:schemeClr val="accent6"/>
                      </a:solidFill>
                      <a:prstDash val="solid"/>
                    </a:lnB>
                    <a:noFill/>
                  </a:tcPr>
                </a:tc>
              </a:tr>
              <a:tr h="723900">
                <a:tc>
                  <a:txBody>
                    <a:bodyPr/>
                    <a:lstStyle/>
                    <a:p>
                      <a:pPr/>
                      <a:r>
                        <a:rPr lang="en-US" sz="1350" b="1">
                          <a:solidFill>
                            <a:schemeClr val="dk1"/>
                          </a:solidFill>
                          <a:latin typeface="Arial"/>
                          <a:ea typeface="Microsoft YaHei"/>
                          <a:cs typeface="Arial"/>
                        </a:rPr>
                        <a:t>3 / Business meaning</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Correct entity, metric, grain, denominator, date role, period, units and coverage.</a:t>
                      </a:r>
                    </a:p>
                  </a:txBody>
                  <a:tcPr anchor="ctr" marL="152400" marR="152400" marT="76200" marB="76200">
                    <a:lnL>
                      <a:noFill/>
                    </a:lnL>
                    <a:lnR>
                      <a:noFill/>
                    </a:lnR>
                    <a:lnT>
                      <a:noFill/>
                    </a:lnT>
                    <a:lnB w="9525">
                      <a:solidFill>
                        <a:schemeClr val="accent6"/>
                      </a:solidFill>
                      <a:prstDash val="solid"/>
                    </a:lnB>
                    <a:noFill/>
                  </a:tcPr>
                </a:tc>
              </a:tr>
              <a:tr h="628650">
                <a:tc>
                  <a:txBody>
                    <a:bodyPr/>
                    <a:lstStyle/>
                    <a:p>
                      <a:pPr/>
                      <a:r>
                        <a:rPr lang="en-US" sz="1350" b="1">
                          <a:solidFill>
                            <a:schemeClr val="dk1"/>
                          </a:solidFill>
                          <a:latin typeface="Arial"/>
                          <a:ea typeface="Microsoft YaHei"/>
                          <a:cs typeface="Arial"/>
                        </a:rPr>
                        <a:t>4 / Conversation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Grounded definitions, helpful discovery, clarification, correct state changes and freshness.</a:t>
                      </a:r>
                    </a:p>
                  </a:txBody>
                  <a:tcPr anchor="ctr" marL="152400" marR="152400" marT="76200" marB="76200">
                    <a:lnL>
                      <a:noFill/>
                    </a:lnL>
                    <a:lnR>
                      <a:noFill/>
                    </a:lnR>
                    <a:lnT>
                      <a:noFill/>
                    </a:lnT>
                    <a:lnB w="9525">
                      <a:solidFill>
                        <a:schemeClr val="accent6"/>
                      </a:solidFill>
                      <a:prstDash val="solid"/>
                    </a:lnB>
                    <a:noFill/>
                  </a:tcPr>
                </a:tc>
              </a:tr>
              <a:tr h="628650">
                <a:tc>
                  <a:txBody>
                    <a:bodyPr/>
                    <a:lstStyle/>
                    <a:p>
                      <a:pPr/>
                      <a:r>
                        <a:rPr lang="en-US" sz="1350" b="1">
                          <a:solidFill>
                            <a:schemeClr val="dk1"/>
                          </a:solidFill>
                          <a:latin typeface="Arial"/>
                          <a:ea typeface="Microsoft YaHei"/>
                          <a:cs typeface="Arial"/>
                        </a:rPr>
                        <a:t>5 / Useful sales work</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Supported facts, useful questions, disclosed material gaps, approved material and acceptable rep effort.</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7" name="reference-calibration"/>
          <p:cNvGrpSpPr/>
          <p:nvPr/>
        </p:nvGrpSpPr>
        <p:grpSpPr>
          <a:xfrm>
            <a:off x="450342" y="5657850"/>
            <a:ext cx="8143429" cy="511683"/>
            <a:chOff x="450342" y="5657850"/>
            <a:chExt cx="8143429" cy="511683"/>
          </a:xfrm>
        </p:grpSpPr>
        <p:sp>
          <p:nvSpPr>
            <p:cNvPr id="6" name="TextBox 6"/>
            <p:cNvSpPr txBox="1"/>
            <p:nvPr/>
          </p:nvSpPr>
          <p:spPr>
            <a:xfrm>
              <a:off x="450342" y="5657850"/>
              <a:ext cx="8143429"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2"/>
                  </a:solidFill>
                  <a:latin typeface="+mn-lt"/>
                  <a:ea typeface="+mn-ea"/>
                  <a:cs typeface="+mn-cs"/>
                </a:rPr>
                <a:t>Freeze the data/as-of; review reference SQL independently and permit alternative correct implementations.</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Calibrate LLM semantic judgments against adjudicated expert cases; keep the five dimensions inspectable.</a:t>
              </a:r>
            </a:p>
          </p:txBody>
        </p:sp>
      </p:grpSp>
      <p:grpSp>
        <p:nvGrpSpPr>
          <p:cNvPr id="10" name="footer"/>
          <p:cNvGrpSpPr/>
          <p:nvPr/>
        </p:nvGrpSpPr>
        <p:grpSpPr>
          <a:xfrm>
            <a:off x="452438" y="6400800"/>
            <a:ext cx="11287124" cy="176212"/>
            <a:chOff x="452438" y="6400800"/>
            <a:chExt cx="11287124" cy="176212"/>
          </a:xfrm>
        </p:grpSpPr>
        <p:sp>
          <p:nvSpPr>
            <p:cNvPr id="8" name="TextBox 8"/>
            <p:cNvSpPr txBox="1"/>
            <p:nvPr/>
          </p:nvSpPr>
          <p:spPr>
            <a:xfrm>
              <a:off x="452438" y="6400800"/>
              <a:ext cx="563656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evaluation framework; row counts remain a diagnostic rather than proof of answer correctness.</a:t>
              </a:r>
            </a:p>
          </p:txBody>
        </p:sp>
        <p:sp>
          <p:nvSpPr>
            <p:cNvPr id="9" name="TextBox 9"/>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10 / 28</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6117267" cy="1169416"/>
            <a:chOff x="443484" y="371475"/>
            <a:chExt cx="6117267" cy="1169416"/>
          </a:xfrm>
        </p:grpSpPr>
        <p:sp>
          <p:nvSpPr>
            <p:cNvPr id="2" name="TextBox 2"/>
            <p:cNvSpPr txBox="1"/>
            <p:nvPr/>
          </p:nvSpPr>
          <p:spPr>
            <a:xfrm>
              <a:off x="451104" y="371475"/>
              <a:ext cx="383416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CONVERSATION WITH CORRECTABLE SCOPE</a:t>
              </a:r>
            </a:p>
          </p:txBody>
        </p:sp>
        <p:sp>
          <p:nvSpPr>
            <p:cNvPr id="3" name="TextBox 3"/>
            <p:cNvSpPr txBox="1"/>
            <p:nvPr/>
          </p:nvSpPr>
          <p:spPr>
            <a:xfrm>
              <a:off x="443484" y="603250"/>
              <a:ext cx="6117267"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Conversation state should preserve scope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while making changes explicit</a:t>
              </a:r>
            </a:p>
          </p:txBody>
        </p:sp>
      </p:grpSp>
      <p:graphicFrame>
        <p:nvGraphicFramePr>
          <p:cNvPr id="5" name="session-state"/>
          <p:cNvGraphicFramePr>
            <a:graphicFrameLocks noGrp="1"/>
          </p:cNvGraphicFramePr>
          <p:nvPr/>
        </p:nvGraphicFramePr>
        <p:xfrm>
          <a:off x="457200" y="1790700"/>
          <a:ext cx="11277600" cy="2362200"/>
        </p:xfrm>
        <a:graphic>
          <a:graphicData uri="http://schemas.openxmlformats.org/drawingml/2006/table">
            <a:tbl>
              <a:tblPr firstRow="1" bandRow="0">
                <a:tableStyleId>{5C22544A-7EE6-4342-B048-85BDC9FD1C3A}</a:tableStyleId>
              </a:tblPr>
              <a:tblGrid>
                <a:gridCol w="2476500"/>
                <a:gridCol w="4400550"/>
                <a:gridCol w="4400550"/>
              </a:tblGrid>
              <a:tr h="533400">
                <a:tc>
                  <a:txBody>
                    <a:bodyPr/>
                    <a:lstStyle/>
                    <a:p>
                      <a:pPr/>
                      <a:r>
                        <a:rPr lang="en-US" sz="1350" b="1">
                          <a:solidFill>
                            <a:srgbClr val="FFFDF7"/>
                          </a:solidFill>
                          <a:latin typeface="Arial"/>
                          <a:ea typeface="Microsoft YaHei"/>
                          <a:cs typeface="Arial"/>
                        </a:rPr>
                        <a:t>Task state</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Resolved question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“What about last quarter?”</a:t>
                      </a:r>
                    </a:p>
                  </a:txBody>
                  <a:tcPr anchor="ctr" marL="152400" marR="152400" marT="76200" marB="76200">
                    <a:lnL>
                      <a:noFill/>
                    </a:lnL>
                    <a:lnR>
                      <a:noFill/>
                    </a:lnR>
                    <a:lnT>
                      <a:noFill/>
                    </a:lnT>
                    <a:lnB w="9525">
                      <a:solidFill>
                        <a:schemeClr val="accent6"/>
                      </a:solidFill>
                      <a:prstDash val="solid"/>
                    </a:lnB>
                    <a:solidFill>
                      <a:schemeClr val="accent1"/>
                    </a:solidFill>
                  </a:tcPr>
                </a:tc>
              </a:tr>
              <a:tr h="609600">
                <a:tc>
                  <a:txBody>
                    <a:bodyPr/>
                    <a:lstStyle/>
                    <a:p>
                      <a:pPr/>
                      <a:r>
                        <a:rPr lang="en-US" sz="1350" b="1">
                          <a:solidFill>
                            <a:schemeClr val="dk1"/>
                          </a:solidFill>
                          <a:latin typeface="Arial"/>
                          <a:ea typeface="Microsoft YaHei"/>
                          <a:cs typeface="Arial"/>
                        </a:rPr>
                        <a:t>Entity and metric</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Resolved advisor/office/firm IDs; metric.</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Preserve intended IDs and metric.</a:t>
                      </a:r>
                    </a:p>
                  </a:txBody>
                  <a:tcPr anchor="ctr" marL="152400" marR="152400" marT="76200" marB="76200">
                    <a:lnL>
                      <a:noFill/>
                    </a:lnL>
                    <a:lnR>
                      <a:noFill/>
                    </a:lnR>
                    <a:lnT>
                      <a:noFill/>
                    </a:lnT>
                    <a:lnB w="9525">
                      <a:solidFill>
                        <a:schemeClr val="accent6"/>
                      </a:solidFill>
                      <a:prstDash val="solid"/>
                    </a:lnB>
                    <a:noFill/>
                  </a:tcPr>
                </a:tc>
              </a:tr>
              <a:tr h="609600">
                <a:tc>
                  <a:txBody>
                    <a:bodyPr/>
                    <a:lstStyle/>
                    <a:p>
                      <a:pPr/>
                      <a:r>
                        <a:rPr lang="en-US" sz="1350" b="1">
                          <a:solidFill>
                            <a:schemeClr val="dk1"/>
                          </a:solidFill>
                          <a:latin typeface="Arial"/>
                          <a:ea typeface="Microsoft YaHei"/>
                          <a:cs typeface="Arial"/>
                        </a:rPr>
                        <a:t>Period and filters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Resolved time window, grouping and filters.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Change period; preserve intended grouping and filters.</a:t>
                      </a:r>
                    </a:p>
                  </a:txBody>
                  <a:tcPr anchor="ctr" marL="152400" marR="152400" marT="76200" marB="76200">
                    <a:lnL>
                      <a:noFill/>
                    </a:lnL>
                    <a:lnR>
                      <a:noFill/>
                    </a:lnR>
                    <a:lnT>
                      <a:noFill/>
                    </a:lnT>
                    <a:lnB w="9525">
                      <a:solidFill>
                        <a:schemeClr val="accent6"/>
                      </a:solidFill>
                      <a:prstDash val="solid"/>
                    </a:lnB>
                    <a:noFill/>
                  </a:tcPr>
                </a:tc>
              </a:tr>
              <a:tr h="609600">
                <a:tc>
                  <a:txBody>
                    <a:bodyPr/>
                    <a:lstStyle/>
                    <a:p>
                      <a:pPr/>
                      <a:r>
                        <a:rPr lang="en-US" sz="1350" b="1">
                          <a:solidFill>
                            <a:schemeClr val="dk1"/>
                          </a:solidFill>
                          <a:latin typeface="Arial"/>
                          <a:ea typeface="Microsoft YaHei"/>
                          <a:cs typeface="Arial"/>
                        </a:rPr>
                        <a:t>Evidence and version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Information cutoff, semantic version, result IDs.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Check freshness; refresh or clarify as required.</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memory-responsibilities"/>
          <p:cNvGrpSpPr/>
          <p:nvPr/>
        </p:nvGrpSpPr>
        <p:grpSpPr>
          <a:xfrm>
            <a:off x="448818" y="4483100"/>
            <a:ext cx="8646681" cy="1188720"/>
            <a:chOff x="448818" y="4483100"/>
            <a:chExt cx="8646681" cy="1188720"/>
          </a:xfrm>
        </p:grpSpPr>
        <p:sp>
          <p:nvSpPr>
            <p:cNvPr id="6" name="TextBox 6"/>
            <p:cNvSpPr txBox="1"/>
            <p:nvPr/>
          </p:nvSpPr>
          <p:spPr>
            <a:xfrm>
              <a:off x="448818" y="4483100"/>
              <a:ext cx="3343466"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Three responsibilities stay distinct</a:t>
              </a:r>
            </a:p>
          </p:txBody>
        </p:sp>
        <p:sp>
          <p:nvSpPr>
            <p:cNvPr id="7" name="TextBox 7"/>
            <p:cNvSpPr txBox="1"/>
            <p:nvPr/>
          </p:nvSpPr>
          <p:spPr>
            <a:xfrm>
              <a:off x="449580" y="4845050"/>
              <a:ext cx="864591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Session state holds the active task and unresolved questions. Reviewed knowledge holds definitions.</a:t>
              </a:r>
              <a:br>
                <a:rPr lang="en-US" sz="1500" dirty="0">
                  <a:solidFill>
                    <a:schemeClr val="dk1"/>
                  </a:solidFill>
                  <a:latin typeface="+mn-lt"/>
                  <a:ea typeface="+mn-ea"/>
                  <a:cs typeface="+mn-cs"/>
                </a:rPr>
              </a:br>
              <a:r>
                <a:rPr lang="en-US" sz="1500" dirty="0">
                  <a:solidFill>
                    <a:schemeClr val="dk1"/>
                  </a:solidFill>
                  <a:latin typeface="+mn-lt"/>
                  <a:ea typeface="+mn-ea"/>
                  <a:cs typeface="+mn-cs"/>
                </a:rPr>
                <a:t>Saved data holds evidence snapshots. Show active scope and allow correction or reset; a new advisor</a:t>
              </a:r>
              <a:br>
                <a:rPr lang="en-US" sz="1500" dirty="0">
                  <a:solidFill>
                    <a:schemeClr val="dk1"/>
                  </a:solidFill>
                  <a:latin typeface="+mn-lt"/>
                  <a:ea typeface="+mn-ea"/>
                  <a:cs typeface="+mn-cs"/>
                </a:rPr>
              </a:br>
              <a:r>
                <a:rPr lang="en-US" sz="1500" dirty="0">
                  <a:solidFill>
                    <a:schemeClr val="dk1"/>
                  </a:solidFill>
                  <a:latin typeface="+mn-lt"/>
                  <a:ea typeface="+mn-ea"/>
                  <a:cs typeface="+mn-cs"/>
                </a:rPr>
                <a:t>or measure requires a deliberate state update. Chat history alone does not make evidence current.</a:t>
              </a:r>
            </a:p>
          </p:txBody>
        </p:sp>
      </p:grpSp>
      <p:grpSp>
        <p:nvGrpSpPr>
          <p:cNvPr id="10" name="memory-acceptance"/>
          <p:cNvGrpSpPr/>
          <p:nvPr/>
        </p:nvGrpSpPr>
        <p:grpSpPr>
          <a:xfrm>
            <a:off x="450342" y="5921375"/>
            <a:ext cx="7978760" cy="264033"/>
            <a:chOff x="450342" y="5921375"/>
            <a:chExt cx="7978760" cy="264033"/>
          </a:xfrm>
        </p:grpSpPr>
        <p:sp>
          <p:nvSpPr>
            <p:cNvPr id="9" name="TextBox 9"/>
            <p:cNvSpPr txBox="1"/>
            <p:nvPr/>
          </p:nvSpPr>
          <p:spPr>
            <a:xfrm>
              <a:off x="450342" y="5921375"/>
              <a:ext cx="7978760"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Measure multi-turn completion, scope carryover, clarification, freshness and cross-advisor leakage.</a:t>
              </a:r>
            </a:p>
          </p:txBody>
        </p:sp>
      </p:grpSp>
      <p:grpSp>
        <p:nvGrpSpPr>
          <p:cNvPr id="13" name="footer"/>
          <p:cNvGrpSpPr/>
          <p:nvPr/>
        </p:nvGrpSpPr>
        <p:grpSpPr>
          <a:xfrm>
            <a:off x="452438" y="6400800"/>
            <a:ext cx="11287124" cy="176212"/>
            <a:chOff x="452438" y="6400800"/>
            <a:chExt cx="11287124" cy="176212"/>
          </a:xfrm>
        </p:grpSpPr>
        <p:sp>
          <p:nvSpPr>
            <p:cNvPr id="11" name="TextBox 11"/>
            <p:cNvSpPr txBox="1"/>
            <p:nvPr/>
          </p:nvSpPr>
          <p:spPr>
            <a:xfrm>
              <a:off x="452438" y="6400800"/>
              <a:ext cx="467731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session contract. State must remain inspectable and correctable by the user.</a:t>
              </a:r>
            </a:p>
          </p:txBody>
        </p:sp>
        <p:sp>
          <p:nvSpPr>
            <p:cNvPr id="12" name="TextBox 12"/>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11 / 28</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790690" cy="1169416"/>
            <a:chOff x="443484" y="371475"/>
            <a:chExt cx="4790690" cy="1169416"/>
          </a:xfrm>
        </p:grpSpPr>
        <p:sp>
          <p:nvSpPr>
            <p:cNvPr id="2" name="TextBox 2"/>
            <p:cNvSpPr txBox="1"/>
            <p:nvPr/>
          </p:nvSpPr>
          <p:spPr>
            <a:xfrm>
              <a:off x="451104" y="371475"/>
              <a:ext cx="255411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BOUNDED AGENTIC ANALYSIS</a:t>
              </a:r>
            </a:p>
          </p:txBody>
        </p:sp>
        <p:sp>
          <p:nvSpPr>
            <p:cNvPr id="3" name="TextBox 3"/>
            <p:cNvSpPr txBox="1"/>
            <p:nvPr/>
          </p:nvSpPr>
          <p:spPr>
            <a:xfrm>
              <a:off x="443484" y="603250"/>
              <a:ext cx="4790690"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Bounded investigation can make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complex questions inspectable</a:t>
              </a:r>
            </a:p>
          </p:txBody>
        </p:sp>
      </p:grpSp>
      <p:grpSp>
        <p:nvGrpSpPr>
          <p:cNvPr id="6" name="investigation-question"/>
          <p:cNvGrpSpPr/>
          <p:nvPr/>
        </p:nvGrpSpPr>
        <p:grpSpPr>
          <a:xfrm>
            <a:off x="448818" y="1739900"/>
            <a:ext cx="7036004" cy="322707"/>
            <a:chOff x="448818" y="1739900"/>
            <a:chExt cx="7036004" cy="322707"/>
          </a:xfrm>
        </p:grpSpPr>
        <p:sp>
          <p:nvSpPr>
            <p:cNvPr id="5" name="TextBox 5"/>
            <p:cNvSpPr txBox="1"/>
            <p:nvPr/>
          </p:nvSpPr>
          <p:spPr>
            <a:xfrm>
              <a:off x="448818" y="1739900"/>
              <a:ext cx="703600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“Which advisors’ net flows fell, and which product families contributed?”</a:t>
              </a:r>
            </a:p>
          </p:txBody>
        </p:sp>
      </p:grpSp>
      <p:grpSp>
        <p:nvGrpSpPr>
          <p:cNvPr id="9" name="resolve"/>
          <p:cNvGrpSpPr/>
          <p:nvPr/>
        </p:nvGrpSpPr>
        <p:grpSpPr>
          <a:xfrm>
            <a:off x="448056" y="2257425"/>
            <a:ext cx="1689773" cy="1576070"/>
            <a:chOff x="448056" y="2257425"/>
            <a:chExt cx="1689773" cy="1576070"/>
          </a:xfrm>
        </p:grpSpPr>
        <p:sp>
          <p:nvSpPr>
            <p:cNvPr id="7" name="TextBox 7"/>
            <p:cNvSpPr txBox="1"/>
            <p:nvPr/>
          </p:nvSpPr>
          <p:spPr>
            <a:xfrm>
              <a:off x="448056" y="2257425"/>
              <a:ext cx="128932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Resolve</a:t>
              </a:r>
            </a:p>
          </p:txBody>
        </p:sp>
        <p:sp>
          <p:nvSpPr>
            <p:cNvPr id="8" name="TextBox 8"/>
            <p:cNvSpPr txBox="1"/>
            <p:nvPr/>
          </p:nvSpPr>
          <p:spPr>
            <a:xfrm>
              <a:off x="449580" y="2740025"/>
              <a:ext cx="1688249"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Confirm measure,</a:t>
              </a:r>
              <a:br>
                <a:rPr lang="en-US" sz="1500" dirty="0">
                  <a:solidFill>
                    <a:schemeClr val="dk1"/>
                  </a:solidFill>
                  <a:latin typeface="+mn-lt"/>
                  <a:ea typeface="+mn-ea"/>
                  <a:cs typeface="+mn-cs"/>
                </a:rPr>
              </a:br>
              <a:r>
                <a:rPr lang="en-US" sz="1500" dirty="0">
                  <a:solidFill>
                    <a:schemeClr val="dk1"/>
                  </a:solidFill>
                  <a:latin typeface="+mn-lt"/>
                  <a:ea typeface="+mn-ea"/>
                  <a:cs typeface="+mn-cs"/>
                </a:rPr>
                <a:t>comparison window</a:t>
              </a:r>
              <a:br>
                <a:rPr lang="en-US" sz="1500" dirty="0">
                  <a:solidFill>
                    <a:schemeClr val="dk1"/>
                  </a:solidFill>
                  <a:latin typeface="+mn-lt"/>
                  <a:ea typeface="+mn-ea"/>
                  <a:cs typeface="+mn-cs"/>
                </a:rPr>
              </a:br>
              <a:r>
                <a:rPr lang="en-US" sz="1500" dirty="0">
                  <a:solidFill>
                    <a:schemeClr val="dk1"/>
                  </a:solidFill>
                  <a:latin typeface="+mn-lt"/>
                  <a:ea typeface="+mn-ea"/>
                  <a:cs typeface="+mn-cs"/>
                </a:rPr>
                <a:t>and intended</a:t>
              </a:r>
              <a:br>
                <a:rPr lang="en-US" sz="1500" dirty="0">
                  <a:solidFill>
                    <a:schemeClr val="dk1"/>
                  </a:solidFill>
                  <a:latin typeface="+mn-lt"/>
                  <a:ea typeface="+mn-ea"/>
                  <a:cs typeface="+mn-cs"/>
                </a:rPr>
              </a:br>
              <a:r>
                <a:rPr lang="en-US" sz="1500" dirty="0">
                  <a:solidFill>
                    <a:schemeClr val="dk1"/>
                  </a:solidFill>
                  <a:latin typeface="+mn-lt"/>
                  <a:ea typeface="+mn-ea"/>
                  <a:cs typeface="+mn-cs"/>
                </a:rPr>
                <a:t>advisor scope.</a:t>
              </a:r>
            </a:p>
          </p:txBody>
        </p:sp>
      </p:grpSp>
      <p:sp>
        <p:nvSpPr>
          <p:cNvPr id="10" name="Freeform 10"/>
          <p:cNvSpPr/>
          <p:nvPr/>
        </p:nvSpPr>
        <p:spPr>
          <a:xfrm>
            <a:off x="2476500" y="1981200"/>
            <a:ext cx="190500" cy="381000"/>
          </a:xfrm>
          <a:prstGeom prst="chevron">
            <a:avLst/>
          </a:prstGeom>
          <a:solidFill>
            <a:schemeClr val="accent2"/>
          </a:solidFill>
          <a:ln>
            <a:noFill/>
          </a:ln>
        </p:spPr>
      </p:sp>
      <p:grpSp>
        <p:nvGrpSpPr>
          <p:cNvPr id="13" name="retrieve"/>
          <p:cNvGrpSpPr/>
          <p:nvPr/>
        </p:nvGrpSpPr>
        <p:grpSpPr>
          <a:xfrm>
            <a:off x="2791206" y="2257425"/>
            <a:ext cx="1817180" cy="1576070"/>
            <a:chOff x="2791206" y="2257425"/>
            <a:chExt cx="1817180" cy="1576070"/>
          </a:xfrm>
        </p:grpSpPr>
        <p:sp>
          <p:nvSpPr>
            <p:cNvPr id="11" name="TextBox 11"/>
            <p:cNvSpPr txBox="1"/>
            <p:nvPr/>
          </p:nvSpPr>
          <p:spPr>
            <a:xfrm>
              <a:off x="2791206" y="2257425"/>
              <a:ext cx="135968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Retrieve</a:t>
              </a:r>
            </a:p>
          </p:txBody>
        </p:sp>
        <p:sp>
          <p:nvSpPr>
            <p:cNvPr id="12" name="TextBox 12"/>
            <p:cNvSpPr txBox="1"/>
            <p:nvPr/>
          </p:nvSpPr>
          <p:spPr>
            <a:xfrm>
              <a:off x="2792730" y="2740025"/>
              <a:ext cx="1815656"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Find advisor-level</a:t>
              </a:r>
              <a:br>
                <a:rPr lang="en-US" sz="1500" dirty="0">
                  <a:solidFill>
                    <a:schemeClr val="dk1"/>
                  </a:solidFill>
                  <a:latin typeface="+mn-lt"/>
                  <a:ea typeface="+mn-ea"/>
                  <a:cs typeface="+mn-cs"/>
                </a:rPr>
              </a:br>
              <a:r>
                <a:rPr lang="en-US" sz="1500" dirty="0">
                  <a:solidFill>
                    <a:schemeClr val="dk1"/>
                  </a:solidFill>
                  <a:latin typeface="+mn-lt"/>
                  <a:ea typeface="+mn-ea"/>
                  <a:cs typeface="+mn-cs"/>
                </a:rPr>
                <a:t>change using</a:t>
              </a:r>
              <a:br>
                <a:rPr lang="en-US" sz="1500" dirty="0">
                  <a:solidFill>
                    <a:schemeClr val="dk1"/>
                  </a:solidFill>
                  <a:latin typeface="+mn-lt"/>
                  <a:ea typeface="+mn-ea"/>
                  <a:cs typeface="+mn-cs"/>
                </a:rPr>
              </a:br>
              <a:r>
                <a:rPr lang="en-US" sz="1500" dirty="0">
                  <a:solidFill>
                    <a:schemeClr val="dk1"/>
                  </a:solidFill>
                  <a:latin typeface="+mn-lt"/>
                  <a:ea typeface="+mn-ea"/>
                  <a:cs typeface="+mn-cs"/>
                </a:rPr>
                <a:t>authorized data</a:t>
              </a:r>
              <a:br>
                <a:rPr lang="en-US" sz="1500" dirty="0">
                  <a:solidFill>
                    <a:schemeClr val="dk1"/>
                  </a:solidFill>
                  <a:latin typeface="+mn-lt"/>
                  <a:ea typeface="+mn-ea"/>
                  <a:cs typeface="+mn-cs"/>
                </a:rPr>
              </a:br>
              <a:r>
                <a:rPr lang="en-US" sz="1500" dirty="0">
                  <a:solidFill>
                    <a:schemeClr val="dk1"/>
                  </a:solidFill>
                  <a:latin typeface="+mn-lt"/>
                  <a:ea typeface="+mn-ea"/>
                  <a:cs typeface="+mn-cs"/>
                </a:rPr>
                <a:t>and consistent dates.</a:t>
              </a:r>
            </a:p>
          </p:txBody>
        </p:sp>
      </p:grpSp>
      <p:sp>
        <p:nvSpPr>
          <p:cNvPr id="14" name="Freeform 14"/>
          <p:cNvSpPr/>
          <p:nvPr/>
        </p:nvSpPr>
        <p:spPr>
          <a:xfrm>
            <a:off x="4819650" y="1981200"/>
            <a:ext cx="190500" cy="381000"/>
          </a:xfrm>
          <a:prstGeom prst="chevron">
            <a:avLst/>
          </a:prstGeom>
          <a:solidFill>
            <a:schemeClr val="accent2"/>
          </a:solidFill>
          <a:ln>
            <a:noFill/>
          </a:ln>
        </p:spPr>
      </p:sp>
      <p:grpSp>
        <p:nvGrpSpPr>
          <p:cNvPr id="17" name="contributions"/>
          <p:cNvGrpSpPr/>
          <p:nvPr/>
        </p:nvGrpSpPr>
        <p:grpSpPr>
          <a:xfrm>
            <a:off x="5134356" y="2257425"/>
            <a:ext cx="1706890" cy="1576070"/>
            <a:chOff x="5134356" y="2257425"/>
            <a:chExt cx="1706890" cy="1576070"/>
          </a:xfrm>
        </p:grpSpPr>
        <p:sp>
          <p:nvSpPr>
            <p:cNvPr id="15" name="TextBox 15"/>
            <p:cNvSpPr txBox="1"/>
            <p:nvPr/>
          </p:nvSpPr>
          <p:spPr>
            <a:xfrm>
              <a:off x="5134356" y="2257425"/>
              <a:ext cx="170689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Decompose</a:t>
              </a:r>
            </a:p>
          </p:txBody>
        </p:sp>
        <p:sp>
          <p:nvSpPr>
            <p:cNvPr id="16" name="TextBox 16"/>
            <p:cNvSpPr txBox="1"/>
            <p:nvPr/>
          </p:nvSpPr>
          <p:spPr>
            <a:xfrm>
              <a:off x="5135880" y="2740025"/>
              <a:ext cx="1645806"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Calculate product-</a:t>
              </a:r>
              <a:br>
                <a:rPr lang="en-US" sz="1500" dirty="0">
                  <a:solidFill>
                    <a:schemeClr val="dk1"/>
                  </a:solidFill>
                  <a:latin typeface="+mn-lt"/>
                  <a:ea typeface="+mn-ea"/>
                  <a:cs typeface="+mn-cs"/>
                </a:rPr>
              </a:br>
              <a:r>
                <a:rPr lang="en-US" sz="1500" dirty="0">
                  <a:solidFill>
                    <a:schemeClr val="dk1"/>
                  </a:solidFill>
                  <a:latin typeface="+mn-lt"/>
                  <a:ea typeface="+mn-ea"/>
                  <a:cs typeface="+mn-cs"/>
                </a:rPr>
                <a:t>family contributions</a:t>
              </a:r>
              <a:br>
                <a:rPr lang="en-US" sz="1500" dirty="0">
                  <a:solidFill>
                    <a:schemeClr val="dk1"/>
                  </a:solidFill>
                  <a:latin typeface="+mn-lt"/>
                  <a:ea typeface="+mn-ea"/>
                  <a:cs typeface="+mn-cs"/>
                </a:rPr>
              </a:br>
              <a:r>
                <a:rPr lang="en-US" sz="1500" dirty="0">
                  <a:solidFill>
                    <a:schemeClr val="dk1"/>
                  </a:solidFill>
                  <a:latin typeface="+mn-lt"/>
                  <a:ea typeface="+mn-ea"/>
                  <a:cs typeface="+mn-cs"/>
                </a:rPr>
                <a:t>at compatible</a:t>
              </a:r>
              <a:br>
                <a:rPr lang="en-US" sz="1500" dirty="0">
                  <a:solidFill>
                    <a:schemeClr val="dk1"/>
                  </a:solidFill>
                  <a:latin typeface="+mn-lt"/>
                  <a:ea typeface="+mn-ea"/>
                  <a:cs typeface="+mn-cs"/>
                </a:rPr>
              </a:br>
              <a:r>
                <a:rPr lang="en-US" sz="1500" dirty="0">
                  <a:solidFill>
                    <a:schemeClr val="dk1"/>
                  </a:solidFill>
                  <a:latin typeface="+mn-lt"/>
                  <a:ea typeface="+mn-ea"/>
                  <a:cs typeface="+mn-cs"/>
                </a:rPr>
                <a:t>aggregation grain.</a:t>
              </a:r>
            </a:p>
          </p:txBody>
        </p:sp>
      </p:grpSp>
      <p:sp>
        <p:nvSpPr>
          <p:cNvPr id="18" name="Freeform 18"/>
          <p:cNvSpPr/>
          <p:nvPr/>
        </p:nvSpPr>
        <p:spPr>
          <a:xfrm>
            <a:off x="7162800" y="1981200"/>
            <a:ext cx="190500" cy="381000"/>
          </a:xfrm>
          <a:prstGeom prst="chevron">
            <a:avLst/>
          </a:prstGeom>
          <a:solidFill>
            <a:schemeClr val="accent2"/>
          </a:solidFill>
          <a:ln>
            <a:noFill/>
          </a:ln>
        </p:spPr>
      </p:sp>
      <p:grpSp>
        <p:nvGrpSpPr>
          <p:cNvPr id="21" name="reconcile"/>
          <p:cNvGrpSpPr/>
          <p:nvPr/>
        </p:nvGrpSpPr>
        <p:grpSpPr>
          <a:xfrm>
            <a:off x="7477506" y="2257425"/>
            <a:ext cx="1764182" cy="1576070"/>
            <a:chOff x="7477506" y="2257425"/>
            <a:chExt cx="1764182" cy="1576070"/>
          </a:xfrm>
        </p:grpSpPr>
        <p:sp>
          <p:nvSpPr>
            <p:cNvPr id="19" name="TextBox 19"/>
            <p:cNvSpPr txBox="1"/>
            <p:nvPr/>
          </p:nvSpPr>
          <p:spPr>
            <a:xfrm>
              <a:off x="7477506" y="2257425"/>
              <a:ext cx="148646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4 / Reconcile</a:t>
              </a:r>
            </a:p>
          </p:txBody>
        </p:sp>
        <p:sp>
          <p:nvSpPr>
            <p:cNvPr id="20" name="TextBox 20"/>
            <p:cNvSpPr txBox="1"/>
            <p:nvPr/>
          </p:nvSpPr>
          <p:spPr>
            <a:xfrm>
              <a:off x="7479030" y="2740025"/>
              <a:ext cx="1762658"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Check component</a:t>
              </a:r>
              <a:br>
                <a:rPr lang="en-US" sz="1500" dirty="0">
                  <a:solidFill>
                    <a:schemeClr val="dk1"/>
                  </a:solidFill>
                  <a:latin typeface="+mn-lt"/>
                  <a:ea typeface="+mn-ea"/>
                  <a:cs typeface="+mn-cs"/>
                </a:rPr>
              </a:br>
              <a:r>
                <a:rPr lang="en-US" sz="1500" dirty="0">
                  <a:solidFill>
                    <a:schemeClr val="dk1"/>
                  </a:solidFill>
                  <a:latin typeface="+mn-lt"/>
                  <a:ea typeface="+mn-ea"/>
                  <a:cs typeface="+mn-cs"/>
                </a:rPr>
                <a:t>contributions against</a:t>
              </a:r>
              <a:br>
                <a:rPr lang="en-US" sz="1500" dirty="0">
                  <a:solidFill>
                    <a:schemeClr val="dk1"/>
                  </a:solidFill>
                  <a:latin typeface="+mn-lt"/>
                  <a:ea typeface="+mn-ea"/>
                  <a:cs typeface="+mn-cs"/>
                </a:rPr>
              </a:br>
              <a:r>
                <a:rPr lang="en-US" sz="1500" dirty="0">
                  <a:solidFill>
                    <a:schemeClr val="dk1"/>
                  </a:solidFill>
                  <a:latin typeface="+mn-lt"/>
                  <a:ea typeface="+mn-ea"/>
                  <a:cs typeface="+mn-cs"/>
                </a:rPr>
                <a:t>the requested</a:t>
              </a:r>
              <a:br>
                <a:rPr lang="en-US" sz="1500" dirty="0">
                  <a:solidFill>
                    <a:schemeClr val="dk1"/>
                  </a:solidFill>
                  <a:latin typeface="+mn-lt"/>
                  <a:ea typeface="+mn-ea"/>
                  <a:cs typeface="+mn-cs"/>
                </a:rPr>
              </a:br>
              <a:r>
                <a:rPr lang="en-US" sz="1500" dirty="0">
                  <a:solidFill>
                    <a:schemeClr val="dk1"/>
                  </a:solidFill>
                  <a:latin typeface="+mn-lt"/>
                  <a:ea typeface="+mn-ea"/>
                  <a:cs typeface="+mn-cs"/>
                </a:rPr>
                <a:t>total change.</a:t>
              </a:r>
            </a:p>
          </p:txBody>
        </p:sp>
      </p:grpSp>
      <p:sp>
        <p:nvSpPr>
          <p:cNvPr id="22" name="Freeform 22"/>
          <p:cNvSpPr/>
          <p:nvPr/>
        </p:nvSpPr>
        <p:spPr>
          <a:xfrm>
            <a:off x="9505950" y="1981200"/>
            <a:ext cx="190500" cy="381000"/>
          </a:xfrm>
          <a:prstGeom prst="chevron">
            <a:avLst/>
          </a:prstGeom>
          <a:solidFill>
            <a:schemeClr val="accent2"/>
          </a:solidFill>
          <a:ln>
            <a:noFill/>
          </a:ln>
        </p:spPr>
      </p:sp>
      <p:grpSp>
        <p:nvGrpSpPr>
          <p:cNvPr id="25" name="explain"/>
          <p:cNvGrpSpPr/>
          <p:nvPr/>
        </p:nvGrpSpPr>
        <p:grpSpPr>
          <a:xfrm>
            <a:off x="9820656" y="2257425"/>
            <a:ext cx="1711147" cy="1576070"/>
            <a:chOff x="9820656" y="2257425"/>
            <a:chExt cx="1711147" cy="1576070"/>
          </a:xfrm>
        </p:grpSpPr>
        <p:sp>
          <p:nvSpPr>
            <p:cNvPr id="23" name="TextBox 23"/>
            <p:cNvSpPr txBox="1"/>
            <p:nvPr/>
          </p:nvSpPr>
          <p:spPr>
            <a:xfrm>
              <a:off x="9820656" y="2257425"/>
              <a:ext cx="125710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5 / Explain</a:t>
              </a:r>
            </a:p>
          </p:txBody>
        </p:sp>
        <p:sp>
          <p:nvSpPr>
            <p:cNvPr id="24" name="TextBox 24"/>
            <p:cNvSpPr txBox="1"/>
            <p:nvPr/>
          </p:nvSpPr>
          <p:spPr>
            <a:xfrm>
              <a:off x="9822180" y="2740025"/>
              <a:ext cx="1709623"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Report supported</a:t>
              </a:r>
              <a:br>
                <a:rPr lang="en-US" sz="1500" dirty="0">
                  <a:solidFill>
                    <a:schemeClr val="dk1"/>
                  </a:solidFill>
                  <a:latin typeface="+mn-lt"/>
                  <a:ea typeface="+mn-ea"/>
                  <a:cs typeface="+mn-cs"/>
                </a:rPr>
              </a:br>
              <a:r>
                <a:rPr lang="en-US" sz="1500" dirty="0">
                  <a:solidFill>
                    <a:schemeClr val="dk1"/>
                  </a:solidFill>
                  <a:latin typeface="+mn-lt"/>
                  <a:ea typeface="+mn-ea"/>
                  <a:cs typeface="+mn-cs"/>
                </a:rPr>
                <a:t>findings, uncertainty</a:t>
              </a:r>
              <a:br>
                <a:rPr lang="en-US" sz="1500" dirty="0">
                  <a:solidFill>
                    <a:schemeClr val="dk1"/>
                  </a:solidFill>
                  <a:latin typeface="+mn-lt"/>
                  <a:ea typeface="+mn-ea"/>
                  <a:cs typeface="+mn-cs"/>
                </a:rPr>
              </a:br>
              <a:r>
                <a:rPr lang="en-US" sz="1500" dirty="0">
                  <a:solidFill>
                    <a:schemeClr val="dk1"/>
                  </a:solidFill>
                  <a:latin typeface="+mn-lt"/>
                  <a:ea typeface="+mn-ea"/>
                  <a:cs typeface="+mn-cs"/>
                </a:rPr>
                <a:t>and unresolved</a:t>
              </a:r>
              <a:br>
                <a:rPr lang="en-US" sz="1500" dirty="0">
                  <a:solidFill>
                    <a:schemeClr val="dk1"/>
                  </a:solidFill>
                  <a:latin typeface="+mn-lt"/>
                  <a:ea typeface="+mn-ea"/>
                  <a:cs typeface="+mn-cs"/>
                </a:rPr>
              </a:br>
              <a:r>
                <a:rPr lang="en-US" sz="1500" dirty="0">
                  <a:solidFill>
                    <a:schemeClr val="dk1"/>
                  </a:solidFill>
                  <a:latin typeface="+mn-lt"/>
                  <a:ea typeface="+mn-ea"/>
                  <a:cs typeface="+mn-cs"/>
                </a:rPr>
                <a:t>questions.</a:t>
              </a:r>
            </a:p>
          </p:txBody>
        </p:sp>
      </p:grpSp>
      <p:grpSp>
        <p:nvGrpSpPr>
          <p:cNvPr id="29" name="repair-budget"/>
          <p:cNvGrpSpPr/>
          <p:nvPr/>
        </p:nvGrpSpPr>
        <p:grpSpPr>
          <a:xfrm>
            <a:off x="457200" y="4667250"/>
            <a:ext cx="11277600" cy="1362075"/>
            <a:chOff x="457200" y="4667250"/>
            <a:chExt cx="11277600" cy="1362075"/>
          </a:xfrm>
        </p:grpSpPr>
        <p:sp>
          <p:nvSpPr>
            <p:cNvPr id="26" name="Rectangle 26"/>
            <p:cNvSpPr/>
            <p:nvPr/>
          </p:nvSpPr>
          <p:spPr>
            <a:xfrm>
              <a:off x="457200" y="4667250"/>
              <a:ext cx="11277600" cy="1362075"/>
            </a:xfrm>
            <a:prstGeom prst="rect">
              <a:avLst/>
            </a:prstGeom>
            <a:solidFill>
              <a:schemeClr val="lt2"/>
            </a:solidFill>
            <a:ln>
              <a:noFill/>
            </a:ln>
          </p:spPr>
        </p:sp>
        <p:sp>
          <p:nvSpPr>
            <p:cNvPr id="27" name="TextBox 27"/>
            <p:cNvSpPr txBox="1"/>
            <p:nvPr/>
          </p:nvSpPr>
          <p:spPr>
            <a:xfrm>
              <a:off x="677418" y="4816475"/>
              <a:ext cx="4579697"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Make repair a controlled response to evidence</a:t>
              </a:r>
            </a:p>
          </p:txBody>
        </p:sp>
        <p:sp>
          <p:nvSpPr>
            <p:cNvPr id="28" name="TextBox 28"/>
            <p:cNvSpPr txBox="1"/>
            <p:nvPr/>
          </p:nvSpPr>
          <p:spPr>
            <a:xfrm>
              <a:off x="678180" y="5187950"/>
              <a:ext cx="858198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Use schema, execution or validation feedback within a predefined attempt and total-time budget.</a:t>
              </a:r>
              <a:br>
                <a:rPr lang="en-US" sz="1500" dirty="0">
                  <a:solidFill>
                    <a:schemeClr val="dk1"/>
                  </a:solidFill>
                  <a:latin typeface="+mn-lt"/>
                  <a:ea typeface="+mn-ea"/>
                  <a:cs typeface="+mn-cs"/>
                </a:rPr>
              </a:br>
              <a:r>
                <a:rPr lang="en-US" sz="1500" dirty="0">
                  <a:solidFill>
                    <a:schemeClr val="dk1"/>
                  </a:solidFill>
                  <a:latin typeface="+mn-lt"/>
                  <a:ea typeface="+mn-ea"/>
                  <a:cs typeface="+mn-cs"/>
                </a:rPr>
                <a:t>Retain every attempt; finish unresolved or ask for clarification when needed. Check scope and access</a:t>
              </a:r>
              <a:br>
                <a:rPr lang="en-US" sz="1500" dirty="0">
                  <a:solidFill>
                    <a:schemeClr val="dk1"/>
                  </a:solidFill>
                  <a:latin typeface="+mn-lt"/>
                  <a:ea typeface="+mn-ea"/>
                  <a:cs typeface="+mn-cs"/>
                </a:rPr>
              </a:br>
              <a:r>
                <a:rPr lang="en-US" sz="1500" dirty="0">
                  <a:solidFill>
                    <a:schemeClr val="dk1"/>
                  </a:solidFill>
                  <a:latin typeface="+mn-lt"/>
                  <a:ea typeface="+mn-ea"/>
                  <a:cs typeface="+mn-cs"/>
                </a:rPr>
                <a:t>at every step. Held-out answers stay outside runtime; arithmetic contribution is not a causal driver.</a:t>
              </a:r>
            </a:p>
          </p:txBody>
        </p:sp>
      </p:grpSp>
      <p:grpSp>
        <p:nvGrpSpPr>
          <p:cNvPr id="32" name="footer"/>
          <p:cNvGrpSpPr/>
          <p:nvPr/>
        </p:nvGrpSpPr>
        <p:grpSpPr>
          <a:xfrm>
            <a:off x="452438" y="6391275"/>
            <a:ext cx="11287124" cy="176212"/>
            <a:chOff x="452438" y="6391275"/>
            <a:chExt cx="11287124" cy="176212"/>
          </a:xfrm>
        </p:grpSpPr>
        <p:sp>
          <p:nvSpPr>
            <p:cNvPr id="30" name="TextBox 30"/>
            <p:cNvSpPr txBox="1"/>
            <p:nvPr/>
          </p:nvSpPr>
          <p:spPr>
            <a:xfrm>
              <a:off x="452438" y="6391275"/>
              <a:ext cx="5707450"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workflow. Evaluate it separately from semantic-context reduction to identify which change helps.</a:t>
              </a:r>
            </a:p>
          </p:txBody>
        </p:sp>
        <p:sp>
          <p:nvSpPr>
            <p:cNvPr id="31" name="TextBox 31"/>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12 / 28</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065182" cy="1169416"/>
            <a:chOff x="443484" y="371475"/>
            <a:chExt cx="5065182" cy="1169416"/>
          </a:xfrm>
        </p:grpSpPr>
        <p:sp>
          <p:nvSpPr>
            <p:cNvPr id="2" name="TextBox 2"/>
            <p:cNvSpPr txBox="1"/>
            <p:nvPr/>
          </p:nvSpPr>
          <p:spPr>
            <a:xfrm>
              <a:off x="451104" y="371475"/>
              <a:ext cx="291440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 USEFUL SALES WORK PRODUCT</a:t>
              </a:r>
            </a:p>
          </p:txBody>
        </p:sp>
        <p:sp>
          <p:nvSpPr>
            <p:cNvPr id="3" name="TextBox 3"/>
            <p:cNvSpPr txBox="1"/>
            <p:nvPr/>
          </p:nvSpPr>
          <p:spPr>
            <a:xfrm>
              <a:off x="443484" y="603250"/>
              <a:ext cx="5065182"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Meeting prep should produce a</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rep-reviewed advisor-sales packet</a:t>
              </a:r>
            </a:p>
          </p:txBody>
        </p:sp>
      </p:grpSp>
      <p:grpSp>
        <p:nvGrpSpPr>
          <p:cNvPr id="7" name="why-meet"/>
          <p:cNvGrpSpPr/>
          <p:nvPr/>
        </p:nvGrpSpPr>
        <p:grpSpPr>
          <a:xfrm>
            <a:off x="448056" y="1847850"/>
            <a:ext cx="4019626" cy="985520"/>
            <a:chOff x="448056" y="1847850"/>
            <a:chExt cx="4019626" cy="985520"/>
          </a:xfrm>
        </p:grpSpPr>
        <p:sp>
          <p:nvSpPr>
            <p:cNvPr id="5" name="TextBox 5"/>
            <p:cNvSpPr txBox="1"/>
            <p:nvPr/>
          </p:nvSpPr>
          <p:spPr>
            <a:xfrm>
              <a:off x="448056" y="1847850"/>
              <a:ext cx="181357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01 / Why meet?</a:t>
              </a:r>
            </a:p>
          </p:txBody>
        </p:sp>
        <p:sp>
          <p:nvSpPr>
            <p:cNvPr id="6" name="TextBox 6"/>
            <p:cNvSpPr txBox="1"/>
            <p:nvPr/>
          </p:nvSpPr>
          <p:spPr>
            <a:xfrm>
              <a:off x="449580" y="2273300"/>
              <a:ext cx="401810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State the meeting objective, resolve the advisor</a:t>
              </a:r>
              <a:br>
                <a:rPr lang="en-US" sz="1500" dirty="0">
                  <a:solidFill>
                    <a:schemeClr val="dk1"/>
                  </a:solidFill>
                  <a:latin typeface="+mn-lt"/>
                  <a:ea typeface="+mn-ea"/>
                  <a:cs typeface="+mn-cs"/>
                </a:rPr>
              </a:br>
              <a:r>
                <a:rPr lang="en-US" sz="1500" dirty="0">
                  <a:solidFill>
                    <a:schemeClr val="dk1"/>
                  </a:solidFill>
                  <a:latin typeface="+mn-lt"/>
                  <a:ea typeface="+mn-ea"/>
                  <a:cs typeface="+mn-cs"/>
                </a:rPr>
                <a:t>identity and recover prior commitments.</a:t>
              </a:r>
            </a:p>
          </p:txBody>
        </p:sp>
      </p:grpSp>
      <p:grpSp>
        <p:nvGrpSpPr>
          <p:cNvPr id="10" name="what-changed"/>
          <p:cNvGrpSpPr/>
          <p:nvPr/>
        </p:nvGrpSpPr>
        <p:grpSpPr>
          <a:xfrm>
            <a:off x="6086856" y="1847850"/>
            <a:ext cx="4061651" cy="985520"/>
            <a:chOff x="6086856" y="1847850"/>
            <a:chExt cx="4061651" cy="985520"/>
          </a:xfrm>
        </p:grpSpPr>
        <p:sp>
          <p:nvSpPr>
            <p:cNvPr id="8" name="TextBox 8"/>
            <p:cNvSpPr txBox="1"/>
            <p:nvPr/>
          </p:nvSpPr>
          <p:spPr>
            <a:xfrm>
              <a:off x="6086856" y="1847850"/>
              <a:ext cx="225162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02 / What changed?</a:t>
              </a:r>
            </a:p>
          </p:txBody>
        </p:sp>
        <p:sp>
          <p:nvSpPr>
            <p:cNvPr id="9" name="TextBox 9"/>
            <p:cNvSpPr txBox="1"/>
            <p:nvPr/>
          </p:nvSpPr>
          <p:spPr>
            <a:xfrm>
              <a:off x="6088380" y="2273300"/>
              <a:ext cx="406012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Select relevant activity since the last interaction.</a:t>
              </a:r>
              <a:br>
                <a:rPr lang="en-US" sz="1500" dirty="0">
                  <a:solidFill>
                    <a:schemeClr val="dk1"/>
                  </a:solidFill>
                  <a:latin typeface="+mn-lt"/>
                  <a:ea typeface="+mn-ea"/>
                  <a:cs typeface="+mn-cs"/>
                </a:rPr>
              </a:br>
              <a:r>
                <a:rPr lang="en-US" sz="1500" dirty="0">
                  <a:solidFill>
                    <a:schemeClr val="dk1"/>
                  </a:solidFill>
                  <a:latin typeface="+mn-lt"/>
                  <a:ea typeface="+mn-ea"/>
                  <a:cs typeface="+mn-cs"/>
                </a:rPr>
                <a:t>Keep period, scope and data coverage explicit.</a:t>
              </a:r>
            </a:p>
          </p:txBody>
        </p:sp>
      </p:grpSp>
      <p:grpSp>
        <p:nvGrpSpPr>
          <p:cNvPr id="14" name="what-to-ask"/>
          <p:cNvGrpSpPr/>
          <p:nvPr/>
        </p:nvGrpSpPr>
        <p:grpSpPr>
          <a:xfrm>
            <a:off x="448056" y="3381375"/>
            <a:ext cx="5343144" cy="1109345"/>
            <a:chOff x="448056" y="3381375"/>
            <a:chExt cx="5343144" cy="1109345"/>
          </a:xfrm>
        </p:grpSpPr>
        <p:sp>
          <p:nvSpPr>
            <p:cNvPr id="11" name="Line 11"/>
            <p:cNvSpPr/>
            <p:nvPr/>
          </p:nvSpPr>
          <p:spPr>
            <a:xfrm>
              <a:off x="457200" y="3381375"/>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2" name="TextBox 12"/>
            <p:cNvSpPr txBox="1"/>
            <p:nvPr/>
          </p:nvSpPr>
          <p:spPr>
            <a:xfrm>
              <a:off x="448056" y="3505200"/>
              <a:ext cx="287910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03 / What should we ask?</a:t>
              </a:r>
            </a:p>
          </p:txBody>
        </p:sp>
        <p:sp>
          <p:nvSpPr>
            <p:cNvPr id="13" name="TextBox 13"/>
            <p:cNvSpPr txBox="1"/>
            <p:nvPr/>
          </p:nvSpPr>
          <p:spPr>
            <a:xfrm>
              <a:off x="449580" y="3930650"/>
              <a:ext cx="4166311"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Label commercial hypotheses and translate them</a:t>
              </a:r>
              <a:br>
                <a:rPr lang="en-US" sz="1500" dirty="0">
                  <a:solidFill>
                    <a:schemeClr val="dk1"/>
                  </a:solidFill>
                  <a:latin typeface="+mn-lt"/>
                  <a:ea typeface="+mn-ea"/>
                  <a:cs typeface="+mn-cs"/>
                </a:rPr>
              </a:br>
              <a:r>
                <a:rPr lang="en-US" sz="1500" dirty="0">
                  <a:solidFill>
                    <a:schemeClr val="dk1"/>
                  </a:solidFill>
                  <a:latin typeface="+mn-lt"/>
                  <a:ea typeface="+mn-ea"/>
                  <a:cs typeface="+mn-cs"/>
                </a:rPr>
                <a:t>into discovery questions the rep can validate.</a:t>
              </a:r>
            </a:p>
          </p:txBody>
        </p:sp>
      </p:grpSp>
      <p:grpSp>
        <p:nvGrpSpPr>
          <p:cNvPr id="18" name="what-to-bring"/>
          <p:cNvGrpSpPr/>
          <p:nvPr/>
        </p:nvGrpSpPr>
        <p:grpSpPr>
          <a:xfrm>
            <a:off x="6086856" y="3381375"/>
            <a:ext cx="5647944" cy="1109345"/>
            <a:chOff x="6086856" y="3381375"/>
            <a:chExt cx="5647944" cy="1109345"/>
          </a:xfrm>
        </p:grpSpPr>
        <p:sp>
          <p:nvSpPr>
            <p:cNvPr id="15" name="Line 15"/>
            <p:cNvSpPr/>
            <p:nvPr/>
          </p:nvSpPr>
          <p:spPr>
            <a:xfrm>
              <a:off x="6096000" y="338137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6" name="TextBox 16"/>
            <p:cNvSpPr txBox="1"/>
            <p:nvPr/>
          </p:nvSpPr>
          <p:spPr>
            <a:xfrm>
              <a:off x="6086856" y="3505200"/>
              <a:ext cx="309437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04 / What should we bring?</a:t>
              </a:r>
            </a:p>
          </p:txBody>
        </p:sp>
        <p:sp>
          <p:nvSpPr>
            <p:cNvPr id="17" name="TextBox 17"/>
            <p:cNvSpPr txBox="1"/>
            <p:nvPr/>
          </p:nvSpPr>
          <p:spPr>
            <a:xfrm>
              <a:off x="6088380" y="3930650"/>
              <a:ext cx="437772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Find current, approved product/share-class material</a:t>
              </a:r>
              <a:br>
                <a:rPr lang="en-US" sz="1500" dirty="0">
                  <a:solidFill>
                    <a:schemeClr val="dk1"/>
                  </a:solidFill>
                  <a:latin typeface="+mn-lt"/>
                  <a:ea typeface="+mn-ea"/>
                  <a:cs typeface="+mn-cs"/>
                </a:rPr>
              </a:br>
              <a:r>
                <a:rPr lang="en-US" sz="1500" dirty="0">
                  <a:solidFill>
                    <a:schemeClr val="dk1"/>
                  </a:solidFill>
                  <a:latin typeface="+mn-lt"/>
                  <a:ea typeface="+mn-ea"/>
                  <a:cs typeface="+mn-cs"/>
                </a:rPr>
                <a:t>and flag requirements that remain unresolved.</a:t>
              </a:r>
            </a:p>
          </p:txBody>
        </p:sp>
      </p:grpSp>
      <p:grpSp>
        <p:nvGrpSpPr>
          <p:cNvPr id="22" name="common-evidence"/>
          <p:cNvGrpSpPr/>
          <p:nvPr/>
        </p:nvGrpSpPr>
        <p:grpSpPr>
          <a:xfrm>
            <a:off x="457200" y="5019675"/>
            <a:ext cx="11277600" cy="1090295"/>
            <a:chOff x="457200" y="5019675"/>
            <a:chExt cx="11277600" cy="1090295"/>
          </a:xfrm>
        </p:grpSpPr>
        <p:sp>
          <p:nvSpPr>
            <p:cNvPr id="19" name="Rectangle 19"/>
            <p:cNvSpPr/>
            <p:nvPr/>
          </p:nvSpPr>
          <p:spPr>
            <a:xfrm>
              <a:off x="457200" y="5019675"/>
              <a:ext cx="11277600" cy="1066800"/>
            </a:xfrm>
            <a:prstGeom prst="rect">
              <a:avLst/>
            </a:prstGeom>
            <a:solidFill>
              <a:schemeClr val="accent1"/>
            </a:solidFill>
            <a:ln>
              <a:noFill/>
            </a:ln>
          </p:spPr>
        </p:sp>
        <p:sp>
          <p:nvSpPr>
            <p:cNvPr id="20" name="TextBox 20"/>
            <p:cNvSpPr txBox="1"/>
            <p:nvPr/>
          </p:nvSpPr>
          <p:spPr>
            <a:xfrm>
              <a:off x="677418" y="5178425"/>
              <a:ext cx="509822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Every material number needs its meaning attached.</a:t>
              </a:r>
            </a:p>
          </p:txBody>
        </p:sp>
        <p:sp>
          <p:nvSpPr>
            <p:cNvPr id="21" name="TextBox 21"/>
            <p:cNvSpPr txBox="1"/>
            <p:nvPr/>
          </p:nvSpPr>
          <p:spPr>
            <a:xfrm>
              <a:off x="678180" y="5549900"/>
              <a:ext cx="8655825"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Carry entity, metric, period, units, snapshot and calculation; use effective-dated historical relationships.</a:t>
              </a:r>
              <a:br>
                <a:rPr lang="en-US" sz="1500" dirty="0">
                  <a:solidFill>
                    <a:srgbClr val="FFFDF7"/>
                  </a:solidFill>
                  <a:latin typeface="+mn-lt"/>
                  <a:ea typeface="+mn-ea"/>
                  <a:cs typeface="+mn-cs"/>
                </a:rPr>
              </a:br>
              <a:r>
                <a:rPr lang="en-US" sz="1500" dirty="0">
                  <a:solidFill>
                    <a:srgbClr val="FFFDF7"/>
                  </a:solidFill>
                  <a:latin typeface="+mn-lt"/>
                  <a:ea typeface="+mn-ea"/>
                  <a:cs typeface="+mn-cs"/>
                </a:rPr>
                <a:t>Fidelity activity does not establish the advisor’s entire wallet.</a:t>
              </a:r>
            </a:p>
          </p:txBody>
        </p:sp>
      </p:grpSp>
      <p:grpSp>
        <p:nvGrpSpPr>
          <p:cNvPr id="25" name="footer"/>
          <p:cNvGrpSpPr/>
          <p:nvPr/>
        </p:nvGrpSpPr>
        <p:grpSpPr>
          <a:xfrm>
            <a:off x="452438" y="6391275"/>
            <a:ext cx="11287124" cy="176212"/>
            <a:chOff x="452438" y="6391275"/>
            <a:chExt cx="11287124" cy="176212"/>
          </a:xfrm>
        </p:grpSpPr>
        <p:sp>
          <p:nvSpPr>
            <p:cNvPr id="23" name="TextBox 23"/>
            <p:cNvSpPr txBox="1"/>
            <p:nvPr/>
          </p:nvSpPr>
          <p:spPr>
            <a:xfrm>
              <a:off x="452438" y="6391275"/>
              <a:ext cx="620911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End user: a Fidelity institutional salesperson serving advisors as distribution partners. Proposed preparation packet.</a:t>
              </a:r>
            </a:p>
          </p:txBody>
        </p:sp>
        <p:sp>
          <p:nvSpPr>
            <p:cNvPr id="24" name="TextBox 24"/>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13 / 28</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690941" cy="1169416"/>
            <a:chOff x="443484" y="371475"/>
            <a:chExt cx="4690941" cy="1169416"/>
          </a:xfrm>
        </p:grpSpPr>
        <p:sp>
          <p:nvSpPr>
            <p:cNvPr id="2" name="TextBox 2"/>
            <p:cNvSpPr txBox="1"/>
            <p:nvPr/>
          </p:nvSpPr>
          <p:spPr>
            <a:xfrm>
              <a:off x="451104" y="371475"/>
              <a:ext cx="4118604"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SYNTHETIC TEACHING CASE / SCHEMATIC BRIEF</a:t>
              </a:r>
            </a:p>
          </p:txBody>
        </p:sp>
        <p:sp>
          <p:nvSpPr>
            <p:cNvPr id="3" name="TextBox 3"/>
            <p:cNvSpPr txBox="1"/>
            <p:nvPr/>
          </p:nvSpPr>
          <p:spPr>
            <a:xfrm>
              <a:off x="443484" y="603250"/>
              <a:ext cx="469094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The A17 brief separates facts</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from commercial interpretation</a:t>
              </a:r>
            </a:p>
          </p:txBody>
        </p:sp>
      </p:grpSp>
      <p:grpSp>
        <p:nvGrpSpPr>
          <p:cNvPr id="13" name="brief-facts"/>
          <p:cNvGrpSpPr/>
          <p:nvPr/>
        </p:nvGrpSpPr>
        <p:grpSpPr>
          <a:xfrm>
            <a:off x="457200" y="1752600"/>
            <a:ext cx="5715000" cy="4286250"/>
            <a:chOff x="457200" y="1752600"/>
            <a:chExt cx="5715000" cy="4286250"/>
          </a:xfrm>
        </p:grpSpPr>
        <p:sp>
          <p:nvSpPr>
            <p:cNvPr id="5" name="Freeform 5"/>
            <p:cNvSpPr/>
            <p:nvPr/>
          </p:nvSpPr>
          <p:spPr>
            <a:xfrm>
              <a:off x="457200" y="1752600"/>
              <a:ext cx="5715000" cy="4286250"/>
            </a:xfrm>
            <a:prstGeom prst="foldedCorner">
              <a:avLst/>
            </a:prstGeom>
            <a:solidFill>
              <a:schemeClr val="lt2"/>
            </a:solidFill>
            <a:ln>
              <a:noFill/>
            </a:ln>
          </p:spPr>
        </p:sp>
        <p:sp>
          <p:nvSpPr>
            <p:cNvPr id="6" name="TextBox 6"/>
            <p:cNvSpPr txBox="1"/>
            <p:nvPr/>
          </p:nvSpPr>
          <p:spPr>
            <a:xfrm>
              <a:off x="679704" y="1971675"/>
              <a:ext cx="3151486"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FACTS / ADVISOR A17 / PRODUCT P-A</a:t>
              </a:r>
            </a:p>
          </p:txBody>
        </p:sp>
        <p:sp>
          <p:nvSpPr>
            <p:cNvPr id="7" name="TextBox 7"/>
            <p:cNvSpPr txBox="1"/>
            <p:nvPr/>
          </p:nvSpPr>
          <p:spPr>
            <a:xfrm>
              <a:off x="676656" y="2390775"/>
              <a:ext cx="2803615"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Advisor net flow: −$0.2m</a:t>
              </a:r>
            </a:p>
          </p:txBody>
        </p:sp>
        <p:sp>
          <p:nvSpPr>
            <p:cNvPr id="8" name="TextBox 8"/>
            <p:cNvSpPr txBox="1"/>
            <p:nvPr/>
          </p:nvSpPr>
          <p:spPr>
            <a:xfrm>
              <a:off x="678180" y="2816225"/>
              <a:ext cx="335615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Purchases $0.8m; redemptions $1.0m.</a:t>
              </a:r>
              <a:br>
                <a:rPr lang="en-US" sz="1500" dirty="0">
                  <a:solidFill>
                    <a:schemeClr val="dk1"/>
                  </a:solidFill>
                  <a:latin typeface="+mn-lt"/>
                  <a:ea typeface="+mn-ea"/>
                  <a:cs typeface="+mn-cs"/>
                </a:rPr>
              </a:br>
              <a:r>
                <a:rPr lang="en-US" sz="1500" dirty="0">
                  <a:solidFill>
                    <a:schemeClr val="dk1"/>
                  </a:solidFill>
                  <a:latin typeface="+mn-lt"/>
                  <a:ea typeface="+mn-ea"/>
                  <a:cs typeface="+mn-cs"/>
                </a:rPr>
                <a:t>The separate firm aggregate is +$5.0m.</a:t>
              </a:r>
            </a:p>
          </p:txBody>
        </p:sp>
        <p:sp>
          <p:nvSpPr>
            <p:cNvPr id="9" name="Line 9"/>
            <p:cNvSpPr/>
            <p:nvPr/>
          </p:nvSpPr>
          <p:spPr>
            <a:xfrm>
              <a:off x="685800" y="3590925"/>
              <a:ext cx="5257800" cy="9525"/>
            </a:xfrm>
            <a:custGeom>
              <a:avLst/>
              <a:gdLst/>
              <a:ahLst/>
              <a:cxnLst/>
              <a:rect l="l" t="t" r="r" b="b"/>
              <a:pathLst>
                <a:path w="5257800" h="9525">
                  <a:moveTo>
                    <a:pt x="0" y="0"/>
                  </a:moveTo>
                  <a:lnTo>
                    <a:pt x="5257800" y="0"/>
                  </a:lnTo>
                </a:path>
              </a:pathLst>
            </a:custGeom>
            <a:noFill/>
            <a:ln w="9525">
              <a:solidFill>
                <a:schemeClr val="accent6"/>
              </a:solidFill>
            </a:ln>
          </p:spPr>
        </p:sp>
        <p:sp>
          <p:nvSpPr>
            <p:cNvPr id="10" name="TextBox 10"/>
            <p:cNvSpPr txBox="1"/>
            <p:nvPr/>
          </p:nvSpPr>
          <p:spPr>
            <a:xfrm>
              <a:off x="676656" y="3743325"/>
              <a:ext cx="3277564"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Documented meeting request</a:t>
              </a:r>
            </a:p>
          </p:txBody>
        </p:sp>
        <p:sp>
          <p:nvSpPr>
            <p:cNvPr id="11" name="TextBox 11"/>
            <p:cNvSpPr txBox="1"/>
            <p:nvPr/>
          </p:nvSpPr>
          <p:spPr>
            <a:xfrm>
              <a:off x="678180" y="4178300"/>
              <a:ext cx="327614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 prior record asks for a share-class</a:t>
              </a:r>
              <a:br>
                <a:rPr lang="en-US" sz="1500" dirty="0">
                  <a:solidFill>
                    <a:schemeClr val="dk1"/>
                  </a:solidFill>
                  <a:latin typeface="+mn-lt"/>
                  <a:ea typeface="+mn-ea"/>
                  <a:cs typeface="+mn-cs"/>
                </a:rPr>
              </a:br>
              <a:r>
                <a:rPr lang="en-US" sz="1500" dirty="0">
                  <a:solidFill>
                    <a:schemeClr val="dk1"/>
                  </a:solidFill>
                  <a:latin typeface="+mn-lt"/>
                  <a:ea typeface="+mn-ea"/>
                  <a:cs typeface="+mn-cs"/>
                </a:rPr>
                <a:t>and implementation discussion.</a:t>
              </a:r>
            </a:p>
          </p:txBody>
        </p:sp>
        <p:sp>
          <p:nvSpPr>
            <p:cNvPr id="12" name="TextBox 12"/>
            <p:cNvSpPr txBox="1"/>
            <p:nvPr/>
          </p:nvSpPr>
          <p:spPr>
            <a:xfrm>
              <a:off x="678942" y="5114925"/>
              <a:ext cx="3282513"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8B411C"/>
                  </a:solidFill>
                  <a:latin typeface="+mn-lt"/>
                  <a:ea typeface="+mn-ea"/>
                  <a:cs typeface="+mn-cs"/>
                </a:rPr>
                <a:t>All identifiers, products, records and values</a:t>
              </a:r>
              <a:br>
                <a:rPr lang="en-US" sz="1350" dirty="0">
                  <a:solidFill>
                    <a:srgbClr val="8B411C"/>
                  </a:solidFill>
                  <a:latin typeface="+mn-lt"/>
                  <a:ea typeface="+mn-ea"/>
                  <a:cs typeface="+mn-cs"/>
                </a:rPr>
              </a:br>
              <a:r>
                <a:rPr lang="en-US" sz="1350" dirty="0">
                  <a:solidFill>
                    <a:srgbClr val="8B411C"/>
                  </a:solidFill>
                  <a:latin typeface="+mn-lt"/>
                  <a:ea typeface="+mn-ea"/>
                  <a:cs typeface="+mn-cs"/>
                </a:rPr>
                <a:t>on this page are invented.</a:t>
              </a:r>
            </a:p>
          </p:txBody>
        </p:sp>
      </p:grpSp>
      <p:grpSp>
        <p:nvGrpSpPr>
          <p:cNvPr id="16" name="hypothesis"/>
          <p:cNvGrpSpPr/>
          <p:nvPr/>
        </p:nvGrpSpPr>
        <p:grpSpPr>
          <a:xfrm>
            <a:off x="6467856" y="1838325"/>
            <a:ext cx="4093578" cy="995045"/>
            <a:chOff x="6467856" y="1838325"/>
            <a:chExt cx="4093578" cy="995045"/>
          </a:xfrm>
        </p:grpSpPr>
        <p:sp>
          <p:nvSpPr>
            <p:cNvPr id="14" name="TextBox 14"/>
            <p:cNvSpPr txBox="1"/>
            <p:nvPr/>
          </p:nvSpPr>
          <p:spPr>
            <a:xfrm>
              <a:off x="6467856" y="1838325"/>
              <a:ext cx="2609999"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Commercial hypothesis</a:t>
              </a:r>
            </a:p>
          </p:txBody>
        </p:sp>
        <p:sp>
          <p:nvSpPr>
            <p:cNvPr id="15" name="TextBox 15"/>
            <p:cNvSpPr txBox="1"/>
            <p:nvPr/>
          </p:nvSpPr>
          <p:spPr>
            <a:xfrm>
              <a:off x="6469380" y="2273300"/>
              <a:ext cx="4092054"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focused approved comparison may advance</a:t>
              </a:r>
              <a:br>
                <a:rPr lang="en-US" sz="1500" dirty="0">
                  <a:solidFill>
                    <a:schemeClr val="dk1"/>
                  </a:solidFill>
                  <a:latin typeface="+mn-lt"/>
                  <a:ea typeface="+mn-ea"/>
                  <a:cs typeface="+mn-cs"/>
                </a:rPr>
              </a:br>
              <a:r>
                <a:rPr lang="en-US" sz="1500" dirty="0">
                  <a:solidFill>
                    <a:schemeClr val="dk1"/>
                  </a:solidFill>
                  <a:latin typeface="+mn-lt"/>
                  <a:ea typeface="+mn-ea"/>
                  <a:cs typeface="+mn-cs"/>
                </a:rPr>
                <a:t>the conversation. This remains an interpretation.</a:t>
              </a:r>
            </a:p>
          </p:txBody>
        </p:sp>
      </p:grpSp>
      <p:grpSp>
        <p:nvGrpSpPr>
          <p:cNvPr id="20" name="discovery"/>
          <p:cNvGrpSpPr/>
          <p:nvPr/>
        </p:nvGrpSpPr>
        <p:grpSpPr>
          <a:xfrm>
            <a:off x="6467856" y="3190875"/>
            <a:ext cx="5266944" cy="1347470"/>
            <a:chOff x="6467856" y="3190875"/>
            <a:chExt cx="5266944" cy="1347470"/>
          </a:xfrm>
        </p:grpSpPr>
        <p:sp>
          <p:nvSpPr>
            <p:cNvPr id="17" name="Line 17"/>
            <p:cNvSpPr/>
            <p:nvPr/>
          </p:nvSpPr>
          <p:spPr>
            <a:xfrm>
              <a:off x="6477000" y="3190875"/>
              <a:ext cx="5257800" cy="9525"/>
            </a:xfrm>
            <a:custGeom>
              <a:avLst/>
              <a:gdLst/>
              <a:ahLst/>
              <a:cxnLst/>
              <a:rect l="l" t="t" r="r" b="b"/>
              <a:pathLst>
                <a:path w="5257800" h="9525">
                  <a:moveTo>
                    <a:pt x="0" y="0"/>
                  </a:moveTo>
                  <a:lnTo>
                    <a:pt x="5257800" y="0"/>
                  </a:lnTo>
                </a:path>
              </a:pathLst>
            </a:custGeom>
            <a:noFill/>
            <a:ln w="9525">
              <a:solidFill>
                <a:schemeClr val="accent6"/>
              </a:solidFill>
            </a:ln>
          </p:spPr>
        </p:sp>
        <p:sp>
          <p:nvSpPr>
            <p:cNvPr id="18" name="TextBox 18"/>
            <p:cNvSpPr txBox="1"/>
            <p:nvPr/>
          </p:nvSpPr>
          <p:spPr>
            <a:xfrm>
              <a:off x="6467856" y="3286125"/>
              <a:ext cx="337227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Questions and material checks</a:t>
              </a:r>
            </a:p>
          </p:txBody>
        </p:sp>
        <p:sp>
          <p:nvSpPr>
            <p:cNvPr id="19" name="TextBox 19"/>
            <p:cNvSpPr txBox="1"/>
            <p:nvPr/>
          </p:nvSpPr>
          <p:spPr>
            <a:xfrm>
              <a:off x="6469380" y="3711575"/>
              <a:ext cx="404934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Which implementation constraints matter?</a:t>
              </a:r>
              <a:br>
                <a:rPr lang="en-US" sz="1500" dirty="0">
                  <a:solidFill>
                    <a:schemeClr val="dk1"/>
                  </a:solidFill>
                  <a:latin typeface="+mn-lt"/>
                  <a:ea typeface="+mn-ea"/>
                  <a:cs typeface="+mn-cs"/>
                </a:rPr>
              </a:br>
              <a:r>
                <a:rPr lang="en-US" sz="1500" dirty="0">
                  <a:solidFill>
                    <a:schemeClr val="dk1"/>
                  </a:solidFill>
                  <a:latin typeface="+mn-lt"/>
                  <a:ea typeface="+mn-ea"/>
                  <a:cs typeface="+mn-cs"/>
                </a:rPr>
                <a:t>Confirm product/share class, document version,</a:t>
              </a:r>
              <a:br>
                <a:rPr lang="en-US" sz="1500" dirty="0">
                  <a:solidFill>
                    <a:schemeClr val="dk1"/>
                  </a:solidFill>
                  <a:latin typeface="+mn-lt"/>
                  <a:ea typeface="+mn-ea"/>
                  <a:cs typeface="+mn-cs"/>
                </a:rPr>
              </a:br>
              <a:r>
                <a:rPr lang="en-US" sz="1500" dirty="0">
                  <a:solidFill>
                    <a:schemeClr val="dk1"/>
                  </a:solidFill>
                  <a:latin typeface="+mn-lt"/>
                  <a:ea typeface="+mn-ea"/>
                  <a:cs typeface="+mn-cs"/>
                </a:rPr>
                <a:t>approval context and valid time.</a:t>
              </a:r>
            </a:p>
          </p:txBody>
        </p:sp>
      </p:grpSp>
      <p:grpSp>
        <p:nvGrpSpPr>
          <p:cNvPr id="24" name="review"/>
          <p:cNvGrpSpPr/>
          <p:nvPr/>
        </p:nvGrpSpPr>
        <p:grpSpPr>
          <a:xfrm>
            <a:off x="6477000" y="4667250"/>
            <a:ext cx="5257800" cy="1371600"/>
            <a:chOff x="6477000" y="4667250"/>
            <a:chExt cx="5257800" cy="1371600"/>
          </a:xfrm>
        </p:grpSpPr>
        <p:sp>
          <p:nvSpPr>
            <p:cNvPr id="21" name="Rectangle 21"/>
            <p:cNvSpPr/>
            <p:nvPr/>
          </p:nvSpPr>
          <p:spPr>
            <a:xfrm>
              <a:off x="6477000" y="4667250"/>
              <a:ext cx="5257800" cy="1371600"/>
            </a:xfrm>
            <a:prstGeom prst="rect">
              <a:avLst/>
            </a:prstGeom>
            <a:solidFill>
              <a:schemeClr val="accent1"/>
            </a:solidFill>
            <a:ln>
              <a:noFill/>
            </a:ln>
          </p:spPr>
        </p:sp>
        <p:sp>
          <p:nvSpPr>
            <p:cNvPr id="22" name="TextBox 22"/>
            <p:cNvSpPr txBox="1"/>
            <p:nvPr/>
          </p:nvSpPr>
          <p:spPr>
            <a:xfrm>
              <a:off x="6696456" y="4781550"/>
              <a:ext cx="336652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Rep review closes preparation</a:t>
              </a:r>
            </a:p>
          </p:txBody>
        </p:sp>
        <p:sp>
          <p:nvSpPr>
            <p:cNvPr id="23" name="TextBox 23"/>
            <p:cNvSpPr txBox="1"/>
            <p:nvPr/>
          </p:nvSpPr>
          <p:spPr>
            <a:xfrm>
              <a:off x="6697980" y="5187950"/>
              <a:ext cx="3626510"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Review and adjust before use. Accepting a</a:t>
              </a:r>
              <a:br>
                <a:rPr lang="en-US" sz="1500" dirty="0">
                  <a:solidFill>
                    <a:srgbClr val="FFFDF7"/>
                  </a:solidFill>
                  <a:latin typeface="+mn-lt"/>
                  <a:ea typeface="+mn-ea"/>
                  <a:cs typeface="+mn-cs"/>
                </a:rPr>
              </a:br>
              <a:r>
                <a:rPr lang="en-US" sz="1500" dirty="0">
                  <a:solidFill>
                    <a:srgbClr val="FFFDF7"/>
                  </a:solidFill>
                  <a:latin typeface="+mn-lt"/>
                  <a:ea typeface="+mn-ea"/>
                  <a:cs typeface="+mn-cs"/>
                </a:rPr>
                <a:t>draft does not grant authority for an</a:t>
              </a:r>
              <a:br>
                <a:rPr lang="en-US" sz="1500" dirty="0">
                  <a:solidFill>
                    <a:srgbClr val="FFFDF7"/>
                  </a:solidFill>
                  <a:latin typeface="+mn-lt"/>
                  <a:ea typeface="+mn-ea"/>
                  <a:cs typeface="+mn-cs"/>
                </a:rPr>
              </a:br>
              <a:r>
                <a:rPr lang="en-US" sz="1500" dirty="0">
                  <a:solidFill>
                    <a:srgbClr val="FFFDF7"/>
                  </a:solidFill>
                  <a:latin typeface="+mn-lt"/>
                  <a:ea typeface="+mn-ea"/>
                  <a:cs typeface="+mn-cs"/>
                </a:rPr>
                <a:t>outbound action.</a:t>
              </a:r>
            </a:p>
          </p:txBody>
        </p:sp>
      </p:grpSp>
      <p:grpSp>
        <p:nvGrpSpPr>
          <p:cNvPr id="27" name="footer"/>
          <p:cNvGrpSpPr/>
          <p:nvPr/>
        </p:nvGrpSpPr>
        <p:grpSpPr>
          <a:xfrm>
            <a:off x="452438" y="6400800"/>
            <a:ext cx="11287124" cy="176212"/>
            <a:chOff x="452438" y="6400800"/>
            <a:chExt cx="11287124" cy="176212"/>
          </a:xfrm>
        </p:grpSpPr>
        <p:sp>
          <p:nvSpPr>
            <p:cNvPr id="25" name="TextBox 25"/>
            <p:cNvSpPr txBox="1"/>
            <p:nvPr/>
          </p:nvSpPr>
          <p:spPr>
            <a:xfrm>
              <a:off x="452438" y="6400800"/>
              <a:ext cx="531000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Scenario data. Negative advisor flow does not establish dissatisfaction or competitor displacement.</a:t>
              </a:r>
            </a:p>
          </p:txBody>
        </p:sp>
        <p:sp>
          <p:nvSpPr>
            <p:cNvPr id="26" name="TextBox 26"/>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14 / 28</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904224" cy="1169416"/>
            <a:chOff x="443484" y="371475"/>
            <a:chExt cx="5904224" cy="1169416"/>
          </a:xfrm>
        </p:grpSpPr>
        <p:sp>
          <p:nvSpPr>
            <p:cNvPr id="2" name="TextBox 2"/>
            <p:cNvSpPr txBox="1"/>
            <p:nvPr/>
          </p:nvSpPr>
          <p:spPr>
            <a:xfrm>
              <a:off x="451104" y="371475"/>
              <a:ext cx="440348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RANGE’S METHOD / PROPOSED SALES ADAPTATION</a:t>
              </a:r>
            </a:p>
          </p:txBody>
        </p:sp>
        <p:sp>
          <p:nvSpPr>
            <p:cNvPr id="3" name="TextBox 3"/>
            <p:cNvSpPr txBox="1"/>
            <p:nvPr/>
          </p:nvSpPr>
          <p:spPr>
            <a:xfrm>
              <a:off x="443484" y="603250"/>
              <a:ext cx="5904224"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Sales specialists can encode preparation</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as a maintained professional skill</a:t>
              </a:r>
            </a:p>
          </p:txBody>
        </p:sp>
      </p:grpSp>
      <p:grpSp>
        <p:nvGrpSpPr>
          <p:cNvPr id="31" name="skill-method"/>
          <p:cNvGrpSpPr/>
          <p:nvPr/>
        </p:nvGrpSpPr>
        <p:grpSpPr>
          <a:xfrm>
            <a:off x="504825" y="1828800"/>
            <a:ext cx="6204814" cy="4043045"/>
            <a:chOff x="504825" y="1828800"/>
            <a:chExt cx="6204814" cy="4043045"/>
          </a:xfrm>
        </p:grpSpPr>
        <p:sp>
          <p:nvSpPr>
            <p:cNvPr id="5" name="Line 5"/>
            <p:cNvSpPr/>
            <p:nvPr/>
          </p:nvSpPr>
          <p:spPr>
            <a:xfrm>
              <a:off x="723900" y="2047875"/>
              <a:ext cx="9525" cy="3543300"/>
            </a:xfrm>
            <a:custGeom>
              <a:avLst/>
              <a:gdLst/>
              <a:ahLst/>
              <a:cxnLst/>
              <a:rect l="l" t="t" r="r" b="b"/>
              <a:pathLst>
                <a:path w="9525" h="3543300">
                  <a:moveTo>
                    <a:pt x="0" y="0"/>
                  </a:moveTo>
                  <a:lnTo>
                    <a:pt x="0" y="3543300"/>
                  </a:lnTo>
                </a:path>
              </a:pathLst>
            </a:custGeom>
            <a:noFill/>
            <a:ln w="19050">
              <a:solidFill>
                <a:schemeClr val="accent6"/>
              </a:solidFill>
            </a:ln>
          </p:spPr>
        </p:sp>
        <p:grpSp>
          <p:nvGrpSpPr>
            <p:cNvPr id="10" name="Group 10"/>
            <p:cNvGrpSpPr/>
            <p:nvPr/>
          </p:nvGrpSpPr>
          <p:grpSpPr>
            <a:xfrm>
              <a:off x="504825" y="1828800"/>
              <a:ext cx="5527167" cy="575945"/>
              <a:chOff x="504825" y="1828800"/>
              <a:chExt cx="5527167" cy="575945"/>
            </a:xfrm>
          </p:grpSpPr>
          <p:sp>
            <p:nvSpPr>
              <p:cNvPr id="6" name="Ellipse 6"/>
              <p:cNvSpPr/>
              <p:nvPr/>
            </p:nvSpPr>
            <p:spPr>
              <a:xfrm>
                <a:off x="504825" y="1828800"/>
                <a:ext cx="438150" cy="438150"/>
              </a:xfrm>
              <a:prstGeom prst="ellipse">
                <a:avLst/>
              </a:prstGeom>
              <a:solidFill>
                <a:schemeClr val="accent2"/>
              </a:solidFill>
              <a:ln>
                <a:noFill/>
              </a:ln>
            </p:spPr>
          </p:sp>
          <p:sp>
            <p:nvSpPr>
              <p:cNvPr id="7" name="TextBox 7"/>
              <p:cNvSpPr txBox="1"/>
              <p:nvPr/>
            </p:nvSpPr>
            <p:spPr>
              <a:xfrm>
                <a:off x="666501" y="1939925"/>
                <a:ext cx="114798" cy="264033"/>
              </a:xfrm>
              <a:prstGeom prst="rect">
                <a:avLst/>
              </a:prstGeom>
              <a:noFill/>
              <a:ln>
                <a:noFill/>
              </a:ln>
            </p:spPr>
            <p:txBody>
              <a:bodyPr wrap="none" lIns="0" tIns="0" rIns="0" bIns="0" anchor="t" anchorCtr="0">
                <a:spAutoFit/>
              </a:bodyPr>
              <a:lstStyle/>
              <a:p>
                <a:pPr algn="ctr"/>
                <a:r>
                  <a:rPr lang="en-US" sz="1350" dirty="0">
                    <a:solidFill>
                      <a:srgbClr val="FFFDF7"/>
                    </a:solidFill>
                    <a:latin typeface="+mn-lt"/>
                    <a:ea typeface="+mn-ea"/>
                    <a:cs typeface="+mn-cs"/>
                  </a:rPr>
                  <a:t>1</a:t>
                </a:r>
              </a:p>
            </p:txBody>
          </p:sp>
          <p:sp>
            <p:nvSpPr>
              <p:cNvPr id="8" name="TextBox 8"/>
              <p:cNvSpPr txBox="1"/>
              <p:nvPr/>
            </p:nvSpPr>
            <p:spPr>
              <a:xfrm>
                <a:off x="1114806" y="1866900"/>
                <a:ext cx="50680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Pick</a:t>
                </a:r>
              </a:p>
            </p:txBody>
          </p:sp>
          <p:sp>
            <p:nvSpPr>
              <p:cNvPr id="9" name="TextBox 9"/>
              <p:cNvSpPr txBox="1"/>
              <p:nvPr/>
            </p:nvSpPr>
            <p:spPr>
              <a:xfrm>
                <a:off x="2373630" y="1844675"/>
                <a:ext cx="365836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Choose one repeated preparation workflow</a:t>
                </a:r>
                <a:br>
                  <a:rPr lang="en-US" sz="1500" dirty="0">
                    <a:solidFill>
                      <a:schemeClr val="dk1"/>
                    </a:solidFill>
                    <a:latin typeface="+mn-lt"/>
                    <a:ea typeface="+mn-ea"/>
                    <a:cs typeface="+mn-cs"/>
                  </a:rPr>
                </a:br>
                <a:r>
                  <a:rPr lang="en-US" sz="1500" dirty="0">
                    <a:solidFill>
                      <a:schemeClr val="dk1"/>
                    </a:solidFill>
                    <a:latin typeface="+mn-lt"/>
                    <a:ea typeface="+mn-ea"/>
                    <a:cs typeface="+mn-cs"/>
                  </a:rPr>
                  <a:t>with recognizable acceptance.</a:t>
                </a:r>
              </a:p>
            </p:txBody>
          </p:sp>
        </p:grpSp>
        <p:grpSp>
          <p:nvGrpSpPr>
            <p:cNvPr id="15" name="Group 15"/>
            <p:cNvGrpSpPr/>
            <p:nvPr/>
          </p:nvGrpSpPr>
          <p:grpSpPr>
            <a:xfrm>
              <a:off x="504825" y="2695575"/>
              <a:ext cx="6098553" cy="575945"/>
              <a:chOff x="504825" y="2695575"/>
              <a:chExt cx="6098553" cy="575945"/>
            </a:xfrm>
          </p:grpSpPr>
          <p:sp>
            <p:nvSpPr>
              <p:cNvPr id="11" name="Ellipse 11"/>
              <p:cNvSpPr/>
              <p:nvPr/>
            </p:nvSpPr>
            <p:spPr>
              <a:xfrm>
                <a:off x="504825" y="2695575"/>
                <a:ext cx="438150" cy="438150"/>
              </a:xfrm>
              <a:prstGeom prst="ellipse">
                <a:avLst/>
              </a:prstGeom>
              <a:solidFill>
                <a:schemeClr val="accent2"/>
              </a:solidFill>
              <a:ln>
                <a:noFill/>
              </a:ln>
            </p:spPr>
          </p:sp>
          <p:sp>
            <p:nvSpPr>
              <p:cNvPr id="12" name="TextBox 12"/>
              <p:cNvSpPr txBox="1"/>
              <p:nvPr/>
            </p:nvSpPr>
            <p:spPr>
              <a:xfrm>
                <a:off x="666501" y="2806700"/>
                <a:ext cx="114798" cy="264033"/>
              </a:xfrm>
              <a:prstGeom prst="rect">
                <a:avLst/>
              </a:prstGeom>
              <a:noFill/>
              <a:ln>
                <a:noFill/>
              </a:ln>
            </p:spPr>
            <p:txBody>
              <a:bodyPr wrap="none" lIns="0" tIns="0" rIns="0" bIns="0" anchor="t" anchorCtr="0">
                <a:spAutoFit/>
              </a:bodyPr>
              <a:lstStyle/>
              <a:p>
                <a:pPr algn="ctr"/>
                <a:r>
                  <a:rPr lang="en-US" sz="1350" dirty="0">
                    <a:solidFill>
                      <a:srgbClr val="FFFDF7"/>
                    </a:solidFill>
                    <a:latin typeface="+mn-lt"/>
                    <a:ea typeface="+mn-ea"/>
                    <a:cs typeface="+mn-cs"/>
                  </a:rPr>
                  <a:t>2</a:t>
                </a:r>
              </a:p>
            </p:txBody>
          </p:sp>
          <p:sp>
            <p:nvSpPr>
              <p:cNvPr id="13" name="TextBox 13"/>
              <p:cNvSpPr txBox="1"/>
              <p:nvPr/>
            </p:nvSpPr>
            <p:spPr>
              <a:xfrm>
                <a:off x="1114806" y="2733675"/>
                <a:ext cx="70224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Teach</a:t>
                </a:r>
              </a:p>
            </p:txBody>
          </p:sp>
          <p:sp>
            <p:nvSpPr>
              <p:cNvPr id="14" name="TextBox 14"/>
              <p:cNvSpPr txBox="1"/>
              <p:nvPr/>
            </p:nvSpPr>
            <p:spPr>
              <a:xfrm>
                <a:off x="2373630" y="2711450"/>
                <a:ext cx="422974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Capture why the salesperson or product specialist</a:t>
                </a:r>
                <a:br>
                  <a:rPr lang="en-US" sz="1500" dirty="0">
                    <a:solidFill>
                      <a:schemeClr val="dk1"/>
                    </a:solidFill>
                    <a:latin typeface="+mn-lt"/>
                    <a:ea typeface="+mn-ea"/>
                    <a:cs typeface="+mn-cs"/>
                  </a:rPr>
                </a:br>
                <a:r>
                  <a:rPr lang="en-US" sz="1500" dirty="0">
                    <a:solidFill>
                      <a:schemeClr val="dk1"/>
                    </a:solidFill>
                    <a:latin typeface="+mn-lt"/>
                    <a:ea typeface="+mn-ea"/>
                    <a:cs typeface="+mn-cs"/>
                  </a:rPr>
                  <a:t>takes each step, including exceptions.</a:t>
                </a:r>
              </a:p>
            </p:txBody>
          </p:sp>
        </p:grpSp>
        <p:grpSp>
          <p:nvGrpSpPr>
            <p:cNvPr id="20" name="Group 20"/>
            <p:cNvGrpSpPr/>
            <p:nvPr/>
          </p:nvGrpSpPr>
          <p:grpSpPr>
            <a:xfrm>
              <a:off x="504825" y="3562350"/>
              <a:ext cx="5685701" cy="575945"/>
              <a:chOff x="504825" y="3562350"/>
              <a:chExt cx="5685701" cy="575945"/>
            </a:xfrm>
          </p:grpSpPr>
          <p:sp>
            <p:nvSpPr>
              <p:cNvPr id="16" name="Ellipse 16"/>
              <p:cNvSpPr/>
              <p:nvPr/>
            </p:nvSpPr>
            <p:spPr>
              <a:xfrm>
                <a:off x="504825" y="3562350"/>
                <a:ext cx="438150" cy="438150"/>
              </a:xfrm>
              <a:prstGeom prst="ellipse">
                <a:avLst/>
              </a:prstGeom>
              <a:solidFill>
                <a:schemeClr val="accent2"/>
              </a:solidFill>
              <a:ln>
                <a:noFill/>
              </a:ln>
            </p:spPr>
          </p:sp>
          <p:sp>
            <p:nvSpPr>
              <p:cNvPr id="17" name="TextBox 17"/>
              <p:cNvSpPr txBox="1"/>
              <p:nvPr/>
            </p:nvSpPr>
            <p:spPr>
              <a:xfrm>
                <a:off x="666501" y="3673475"/>
                <a:ext cx="114798" cy="264033"/>
              </a:xfrm>
              <a:prstGeom prst="rect">
                <a:avLst/>
              </a:prstGeom>
              <a:noFill/>
              <a:ln>
                <a:noFill/>
              </a:ln>
            </p:spPr>
            <p:txBody>
              <a:bodyPr wrap="none" lIns="0" tIns="0" rIns="0" bIns="0" anchor="t" anchorCtr="0">
                <a:spAutoFit/>
              </a:bodyPr>
              <a:lstStyle/>
              <a:p>
                <a:pPr algn="ctr"/>
                <a:r>
                  <a:rPr lang="en-US" sz="1350" dirty="0">
                    <a:solidFill>
                      <a:srgbClr val="FFFDF7"/>
                    </a:solidFill>
                    <a:latin typeface="+mn-lt"/>
                    <a:ea typeface="+mn-ea"/>
                    <a:cs typeface="+mn-cs"/>
                  </a:rPr>
                  <a:t>3</a:t>
                </a:r>
              </a:p>
            </p:txBody>
          </p:sp>
          <p:sp>
            <p:nvSpPr>
              <p:cNvPr id="18" name="TextBox 18"/>
              <p:cNvSpPr txBox="1"/>
              <p:nvPr/>
            </p:nvSpPr>
            <p:spPr>
              <a:xfrm>
                <a:off x="1114806" y="3600450"/>
                <a:ext cx="56358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Pack</a:t>
                </a:r>
              </a:p>
            </p:txBody>
          </p:sp>
          <p:sp>
            <p:nvSpPr>
              <p:cNvPr id="19" name="TextBox 19"/>
              <p:cNvSpPr txBox="1"/>
              <p:nvPr/>
            </p:nvSpPr>
            <p:spPr>
              <a:xfrm>
                <a:off x="2373630" y="3578225"/>
                <a:ext cx="381689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Include facts, definitions, authorized sources,</a:t>
                </a:r>
                <a:br>
                  <a:rPr lang="en-US" sz="1500" dirty="0">
                    <a:solidFill>
                      <a:schemeClr val="dk1"/>
                    </a:solidFill>
                    <a:latin typeface="+mn-lt"/>
                    <a:ea typeface="+mn-ea"/>
                    <a:cs typeface="+mn-cs"/>
                  </a:rPr>
                </a:br>
                <a:r>
                  <a:rPr lang="en-US" sz="1500" dirty="0">
                    <a:solidFill>
                      <a:schemeClr val="dk1"/>
                    </a:solidFill>
                    <a:latin typeface="+mn-lt"/>
                    <a:ea typeface="+mn-ea"/>
                    <a:cs typeface="+mn-cs"/>
                  </a:rPr>
                  <a:t>clarifying questions and action limits.</a:t>
                </a:r>
              </a:p>
            </p:txBody>
          </p:sp>
        </p:grpSp>
        <p:grpSp>
          <p:nvGrpSpPr>
            <p:cNvPr id="25" name="Group 25"/>
            <p:cNvGrpSpPr/>
            <p:nvPr/>
          </p:nvGrpSpPr>
          <p:grpSpPr>
            <a:xfrm>
              <a:off x="504825" y="4429125"/>
              <a:ext cx="6204814" cy="575945"/>
              <a:chOff x="504825" y="4429125"/>
              <a:chExt cx="6204814" cy="575945"/>
            </a:xfrm>
          </p:grpSpPr>
          <p:sp>
            <p:nvSpPr>
              <p:cNvPr id="21" name="Ellipse 21"/>
              <p:cNvSpPr/>
              <p:nvPr/>
            </p:nvSpPr>
            <p:spPr>
              <a:xfrm>
                <a:off x="504825" y="4429125"/>
                <a:ext cx="438150" cy="438150"/>
              </a:xfrm>
              <a:prstGeom prst="ellipse">
                <a:avLst/>
              </a:prstGeom>
              <a:solidFill>
                <a:schemeClr val="accent2"/>
              </a:solidFill>
              <a:ln>
                <a:noFill/>
              </a:ln>
            </p:spPr>
          </p:sp>
          <p:sp>
            <p:nvSpPr>
              <p:cNvPr id="22" name="TextBox 22"/>
              <p:cNvSpPr txBox="1"/>
              <p:nvPr/>
            </p:nvSpPr>
            <p:spPr>
              <a:xfrm>
                <a:off x="666501" y="4540250"/>
                <a:ext cx="114798" cy="264033"/>
              </a:xfrm>
              <a:prstGeom prst="rect">
                <a:avLst/>
              </a:prstGeom>
              <a:noFill/>
              <a:ln>
                <a:noFill/>
              </a:ln>
            </p:spPr>
            <p:txBody>
              <a:bodyPr wrap="none" lIns="0" tIns="0" rIns="0" bIns="0" anchor="t" anchorCtr="0">
                <a:spAutoFit/>
              </a:bodyPr>
              <a:lstStyle/>
              <a:p>
                <a:pPr algn="ctr"/>
                <a:r>
                  <a:rPr lang="en-US" sz="1350" dirty="0">
                    <a:solidFill>
                      <a:srgbClr val="FFFDF7"/>
                    </a:solidFill>
                    <a:latin typeface="+mn-lt"/>
                    <a:ea typeface="+mn-ea"/>
                    <a:cs typeface="+mn-cs"/>
                  </a:rPr>
                  <a:t>4</a:t>
                </a:r>
              </a:p>
            </p:txBody>
          </p:sp>
          <p:sp>
            <p:nvSpPr>
              <p:cNvPr id="23" name="TextBox 23"/>
              <p:cNvSpPr txBox="1"/>
              <p:nvPr/>
            </p:nvSpPr>
            <p:spPr>
              <a:xfrm>
                <a:off x="1114806" y="4467225"/>
                <a:ext cx="51697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Test</a:t>
                </a:r>
              </a:p>
            </p:txBody>
          </p:sp>
          <p:sp>
            <p:nvSpPr>
              <p:cNvPr id="24" name="TextBox 24"/>
              <p:cNvSpPr txBox="1"/>
              <p:nvPr/>
            </p:nvSpPr>
            <p:spPr>
              <a:xfrm>
                <a:off x="2373630" y="4445000"/>
                <a:ext cx="433600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Use ordinary, ambiguous and consequential cases.</a:t>
                </a:r>
                <a:br>
                  <a:rPr lang="en-US" sz="1500" dirty="0">
                    <a:solidFill>
                      <a:schemeClr val="dk1"/>
                    </a:solidFill>
                    <a:latin typeface="+mn-lt"/>
                    <a:ea typeface="+mn-ea"/>
                    <a:cs typeface="+mn-cs"/>
                  </a:rPr>
                </a:br>
                <a:r>
                  <a:rPr lang="en-US" sz="1500" dirty="0">
                    <a:solidFill>
                      <a:schemeClr val="dk1"/>
                    </a:solidFill>
                    <a:latin typeface="+mn-lt"/>
                    <a:ea typeface="+mn-ea"/>
                    <a:cs typeface="+mn-cs"/>
                  </a:rPr>
                  <a:t>Missing information must change the workflow.</a:t>
                </a:r>
              </a:p>
            </p:txBody>
          </p:sp>
        </p:grpSp>
        <p:grpSp>
          <p:nvGrpSpPr>
            <p:cNvPr id="30" name="Group 30"/>
            <p:cNvGrpSpPr/>
            <p:nvPr/>
          </p:nvGrpSpPr>
          <p:grpSpPr>
            <a:xfrm>
              <a:off x="504825" y="5295900"/>
              <a:ext cx="5939981" cy="575945"/>
              <a:chOff x="504825" y="5295900"/>
              <a:chExt cx="5939981" cy="575945"/>
            </a:xfrm>
          </p:grpSpPr>
          <p:sp>
            <p:nvSpPr>
              <p:cNvPr id="26" name="Ellipse 26"/>
              <p:cNvSpPr/>
              <p:nvPr/>
            </p:nvSpPr>
            <p:spPr>
              <a:xfrm>
                <a:off x="504825" y="5295900"/>
                <a:ext cx="438150" cy="438150"/>
              </a:xfrm>
              <a:prstGeom prst="ellipse">
                <a:avLst/>
              </a:prstGeom>
              <a:solidFill>
                <a:schemeClr val="accent2"/>
              </a:solidFill>
              <a:ln>
                <a:noFill/>
              </a:ln>
            </p:spPr>
          </p:sp>
          <p:sp>
            <p:nvSpPr>
              <p:cNvPr id="27" name="TextBox 27"/>
              <p:cNvSpPr txBox="1"/>
              <p:nvPr/>
            </p:nvSpPr>
            <p:spPr>
              <a:xfrm>
                <a:off x="666501" y="5407025"/>
                <a:ext cx="114798" cy="264033"/>
              </a:xfrm>
              <a:prstGeom prst="rect">
                <a:avLst/>
              </a:prstGeom>
              <a:noFill/>
              <a:ln>
                <a:noFill/>
              </a:ln>
            </p:spPr>
            <p:txBody>
              <a:bodyPr wrap="none" lIns="0" tIns="0" rIns="0" bIns="0" anchor="t" anchorCtr="0">
                <a:spAutoFit/>
              </a:bodyPr>
              <a:lstStyle/>
              <a:p>
                <a:pPr algn="ctr"/>
                <a:r>
                  <a:rPr lang="en-US" sz="1350" dirty="0">
                    <a:solidFill>
                      <a:srgbClr val="FFFDF7"/>
                    </a:solidFill>
                    <a:latin typeface="+mn-lt"/>
                    <a:ea typeface="+mn-ea"/>
                    <a:cs typeface="+mn-cs"/>
                  </a:rPr>
                  <a:t>5</a:t>
                </a:r>
              </a:p>
            </p:txBody>
          </p:sp>
          <p:sp>
            <p:nvSpPr>
              <p:cNvPr id="28" name="TextBox 28"/>
              <p:cNvSpPr txBox="1"/>
              <p:nvPr/>
            </p:nvSpPr>
            <p:spPr>
              <a:xfrm>
                <a:off x="1114806" y="5334000"/>
                <a:ext cx="52592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Ship</a:t>
                </a:r>
              </a:p>
            </p:txBody>
          </p:sp>
          <p:sp>
            <p:nvSpPr>
              <p:cNvPr id="29" name="TextBox 29"/>
              <p:cNvSpPr txBox="1"/>
              <p:nvPr/>
            </p:nvSpPr>
            <p:spPr>
              <a:xfrm>
                <a:off x="2373630" y="5311775"/>
                <a:ext cx="407117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Assign an owner and reviewer; maintain change</a:t>
                </a:r>
                <a:br>
                  <a:rPr lang="en-US" sz="1500" dirty="0">
                    <a:solidFill>
                      <a:schemeClr val="dk1"/>
                    </a:solidFill>
                    <a:latin typeface="+mn-lt"/>
                    <a:ea typeface="+mn-ea"/>
                    <a:cs typeface="+mn-cs"/>
                  </a:rPr>
                </a:br>
                <a:r>
                  <a:rPr lang="en-US" sz="1500" dirty="0">
                    <a:solidFill>
                      <a:schemeClr val="dk1"/>
                    </a:solidFill>
                    <a:latin typeface="+mn-lt"/>
                    <a:ea typeface="+mn-ea"/>
                    <a:cs typeface="+mn-cs"/>
                  </a:rPr>
                  <a:t>history and retest revisions.</a:t>
                </a:r>
              </a:p>
            </p:txBody>
          </p:sp>
        </p:grpSp>
      </p:grpSp>
      <p:grpSp>
        <p:nvGrpSpPr>
          <p:cNvPr id="36" name="maintained-method"/>
          <p:cNvGrpSpPr/>
          <p:nvPr/>
        </p:nvGrpSpPr>
        <p:grpSpPr>
          <a:xfrm>
            <a:off x="8591550" y="1752600"/>
            <a:ext cx="3143250" cy="4286250"/>
            <a:chOff x="8591550" y="1752600"/>
            <a:chExt cx="3143250" cy="4286250"/>
          </a:xfrm>
        </p:grpSpPr>
        <p:sp>
          <p:nvSpPr>
            <p:cNvPr id="32" name="Rectangle 32"/>
            <p:cNvSpPr/>
            <p:nvPr/>
          </p:nvSpPr>
          <p:spPr>
            <a:xfrm>
              <a:off x="8591550" y="1752600"/>
              <a:ext cx="3143250" cy="4286250"/>
            </a:xfrm>
            <a:prstGeom prst="rect">
              <a:avLst/>
            </a:prstGeom>
            <a:solidFill>
              <a:schemeClr val="accent1"/>
            </a:solidFill>
            <a:ln>
              <a:noFill/>
            </a:ln>
          </p:spPr>
        </p:sp>
        <p:sp>
          <p:nvSpPr>
            <p:cNvPr id="33" name="TextBox 33"/>
            <p:cNvSpPr txBox="1"/>
            <p:nvPr/>
          </p:nvSpPr>
          <p:spPr>
            <a:xfrm>
              <a:off x="8811006" y="1933575"/>
              <a:ext cx="252180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The skill is the method</a:t>
              </a:r>
            </a:p>
          </p:txBody>
        </p:sp>
        <p:sp>
          <p:nvSpPr>
            <p:cNvPr id="34" name="TextBox 34"/>
            <p:cNvSpPr txBox="1"/>
            <p:nvPr/>
          </p:nvSpPr>
          <p:spPr>
            <a:xfrm>
              <a:off x="8812530" y="2473325"/>
              <a:ext cx="1985162" cy="10934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Domain experts supply</a:t>
              </a:r>
              <a:br>
                <a:rPr lang="en-US" sz="1500" dirty="0">
                  <a:solidFill>
                    <a:srgbClr val="FFFDF7"/>
                  </a:solidFill>
                  <a:latin typeface="+mn-lt"/>
                  <a:ea typeface="+mn-ea"/>
                  <a:cs typeface="+mn-cs"/>
                </a:rPr>
              </a:br>
              <a:r>
                <a:rPr lang="en-US" sz="1500" dirty="0">
                  <a:solidFill>
                    <a:srgbClr val="FFFDF7"/>
                  </a:solidFill>
                  <a:latin typeface="+mn-lt"/>
                  <a:ea typeface="+mn-ea"/>
                  <a:cs typeface="+mn-cs"/>
                </a:rPr>
                <a:t>reasons, questions and</a:t>
              </a:r>
              <a:br>
                <a:rPr lang="en-US" sz="1500" dirty="0">
                  <a:solidFill>
                    <a:srgbClr val="FFFDF7"/>
                  </a:solidFill>
                  <a:latin typeface="+mn-lt"/>
                  <a:ea typeface="+mn-ea"/>
                  <a:cs typeface="+mn-cs"/>
                </a:rPr>
              </a:br>
              <a:r>
                <a:rPr lang="en-US" sz="1500" dirty="0">
                  <a:solidFill>
                    <a:srgbClr val="FFFDF7"/>
                  </a:solidFill>
                  <a:latin typeface="+mn-lt"/>
                  <a:ea typeface="+mn-ea"/>
                  <a:cs typeface="+mn-cs"/>
                </a:rPr>
                <a:t>exceptions, alongside</a:t>
              </a:r>
              <a:br>
                <a:rPr lang="en-US" sz="1500" dirty="0">
                  <a:solidFill>
                    <a:srgbClr val="FFFDF7"/>
                  </a:solidFill>
                  <a:latin typeface="+mn-lt"/>
                  <a:ea typeface="+mn-ea"/>
                  <a:cs typeface="+mn-cs"/>
                </a:rPr>
              </a:br>
              <a:r>
                <a:rPr lang="en-US" sz="1500" dirty="0">
                  <a:solidFill>
                    <a:srgbClr val="FFFDF7"/>
                  </a:solidFill>
                  <a:latin typeface="+mn-lt"/>
                  <a:ea typeface="+mn-ea"/>
                  <a:cs typeface="+mn-cs"/>
                </a:rPr>
                <a:t>the steps.</a:t>
              </a:r>
            </a:p>
          </p:txBody>
        </p:sp>
        <p:sp>
          <p:nvSpPr>
            <p:cNvPr id="35" name="TextBox 35"/>
            <p:cNvSpPr txBox="1"/>
            <p:nvPr/>
          </p:nvSpPr>
          <p:spPr>
            <a:xfrm>
              <a:off x="8812530" y="4025900"/>
              <a:ext cx="2249957" cy="10934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Range’s financial-planning</a:t>
              </a:r>
              <a:br>
                <a:rPr lang="en-US" sz="1500" dirty="0">
                  <a:solidFill>
                    <a:srgbClr val="E7F0EA"/>
                  </a:solidFill>
                  <a:latin typeface="+mn-lt"/>
                  <a:ea typeface="+mn-ea"/>
                  <a:cs typeface="+mn-cs"/>
                </a:rPr>
              </a:br>
              <a:r>
                <a:rPr lang="en-US" sz="1500" dirty="0">
                  <a:solidFill>
                    <a:srgbClr val="E7F0EA"/>
                  </a:solidFill>
                  <a:latin typeface="+mn-lt"/>
                  <a:ea typeface="+mn-ea"/>
                  <a:cs typeface="+mn-cs"/>
                </a:rPr>
                <a:t>use case provides the</a:t>
              </a:r>
              <a:br>
                <a:rPr lang="en-US" sz="1500" dirty="0">
                  <a:solidFill>
                    <a:srgbClr val="E7F0EA"/>
                  </a:solidFill>
                  <a:latin typeface="+mn-lt"/>
                  <a:ea typeface="+mn-ea"/>
                  <a:cs typeface="+mn-cs"/>
                </a:rPr>
              </a:br>
              <a:r>
                <a:rPr lang="en-US" sz="1500" dirty="0">
                  <a:solidFill>
                    <a:srgbClr val="E7F0EA"/>
                  </a:solidFill>
                  <a:latin typeface="+mn-lt"/>
                  <a:ea typeface="+mn-ea"/>
                  <a:cs typeface="+mn-cs"/>
                </a:rPr>
                <a:t>method. Sales preparation</a:t>
              </a:r>
              <a:br>
                <a:rPr lang="en-US" sz="1500" dirty="0">
                  <a:solidFill>
                    <a:srgbClr val="E7F0EA"/>
                  </a:solidFill>
                  <a:latin typeface="+mn-lt"/>
                  <a:ea typeface="+mn-ea"/>
                  <a:cs typeface="+mn-cs"/>
                </a:rPr>
              </a:br>
              <a:r>
                <a:rPr lang="en-US" sz="1500" dirty="0">
                  <a:solidFill>
                    <a:srgbClr val="E7F0EA"/>
                  </a:solidFill>
                  <a:latin typeface="+mn-lt"/>
                  <a:ea typeface="+mn-ea"/>
                  <a:cs typeface="+mn-cs"/>
                </a:rPr>
                <a:t>is our proposed transfer.</a:t>
              </a:r>
            </a:p>
          </p:txBody>
        </p:sp>
      </p:grpSp>
      <p:grpSp>
        <p:nvGrpSpPr>
          <p:cNvPr id="39" name="footer"/>
          <p:cNvGrpSpPr/>
          <p:nvPr/>
        </p:nvGrpSpPr>
        <p:grpSpPr>
          <a:xfrm>
            <a:off x="452438" y="6391275"/>
            <a:ext cx="11287124" cy="176212"/>
            <a:chOff x="452438" y="6391275"/>
            <a:chExt cx="11287124" cy="176212"/>
          </a:xfrm>
        </p:grpSpPr>
        <p:sp>
          <p:nvSpPr>
            <p:cNvPr id="37" name="TextBox 37"/>
            <p:cNvSpPr txBox="1"/>
            <p:nvPr/>
          </p:nvSpPr>
          <p:spPr>
            <a:xfrm>
              <a:off x="452438" y="6391275"/>
              <a:ext cx="5638575"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Range conference session (page 28). No net capacity gain is inferred from adopting the method.</a:t>
              </a:r>
            </a:p>
          </p:txBody>
        </p:sp>
        <p:sp>
          <p:nvSpPr>
            <p:cNvPr id="38" name="TextBox 38"/>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15 / 28</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367277" cy="1169416"/>
            <a:chOff x="443484" y="371475"/>
            <a:chExt cx="5367277" cy="1169416"/>
          </a:xfrm>
        </p:grpSpPr>
        <p:sp>
          <p:nvSpPr>
            <p:cNvPr id="2" name="TextBox 2"/>
            <p:cNvSpPr txBox="1"/>
            <p:nvPr/>
          </p:nvSpPr>
          <p:spPr>
            <a:xfrm>
              <a:off x="451104" y="371475"/>
              <a:ext cx="344544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WORKFLOW VALUE MUST BE OBSERVED</a:t>
              </a:r>
            </a:p>
          </p:txBody>
        </p:sp>
        <p:sp>
          <p:nvSpPr>
            <p:cNvPr id="3" name="TextBox 3"/>
            <p:cNvSpPr txBox="1"/>
            <p:nvPr/>
          </p:nvSpPr>
          <p:spPr>
            <a:xfrm>
              <a:off x="443484" y="603250"/>
              <a:ext cx="5367277"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Measure the complete Salesforce job</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before expanding the experience</a:t>
              </a:r>
            </a:p>
          </p:txBody>
        </p:sp>
      </p:grpSp>
      <p:grpSp>
        <p:nvGrpSpPr>
          <p:cNvPr id="9" name="rep-journey"/>
          <p:cNvGrpSpPr/>
          <p:nvPr/>
        </p:nvGrpSpPr>
        <p:grpSpPr>
          <a:xfrm>
            <a:off x="457200" y="1752600"/>
            <a:ext cx="11277600" cy="1647825"/>
            <a:chOff x="457200" y="1752600"/>
            <a:chExt cx="11277600" cy="1647825"/>
          </a:xfrm>
        </p:grpSpPr>
        <p:sp>
          <p:nvSpPr>
            <p:cNvPr id="5" name="Rectangle 5"/>
            <p:cNvSpPr/>
            <p:nvPr/>
          </p:nvSpPr>
          <p:spPr>
            <a:xfrm>
              <a:off x="457200" y="1752600"/>
              <a:ext cx="11277600" cy="1647825"/>
            </a:xfrm>
            <a:prstGeom prst="rect">
              <a:avLst/>
            </a:prstGeom>
            <a:solidFill>
              <a:schemeClr val="lt2"/>
            </a:solidFill>
            <a:ln>
              <a:noFill/>
            </a:ln>
          </p:spPr>
        </p:sp>
        <p:sp>
          <p:nvSpPr>
            <p:cNvPr id="6" name="TextBox 6"/>
            <p:cNvSpPr txBox="1"/>
            <p:nvPr/>
          </p:nvSpPr>
          <p:spPr>
            <a:xfrm>
              <a:off x="677418" y="1892300"/>
              <a:ext cx="8160759"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Observe the existing job, then put a scoped packet in the meeting record’s context.</a:t>
              </a:r>
            </a:p>
          </p:txBody>
        </p:sp>
        <p:sp>
          <p:nvSpPr>
            <p:cNvPr id="7" name="TextBox 7"/>
            <p:cNvSpPr txBox="1"/>
            <p:nvPr/>
          </p:nvSpPr>
          <p:spPr>
            <a:xfrm>
              <a:off x="678180" y="2352675"/>
              <a:ext cx="931515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Where reps start → what they copy → whom they consult → what they verify → how they follow through</a:t>
              </a:r>
            </a:p>
          </p:txBody>
        </p:sp>
        <p:sp>
          <p:nvSpPr>
            <p:cNvPr id="8" name="TextBox 8"/>
            <p:cNvSpPr txBox="1"/>
            <p:nvPr/>
          </p:nvSpPr>
          <p:spPr>
            <a:xfrm>
              <a:off x="678180" y="2857500"/>
              <a:ext cx="744107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Select one identifiable job, such as preparing for a meeting with a resolved advisor.</a:t>
              </a:r>
            </a:p>
          </p:txBody>
        </p:sp>
      </p:grpSp>
      <p:grpSp>
        <p:nvGrpSpPr>
          <p:cNvPr id="13" name="paired-pilot"/>
          <p:cNvGrpSpPr/>
          <p:nvPr/>
        </p:nvGrpSpPr>
        <p:grpSpPr>
          <a:xfrm>
            <a:off x="448056" y="3771900"/>
            <a:ext cx="4157663" cy="2090420"/>
            <a:chOff x="448056" y="3771900"/>
            <a:chExt cx="4157663" cy="2090420"/>
          </a:xfrm>
        </p:grpSpPr>
        <p:sp>
          <p:nvSpPr>
            <p:cNvPr id="10" name="TextBox 10"/>
            <p:cNvSpPr txBox="1"/>
            <p:nvPr/>
          </p:nvSpPr>
          <p:spPr>
            <a:xfrm>
              <a:off x="448056" y="3771900"/>
              <a:ext cx="319116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Compare a complete journey</a:t>
              </a:r>
            </a:p>
          </p:txBody>
        </p:sp>
        <p:sp>
          <p:nvSpPr>
            <p:cNvPr id="11" name="TextBox 11"/>
            <p:cNvSpPr txBox="1"/>
            <p:nvPr/>
          </p:nvSpPr>
          <p:spPr>
            <a:xfrm>
              <a:off x="449580" y="4235450"/>
              <a:ext cx="415613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Use similar existing and assisted cases.</a:t>
              </a:r>
              <a:br>
                <a:rPr lang="en-US" sz="1500" dirty="0">
                  <a:solidFill>
                    <a:schemeClr val="dk1"/>
                  </a:solidFill>
                  <a:latin typeface="+mn-lt"/>
                  <a:ea typeface="+mn-ea"/>
                  <a:cs typeface="+mn-cs"/>
                </a:rPr>
              </a:br>
              <a:r>
                <a:rPr lang="en-US" sz="1500" dirty="0">
                  <a:solidFill>
                    <a:schemeClr val="dk1"/>
                  </a:solidFill>
                  <a:latin typeface="+mn-lt"/>
                  <a:ea typeface="+mn-ea"/>
                  <a:cs typeface="+mn-cs"/>
                </a:rPr>
                <a:t>Counterbalance preparation order where feasible</a:t>
              </a:r>
              <a:br>
                <a:rPr lang="en-US" sz="1500" dirty="0">
                  <a:solidFill>
                    <a:schemeClr val="dk1"/>
                  </a:solidFill>
                  <a:latin typeface="+mn-lt"/>
                  <a:ea typeface="+mn-ea"/>
                  <a:cs typeface="+mn-cs"/>
                </a:rPr>
              </a:br>
              <a:r>
                <a:rPr lang="en-US" sz="1500" dirty="0">
                  <a:solidFill>
                    <a:schemeClr val="dk1"/>
                  </a:solidFill>
                  <a:latin typeface="+mn-lt"/>
                  <a:ea typeface="+mn-ea"/>
                  <a:cs typeface="+mn-cs"/>
                </a:rPr>
                <a:t>to reduce learning effects.</a:t>
              </a:r>
            </a:p>
          </p:txBody>
        </p:sp>
        <p:sp>
          <p:nvSpPr>
            <p:cNvPr id="12" name="TextBox 12"/>
            <p:cNvSpPr txBox="1"/>
            <p:nvPr/>
          </p:nvSpPr>
          <p:spPr>
            <a:xfrm>
              <a:off x="449580" y="5302250"/>
              <a:ext cx="378542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 baseline includes preparation, checking,</a:t>
              </a:r>
              <a:br>
                <a:rPr lang="en-US" sz="1500" dirty="0">
                  <a:solidFill>
                    <a:schemeClr val="dk1"/>
                  </a:solidFill>
                  <a:latin typeface="+mn-lt"/>
                  <a:ea typeface="+mn-ea"/>
                  <a:cs typeface="+mn-cs"/>
                </a:rPr>
              </a:br>
              <a:r>
                <a:rPr lang="en-US" sz="1500" dirty="0">
                  <a:solidFill>
                    <a:schemeClr val="dk1"/>
                  </a:solidFill>
                  <a:latin typeface="+mn-lt"/>
                  <a:ea typeface="+mn-ea"/>
                  <a:cs typeface="+mn-cs"/>
                </a:rPr>
                <a:t>rework and post-meeting action.</a:t>
              </a:r>
            </a:p>
          </p:txBody>
        </p:sp>
      </p:grpSp>
      <p:grpSp>
        <p:nvGrpSpPr>
          <p:cNvPr id="17" name="workflow-outcomes"/>
          <p:cNvGrpSpPr/>
          <p:nvPr/>
        </p:nvGrpSpPr>
        <p:grpSpPr>
          <a:xfrm>
            <a:off x="6086856" y="3771900"/>
            <a:ext cx="4146728" cy="2090420"/>
            <a:chOff x="6086856" y="3771900"/>
            <a:chExt cx="4146728" cy="2090420"/>
          </a:xfrm>
        </p:grpSpPr>
        <p:sp>
          <p:nvSpPr>
            <p:cNvPr id="14" name="TextBox 14"/>
            <p:cNvSpPr txBox="1"/>
            <p:nvPr/>
          </p:nvSpPr>
          <p:spPr>
            <a:xfrm>
              <a:off x="6086856" y="3771900"/>
              <a:ext cx="380248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Measure the job’s useful outcomes</a:t>
              </a:r>
            </a:p>
          </p:txBody>
        </p:sp>
        <p:sp>
          <p:nvSpPr>
            <p:cNvPr id="15" name="TextBox 15"/>
            <p:cNvSpPr txBox="1"/>
            <p:nvPr/>
          </p:nvSpPr>
          <p:spPr>
            <a:xfrm>
              <a:off x="6088380" y="4235450"/>
              <a:ext cx="414520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Time to an accepted brief; active preparation,</a:t>
              </a:r>
              <a:br>
                <a:rPr lang="en-US" sz="1500" dirty="0">
                  <a:solidFill>
                    <a:schemeClr val="dk1"/>
                  </a:solidFill>
                  <a:latin typeface="+mn-lt"/>
                  <a:ea typeface="+mn-ea"/>
                  <a:cs typeface="+mn-cs"/>
                </a:rPr>
              </a:br>
              <a:r>
                <a:rPr lang="en-US" sz="1500" dirty="0">
                  <a:solidFill>
                    <a:schemeClr val="dk1"/>
                  </a:solidFill>
                  <a:latin typeface="+mn-lt"/>
                  <a:ea typeface="+mn-ea"/>
                  <a:cs typeface="+mn-cs"/>
                </a:rPr>
                <a:t>review and rework; useful questions and relevant</a:t>
              </a:r>
              <a:br>
                <a:rPr lang="en-US" sz="1500" dirty="0">
                  <a:solidFill>
                    <a:schemeClr val="dk1"/>
                  </a:solidFill>
                  <a:latin typeface="+mn-lt"/>
                  <a:ea typeface="+mn-ea"/>
                  <a:cs typeface="+mn-cs"/>
                </a:rPr>
              </a:br>
              <a:r>
                <a:rPr lang="en-US" sz="1500" dirty="0">
                  <a:solidFill>
                    <a:schemeClr val="dk1"/>
                  </a:solidFill>
                  <a:latin typeface="+mn-lt"/>
                  <a:ea typeface="+mn-ea"/>
                  <a:cs typeface="+mn-cs"/>
                </a:rPr>
                <a:t>omissions; return use; completed follow-through.</a:t>
              </a:r>
            </a:p>
          </p:txBody>
        </p:sp>
        <p:sp>
          <p:nvSpPr>
            <p:cNvPr id="16" name="TextBox 16"/>
            <p:cNvSpPr txBox="1"/>
            <p:nvPr/>
          </p:nvSpPr>
          <p:spPr>
            <a:xfrm>
              <a:off x="6088380" y="5302250"/>
              <a:ext cx="407113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Qualified opportunities and sales effects require</a:t>
              </a:r>
              <a:br>
                <a:rPr lang="en-US" sz="1500" dirty="0">
                  <a:solidFill>
                    <a:schemeClr val="dk1"/>
                  </a:solidFill>
                  <a:latin typeface="+mn-lt"/>
                  <a:ea typeface="+mn-ea"/>
                  <a:cs typeface="+mn-cs"/>
                </a:rPr>
              </a:br>
              <a:r>
                <a:rPr lang="en-US" sz="1500" dirty="0">
                  <a:solidFill>
                    <a:schemeClr val="dk1"/>
                  </a:solidFill>
                  <a:latin typeface="+mn-lt"/>
                  <a:ea typeface="+mn-ea"/>
                  <a:cs typeface="+mn-cs"/>
                </a:rPr>
                <a:t>separate outcome measurement and attribution.</a:t>
              </a:r>
            </a:p>
          </p:txBody>
        </p:sp>
      </p:grpSp>
      <p:grpSp>
        <p:nvGrpSpPr>
          <p:cNvPr id="20" name="footer"/>
          <p:cNvGrpSpPr/>
          <p:nvPr/>
        </p:nvGrpSpPr>
        <p:grpSpPr>
          <a:xfrm>
            <a:off x="452438" y="6391275"/>
            <a:ext cx="11287124" cy="176212"/>
            <a:chOff x="452438" y="6391275"/>
            <a:chExt cx="11287124" cy="176212"/>
          </a:xfrm>
        </p:grpSpPr>
        <p:sp>
          <p:nvSpPr>
            <p:cNvPr id="18" name="TextBox 18"/>
            <p:cNvSpPr txBox="1"/>
            <p:nvPr/>
          </p:nvSpPr>
          <p:spPr>
            <a:xfrm>
              <a:off x="452438" y="6391275"/>
              <a:ext cx="560635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Salesforce integration is underway. This is a proposed workflow study, not evidence of realized sales lift.</a:t>
              </a:r>
            </a:p>
          </p:txBody>
        </p:sp>
        <p:sp>
          <p:nvSpPr>
            <p:cNvPr id="19" name="TextBox 19"/>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16 / 28</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144014" cy="1169416"/>
            <a:chOff x="443484" y="371475"/>
            <a:chExt cx="5144014" cy="1169416"/>
          </a:xfrm>
        </p:grpSpPr>
        <p:sp>
          <p:nvSpPr>
            <p:cNvPr id="2" name="TextBox 2"/>
            <p:cNvSpPr txBox="1"/>
            <p:nvPr/>
          </p:nvSpPr>
          <p:spPr>
            <a:xfrm>
              <a:off x="451104" y="371475"/>
              <a:ext cx="267751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FIDELITY / RELEASE DECISIONS</a:t>
              </a:r>
            </a:p>
          </p:txBody>
        </p:sp>
        <p:sp>
          <p:nvSpPr>
            <p:cNvPr id="3" name="TextBox 3"/>
            <p:cNvSpPr txBox="1"/>
            <p:nvPr/>
          </p:nvSpPr>
          <p:spPr>
            <a:xfrm>
              <a:off x="443484" y="603250"/>
              <a:ext cx="5144014"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Three increments keep the Fidelity</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roadmap measurable</a:t>
              </a:r>
            </a:p>
          </p:txBody>
        </p:sp>
      </p:grpSp>
      <p:graphicFrame>
        <p:nvGraphicFramePr>
          <p:cNvPr id="5" name="release-increments"/>
          <p:cNvGraphicFramePr>
            <a:graphicFrameLocks noGrp="1"/>
          </p:cNvGraphicFramePr>
          <p:nvPr/>
        </p:nvGraphicFramePr>
        <p:xfrm>
          <a:off x="457200" y="1809750"/>
          <a:ext cx="11277600" cy="3390900"/>
        </p:xfrm>
        <a:graphic>
          <a:graphicData uri="http://schemas.openxmlformats.org/drawingml/2006/table">
            <a:tbl>
              <a:tblPr firstRow="1" bandRow="0">
                <a:tableStyleId>{5C22544A-7EE6-4342-B048-85BDC9FD1C3A}</a:tableStyleId>
              </a:tblPr>
              <a:tblGrid>
                <a:gridCol w="2190750"/>
                <a:gridCol w="5238750"/>
                <a:gridCol w="3848100"/>
              </a:tblGrid>
              <a:tr h="533400">
                <a:tc>
                  <a:txBody>
                    <a:bodyPr/>
                    <a:lstStyle/>
                    <a:p>
                      <a:pPr/>
                      <a:r>
                        <a:rPr lang="en-US" sz="1350" b="1">
                          <a:solidFill>
                            <a:srgbClr val="FFFDF7"/>
                          </a:solidFill>
                          <a:latin typeface="Arial"/>
                          <a:ea typeface="Microsoft YaHei"/>
                          <a:cs typeface="Arial"/>
                        </a:rPr>
                        <a:t>Increment</a:t>
                      </a:r>
                    </a:p>
                  </a:txBody>
                  <a:tcPr anchor="ctr" marL="152400" marR="152400" marT="95250" marB="9525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Working product</a:t>
                      </a:r>
                    </a:p>
                  </a:txBody>
                  <a:tcPr anchor="ctr" marL="152400" marR="152400" marT="95250" marB="9525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Decision evidence</a:t>
                      </a:r>
                    </a:p>
                  </a:txBody>
                  <a:tcPr anchor="ctr" marL="152400" marR="152400" marT="95250" marB="95250">
                    <a:lnL>
                      <a:noFill/>
                    </a:lnL>
                    <a:lnR>
                      <a:noFill/>
                    </a:lnR>
                    <a:lnT>
                      <a:noFill/>
                    </a:lnT>
                    <a:lnB w="9525">
                      <a:solidFill>
                        <a:schemeClr val="accent6"/>
                      </a:solidFill>
                      <a:prstDash val="solid"/>
                    </a:lnB>
                    <a:solidFill>
                      <a:schemeClr val="accent1"/>
                    </a:solidFill>
                  </a:tcPr>
                </a:tc>
              </a:tr>
              <a:tr h="952500">
                <a:tc>
                  <a:txBody>
                    <a:bodyPr/>
                    <a:lstStyle/>
                    <a:p>
                      <a:pPr/>
                      <a:r>
                        <a:rPr lang="en-US" sz="1350" b="1">
                          <a:solidFill>
                            <a:schemeClr val="dk1"/>
                          </a:solidFill>
                          <a:latin typeface="Arial"/>
                          <a:ea typeface="Microsoft YaHei"/>
                          <a:cs typeface="Arial"/>
                        </a:rPr>
                        <a:t>1 / First slice</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Observe CRM tasks; strengthen result grading; choose one sales domain and definition/discovery examples.</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Trusted references, visible failure classes and a workflow baseline.</a:t>
                      </a:r>
                    </a:p>
                  </a:txBody>
                  <a:tcPr anchor="ctr" marL="152400" marR="152400" marT="95250" marB="95250">
                    <a:lnL>
                      <a:noFill/>
                    </a:lnL>
                    <a:lnR>
                      <a:noFill/>
                    </a:lnR>
                    <a:lnT>
                      <a:noFill/>
                    </a:lnT>
                    <a:lnB w="9525">
                      <a:solidFill>
                        <a:schemeClr val="accent6"/>
                      </a:solidFill>
                      <a:prstDash val="solid"/>
                    </a:lnB>
                    <a:noFill/>
                  </a:tcPr>
                </a:tc>
              </a:tr>
              <a:tr h="952500">
                <a:tc>
                  <a:txBody>
                    <a:bodyPr/>
                    <a:lstStyle/>
                    <a:p>
                      <a:pPr/>
                      <a:r>
                        <a:rPr lang="en-US" sz="1350" b="1">
                          <a:solidFill>
                            <a:schemeClr val="dk1"/>
                          </a:solidFill>
                          <a:latin typeface="Arial"/>
                          <a:ea typeface="Microsoft YaHei"/>
                          <a:cs typeface="Arial"/>
                        </a:rPr>
                        <a:t>2 / Next release</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Ship glossary/navigation and selected semantics; then explicit session state and follow-up checks. Isolate effects.</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Coverage, correct results, stage timing and correct scope carryover.</a:t>
                      </a:r>
                    </a:p>
                  </a:txBody>
                  <a:tcPr anchor="ctr" marL="152400" marR="152400" marT="95250" marB="95250">
                    <a:lnL>
                      <a:noFill/>
                    </a:lnL>
                    <a:lnR>
                      <a:noFill/>
                    </a:lnR>
                    <a:lnT>
                      <a:noFill/>
                    </a:lnT>
                    <a:lnB w="9525">
                      <a:solidFill>
                        <a:schemeClr val="accent6"/>
                      </a:solidFill>
                      <a:prstDash val="solid"/>
                    </a:lnB>
                    <a:noFill/>
                  </a:tcPr>
                </a:tc>
              </a:tr>
              <a:tr h="952500">
                <a:tc>
                  <a:txBody>
                    <a:bodyPr/>
                    <a:lstStyle/>
                    <a:p>
                      <a:pPr/>
                      <a:r>
                        <a:rPr lang="en-US" sz="1350" b="1">
                          <a:solidFill>
                            <a:schemeClr val="dk1"/>
                          </a:solidFill>
                          <a:latin typeface="Arial"/>
                          <a:ea typeface="Microsoft YaHei"/>
                          <a:cs typeface="Arial"/>
                        </a:rPr>
                        <a:t>3 / Controlled expansion</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One bounded complex-question workflow and one rep-reviewed meeting packet; pilot the complete journey.</a:t>
                      </a:r>
                    </a:p>
                  </a:txBody>
                  <a:tcPr anchor="ctr" marL="152400" marR="152400" marT="95250" marB="952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Accepted work, consequential failures and total human effort support expansion.</a:t>
                      </a:r>
                    </a:p>
                  </a:txBody>
                  <a:tcPr anchor="ctr" marL="152400" marR="152400" marT="95250" marB="95250">
                    <a:lnL>
                      <a:noFill/>
                    </a:lnL>
                    <a:lnR>
                      <a:noFill/>
                    </a:lnR>
                    <a:lnT>
                      <a:noFill/>
                    </a:lnT>
                    <a:lnB w="9525">
                      <a:solidFill>
                        <a:schemeClr val="accent6"/>
                      </a:solidFill>
                      <a:prstDash val="solid"/>
                    </a:lnB>
                    <a:noFill/>
                  </a:tcPr>
                </a:tc>
              </a:tr>
            </a:tbl>
          </a:graphicData>
        </a:graphic>
      </p:graphicFrame>
      <p:grpSp>
        <p:nvGrpSpPr>
          <p:cNvPr id="8" name="release-principle"/>
          <p:cNvGrpSpPr/>
          <p:nvPr/>
        </p:nvGrpSpPr>
        <p:grpSpPr>
          <a:xfrm>
            <a:off x="448818" y="5549900"/>
            <a:ext cx="7136414" cy="601345"/>
            <a:chOff x="448818" y="5549900"/>
            <a:chExt cx="7136414" cy="601345"/>
          </a:xfrm>
        </p:grpSpPr>
        <p:sp>
          <p:nvSpPr>
            <p:cNvPr id="6" name="TextBox 6"/>
            <p:cNvSpPr txBox="1"/>
            <p:nvPr/>
          </p:nvSpPr>
          <p:spPr>
            <a:xfrm>
              <a:off x="448818" y="5549900"/>
              <a:ext cx="713641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These are working release increments, not fixed 30/60/90-day promises.</a:t>
              </a:r>
            </a:p>
          </p:txBody>
        </p:sp>
        <p:sp>
          <p:nvSpPr>
            <p:cNvPr id="7" name="TextBox 7"/>
            <p:cNvSpPr txBox="1"/>
            <p:nvPr/>
          </p:nvSpPr>
          <p:spPr>
            <a:xfrm>
              <a:off x="449580" y="5857875"/>
              <a:ext cx="6004635"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Continue when quality, scope and total effort support the next step.</a:t>
              </a:r>
            </a:p>
          </p:txBody>
        </p:sp>
      </p:grpSp>
      <p:grpSp>
        <p:nvGrpSpPr>
          <p:cNvPr id="11" name="footer"/>
          <p:cNvGrpSpPr/>
          <p:nvPr/>
        </p:nvGrpSpPr>
        <p:grpSpPr>
          <a:xfrm>
            <a:off x="452438" y="6400800"/>
            <a:ext cx="11287124" cy="176212"/>
            <a:chOff x="452438" y="6400800"/>
            <a:chExt cx="11287124" cy="176212"/>
          </a:xfrm>
        </p:grpSpPr>
        <p:sp>
          <p:nvSpPr>
            <p:cNvPr id="9" name="TextBox 9"/>
            <p:cNvSpPr txBox="1"/>
            <p:nvPr/>
          </p:nvSpPr>
          <p:spPr>
            <a:xfrm>
              <a:off x="452438" y="6400800"/>
              <a:ext cx="554583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Owners, thresholds and timing remain to be agreed. Workflow observation begins in the first increment.</a:t>
              </a:r>
            </a:p>
          </p:txBody>
        </p:sp>
        <p:sp>
          <p:nvSpPr>
            <p:cNvPr id="10" name="TextBox 10"/>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17 / 28</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093854" cy="1169416"/>
            <a:chOff x="443484" y="371475"/>
            <a:chExt cx="5093854" cy="1169416"/>
          </a:xfrm>
        </p:grpSpPr>
        <p:sp>
          <p:nvSpPr>
            <p:cNvPr id="2" name="TextBox 2"/>
            <p:cNvSpPr txBox="1"/>
            <p:nvPr/>
          </p:nvSpPr>
          <p:spPr>
            <a:xfrm>
              <a:off x="451104" y="371475"/>
              <a:ext cx="5086234"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PERSONAL ANALYTICS AGENT / BUILD ON THE FOUNDATION</a:t>
              </a:r>
            </a:p>
          </p:txBody>
        </p:sp>
        <p:sp>
          <p:nvSpPr>
            <p:cNvPr id="3" name="TextBox 3"/>
            <p:cNvSpPr txBox="1"/>
            <p:nvPr/>
          </p:nvSpPr>
          <p:spPr>
            <a:xfrm>
              <a:off x="443484" y="603250"/>
              <a:ext cx="4585876" cy="937641"/>
            </a:xfrm>
            <a:prstGeom prst="rect">
              <a:avLst/>
            </a:prstGeom>
            <a:noFill/>
            <a:ln>
              <a:noFill/>
            </a:ln>
          </p:spPr>
          <p:txBody>
            <a:bodyPr wrap="none" lIns="0" tIns="0" rIns="0" bIns="0" anchor="t" anchorCtr="0">
              <a:spAutoFit/>
            </a:bodyPr>
            <a:lstStyle/>
            <a:p>
              <a:pPr algn="l">
                <a:lnSpc>
                  <a:spcPts val="3225"/>
                </a:lnSpc>
              </a:pPr>
              <a:r>
                <a:rPr lang="en-US" sz="2700" dirty="0">
                  <a:solidFill>
                    <a:srgbClr val="FFFDF7"/>
                  </a:solidFill>
                  <a:latin typeface="+mj-lt"/>
                  <a:ea typeface="+mj-ea"/>
                  <a:cs typeface="+mj-cs"/>
                </a:rPr>
                <a:t>The personal agent already has</a:t>
              </a:r>
              <a:br>
                <a:rPr lang="en-US" sz="2700" dirty="0">
                  <a:solidFill>
                    <a:srgbClr val="FFFDF7"/>
                  </a:solidFill>
                  <a:latin typeface="+mj-lt"/>
                  <a:ea typeface="+mj-ea"/>
                  <a:cs typeface="+mj-cs"/>
                </a:rPr>
              </a:br>
              <a:r>
                <a:rPr lang="en-US" sz="2700" dirty="0">
                  <a:solidFill>
                    <a:srgbClr val="FFFDF7"/>
                  </a:solidFill>
                  <a:latin typeface="+mj-lt"/>
                  <a:ea typeface="+mj-ea"/>
                  <a:cs typeface="+mj-cs"/>
                </a:rPr>
                <a:t>a strong operating foundation</a:t>
              </a:r>
            </a:p>
          </p:txBody>
        </p:sp>
      </p:grpSp>
      <p:grpSp>
        <p:nvGrpSpPr>
          <p:cNvPr id="20" name="implemented-system"/>
          <p:cNvGrpSpPr/>
          <p:nvPr/>
        </p:nvGrpSpPr>
        <p:grpSpPr>
          <a:xfrm>
            <a:off x="457200" y="1790700"/>
            <a:ext cx="8267700" cy="2914650"/>
            <a:chOff x="457200" y="1790700"/>
            <a:chExt cx="8267700" cy="2914650"/>
          </a:xfrm>
        </p:grpSpPr>
        <p:sp>
          <p:nvSpPr>
            <p:cNvPr id="5" name="Rectangle 5"/>
            <p:cNvSpPr/>
            <p:nvPr/>
          </p:nvSpPr>
          <p:spPr>
            <a:xfrm>
              <a:off x="457200" y="1790700"/>
              <a:ext cx="8267700" cy="2914650"/>
            </a:xfrm>
            <a:prstGeom prst="rect">
              <a:avLst/>
            </a:prstGeom>
            <a:noFill/>
            <a:ln w="9525">
              <a:solidFill>
                <a:srgbClr val="50616A"/>
              </a:solidFill>
            </a:ln>
          </p:spPr>
        </p:sp>
        <p:sp>
          <p:nvSpPr>
            <p:cNvPr id="6" name="TextBox 6"/>
            <p:cNvSpPr txBox="1"/>
            <p:nvPr/>
          </p:nvSpPr>
          <p:spPr>
            <a:xfrm>
              <a:off x="679704" y="1962150"/>
              <a:ext cx="3748996"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IMPLEMENTED / OCT 15 READ-ONLY REVIEW</a:t>
              </a:r>
            </a:p>
          </p:txBody>
        </p:sp>
        <p:sp>
          <p:nvSpPr>
            <p:cNvPr id="7" name="Rectangle 7"/>
            <p:cNvSpPr/>
            <p:nvPr/>
          </p:nvSpPr>
          <p:spPr>
            <a:xfrm>
              <a:off x="685800" y="2362200"/>
              <a:ext cx="2247900" cy="1752600"/>
            </a:xfrm>
            <a:prstGeom prst="rect">
              <a:avLst/>
            </a:prstGeom>
            <a:solidFill>
              <a:schemeClr val="accent2"/>
            </a:solidFill>
            <a:ln>
              <a:noFill/>
            </a:ln>
          </p:spPr>
        </p:sp>
        <p:sp>
          <p:nvSpPr>
            <p:cNvPr id="8" name="TextBox 8"/>
            <p:cNvSpPr txBox="1"/>
            <p:nvPr/>
          </p:nvSpPr>
          <p:spPr>
            <a:xfrm>
              <a:off x="867156" y="2457450"/>
              <a:ext cx="1375433"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Coordinator</a:t>
              </a:r>
            </a:p>
          </p:txBody>
        </p:sp>
        <p:sp>
          <p:nvSpPr>
            <p:cNvPr id="9" name="TextBox 9"/>
            <p:cNvSpPr txBox="1"/>
            <p:nvPr/>
          </p:nvSpPr>
          <p:spPr>
            <a:xfrm>
              <a:off x="869442" y="2905125"/>
              <a:ext cx="1681753" cy="75933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Semantic discovery;</a:t>
              </a:r>
              <a:br>
                <a:rPr lang="en-US" sz="1350" dirty="0">
                  <a:solidFill>
                    <a:srgbClr val="FFFDF7"/>
                  </a:solidFill>
                  <a:latin typeface="+mn-lt"/>
                  <a:ea typeface="+mn-ea"/>
                  <a:cs typeface="+mn-cs"/>
                </a:rPr>
              </a:br>
              <a:r>
                <a:rPr lang="en-US" sz="1350" dirty="0">
                  <a:solidFill>
                    <a:srgbClr val="FFFDF7"/>
                  </a:solidFill>
                  <a:latin typeface="+mn-lt"/>
                  <a:ea typeface="+mn-ea"/>
                  <a:cs typeface="+mn-cs"/>
                </a:rPr>
                <a:t>explicit specialist</a:t>
              </a:r>
              <a:br>
                <a:rPr lang="en-US" sz="1350" dirty="0">
                  <a:solidFill>
                    <a:srgbClr val="FFFDF7"/>
                  </a:solidFill>
                  <a:latin typeface="+mn-lt"/>
                  <a:ea typeface="+mn-ea"/>
                  <a:cs typeface="+mn-cs"/>
                </a:rPr>
              </a:br>
              <a:r>
                <a:rPr lang="en-US" sz="1350" dirty="0">
                  <a:solidFill>
                    <a:srgbClr val="FFFDF7"/>
                  </a:solidFill>
                  <a:latin typeface="+mn-lt"/>
                  <a:ea typeface="+mn-ea"/>
                  <a:cs typeface="+mn-cs"/>
                </a:rPr>
                <a:t>ownership and scope.</a:t>
              </a:r>
            </a:p>
          </p:txBody>
        </p:sp>
        <p:sp>
          <p:nvSpPr>
            <p:cNvPr id="10" name="Line 10"/>
            <p:cNvSpPr/>
            <p:nvPr/>
          </p:nvSpPr>
          <p:spPr>
            <a:xfrm>
              <a:off x="3000375" y="2762250"/>
              <a:ext cx="333375" cy="1"/>
            </a:xfrm>
            <a:prstGeom prst="line">
              <a:avLst/>
            </a:prstGeom>
            <a:noFill/>
            <a:ln w="19050">
              <a:solidFill>
                <a:schemeClr val="accent3"/>
              </a:solidFill>
              <a:tailEnd type="triangle" w="lg" len="lg"/>
            </a:ln>
          </p:spPr>
        </p:sp>
        <p:sp>
          <p:nvSpPr>
            <p:cNvPr id="11" name="Line 11"/>
            <p:cNvSpPr/>
            <p:nvPr/>
          </p:nvSpPr>
          <p:spPr>
            <a:xfrm>
              <a:off x="3000375" y="3762375"/>
              <a:ext cx="333375" cy="1"/>
            </a:xfrm>
            <a:prstGeom prst="line">
              <a:avLst/>
            </a:prstGeom>
            <a:noFill/>
            <a:ln w="19050">
              <a:solidFill>
                <a:schemeClr val="accent3"/>
              </a:solidFill>
              <a:tailEnd type="triangle" w="lg" len="lg"/>
            </a:ln>
          </p:spPr>
        </p:sp>
        <p:sp>
          <p:nvSpPr>
            <p:cNvPr id="12" name="Rectangle 12"/>
            <p:cNvSpPr/>
            <p:nvPr/>
          </p:nvSpPr>
          <p:spPr>
            <a:xfrm>
              <a:off x="3486150" y="2362200"/>
              <a:ext cx="2571750" cy="790575"/>
            </a:xfrm>
            <a:prstGeom prst="rect">
              <a:avLst/>
            </a:prstGeom>
            <a:solidFill>
              <a:schemeClr val="lt2"/>
            </a:solidFill>
            <a:ln>
              <a:noFill/>
            </a:ln>
          </p:spPr>
        </p:sp>
        <p:sp>
          <p:nvSpPr>
            <p:cNvPr id="13" name="TextBox 13"/>
            <p:cNvSpPr txBox="1"/>
            <p:nvPr/>
          </p:nvSpPr>
          <p:spPr>
            <a:xfrm>
              <a:off x="3669792" y="2457450"/>
              <a:ext cx="196728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SQL specialist</a:t>
              </a:r>
              <a:br>
                <a:rPr lang="en-US" sz="1350" dirty="0">
                  <a:solidFill>
                    <a:schemeClr val="dk1"/>
                  </a:solidFill>
                  <a:latin typeface="+mn-lt"/>
                  <a:ea typeface="+mn-ea"/>
                  <a:cs typeface="+mn-cs"/>
                </a:rPr>
              </a:br>
              <a:r>
                <a:rPr lang="en-US" sz="1350" dirty="0">
                  <a:solidFill>
                    <a:schemeClr val="dk1"/>
                  </a:solidFill>
                  <a:latin typeface="+mn-lt"/>
                  <a:ea typeface="+mn-ea"/>
                  <a:cs typeface="+mn-cs"/>
                </a:rPr>
                <a:t>Owns warehouse access.</a:t>
              </a:r>
            </a:p>
          </p:txBody>
        </p:sp>
        <p:sp>
          <p:nvSpPr>
            <p:cNvPr id="14" name="Rectangle 14"/>
            <p:cNvSpPr/>
            <p:nvPr/>
          </p:nvSpPr>
          <p:spPr>
            <a:xfrm>
              <a:off x="3486150" y="3324225"/>
              <a:ext cx="2571750" cy="790575"/>
            </a:xfrm>
            <a:prstGeom prst="rect">
              <a:avLst/>
            </a:prstGeom>
            <a:solidFill>
              <a:schemeClr val="lt2"/>
            </a:solidFill>
            <a:ln>
              <a:noFill/>
            </a:ln>
          </p:spPr>
        </p:sp>
        <p:sp>
          <p:nvSpPr>
            <p:cNvPr id="15" name="TextBox 15"/>
            <p:cNvSpPr txBox="1"/>
            <p:nvPr/>
          </p:nvSpPr>
          <p:spPr>
            <a:xfrm>
              <a:off x="3669792" y="3419475"/>
              <a:ext cx="191036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Python specialist</a:t>
              </a:r>
              <a:br>
                <a:rPr lang="en-US" sz="1350" dirty="0">
                  <a:solidFill>
                    <a:schemeClr val="dk1"/>
                  </a:solidFill>
                  <a:latin typeface="+mn-lt"/>
                  <a:ea typeface="+mn-ea"/>
                  <a:cs typeface="+mn-cs"/>
                </a:rPr>
              </a:br>
              <a:r>
                <a:rPr lang="en-US" sz="1350" dirty="0">
                  <a:solidFill>
                    <a:schemeClr val="dk1"/>
                  </a:solidFill>
                  <a:latin typeface="+mn-lt"/>
                  <a:ea typeface="+mn-ea"/>
                  <a:cs typeface="+mn-cs"/>
                </a:rPr>
                <a:t>Uses named saved data.</a:t>
              </a:r>
            </a:p>
          </p:txBody>
        </p:sp>
        <p:sp>
          <p:nvSpPr>
            <p:cNvPr id="16" name="Line 16"/>
            <p:cNvSpPr/>
            <p:nvPr/>
          </p:nvSpPr>
          <p:spPr>
            <a:xfrm>
              <a:off x="6124575" y="2762250"/>
              <a:ext cx="295275" cy="1"/>
            </a:xfrm>
            <a:prstGeom prst="line">
              <a:avLst/>
            </a:prstGeom>
            <a:noFill/>
            <a:ln w="19050">
              <a:solidFill>
                <a:schemeClr val="accent3"/>
              </a:solidFill>
              <a:tailEnd type="triangle" w="lg" len="lg"/>
            </a:ln>
          </p:spPr>
        </p:sp>
        <p:sp>
          <p:nvSpPr>
            <p:cNvPr id="17" name="Line 17"/>
            <p:cNvSpPr/>
            <p:nvPr/>
          </p:nvSpPr>
          <p:spPr>
            <a:xfrm>
              <a:off x="6124575" y="3762375"/>
              <a:ext cx="295275" cy="1"/>
            </a:xfrm>
            <a:prstGeom prst="line">
              <a:avLst/>
            </a:prstGeom>
            <a:noFill/>
            <a:ln w="19050">
              <a:solidFill>
                <a:schemeClr val="accent3"/>
              </a:solidFill>
              <a:tailEnd type="triangle" w="lg" len="lg"/>
            </a:ln>
          </p:spPr>
        </p:sp>
        <p:sp>
          <p:nvSpPr>
            <p:cNvPr id="18" name="TextBox 18"/>
            <p:cNvSpPr txBox="1"/>
            <p:nvPr/>
          </p:nvSpPr>
          <p:spPr>
            <a:xfrm>
              <a:off x="6584442" y="2476500"/>
              <a:ext cx="1968006" cy="125463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Typed complete data</a:t>
              </a:r>
              <a:br>
                <a:rPr lang="en-US" sz="1350" dirty="0">
                  <a:solidFill>
                    <a:srgbClr val="FFFDF7"/>
                  </a:solidFill>
                  <a:latin typeface="+mn-lt"/>
                  <a:ea typeface="+mn-ea"/>
                  <a:cs typeface="+mn-cs"/>
                </a:rPr>
              </a:br>
              <a:r>
                <a:rPr lang="en-US" sz="1350" dirty="0">
                  <a:solidFill>
                    <a:srgbClr val="FFFDF7"/>
                  </a:solidFill>
                  <a:latin typeface="+mn-lt"/>
                  <a:ea typeface="+mn-ea"/>
                  <a:cs typeface="+mn-cs"/>
                </a:rPr>
                <a:t>Lineage and saved inputs</a:t>
              </a:r>
              <a:br>
                <a:rPr lang="en-US" sz="1350" dirty="0">
                  <a:solidFill>
                    <a:srgbClr val="FFFDF7"/>
                  </a:solidFill>
                  <a:latin typeface="+mn-lt"/>
                  <a:ea typeface="+mn-ea"/>
                  <a:cs typeface="+mn-cs"/>
                </a:rPr>
              </a:br>
              <a:r>
                <a:rPr lang="en-US" sz="1350" dirty="0">
                  <a:solidFill>
                    <a:srgbClr val="FFFDF7"/>
                  </a:solidFill>
                  <a:latin typeface="+mn-lt"/>
                  <a:ea typeface="+mn-ea"/>
                  <a:cs typeface="+mn-cs"/>
                </a:rPr>
                <a:t>Immutable scope</a:t>
              </a:r>
              <a:br>
                <a:rPr lang="en-US" sz="1350" dirty="0">
                  <a:solidFill>
                    <a:srgbClr val="FFFDF7"/>
                  </a:solidFill>
                  <a:latin typeface="+mn-lt"/>
                  <a:ea typeface="+mn-ea"/>
                  <a:cs typeface="+mn-cs"/>
                </a:rPr>
              </a:br>
              <a:r>
                <a:rPr lang="en-US" sz="1350" dirty="0">
                  <a:solidFill>
                    <a:srgbClr val="FFFDF7"/>
                  </a:solidFill>
                  <a:latin typeface="+mn-lt"/>
                  <a:ea typeface="+mn-ea"/>
                  <a:cs typeface="+mn-cs"/>
                </a:rPr>
                <a:t>Report revisions</a:t>
              </a:r>
              <a:br>
                <a:rPr lang="en-US" sz="1350" dirty="0">
                  <a:solidFill>
                    <a:srgbClr val="FFFDF7"/>
                  </a:solidFill>
                  <a:latin typeface="+mn-lt"/>
                  <a:ea typeface="+mn-ea"/>
                  <a:cs typeface="+mn-cs"/>
                </a:rPr>
              </a:br>
              <a:r>
                <a:rPr lang="en-US" sz="1350" dirty="0">
                  <a:solidFill>
                    <a:srgbClr val="FFFDF7"/>
                  </a:solidFill>
                  <a:latin typeface="+mn-lt"/>
                  <a:ea typeface="+mn-ea"/>
                  <a:cs typeface="+mn-cs"/>
                </a:rPr>
                <a:t>Charts and reports</a:t>
              </a:r>
            </a:p>
          </p:txBody>
        </p:sp>
        <p:sp>
          <p:nvSpPr>
            <p:cNvPr id="19" name="TextBox 19"/>
            <p:cNvSpPr txBox="1"/>
            <p:nvPr/>
          </p:nvSpPr>
          <p:spPr>
            <a:xfrm>
              <a:off x="678942" y="4302125"/>
              <a:ext cx="6961076" cy="264033"/>
            </a:xfrm>
            <a:prstGeom prst="rect">
              <a:avLst/>
            </a:prstGeom>
            <a:noFill/>
            <a:ln>
              <a:noFill/>
            </a:ln>
          </p:spPr>
          <p:txBody>
            <a:bodyPr wrap="none" lIns="0" tIns="0" rIns="0" bIns="0" anchor="t" anchorCtr="0">
              <a:spAutoFit/>
            </a:bodyPr>
            <a:lstStyle/>
            <a:p>
              <a:pPr algn="l"/>
              <a:r>
                <a:rPr lang="en-US" sz="1350" dirty="0">
                  <a:solidFill>
                    <a:srgbClr val="E7F0EA"/>
                  </a:solidFill>
                  <a:latin typeface="+mn-lt"/>
                  <a:ea typeface="+mn-ea"/>
                  <a:cs typeface="+mn-cs"/>
                </a:rPr>
                <a:t>Deterministic comparisons • persistent artifacts • Stop/Resume • retry • portable replay</a:t>
              </a:r>
            </a:p>
          </p:txBody>
        </p:sp>
      </p:grpSp>
      <p:grpSp>
        <p:nvGrpSpPr>
          <p:cNvPr id="25" name="planned-frontier"/>
          <p:cNvGrpSpPr/>
          <p:nvPr/>
        </p:nvGrpSpPr>
        <p:grpSpPr>
          <a:xfrm>
            <a:off x="9029700" y="1790700"/>
            <a:ext cx="2705100" cy="2914650"/>
            <a:chOff x="9029700" y="1790700"/>
            <a:chExt cx="2705100" cy="2914650"/>
          </a:xfrm>
        </p:grpSpPr>
        <p:sp>
          <p:nvSpPr>
            <p:cNvPr id="21" name="Rectangle 21"/>
            <p:cNvSpPr/>
            <p:nvPr/>
          </p:nvSpPr>
          <p:spPr>
            <a:xfrm>
              <a:off x="9029700" y="1790700"/>
              <a:ext cx="2705100" cy="2914650"/>
            </a:xfrm>
            <a:prstGeom prst="rect">
              <a:avLst/>
            </a:prstGeom>
            <a:noFill/>
            <a:ln w="9525">
              <a:solidFill>
                <a:schemeClr val="accent3"/>
              </a:solidFill>
              <a:prstDash val="lgDash"/>
            </a:ln>
          </p:spPr>
        </p:sp>
        <p:sp>
          <p:nvSpPr>
            <p:cNvPr id="22" name="TextBox 22"/>
            <p:cNvSpPr txBox="1"/>
            <p:nvPr/>
          </p:nvSpPr>
          <p:spPr>
            <a:xfrm>
              <a:off x="9233154" y="1962150"/>
              <a:ext cx="1738257"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PLANNED FRONTIER</a:t>
              </a:r>
            </a:p>
          </p:txBody>
        </p:sp>
        <p:sp>
          <p:nvSpPr>
            <p:cNvPr id="23" name="TextBox 23"/>
            <p:cNvSpPr txBox="1"/>
            <p:nvPr/>
          </p:nvSpPr>
          <p:spPr>
            <a:xfrm>
              <a:off x="9230106" y="2390775"/>
              <a:ext cx="2178534"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Workspace journey</a:t>
              </a:r>
            </a:p>
          </p:txBody>
        </p:sp>
        <p:sp>
          <p:nvSpPr>
            <p:cNvPr id="24" name="TextBox 24"/>
            <p:cNvSpPr txBox="1"/>
            <p:nvPr/>
          </p:nvSpPr>
          <p:spPr>
            <a:xfrm>
              <a:off x="9232392" y="2867025"/>
              <a:ext cx="2072453" cy="1006983"/>
            </a:xfrm>
            <a:prstGeom prst="rect">
              <a:avLst/>
            </a:prstGeom>
            <a:noFill/>
            <a:ln>
              <a:noFill/>
            </a:ln>
          </p:spPr>
          <p:txBody>
            <a:bodyPr wrap="none" lIns="0" tIns="0" rIns="0" bIns="0" anchor="t" anchorCtr="0">
              <a:spAutoFit/>
            </a:bodyPr>
            <a:lstStyle/>
            <a:p>
              <a:pPr algn="l">
                <a:lnSpc>
                  <a:spcPts val="1950"/>
                </a:lnSpc>
              </a:pPr>
              <a:r>
                <a:rPr lang="en-US" sz="1350" dirty="0">
                  <a:solidFill>
                    <a:srgbClr val="E7F0EA"/>
                  </a:solidFill>
                  <a:latin typeface="+mn-lt"/>
                  <a:ea typeface="+mn-ea"/>
                  <a:cs typeface="+mn-cs"/>
                </a:rPr>
                <a:t>Read and search a project;</a:t>
              </a:r>
              <a:br>
                <a:rPr lang="en-US" sz="1350" dirty="0">
                  <a:solidFill>
                    <a:srgbClr val="E7F0EA"/>
                  </a:solidFill>
                  <a:latin typeface="+mn-lt"/>
                  <a:ea typeface="+mn-ea"/>
                  <a:cs typeface="+mn-cs"/>
                </a:rPr>
              </a:br>
              <a:r>
                <a:rPr lang="en-US" sz="1350" dirty="0">
                  <a:solidFill>
                    <a:srgbClr val="E7F0EA"/>
                  </a:solidFill>
                  <a:latin typeface="+mn-lt"/>
                  <a:ea typeface="+mn-ea"/>
                  <a:cs typeface="+mn-cs"/>
                </a:rPr>
                <a:t>then controlled authoring</a:t>
              </a:r>
              <a:br>
                <a:rPr lang="en-US" sz="1350" dirty="0">
                  <a:solidFill>
                    <a:srgbClr val="E7F0EA"/>
                  </a:solidFill>
                  <a:latin typeface="+mn-lt"/>
                  <a:ea typeface="+mn-ea"/>
                  <a:cs typeface="+mn-cs"/>
                </a:rPr>
              </a:br>
              <a:r>
                <a:rPr lang="en-US" sz="1350" dirty="0">
                  <a:solidFill>
                    <a:srgbClr val="E7F0EA"/>
                  </a:solidFill>
                  <a:latin typeface="+mn-lt"/>
                  <a:ea typeface="+mn-ea"/>
                  <a:cs typeface="+mn-cs"/>
                </a:rPr>
                <a:t>and checks, connected</a:t>
              </a:r>
              <a:br>
                <a:rPr lang="en-US" sz="1350" dirty="0">
                  <a:solidFill>
                    <a:srgbClr val="E7F0EA"/>
                  </a:solidFill>
                  <a:latin typeface="+mn-lt"/>
                  <a:ea typeface="+mn-ea"/>
                  <a:cs typeface="+mn-cs"/>
                </a:rPr>
              </a:br>
              <a:r>
                <a:rPr lang="en-US" sz="1350" dirty="0">
                  <a:solidFill>
                    <a:srgbClr val="E7F0EA"/>
                  </a:solidFill>
                  <a:latin typeface="+mn-lt"/>
                  <a:ea typeface="+mn-ea"/>
                  <a:cs typeface="+mn-cs"/>
                </a:rPr>
                <a:t>to accepted evidence.</a:t>
              </a:r>
            </a:p>
          </p:txBody>
        </p:sp>
      </p:grpSp>
      <p:grpSp>
        <p:nvGrpSpPr>
          <p:cNvPr id="28" name="retained-harness"/>
          <p:cNvGrpSpPr/>
          <p:nvPr/>
        </p:nvGrpSpPr>
        <p:grpSpPr>
          <a:xfrm>
            <a:off x="448818" y="5102225"/>
            <a:ext cx="7969148" cy="931545"/>
            <a:chOff x="448818" y="5102225"/>
            <a:chExt cx="7969148" cy="931545"/>
          </a:xfrm>
        </p:grpSpPr>
        <p:sp>
          <p:nvSpPr>
            <p:cNvPr id="26" name="TextBox 26"/>
            <p:cNvSpPr txBox="1"/>
            <p:nvPr/>
          </p:nvSpPr>
          <p:spPr>
            <a:xfrm>
              <a:off x="448818" y="5102225"/>
              <a:ext cx="465421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Extend existing ownership and evidence paths.</a:t>
              </a:r>
            </a:p>
          </p:txBody>
        </p:sp>
        <p:sp>
          <p:nvSpPr>
            <p:cNvPr id="27" name="TextBox 27"/>
            <p:cNvSpPr txBox="1"/>
            <p:nvPr/>
          </p:nvSpPr>
          <p:spPr>
            <a:xfrm>
              <a:off x="449580" y="5473700"/>
              <a:ext cx="7968386"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The paired evaluation harness already freezes receipts/fingerprints and protects boundary and</a:t>
              </a:r>
              <a:br>
                <a:rPr lang="en-US" sz="1500" dirty="0">
                  <a:solidFill>
                    <a:srgbClr val="FFFDF7"/>
                  </a:solidFill>
                  <a:latin typeface="+mn-lt"/>
                  <a:ea typeface="+mn-ea"/>
                  <a:cs typeface="+mn-cs"/>
                </a:rPr>
              </a:br>
              <a:r>
                <a:rPr lang="en-US" sz="1500" dirty="0">
                  <a:solidFill>
                    <a:srgbClr val="FFFDF7"/>
                  </a:solidFill>
                  <a:latin typeface="+mn-lt"/>
                  <a:ea typeface="+mn-ea"/>
                  <a:cs typeface="+mn-cs"/>
                </a:rPr>
                <a:t>first-attempt outcomes. A second framework would duplicate valuable operating controls.</a:t>
              </a:r>
            </a:p>
          </p:txBody>
        </p:sp>
      </p:grpSp>
      <p:grpSp>
        <p:nvGrpSpPr>
          <p:cNvPr id="31" name="footer"/>
          <p:cNvGrpSpPr/>
          <p:nvPr/>
        </p:nvGrpSpPr>
        <p:grpSpPr>
          <a:xfrm>
            <a:off x="452438" y="6381750"/>
            <a:ext cx="11287124" cy="176212"/>
            <a:chOff x="452438" y="6381750"/>
            <a:chExt cx="11287124" cy="176212"/>
          </a:xfrm>
        </p:grpSpPr>
        <p:sp>
          <p:nvSpPr>
            <p:cNvPr id="29" name="TextBox 29"/>
            <p:cNvSpPr txBox="1"/>
            <p:nvPr/>
          </p:nvSpPr>
          <p:spPr>
            <a:xfrm>
              <a:off x="452438" y="6381750"/>
              <a:ext cx="6452311"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Based on Oct 15 repository review. This deck reports neither new implementation nor a fresh model/provider evaluation.</a:t>
              </a:r>
            </a:p>
          </p:txBody>
        </p:sp>
        <p:sp>
          <p:nvSpPr>
            <p:cNvPr id="30" name="TextBox 30"/>
            <p:cNvSpPr txBox="1"/>
            <p:nvPr/>
          </p:nvSpPr>
          <p:spPr>
            <a:xfrm>
              <a:off x="11359512" y="638175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18 / 28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6148540" cy="1169416"/>
            <a:chOff x="443484" y="371475"/>
            <a:chExt cx="6148540" cy="1169416"/>
          </a:xfrm>
        </p:grpSpPr>
        <p:sp>
          <p:nvSpPr>
            <p:cNvPr id="2" name="TextBox 2"/>
            <p:cNvSpPr txBox="1"/>
            <p:nvPr/>
          </p:nvSpPr>
          <p:spPr>
            <a:xfrm>
              <a:off x="451104" y="371475"/>
              <a:ext cx="364467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SMALL CORRECTNESS BOUNDARIES FIRST</a:t>
              </a:r>
            </a:p>
          </p:txBody>
        </p:sp>
        <p:sp>
          <p:nvSpPr>
            <p:cNvPr id="3" name="TextBox 3"/>
            <p:cNvSpPr txBox="1"/>
            <p:nvPr/>
          </p:nvSpPr>
          <p:spPr>
            <a:xfrm>
              <a:off x="443484" y="603250"/>
              <a:ext cx="6148540"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Make counted populations and completed</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analyses explicit contracts</a:t>
              </a:r>
            </a:p>
          </p:txBody>
        </p:sp>
      </p:grpSp>
      <p:grpSp>
        <p:nvGrpSpPr>
          <p:cNvPr id="7" name="count-contract"/>
          <p:cNvGrpSpPr/>
          <p:nvPr/>
        </p:nvGrpSpPr>
        <p:grpSpPr>
          <a:xfrm>
            <a:off x="448056" y="1828800"/>
            <a:ext cx="8763800" cy="1242695"/>
            <a:chOff x="448056" y="1828800"/>
            <a:chExt cx="8763800" cy="1242695"/>
          </a:xfrm>
        </p:grpSpPr>
        <p:sp>
          <p:nvSpPr>
            <p:cNvPr id="5" name="TextBox 5"/>
            <p:cNvSpPr txBox="1"/>
            <p:nvPr/>
          </p:nvSpPr>
          <p:spPr>
            <a:xfrm>
              <a:off x="448056" y="1828800"/>
              <a:ext cx="5781809"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Counts require declared population and meaning</a:t>
              </a:r>
            </a:p>
          </p:txBody>
        </p:sp>
        <p:sp>
          <p:nvSpPr>
            <p:cNvPr id="6" name="TextBox 6"/>
            <p:cNvSpPr txBox="1"/>
            <p:nvPr/>
          </p:nvSpPr>
          <p:spPr>
            <a:xfrm>
              <a:off x="449580" y="2244725"/>
              <a:ext cx="8762276"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Canonical metric selection is optional; the general fanout guard iterates SUM/AVG. Require the counted</a:t>
              </a:r>
              <a:br>
                <a:rPr lang="en-US" sz="1500" dirty="0">
                  <a:solidFill>
                    <a:schemeClr val="dk1"/>
                  </a:solidFill>
                  <a:latin typeface="+mn-lt"/>
                  <a:ea typeface="+mn-ea"/>
                  <a:cs typeface="+mn-cs"/>
                </a:rPr>
              </a:br>
              <a:r>
                <a:rPr lang="en-US" sz="1500" dirty="0">
                  <a:solidFill>
                    <a:schemeClr val="dk1"/>
                  </a:solidFill>
                  <a:latin typeface="+mn-lt"/>
                  <a:ea typeface="+mn-ea"/>
                  <a:cs typeface="+mn-cs"/>
                </a:rPr>
                <a:t>population and measure meaning for KPIs. Test ordinary counts, distinct counts, denominators and</a:t>
              </a:r>
              <a:br>
                <a:rPr lang="en-US" sz="1500" dirty="0">
                  <a:solidFill>
                    <a:schemeClr val="dk1"/>
                  </a:solidFill>
                  <a:latin typeface="+mn-lt"/>
                  <a:ea typeface="+mn-ea"/>
                  <a:cs typeface="+mn-cs"/>
                </a:rPr>
              </a:br>
              <a:r>
                <a:rPr lang="en-US" sz="1500" dirty="0">
                  <a:solidFill>
                    <a:schemeClr val="dk1"/>
                  </a:solidFill>
                  <a:latin typeface="+mn-lt"/>
                  <a:ea typeface="+mn-ea"/>
                  <a:cs typeface="+mn-cs"/>
                </a:rPr>
                <a:t>many-side joins; preserve valid custom extracts.</a:t>
              </a:r>
            </a:p>
          </p:txBody>
        </p:sp>
      </p:grpSp>
      <p:grpSp>
        <p:nvGrpSpPr>
          <p:cNvPr id="11" name="forecast-contract"/>
          <p:cNvGrpSpPr/>
          <p:nvPr/>
        </p:nvGrpSpPr>
        <p:grpSpPr>
          <a:xfrm>
            <a:off x="448056" y="3248025"/>
            <a:ext cx="11286744" cy="1337945"/>
            <a:chOff x="448056" y="3248025"/>
            <a:chExt cx="11286744" cy="1337945"/>
          </a:xfrm>
        </p:grpSpPr>
        <p:sp>
          <p:nvSpPr>
            <p:cNvPr id="8" name="Line 8"/>
            <p:cNvSpPr/>
            <p:nvPr/>
          </p:nvSpPr>
          <p:spPr>
            <a:xfrm>
              <a:off x="457200" y="324802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9" name="TextBox 9"/>
            <p:cNvSpPr txBox="1"/>
            <p:nvPr/>
          </p:nvSpPr>
          <p:spPr>
            <a:xfrm>
              <a:off x="448056" y="3343275"/>
              <a:ext cx="643974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Forecast completion requires the appropriate evidence</a:t>
              </a:r>
            </a:p>
          </p:txBody>
        </p:sp>
        <p:sp>
          <p:nvSpPr>
            <p:cNvPr id="10" name="TextBox 10"/>
            <p:cNvSpPr txBox="1"/>
            <p:nvPr/>
          </p:nvSpPr>
          <p:spPr>
            <a:xfrm>
              <a:off x="449580" y="3759200"/>
              <a:ext cx="825356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Completion requires successful execution, while the forecast descriptor is optional. Require saved</a:t>
              </a:r>
              <a:br>
                <a:rPr lang="en-US" sz="1500" dirty="0">
                  <a:solidFill>
                    <a:schemeClr val="dk1"/>
                  </a:solidFill>
                  <a:latin typeface="+mn-lt"/>
                  <a:ea typeface="+mn-ea"/>
                  <a:cs typeface="+mn-cs"/>
                </a:rPr>
              </a:br>
              <a:r>
                <a:rPr lang="en-US" sz="1500" dirty="0">
                  <a:solidFill>
                    <a:schemeClr val="dk1"/>
                  </a:solidFill>
                  <a:latin typeface="+mn-lt"/>
                  <a:ea typeface="+mn-ea"/>
                  <a:cs typeface="+mn-cs"/>
                </a:rPr>
                <a:t>predictions and the existing forecast-evaluation contract, or return a supported partial outcome.</a:t>
              </a:r>
              <a:br>
                <a:rPr lang="en-US" sz="1500" dirty="0">
                  <a:solidFill>
                    <a:schemeClr val="dk1"/>
                  </a:solidFill>
                  <a:latin typeface="+mn-lt"/>
                  <a:ea typeface="+mn-ea"/>
                  <a:cs typeface="+mn-cs"/>
                </a:rPr>
              </a:br>
              <a:r>
                <a:rPr lang="en-US" sz="1500" dirty="0">
                  <a:solidFill>
                    <a:schemeClr val="dk1"/>
                  </a:solidFill>
                  <a:latin typeface="+mn-lt"/>
                  <a:ea typeface="+mn-ea"/>
                  <a:cs typeface="+mn-cs"/>
                </a:rPr>
                <a:t>A successful script alone does not establish an evaluated forecast.</a:t>
              </a:r>
            </a:p>
          </p:txBody>
        </p:sp>
      </p:grpSp>
      <p:grpSp>
        <p:nvGrpSpPr>
          <p:cNvPr id="15" name="empty-type-contract"/>
          <p:cNvGrpSpPr/>
          <p:nvPr/>
        </p:nvGrpSpPr>
        <p:grpSpPr>
          <a:xfrm>
            <a:off x="448056" y="4733925"/>
            <a:ext cx="11286744" cy="1337945"/>
            <a:chOff x="448056" y="4733925"/>
            <a:chExt cx="11286744" cy="1337945"/>
          </a:xfrm>
        </p:grpSpPr>
        <p:sp>
          <p:nvSpPr>
            <p:cNvPr id="12" name="Line 12"/>
            <p:cNvSpPr/>
            <p:nvPr/>
          </p:nvSpPr>
          <p:spPr>
            <a:xfrm>
              <a:off x="457200" y="473392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3" name="TextBox 13"/>
            <p:cNvSpPr txBox="1"/>
            <p:nvPr/>
          </p:nvSpPr>
          <p:spPr>
            <a:xfrm>
              <a:off x="448056" y="4829175"/>
              <a:ext cx="464302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Empty results still have declared types</a:t>
              </a:r>
            </a:p>
          </p:txBody>
        </p:sp>
        <p:sp>
          <p:nvSpPr>
            <p:cNvPr id="14" name="TextBox 14"/>
            <p:cNvSpPr txBox="1"/>
            <p:nvPr/>
          </p:nvSpPr>
          <p:spPr>
            <a:xfrm>
              <a:off x="449580" y="5245100"/>
              <a:ext cx="8592693"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For empty or all-null Snowflake results, preserve declared types rather than inferring only from values.</a:t>
              </a:r>
              <a:br>
                <a:rPr lang="en-US" sz="1500" dirty="0">
                  <a:solidFill>
                    <a:schemeClr val="dk1"/>
                  </a:solidFill>
                  <a:latin typeface="+mn-lt"/>
                  <a:ea typeface="+mn-ea"/>
                  <a:cs typeface="+mn-cs"/>
                </a:rPr>
              </a:br>
              <a:r>
                <a:rPr lang="en-US" sz="1500" dirty="0">
                  <a:solidFill>
                    <a:schemeClr val="dk1"/>
                  </a:solidFill>
                  <a:latin typeface="+mn-lt"/>
                  <a:ea typeface="+mn-ea"/>
                  <a:cs typeface="+mn-cs"/>
                </a:rPr>
                <a:t>Demonstrate the behavior with targeted fixtures. These are code-review opportunities, not reproduced</a:t>
              </a:r>
              <a:br>
                <a:rPr lang="en-US" sz="1500" dirty="0">
                  <a:solidFill>
                    <a:schemeClr val="dk1"/>
                  </a:solidFill>
                  <a:latin typeface="+mn-lt"/>
                  <a:ea typeface="+mn-ea"/>
                  <a:cs typeface="+mn-cs"/>
                </a:rPr>
              </a:br>
              <a:r>
                <a:rPr lang="en-US" sz="1500" dirty="0">
                  <a:solidFill>
                    <a:schemeClr val="dk1"/>
                  </a:solidFill>
                  <a:latin typeface="+mn-lt"/>
                  <a:ea typeface="+mn-ea"/>
                  <a:cs typeface="+mn-cs"/>
                </a:rPr>
                <a:t>production incidents.</a:t>
              </a:r>
            </a:p>
          </p:txBody>
        </p:sp>
      </p:grpSp>
      <p:grpSp>
        <p:nvGrpSpPr>
          <p:cNvPr id="18" name="footer"/>
          <p:cNvGrpSpPr/>
          <p:nvPr/>
        </p:nvGrpSpPr>
        <p:grpSpPr>
          <a:xfrm>
            <a:off x="452438" y="6391275"/>
            <a:ext cx="11287124" cy="176212"/>
            <a:chOff x="452438" y="6391275"/>
            <a:chExt cx="11287124" cy="176212"/>
          </a:xfrm>
        </p:grpSpPr>
        <p:sp>
          <p:nvSpPr>
            <p:cNvPr id="16" name="TextBox 16"/>
            <p:cNvSpPr txBox="1"/>
            <p:nvPr/>
          </p:nvSpPr>
          <p:spPr>
            <a:xfrm>
              <a:off x="452438" y="6391275"/>
              <a:ext cx="7311052"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Oct 15 read-only review. Implementation anchors: semantic_sql.py; text_to_sql/tools.py; data_analysis/tools.py; backends/snowflake.py.</a:t>
              </a:r>
            </a:p>
          </p:txBody>
        </p:sp>
        <p:sp>
          <p:nvSpPr>
            <p:cNvPr id="17" name="TextBox 17"/>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19 / 28</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772413" cy="1169416"/>
            <a:chOff x="443484" y="371475"/>
            <a:chExt cx="5772413" cy="1169416"/>
          </a:xfrm>
        </p:grpSpPr>
        <p:sp>
          <p:nvSpPr>
            <p:cNvPr id="2" name="TextBox 2"/>
            <p:cNvSpPr txBox="1"/>
            <p:nvPr/>
          </p:nvSpPr>
          <p:spPr>
            <a:xfrm>
              <a:off x="451104" y="371475"/>
              <a:ext cx="399567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REPORT INTEGRITY / SYNTHETIC A17 EXAMPLE</a:t>
              </a:r>
            </a:p>
          </p:txBody>
        </p:sp>
        <p:sp>
          <p:nvSpPr>
            <p:cNvPr id="3" name="TextBox 3"/>
            <p:cNvSpPr txBox="1"/>
            <p:nvPr/>
          </p:nvSpPr>
          <p:spPr>
            <a:xfrm>
              <a:off x="443484" y="603250"/>
              <a:ext cx="5772413"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Bind quantitative narrative to the same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saved facts as metric cards</a:t>
              </a:r>
            </a:p>
          </p:txBody>
        </p:sp>
      </p:grpSp>
      <p:grpSp>
        <p:nvGrpSpPr>
          <p:cNvPr id="22" name="bound-fact-and-appearances"/>
          <p:cNvGrpSpPr/>
          <p:nvPr/>
        </p:nvGrpSpPr>
        <p:grpSpPr>
          <a:xfrm>
            <a:off x="457200" y="1752600"/>
            <a:ext cx="10503689" cy="3714750"/>
            <a:chOff x="457200" y="1752600"/>
            <a:chExt cx="10503689" cy="3714750"/>
          </a:xfrm>
        </p:grpSpPr>
        <p:sp>
          <p:nvSpPr>
            <p:cNvPr id="5" name="Rectangle 5"/>
            <p:cNvSpPr/>
            <p:nvPr/>
          </p:nvSpPr>
          <p:spPr>
            <a:xfrm>
              <a:off x="457200" y="1752600"/>
              <a:ext cx="3733800" cy="3714750"/>
            </a:xfrm>
            <a:prstGeom prst="rect">
              <a:avLst/>
            </a:prstGeom>
            <a:solidFill>
              <a:schemeClr val="accent1"/>
            </a:solidFill>
            <a:ln>
              <a:noFill/>
            </a:ln>
          </p:spPr>
        </p:sp>
        <p:sp>
          <p:nvSpPr>
            <p:cNvPr id="6" name="TextBox 6"/>
            <p:cNvSpPr txBox="1"/>
            <p:nvPr/>
          </p:nvSpPr>
          <p:spPr>
            <a:xfrm>
              <a:off x="679704" y="1962150"/>
              <a:ext cx="2117697"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ONE TYPED SAVED FACT</a:t>
              </a:r>
            </a:p>
          </p:txBody>
        </p:sp>
        <p:sp>
          <p:nvSpPr>
            <p:cNvPr id="7" name="TextBox 7"/>
            <p:cNvSpPr txBox="1"/>
            <p:nvPr/>
          </p:nvSpPr>
          <p:spPr>
            <a:xfrm>
              <a:off x="676656" y="2428875"/>
              <a:ext cx="2803615"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Advisor net flow: −$0.2m</a:t>
              </a:r>
            </a:p>
          </p:txBody>
        </p:sp>
        <p:sp>
          <p:nvSpPr>
            <p:cNvPr id="8" name="TextBox 8"/>
            <p:cNvSpPr txBox="1"/>
            <p:nvPr/>
          </p:nvSpPr>
          <p:spPr>
            <a:xfrm>
              <a:off x="678942" y="2943225"/>
              <a:ext cx="2499312" cy="759333"/>
            </a:xfrm>
            <a:prstGeom prst="rect">
              <a:avLst/>
            </a:prstGeom>
            <a:noFill/>
            <a:ln>
              <a:noFill/>
            </a:ln>
          </p:spPr>
          <p:txBody>
            <a:bodyPr wrap="none" lIns="0" tIns="0" rIns="0" bIns="0" anchor="t" anchorCtr="0">
              <a:spAutoFit/>
            </a:bodyPr>
            <a:lstStyle/>
            <a:p>
              <a:pPr algn="l">
                <a:lnSpc>
                  <a:spcPts val="1950"/>
                </a:lnSpc>
              </a:pPr>
              <a:r>
                <a:rPr lang="en-US" sz="1350" dirty="0">
                  <a:solidFill>
                    <a:srgbClr val="E7F0EA"/>
                  </a:solidFill>
                  <a:latin typeface="+mn-lt"/>
                  <a:ea typeface="+mn-ea"/>
                  <a:cs typeface="+mn-cs"/>
                </a:rPr>
                <a:t>A17 • P-A • declared period</a:t>
              </a:r>
              <a:br>
                <a:rPr lang="en-US" sz="1350" dirty="0">
                  <a:solidFill>
                    <a:srgbClr val="E7F0EA"/>
                  </a:solidFill>
                  <a:latin typeface="+mn-lt"/>
                  <a:ea typeface="+mn-ea"/>
                  <a:cs typeface="+mn-cs"/>
                </a:rPr>
              </a:br>
              <a:r>
                <a:rPr lang="en-US" sz="1350" dirty="0">
                  <a:solidFill>
                    <a:srgbClr val="E7F0EA"/>
                  </a:solidFill>
                  <a:latin typeface="+mn-lt"/>
                  <a:ea typeface="+mn-ea"/>
                  <a:cs typeface="+mn-cs"/>
                </a:rPr>
                <a:t>currency + unit • saved snapshot</a:t>
              </a:r>
              <a:br>
                <a:rPr lang="en-US" sz="1350" dirty="0">
                  <a:solidFill>
                    <a:srgbClr val="E7F0EA"/>
                  </a:solidFill>
                  <a:latin typeface="+mn-lt"/>
                  <a:ea typeface="+mn-ea"/>
                  <a:cs typeface="+mn-cs"/>
                </a:rPr>
              </a:br>
              <a:r>
                <a:rPr lang="en-US" sz="1350" dirty="0">
                  <a:solidFill>
                    <a:srgbClr val="E7F0EA"/>
                  </a:solidFill>
                  <a:latin typeface="+mn-lt"/>
                  <a:ea typeface="+mn-ea"/>
                  <a:cs typeface="+mn-cs"/>
                </a:rPr>
                <a:t>calculation + entity scope</a:t>
              </a:r>
            </a:p>
          </p:txBody>
        </p:sp>
        <p:sp>
          <p:nvSpPr>
            <p:cNvPr id="9" name="TextBox 9"/>
            <p:cNvSpPr txBox="1"/>
            <p:nvPr/>
          </p:nvSpPr>
          <p:spPr>
            <a:xfrm>
              <a:off x="678942" y="4362450"/>
              <a:ext cx="2710590"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3"/>
                  </a:solidFill>
                  <a:latin typeface="+mn-lt"/>
                  <a:ea typeface="+mn-ea"/>
                  <a:cs typeface="+mn-cs"/>
                </a:rPr>
                <a:t>The separate firm value is +$5.0m.</a:t>
              </a:r>
              <a:br>
                <a:rPr lang="en-US" sz="1350" dirty="0">
                  <a:solidFill>
                    <a:schemeClr val="accent3"/>
                  </a:solidFill>
                  <a:latin typeface="+mn-lt"/>
                  <a:ea typeface="+mn-ea"/>
                  <a:cs typeface="+mn-cs"/>
                </a:rPr>
              </a:br>
              <a:r>
                <a:rPr lang="en-US" sz="1350" dirty="0">
                  <a:solidFill>
                    <a:schemeClr val="accent3"/>
                  </a:solidFill>
                  <a:latin typeface="+mn-lt"/>
                  <a:ea typeface="+mn-ea"/>
                  <a:cs typeface="+mn-cs"/>
                </a:rPr>
                <a:t>It must not bind to an advisor claim.</a:t>
              </a:r>
            </a:p>
          </p:txBody>
        </p:sp>
        <p:sp>
          <p:nvSpPr>
            <p:cNvPr id="10" name="Freeform 10"/>
            <p:cNvSpPr/>
            <p:nvPr/>
          </p:nvSpPr>
          <p:spPr>
            <a:xfrm>
              <a:off x="4476750" y="2476500"/>
              <a:ext cx="619125" cy="209550"/>
            </a:xfrm>
            <a:prstGeom prst="rightArrow">
              <a:avLst/>
            </a:prstGeom>
            <a:solidFill>
              <a:schemeClr val="accent2"/>
            </a:solidFill>
            <a:ln>
              <a:noFill/>
            </a:ln>
          </p:spPr>
        </p:sp>
        <p:sp>
          <p:nvSpPr>
            <p:cNvPr id="11" name="Freeform 11"/>
            <p:cNvSpPr/>
            <p:nvPr/>
          </p:nvSpPr>
          <p:spPr>
            <a:xfrm>
              <a:off x="4476750" y="3724275"/>
              <a:ext cx="619125" cy="209550"/>
            </a:xfrm>
            <a:prstGeom prst="rightArrow">
              <a:avLst/>
            </a:prstGeom>
            <a:solidFill>
              <a:schemeClr val="accent2"/>
            </a:solidFill>
            <a:ln>
              <a:noFill/>
            </a:ln>
          </p:spPr>
        </p:sp>
        <p:sp>
          <p:nvSpPr>
            <p:cNvPr id="12" name="Freeform 12"/>
            <p:cNvSpPr/>
            <p:nvPr/>
          </p:nvSpPr>
          <p:spPr>
            <a:xfrm>
              <a:off x="4476750" y="4972050"/>
              <a:ext cx="619125" cy="209550"/>
            </a:xfrm>
            <a:prstGeom prst="rightArrow">
              <a:avLst/>
            </a:prstGeom>
            <a:solidFill>
              <a:schemeClr val="accent2"/>
            </a:solidFill>
            <a:ln>
              <a:noFill/>
            </a:ln>
          </p:spPr>
        </p:sp>
        <p:sp>
          <p:nvSpPr>
            <p:cNvPr id="13" name="TextBox 13"/>
            <p:cNvSpPr txBox="1"/>
            <p:nvPr/>
          </p:nvSpPr>
          <p:spPr>
            <a:xfrm>
              <a:off x="5384292" y="1939925"/>
              <a:ext cx="95248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CURRENT</a:t>
              </a:r>
            </a:p>
          </p:txBody>
        </p:sp>
        <p:sp>
          <p:nvSpPr>
            <p:cNvPr id="14" name="TextBox 14"/>
            <p:cNvSpPr txBox="1"/>
            <p:nvPr/>
          </p:nvSpPr>
          <p:spPr>
            <a:xfrm>
              <a:off x="5382006" y="2247900"/>
              <a:ext cx="557888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Metric card values already resolve stored evidence</a:t>
              </a:r>
            </a:p>
          </p:txBody>
        </p:sp>
        <p:sp>
          <p:nvSpPr>
            <p:cNvPr id="15" name="TextBox 15"/>
            <p:cNvSpPr txBox="1"/>
            <p:nvPr/>
          </p:nvSpPr>
          <p:spPr>
            <a:xfrm>
              <a:off x="5383530" y="2667000"/>
              <a:ext cx="399478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Reuse saved-cell and comparison resolvers.</a:t>
              </a:r>
            </a:p>
          </p:txBody>
        </p:sp>
        <p:sp>
          <p:nvSpPr>
            <p:cNvPr id="16" name="TextBox 16"/>
            <p:cNvSpPr txBox="1"/>
            <p:nvPr/>
          </p:nvSpPr>
          <p:spPr>
            <a:xfrm>
              <a:off x="5384292" y="3178175"/>
              <a:ext cx="79260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EXTEND</a:t>
              </a:r>
            </a:p>
          </p:txBody>
        </p:sp>
        <p:sp>
          <p:nvSpPr>
            <p:cNvPr id="17" name="TextBox 17"/>
            <p:cNvSpPr txBox="1"/>
            <p:nvPr/>
          </p:nvSpPr>
          <p:spPr>
            <a:xfrm>
              <a:off x="5382006" y="3486150"/>
              <a:ext cx="534939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Quantitative sentence: “A17 net flow is −$0.2m.”</a:t>
              </a:r>
            </a:p>
          </p:txBody>
        </p:sp>
        <p:sp>
          <p:nvSpPr>
            <p:cNvPr id="18" name="TextBox 18"/>
            <p:cNvSpPr txBox="1"/>
            <p:nvPr/>
          </p:nvSpPr>
          <p:spPr>
            <a:xfrm>
              <a:off x="5383530" y="3905250"/>
              <a:ext cx="479167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Replace free-text numbers with typed numeric spans.</a:t>
              </a:r>
            </a:p>
          </p:txBody>
        </p:sp>
        <p:sp>
          <p:nvSpPr>
            <p:cNvPr id="19" name="TextBox 19"/>
            <p:cNvSpPr txBox="1"/>
            <p:nvPr/>
          </p:nvSpPr>
          <p:spPr>
            <a:xfrm>
              <a:off x="5384292" y="4416425"/>
              <a:ext cx="79260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EXTEND</a:t>
              </a:r>
            </a:p>
          </p:txBody>
        </p:sp>
        <p:sp>
          <p:nvSpPr>
            <p:cNvPr id="20" name="TextBox 20"/>
            <p:cNvSpPr txBox="1"/>
            <p:nvPr/>
          </p:nvSpPr>
          <p:spPr>
            <a:xfrm>
              <a:off x="5382006" y="4724400"/>
              <a:ext cx="517735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Callouts and infographics use the same binding</a:t>
              </a:r>
            </a:p>
          </p:txBody>
        </p:sp>
        <p:sp>
          <p:nvSpPr>
            <p:cNvPr id="21" name="TextBox 21"/>
            <p:cNvSpPr txBox="1"/>
            <p:nvPr/>
          </p:nvSpPr>
          <p:spPr>
            <a:xfrm>
              <a:off x="5383530" y="5143500"/>
              <a:ext cx="469069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Declare units; reject unsupported currency/% labels.</a:t>
              </a:r>
            </a:p>
          </p:txBody>
        </p:sp>
      </p:grpSp>
      <p:grpSp>
        <p:nvGrpSpPr>
          <p:cNvPr id="24" name="binding-acceptance"/>
          <p:cNvGrpSpPr/>
          <p:nvPr/>
        </p:nvGrpSpPr>
        <p:grpSpPr>
          <a:xfrm>
            <a:off x="450342" y="5648325"/>
            <a:ext cx="8762124" cy="511683"/>
            <a:chOff x="450342" y="5648325"/>
            <a:chExt cx="8762124" cy="511683"/>
          </a:xfrm>
        </p:grpSpPr>
        <p:sp>
          <p:nvSpPr>
            <p:cNvPr id="23" name="TextBox 23"/>
            <p:cNvSpPr txBox="1"/>
            <p:nvPr/>
          </p:nvSpPr>
          <p:spPr>
            <a:xfrm>
              <a:off x="450342" y="5648325"/>
              <a:ext cx="876212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Today narrative/callout bodies and infographic values are strings; ordinary cards accept free-form prefix/suffix units.</a:t>
              </a:r>
              <a:br>
                <a:rPr lang="en-US" sz="1350" dirty="0">
                  <a:solidFill>
                    <a:schemeClr val="dk1"/>
                  </a:solidFill>
                  <a:latin typeface="+mn-lt"/>
                  <a:ea typeface="+mn-ea"/>
                  <a:cs typeface="+mn-cs"/>
                </a:rPr>
              </a:br>
              <a:r>
                <a:rPr lang="en-US" sz="1350" dirty="0">
                  <a:solidFill>
                    <a:schemeClr val="dk1"/>
                  </a:solidFill>
                  <a:latin typeface="+mn-lt"/>
                  <a:ea typeface="+mn-ea"/>
                  <a:cs typeface="+mn-cs"/>
                </a:rPr>
                <a:t>Acceptance: evidence changes update bound appearances; wrong or out-of-scope bindings fail before saving.</a:t>
              </a:r>
            </a:p>
          </p:txBody>
        </p:sp>
      </p:grpSp>
      <p:grpSp>
        <p:nvGrpSpPr>
          <p:cNvPr id="27" name="footer"/>
          <p:cNvGrpSpPr/>
          <p:nvPr/>
        </p:nvGrpSpPr>
        <p:grpSpPr>
          <a:xfrm>
            <a:off x="452438" y="6410325"/>
            <a:ext cx="11287124" cy="176212"/>
            <a:chOff x="452438" y="6410325"/>
            <a:chExt cx="11287124" cy="176212"/>
          </a:xfrm>
        </p:grpSpPr>
        <p:sp>
          <p:nvSpPr>
            <p:cNvPr id="25" name="TextBox 25"/>
            <p:cNvSpPr txBox="1"/>
            <p:nvPr/>
          </p:nvSpPr>
          <p:spPr>
            <a:xfrm>
              <a:off x="452438" y="6410325"/>
              <a:ext cx="659263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All A17 / P-A values are invented scenario data. Existing behavior from Oct 15 review; typed narrative binding is proposed.</a:t>
              </a:r>
            </a:p>
          </p:txBody>
        </p:sp>
        <p:sp>
          <p:nvSpPr>
            <p:cNvPr id="26" name="TextBox 26"/>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20 / 28</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940400" cy="1169416"/>
            <a:chOff x="443484" y="371475"/>
            <a:chExt cx="4940400" cy="1169416"/>
          </a:xfrm>
        </p:grpSpPr>
        <p:sp>
          <p:nvSpPr>
            <p:cNvPr id="2" name="TextBox 2"/>
            <p:cNvSpPr txBox="1"/>
            <p:nvPr/>
          </p:nvSpPr>
          <p:spPr>
            <a:xfrm>
              <a:off x="451104" y="371475"/>
              <a:ext cx="363497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MEANING ACROSS ARTIFACT BOUNDARIES</a:t>
              </a:r>
            </a:p>
          </p:txBody>
        </p:sp>
        <p:sp>
          <p:nvSpPr>
            <p:cNvPr id="3" name="TextBox 3"/>
            <p:cNvSpPr txBox="1"/>
            <p:nvPr/>
          </p:nvSpPr>
          <p:spPr>
            <a:xfrm>
              <a:off x="443484" y="603250"/>
              <a:ext cx="4940400"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Meaning must survive saved-data</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transformations and refresh</a:t>
              </a:r>
            </a:p>
          </p:txBody>
        </p:sp>
      </p:grpSp>
      <p:grpSp>
        <p:nvGrpSpPr>
          <p:cNvPr id="16" name="meaning-path"/>
          <p:cNvGrpSpPr/>
          <p:nvPr/>
        </p:nvGrpSpPr>
        <p:grpSpPr>
          <a:xfrm>
            <a:off x="457200" y="1752600"/>
            <a:ext cx="11277600" cy="2714625"/>
            <a:chOff x="457200" y="1752600"/>
            <a:chExt cx="11277600" cy="2714625"/>
          </a:xfrm>
        </p:grpSpPr>
        <p:sp>
          <p:nvSpPr>
            <p:cNvPr id="5" name="Rectangle 5"/>
            <p:cNvSpPr/>
            <p:nvPr/>
          </p:nvSpPr>
          <p:spPr>
            <a:xfrm>
              <a:off x="457200" y="1752600"/>
              <a:ext cx="2762250" cy="2714625"/>
            </a:xfrm>
            <a:prstGeom prst="rect">
              <a:avLst/>
            </a:prstGeom>
            <a:solidFill>
              <a:schemeClr val="lt2"/>
            </a:solidFill>
            <a:ln>
              <a:noFill/>
            </a:ln>
          </p:spPr>
        </p:sp>
        <p:sp>
          <p:nvSpPr>
            <p:cNvPr id="6" name="TextBox 6"/>
            <p:cNvSpPr txBox="1"/>
            <p:nvPr/>
          </p:nvSpPr>
          <p:spPr>
            <a:xfrm>
              <a:off x="638556" y="1905000"/>
              <a:ext cx="179786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Source meaning</a:t>
              </a:r>
            </a:p>
          </p:txBody>
        </p:sp>
        <p:sp>
          <p:nvSpPr>
            <p:cNvPr id="7" name="TextBox 7"/>
            <p:cNvSpPr txBox="1"/>
            <p:nvPr/>
          </p:nvSpPr>
          <p:spPr>
            <a:xfrm>
              <a:off x="640842" y="2438400"/>
              <a:ext cx="2358089"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Current source SQL retains</a:t>
              </a:r>
              <a:br>
                <a:rPr lang="en-US" sz="1350" dirty="0">
                  <a:solidFill>
                    <a:schemeClr val="dk1"/>
                  </a:solidFill>
                  <a:latin typeface="+mn-lt"/>
                  <a:ea typeface="+mn-ea"/>
                  <a:cs typeface="+mn-cs"/>
                </a:rPr>
              </a:br>
              <a:r>
                <a:rPr lang="en-US" sz="1350" dirty="0">
                  <a:solidFill>
                    <a:schemeClr val="dk1"/>
                  </a:solidFill>
                  <a:latin typeface="+mn-lt"/>
                  <a:ea typeface="+mn-ea"/>
                  <a:cs typeface="+mn-cs"/>
                </a:rPr>
                <a:t>canonical metric bindings.</a:t>
              </a:r>
              <a:br>
                <a:rPr lang="en-US" sz="1350" dirty="0">
                  <a:solidFill>
                    <a:schemeClr val="dk1"/>
                  </a:solidFill>
                  <a:latin typeface="+mn-lt"/>
                  <a:ea typeface="+mn-ea"/>
                  <a:cs typeface="+mn-cs"/>
                </a:rPr>
              </a:br>
              <a:r>
                <a:rPr lang="en-US" sz="1350" dirty="0">
                  <a:solidFill>
                    <a:schemeClr val="dk1"/>
                  </a:solidFill>
                  <a:latin typeface="+mn-lt"/>
                  <a:ea typeface="+mn-ea"/>
                  <a:cs typeface="+mn-cs"/>
                </a:rPr>
                <a:t>Saved-SQL reshapes currently</a:t>
              </a:r>
              <a:br>
                <a:rPr lang="en-US" sz="1350" dirty="0">
                  <a:solidFill>
                    <a:schemeClr val="dk1"/>
                  </a:solidFill>
                  <a:latin typeface="+mn-lt"/>
                  <a:ea typeface="+mn-ea"/>
                  <a:cs typeface="+mn-cs"/>
                </a:rPr>
              </a:br>
              <a:r>
                <a:rPr lang="en-US" sz="1350" dirty="0">
                  <a:solidFill>
                    <a:schemeClr val="dk1"/>
                  </a:solidFill>
                  <a:latin typeface="+mn-lt"/>
                  <a:ea typeface="+mn-ea"/>
                  <a:cs typeface="+mn-cs"/>
                </a:rPr>
                <a:t>omit that binding.</a:t>
              </a:r>
            </a:p>
          </p:txBody>
        </p:sp>
        <p:sp>
          <p:nvSpPr>
            <p:cNvPr id="8" name="Freeform 8"/>
            <p:cNvSpPr/>
            <p:nvPr/>
          </p:nvSpPr>
          <p:spPr>
            <a:xfrm>
              <a:off x="3524250" y="2762250"/>
              <a:ext cx="571500" cy="247650"/>
            </a:xfrm>
            <a:prstGeom prst="rightArrow">
              <a:avLst/>
            </a:prstGeom>
            <a:solidFill>
              <a:schemeClr val="accent2"/>
            </a:solidFill>
            <a:ln>
              <a:noFill/>
            </a:ln>
          </p:spPr>
        </p:sp>
        <p:sp>
          <p:nvSpPr>
            <p:cNvPr id="9" name="Rectangle 9"/>
            <p:cNvSpPr/>
            <p:nvPr/>
          </p:nvSpPr>
          <p:spPr>
            <a:xfrm>
              <a:off x="4305300" y="1752600"/>
              <a:ext cx="2971800" cy="2714625"/>
            </a:xfrm>
            <a:prstGeom prst="rect">
              <a:avLst/>
            </a:prstGeom>
            <a:noFill/>
            <a:ln w="9525">
              <a:solidFill>
                <a:schemeClr val="accent2"/>
              </a:solidFill>
            </a:ln>
          </p:spPr>
        </p:sp>
        <p:sp>
          <p:nvSpPr>
            <p:cNvPr id="10" name="TextBox 10"/>
            <p:cNvSpPr txBox="1"/>
            <p:nvPr/>
          </p:nvSpPr>
          <p:spPr>
            <a:xfrm>
              <a:off x="4486656" y="1905000"/>
              <a:ext cx="229399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Transformation gate</a:t>
              </a:r>
            </a:p>
          </p:txBody>
        </p:sp>
        <p:sp>
          <p:nvSpPr>
            <p:cNvPr id="11" name="TextBox 11"/>
            <p:cNvSpPr txBox="1"/>
            <p:nvPr/>
          </p:nvSpPr>
          <p:spPr>
            <a:xfrm>
              <a:off x="4488942" y="2438400"/>
              <a:ext cx="2072110"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Carry identity through clear</a:t>
              </a:r>
              <a:br>
                <a:rPr lang="en-US" sz="1350" dirty="0">
                  <a:solidFill>
                    <a:schemeClr val="dk1"/>
                  </a:solidFill>
                  <a:latin typeface="+mn-lt"/>
                  <a:ea typeface="+mn-ea"/>
                  <a:cs typeface="+mn-cs"/>
                </a:rPr>
              </a:br>
              <a:r>
                <a:rPr lang="en-US" sz="1350" dirty="0">
                  <a:solidFill>
                    <a:schemeClr val="dk1"/>
                  </a:solidFill>
                  <a:latin typeface="+mn-lt"/>
                  <a:ea typeface="+mn-ea"/>
                  <a:cs typeface="+mn-cs"/>
                </a:rPr>
                <a:t>projections and renames.</a:t>
              </a:r>
              <a:br>
                <a:rPr lang="en-US" sz="1350" dirty="0">
                  <a:solidFill>
                    <a:schemeClr val="dk1"/>
                  </a:solidFill>
                  <a:latin typeface="+mn-lt"/>
                  <a:ea typeface="+mn-ea"/>
                  <a:cs typeface="+mn-cs"/>
                </a:rPr>
              </a:br>
              <a:r>
                <a:rPr lang="en-US" sz="1350" dirty="0">
                  <a:solidFill>
                    <a:schemeClr val="dk1"/>
                  </a:solidFill>
                  <a:latin typeface="+mn-lt"/>
                  <a:ea typeface="+mn-ea"/>
                  <a:cs typeface="+mn-cs"/>
                </a:rPr>
                <a:t>Scaled values or changed</a:t>
              </a:r>
              <a:br>
                <a:rPr lang="en-US" sz="1350" dirty="0">
                  <a:solidFill>
                    <a:schemeClr val="dk1"/>
                  </a:solidFill>
                  <a:latin typeface="+mn-lt"/>
                  <a:ea typeface="+mn-ea"/>
                  <a:cs typeface="+mn-cs"/>
                </a:rPr>
              </a:br>
              <a:r>
                <a:rPr lang="en-US" sz="1350" dirty="0">
                  <a:solidFill>
                    <a:schemeClr val="dk1"/>
                  </a:solidFill>
                  <a:latin typeface="+mn-lt"/>
                  <a:ea typeface="+mn-ea"/>
                  <a:cs typeface="+mn-cs"/>
                </a:rPr>
                <a:t>aggregates need a new,</a:t>
              </a:r>
              <a:br>
                <a:rPr lang="en-US" sz="1350" dirty="0">
                  <a:solidFill>
                    <a:schemeClr val="dk1"/>
                  </a:solidFill>
                  <a:latin typeface="+mn-lt"/>
                  <a:ea typeface="+mn-ea"/>
                  <a:cs typeface="+mn-cs"/>
                </a:rPr>
              </a:br>
              <a:r>
                <a:rPr lang="en-US" sz="1350" dirty="0">
                  <a:solidFill>
                    <a:schemeClr val="dk1"/>
                  </a:solidFill>
                  <a:latin typeface="+mn-lt"/>
                  <a:ea typeface="+mn-ea"/>
                  <a:cs typeface="+mn-cs"/>
                </a:rPr>
                <a:t>justified meaning.</a:t>
              </a:r>
            </a:p>
          </p:txBody>
        </p:sp>
        <p:sp>
          <p:nvSpPr>
            <p:cNvPr id="12" name="Freeform 12"/>
            <p:cNvSpPr/>
            <p:nvPr/>
          </p:nvSpPr>
          <p:spPr>
            <a:xfrm>
              <a:off x="7600950" y="2762250"/>
              <a:ext cx="571500" cy="247650"/>
            </a:xfrm>
            <a:prstGeom prst="rightArrow">
              <a:avLst/>
            </a:prstGeom>
            <a:solidFill>
              <a:schemeClr val="accent2"/>
            </a:solidFill>
            <a:ln>
              <a:noFill/>
            </a:ln>
          </p:spPr>
        </p:sp>
        <p:sp>
          <p:nvSpPr>
            <p:cNvPr id="13" name="Rectangle 13"/>
            <p:cNvSpPr/>
            <p:nvPr/>
          </p:nvSpPr>
          <p:spPr>
            <a:xfrm>
              <a:off x="8382000" y="1752600"/>
              <a:ext cx="3352800" cy="2714625"/>
            </a:xfrm>
            <a:prstGeom prst="rect">
              <a:avLst/>
            </a:prstGeom>
            <a:solidFill>
              <a:schemeClr val="accent1"/>
            </a:solidFill>
            <a:ln>
              <a:noFill/>
            </a:ln>
          </p:spPr>
        </p:sp>
        <p:sp>
          <p:nvSpPr>
            <p:cNvPr id="14" name="TextBox 14"/>
            <p:cNvSpPr txBox="1"/>
            <p:nvPr/>
          </p:nvSpPr>
          <p:spPr>
            <a:xfrm>
              <a:off x="8563356" y="1905000"/>
              <a:ext cx="1407774"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Refresh gate</a:t>
              </a:r>
            </a:p>
          </p:txBody>
        </p:sp>
        <p:sp>
          <p:nvSpPr>
            <p:cNvPr id="15" name="TextBox 15"/>
            <p:cNvSpPr txBox="1"/>
            <p:nvPr/>
          </p:nvSpPr>
          <p:spPr>
            <a:xfrm>
              <a:off x="8565642" y="2438400"/>
              <a:ext cx="2567464" cy="125463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Current checks compare columns</a:t>
              </a:r>
              <a:br>
                <a:rPr lang="en-US" sz="1350" dirty="0">
                  <a:solidFill>
                    <a:srgbClr val="FFFDF7"/>
                  </a:solidFill>
                  <a:latin typeface="+mn-lt"/>
                  <a:ea typeface="+mn-ea"/>
                  <a:cs typeface="+mn-cs"/>
                </a:rPr>
              </a:br>
              <a:r>
                <a:rPr lang="en-US" sz="1350" dirty="0">
                  <a:solidFill>
                    <a:srgbClr val="FFFDF7"/>
                  </a:solidFill>
                  <a:latin typeface="+mn-lt"/>
                  <a:ea typeface="+mn-ea"/>
                  <a:cs typeface="+mn-cs"/>
                </a:rPr>
                <a:t>and types, then copy old grain.</a:t>
              </a:r>
              <a:br>
                <a:rPr lang="en-US" sz="1350" dirty="0">
                  <a:solidFill>
                    <a:srgbClr val="FFFDF7"/>
                  </a:solidFill>
                  <a:latin typeface="+mn-lt"/>
                  <a:ea typeface="+mn-ea"/>
                  <a:cs typeface="+mn-cs"/>
                </a:rPr>
              </a:br>
              <a:r>
                <a:rPr lang="en-US" sz="1350" dirty="0">
                  <a:solidFill>
                    <a:srgbClr val="FFFDF7"/>
                  </a:solidFill>
                  <a:latin typeface="+mn-lt"/>
                  <a:ea typeface="+mn-ea"/>
                  <a:cs typeface="+mn-cs"/>
                </a:rPr>
                <a:t>Also validate keys, time bucket,</a:t>
              </a:r>
              <a:br>
                <a:rPr lang="en-US" sz="1350" dirty="0">
                  <a:solidFill>
                    <a:srgbClr val="FFFDF7"/>
                  </a:solidFill>
                  <a:latin typeface="+mn-lt"/>
                  <a:ea typeface="+mn-ea"/>
                  <a:cs typeface="+mn-cs"/>
                </a:rPr>
              </a:br>
              <a:r>
                <a:rPr lang="en-US" sz="1350" dirty="0">
                  <a:solidFill>
                    <a:srgbClr val="FFFDF7"/>
                  </a:solidFill>
                  <a:latin typeface="+mn-lt"/>
                  <a:ea typeface="+mn-ea"/>
                  <a:cs typeface="+mn-cs"/>
                </a:rPr>
                <a:t>aggregation/measure and scope;</a:t>
              </a:r>
              <a:br>
                <a:rPr lang="en-US" sz="1350" dirty="0">
                  <a:solidFill>
                    <a:srgbClr val="FFFDF7"/>
                  </a:solidFill>
                  <a:latin typeface="+mn-lt"/>
                  <a:ea typeface="+mn-ea"/>
                  <a:cs typeface="+mn-cs"/>
                </a:rPr>
              </a:br>
              <a:r>
                <a:rPr lang="en-US" sz="1350" dirty="0">
                  <a:solidFill>
                    <a:srgbClr val="FFFDF7"/>
                  </a:solidFill>
                  <a:latin typeface="+mn-lt"/>
                  <a:ea typeface="+mn-ea"/>
                  <a:cs typeface="+mn-cs"/>
                </a:rPr>
                <a:t>check full-result key uniqueness.</a:t>
              </a:r>
            </a:p>
          </p:txBody>
        </p:sp>
      </p:grpSp>
      <p:grpSp>
        <p:nvGrpSpPr>
          <p:cNvPr id="18" name="refresh-acceptance"/>
          <p:cNvGrpSpPr/>
          <p:nvPr/>
        </p:nvGrpSpPr>
        <p:grpSpPr>
          <a:xfrm>
            <a:off x="449580" y="4787900"/>
            <a:ext cx="7913903" cy="560070"/>
            <a:chOff x="449580" y="4787900"/>
            <a:chExt cx="7913903" cy="560070"/>
          </a:xfrm>
        </p:grpSpPr>
        <p:sp>
          <p:nvSpPr>
            <p:cNvPr id="17" name="TextBox 17"/>
            <p:cNvSpPr txBox="1"/>
            <p:nvPr/>
          </p:nvSpPr>
          <p:spPr>
            <a:xfrm>
              <a:off x="449580" y="4787900"/>
              <a:ext cx="791390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Reject or clarify same-schema daily-to-monthly, duplicate-key or changed-measure refreshes.</a:t>
              </a:r>
              <a:br>
                <a:rPr lang="en-US" sz="1500" dirty="0">
                  <a:solidFill>
                    <a:schemeClr val="dk1"/>
                  </a:solidFill>
                  <a:latin typeface="+mn-lt"/>
                  <a:ea typeface="+mn-ea"/>
                  <a:cs typeface="+mn-cs"/>
                </a:rPr>
              </a:br>
              <a:r>
                <a:rPr lang="en-US" sz="1500" dirty="0">
                  <a:solidFill>
                    <a:schemeClr val="dk1"/>
                  </a:solidFill>
                  <a:latin typeface="+mn-lt"/>
                  <a:ea typeface="+mn-ea"/>
                  <a:cs typeface="+mn-cs"/>
                </a:rPr>
                <a:t>Permit legitimate new values and typed empty results.</a:t>
              </a:r>
            </a:p>
          </p:txBody>
        </p:sp>
      </p:grpSp>
      <p:grpSp>
        <p:nvGrpSpPr>
          <p:cNvPr id="20" name="completeness"/>
          <p:cNvGrpSpPr/>
          <p:nvPr/>
        </p:nvGrpSpPr>
        <p:grpSpPr>
          <a:xfrm>
            <a:off x="450342" y="5648325"/>
            <a:ext cx="8239167" cy="511683"/>
            <a:chOff x="450342" y="5648325"/>
            <a:chExt cx="8239167" cy="511683"/>
          </a:xfrm>
        </p:grpSpPr>
        <p:sp>
          <p:nvSpPr>
            <p:cNvPr id="19" name="TextBox 19"/>
            <p:cNvSpPr txBox="1"/>
            <p:nvPr/>
          </p:nvSpPr>
          <p:spPr>
            <a:xfrm>
              <a:off x="450342" y="5648325"/>
              <a:ext cx="8239167"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8B411C"/>
                  </a:solidFill>
                  <a:latin typeface="+mn-lt"/>
                  <a:ea typeface="+mn-ea"/>
                  <a:cs typeface="+mn-cs"/>
                </a:rPr>
                <a:t>Keep source completeness unknown when undeclared. Snapshot save time and the last transaction do not</a:t>
              </a:r>
              <a:br>
                <a:rPr lang="en-US" sz="1350" dirty="0">
                  <a:solidFill>
                    <a:srgbClr val="8B411C"/>
                  </a:solidFill>
                  <a:latin typeface="+mn-lt"/>
                  <a:ea typeface="+mn-ea"/>
                  <a:cs typeface="+mn-cs"/>
                </a:rPr>
              </a:br>
              <a:r>
                <a:rPr lang="en-US" sz="1350" dirty="0">
                  <a:solidFill>
                    <a:srgbClr val="8B411C"/>
                  </a:solidFill>
                  <a:latin typeface="+mn-lt"/>
                  <a:ea typeface="+mn-ea"/>
                  <a:cs typeface="+mn-cs"/>
                </a:rPr>
                <a:t>establish completeness; preserved lineage and matching columns do not establish unchanged row meaning.</a:t>
              </a:r>
            </a:p>
          </p:txBody>
        </p:sp>
      </p:grpSp>
      <p:grpSp>
        <p:nvGrpSpPr>
          <p:cNvPr id="23" name="footer"/>
          <p:cNvGrpSpPr/>
          <p:nvPr/>
        </p:nvGrpSpPr>
        <p:grpSpPr>
          <a:xfrm>
            <a:off x="452438" y="6400800"/>
            <a:ext cx="11287124" cy="176212"/>
            <a:chOff x="452438" y="6400800"/>
            <a:chExt cx="11287124" cy="176212"/>
          </a:xfrm>
        </p:grpSpPr>
        <p:sp>
          <p:nvSpPr>
            <p:cNvPr id="21" name="TextBox 21"/>
            <p:cNvSpPr txBox="1"/>
            <p:nvPr/>
          </p:nvSpPr>
          <p:spPr>
            <a:xfrm>
              <a:off x="452438" y="6400800"/>
              <a:ext cx="5984515"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Oct 15 read-only review; proposed identity and grain checks. Anchors: text_to_sql/tools.py and presentation.py.</a:t>
              </a:r>
            </a:p>
          </p:txBody>
        </p:sp>
        <p:sp>
          <p:nvSpPr>
            <p:cNvPr id="22" name="TextBox 22"/>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21 / 28</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596299" cy="1169416"/>
            <a:chOff x="443484" y="371475"/>
            <a:chExt cx="5596299" cy="1169416"/>
          </a:xfrm>
        </p:grpSpPr>
        <p:sp>
          <p:nvSpPr>
            <p:cNvPr id="2" name="TextBox 2"/>
            <p:cNvSpPr txBox="1"/>
            <p:nvPr/>
          </p:nvSpPr>
          <p:spPr>
            <a:xfrm>
              <a:off x="451104" y="371475"/>
              <a:ext cx="269619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EVALUATE STORED OUTCOMES</a:t>
              </a:r>
            </a:p>
          </p:txBody>
        </p:sp>
        <p:sp>
          <p:nvSpPr>
            <p:cNvPr id="3" name="TextBox 3"/>
            <p:cNvSpPr txBox="1"/>
            <p:nvPr/>
          </p:nvSpPr>
          <p:spPr>
            <a:xfrm>
              <a:off x="443484" y="603250"/>
              <a:ext cx="5596299"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Outcome oracles should strengthen</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 existing paired evaluation harness</a:t>
              </a:r>
            </a:p>
          </p:txBody>
        </p:sp>
      </p:grpSp>
      <p:graphicFrame>
        <p:nvGraphicFramePr>
          <p:cNvPr id="5" name="outcome-oracles"/>
          <p:cNvGraphicFramePr>
            <a:graphicFrameLocks noGrp="1"/>
          </p:cNvGraphicFramePr>
          <p:nvPr/>
        </p:nvGraphicFramePr>
        <p:xfrm>
          <a:off x="457200" y="1752600"/>
          <a:ext cx="11277600" cy="2781300"/>
        </p:xfrm>
        <a:graphic>
          <a:graphicData uri="http://schemas.openxmlformats.org/drawingml/2006/table">
            <a:tbl>
              <a:tblPr firstRow="1" bandRow="0">
                <a:tableStyleId>{5C22544A-7EE6-4342-B048-85BDC9FD1C3A}</a:tableStyleId>
              </a:tblPr>
              <a:tblGrid>
                <a:gridCol w="2057400"/>
                <a:gridCol w="3886200"/>
                <a:gridCol w="5334000"/>
              </a:tblGrid>
              <a:tr h="495300">
                <a:tc>
                  <a:txBody>
                    <a:bodyPr/>
                    <a:lstStyle/>
                    <a:p>
                      <a:pPr/>
                      <a:r>
                        <a:rPr lang="en-US" sz="1350" b="1">
                          <a:solidFill>
                            <a:srgbClr val="FFFDF7"/>
                          </a:solidFill>
                          <a:latin typeface="Arial"/>
                          <a:ea typeface="Microsoft YaHei"/>
                          <a:cs typeface="Arial"/>
                        </a:rPr>
                        <a:t>Task</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Weak proxy</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Outcome oracle to reuse or add</a:t>
                      </a:r>
                    </a:p>
                  </a:txBody>
                  <a:tcPr anchor="ctr" marL="152400" marR="152400" marT="76200" marB="76200">
                    <a:lnL>
                      <a:noFill/>
                    </a:lnL>
                    <a:lnR>
                      <a:noFill/>
                    </a:lnR>
                    <a:lnT>
                      <a:noFill/>
                    </a:lnT>
                    <a:lnB w="9525">
                      <a:solidFill>
                        <a:schemeClr val="accent6"/>
                      </a:solidFill>
                      <a:prstDash val="solid"/>
                    </a:lnB>
                    <a:solidFill>
                      <a:schemeClr val="accent1"/>
                    </a:solidFill>
                  </a:tcPr>
                </a:tc>
              </a:tr>
              <a:tr h="762000">
                <a:tc>
                  <a:txBody>
                    <a:bodyPr/>
                    <a:lstStyle/>
                    <a:p>
                      <a:pPr/>
                      <a:r>
                        <a:rPr lang="en-US" sz="1350" b="1">
                          <a:solidFill>
                            <a:schemeClr val="dk1"/>
                          </a:solidFill>
                          <a:latin typeface="Arial"/>
                          <a:ea typeface="Microsoft YaHei"/>
                          <a:cs typeface="Arial"/>
                        </a:rPr>
                        <a:t>Count / totals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 plausible explanation or a successful script.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Recompute saved totals, counts and denominators from named Parquet bindings.</a:t>
                      </a:r>
                    </a:p>
                  </a:txBody>
                  <a:tcPr anchor="ctr" marL="152400" marR="152400" marT="76200" marB="76200">
                    <a:lnL>
                      <a:noFill/>
                    </a:lnL>
                    <a:lnR>
                      <a:noFill/>
                    </a:lnR>
                    <a:lnT>
                      <a:noFill/>
                    </a:lnT>
                    <a:lnB w="9525">
                      <a:solidFill>
                        <a:schemeClr val="accent6"/>
                      </a:solidFill>
                      <a:prstDash val="solid"/>
                    </a:lnB>
                    <a:noFill/>
                  </a:tcPr>
                </a:tc>
              </a:tr>
              <a:tr h="762000">
                <a:tc>
                  <a:txBody>
                    <a:bodyPr/>
                    <a:lstStyle/>
                    <a:p>
                      <a:pPr/>
                      <a:r>
                        <a:rPr lang="en-US" sz="1350" b="1">
                          <a:solidFill>
                            <a:schemeClr val="dk1"/>
                          </a:solidFill>
                          <a:latin typeface="Arial"/>
                          <a:ea typeface="Microsoft YaHei"/>
                          <a:cs typeface="Arial"/>
                        </a:rPr>
                        <a:t>Forecast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Method words such as “holdout” or “MAE”.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Inspect saved predictions and windows; recompute error using the existing forecast contract.</a:t>
                      </a:r>
                    </a:p>
                  </a:txBody>
                  <a:tcPr anchor="ctr" marL="152400" marR="152400" marT="76200" marB="76200">
                    <a:lnL>
                      <a:noFill/>
                    </a:lnL>
                    <a:lnR>
                      <a:noFill/>
                    </a:lnR>
                    <a:lnT>
                      <a:noFill/>
                    </a:lnT>
                    <a:lnB w="9525">
                      <a:solidFill>
                        <a:schemeClr val="accent6"/>
                      </a:solidFill>
                      <a:prstDash val="solid"/>
                    </a:lnB>
                    <a:noFill/>
                  </a:tcPr>
                </a:tc>
              </a:tr>
              <a:tr h="762000">
                <a:tc>
                  <a:txBody>
                    <a:bodyPr/>
                    <a:lstStyle/>
                    <a:p>
                      <a:pPr/>
                      <a:r>
                        <a:rPr lang="en-US" sz="1350" b="1">
                          <a:solidFill>
                            <a:schemeClr val="dk1"/>
                          </a:solidFill>
                          <a:latin typeface="Arial"/>
                          <a:ea typeface="Microsoft YaHei"/>
                          <a:cs typeface="Arial"/>
                        </a:rPr>
                        <a:t>Final report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Correct-sounding prose beside a correct table.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Check report values, scope and units against the accepted saved evidence.</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7" name="retain-controls"/>
          <p:cNvGrpSpPr/>
          <p:nvPr/>
        </p:nvGrpSpPr>
        <p:grpSpPr>
          <a:xfrm>
            <a:off x="450342" y="4743450"/>
            <a:ext cx="8628941" cy="759333"/>
            <a:chOff x="450342" y="4743450"/>
            <a:chExt cx="8628941" cy="759333"/>
          </a:xfrm>
        </p:grpSpPr>
        <p:sp>
          <p:nvSpPr>
            <p:cNvPr id="6" name="TextBox 6"/>
            <p:cNvSpPr txBox="1"/>
            <p:nvPr/>
          </p:nvSpPr>
          <p:spPr>
            <a:xfrm>
              <a:off x="450342" y="4743450"/>
              <a:ext cx="8628941"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The paired harness already freezes receipts, fingerprints and human review. Add reviewer/rubric identity and an</a:t>
              </a:r>
              <a:br>
                <a:rPr lang="en-US" sz="1350" dirty="0">
                  <a:solidFill>
                    <a:schemeClr val="dk1"/>
                  </a:solidFill>
                  <a:latin typeface="+mn-lt"/>
                  <a:ea typeface="+mn-ea"/>
                  <a:cs typeface="+mn-cs"/>
                </a:rPr>
              </a:br>
              <a:r>
                <a:rPr lang="en-US" sz="1350" dirty="0">
                  <a:solidFill>
                    <a:schemeClr val="dk1"/>
                  </a:solidFill>
                  <a:latin typeface="+mn-lt"/>
                  <a:ea typeface="+mn-ea"/>
                  <a:cs typeface="+mn-cs"/>
                </a:rPr>
                <a:t>adjudicated defect pack; separate development/regression from final assessment by family and exposure record.</a:t>
              </a:r>
              <a:br>
                <a:rPr lang="en-US" sz="1350" dirty="0">
                  <a:solidFill>
                    <a:schemeClr val="dk1"/>
                  </a:solidFill>
                  <a:latin typeface="+mn-lt"/>
                  <a:ea typeface="+mn-ea"/>
                  <a:cs typeface="+mn-cs"/>
                </a:rPr>
              </a:br>
              <a:r>
                <a:rPr lang="en-US" sz="1350" dirty="0">
                  <a:solidFill>
                    <a:schemeClr val="dk1"/>
                  </a:solidFill>
                  <a:latin typeface="+mn-lt"/>
                  <a:ea typeface="+mn-ea"/>
                  <a:cs typeface="+mn-cs"/>
                </a:rPr>
                <a:t>Turn failures into regression cases, then reviewed skill/definition updates; never auto-promote corrections to truth.</a:t>
              </a:r>
            </a:p>
          </p:txBody>
        </p:sp>
      </p:grpSp>
      <p:grpSp>
        <p:nvGrpSpPr>
          <p:cNvPr id="9" name="assessment-and-cost"/>
          <p:cNvGrpSpPr/>
          <p:nvPr/>
        </p:nvGrpSpPr>
        <p:grpSpPr>
          <a:xfrm>
            <a:off x="450342" y="5737225"/>
            <a:ext cx="9238515" cy="492633"/>
            <a:chOff x="450342" y="5737225"/>
            <a:chExt cx="9238515" cy="492633"/>
          </a:xfrm>
        </p:grpSpPr>
        <p:sp>
          <p:nvSpPr>
            <p:cNvPr id="8" name="TextBox 8"/>
            <p:cNvSpPr txBox="1"/>
            <p:nvPr/>
          </p:nvSpPr>
          <p:spPr>
            <a:xfrm>
              <a:off x="450342" y="5737225"/>
              <a:ext cx="923851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2"/>
                  </a:solidFill>
                  <a:latin typeface="+mn-lt"/>
                  <a:ea typeface="+mn-ea"/>
                  <a:cs typeface="+mn-cs"/>
                </a:rPr>
                <a:t>Extend token/active-time diagnostics with reviewer effort and known/estimated cost across all attempts per accepted task.</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Unknown cost stays unknown. Broad live checks use method words as proxies; inspect actual saved outcomes.</a:t>
              </a:r>
            </a:p>
          </p:txBody>
        </p:sp>
      </p:grpSp>
      <p:grpSp>
        <p:nvGrpSpPr>
          <p:cNvPr id="12" name="footer"/>
          <p:cNvGrpSpPr/>
          <p:nvPr/>
        </p:nvGrpSpPr>
        <p:grpSpPr>
          <a:xfrm>
            <a:off x="452438" y="6410325"/>
            <a:ext cx="11287124" cy="176212"/>
            <a:chOff x="452438" y="6410325"/>
            <a:chExt cx="11287124" cy="176212"/>
          </a:xfrm>
        </p:grpSpPr>
        <p:sp>
          <p:nvSpPr>
            <p:cNvPr id="10" name="TextBox 10"/>
            <p:cNvSpPr txBox="1"/>
            <p:nvPr/>
          </p:nvSpPr>
          <p:spPr>
            <a:xfrm>
              <a:off x="452438" y="6410325"/>
              <a:ext cx="511145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Oct 15 code review; build on existing numerical/forecast checks and paired-evaluation controls.</a:t>
              </a:r>
            </a:p>
          </p:txBody>
        </p:sp>
        <p:sp>
          <p:nvSpPr>
            <p:cNvPr id="11" name="TextBox 11"/>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22 / 28</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826831" cy="1169416"/>
            <a:chOff x="443484" y="371475"/>
            <a:chExt cx="5826831" cy="1169416"/>
          </a:xfrm>
        </p:grpSpPr>
        <p:sp>
          <p:nvSpPr>
            <p:cNvPr id="2" name="TextBox 2"/>
            <p:cNvSpPr txBox="1"/>
            <p:nvPr/>
          </p:nvSpPr>
          <p:spPr>
            <a:xfrm>
              <a:off x="451104" y="371475"/>
              <a:ext cx="327468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THE NEXT COMPLETE PRODUCT SLICE</a:t>
              </a:r>
            </a:p>
          </p:txBody>
        </p:sp>
        <p:sp>
          <p:nvSpPr>
            <p:cNvPr id="3" name="TextBox 3"/>
            <p:cNvSpPr txBox="1"/>
            <p:nvPr/>
          </p:nvSpPr>
          <p:spPr>
            <a:xfrm>
              <a:off x="443484" y="603250"/>
              <a:ext cx="582683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One workspace journey can join project</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understanding to checked analysis</a:t>
              </a:r>
            </a:p>
          </p:txBody>
        </p:sp>
      </p:grpSp>
      <p:grpSp>
        <p:nvGrpSpPr>
          <p:cNvPr id="9" name="workspace-task"/>
          <p:cNvGrpSpPr/>
          <p:nvPr/>
        </p:nvGrpSpPr>
        <p:grpSpPr>
          <a:xfrm>
            <a:off x="457200" y="1752600"/>
            <a:ext cx="3390900" cy="3162300"/>
            <a:chOff x="457200" y="1752600"/>
            <a:chExt cx="3390900" cy="3162300"/>
          </a:xfrm>
        </p:grpSpPr>
        <p:sp>
          <p:nvSpPr>
            <p:cNvPr id="5" name="Rectangle 5"/>
            <p:cNvSpPr/>
            <p:nvPr/>
          </p:nvSpPr>
          <p:spPr>
            <a:xfrm>
              <a:off x="457200" y="1752600"/>
              <a:ext cx="3390900" cy="3162300"/>
            </a:xfrm>
            <a:prstGeom prst="rect">
              <a:avLst/>
            </a:prstGeom>
            <a:solidFill>
              <a:schemeClr val="accent1"/>
            </a:solidFill>
            <a:ln>
              <a:noFill/>
            </a:ln>
          </p:spPr>
        </p:sp>
        <p:sp>
          <p:nvSpPr>
            <p:cNvPr id="6" name="TextBox 6"/>
            <p:cNvSpPr txBox="1"/>
            <p:nvPr/>
          </p:nvSpPr>
          <p:spPr>
            <a:xfrm>
              <a:off x="679704" y="1971675"/>
              <a:ext cx="1994528"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EXAMPLE ASSIGNMENT</a:t>
              </a:r>
            </a:p>
          </p:txBody>
        </p:sp>
        <p:sp>
          <p:nvSpPr>
            <p:cNvPr id="7" name="TextBox 7"/>
            <p:cNvSpPr txBox="1"/>
            <p:nvPr/>
          </p:nvSpPr>
          <p:spPr>
            <a:xfrm>
              <a:off x="676656" y="2409825"/>
              <a:ext cx="2971328"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Repair a retention analysis</a:t>
              </a:r>
            </a:p>
          </p:txBody>
        </p:sp>
        <p:sp>
          <p:nvSpPr>
            <p:cNvPr id="8" name="TextBox 8"/>
            <p:cNvSpPr txBox="1"/>
            <p:nvPr/>
          </p:nvSpPr>
          <p:spPr>
            <a:xfrm>
              <a:off x="678180" y="2892425"/>
              <a:ext cx="2376754" cy="13601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Find the definition, inspect</a:t>
              </a:r>
              <a:br>
                <a:rPr lang="en-US" sz="1500" dirty="0">
                  <a:solidFill>
                    <a:srgbClr val="E7F0EA"/>
                  </a:solidFill>
                  <a:latin typeface="+mn-lt"/>
                  <a:ea typeface="+mn-ea"/>
                  <a:cs typeface="+mn-cs"/>
                </a:rPr>
              </a:br>
              <a:r>
                <a:rPr lang="en-US" sz="1500" dirty="0">
                  <a:solidFill>
                    <a:srgbClr val="E7F0EA"/>
                  </a:solidFill>
                  <a:latin typeface="+mn-lt"/>
                  <a:ea typeface="+mn-ea"/>
                  <a:cs typeface="+mn-cs"/>
                </a:rPr>
                <a:t>SQL, identify a denominator</a:t>
              </a:r>
              <a:br>
                <a:rPr lang="en-US" sz="1500" dirty="0">
                  <a:solidFill>
                    <a:srgbClr val="E7F0EA"/>
                  </a:solidFill>
                  <a:latin typeface="+mn-lt"/>
                  <a:ea typeface="+mn-ea"/>
                  <a:cs typeface="+mn-cs"/>
                </a:rPr>
              </a:br>
              <a:r>
                <a:rPr lang="en-US" sz="1500" dirty="0">
                  <a:solidFill>
                    <a:srgbClr val="E7F0EA"/>
                  </a:solidFill>
                  <a:latin typeface="+mn-lt"/>
                  <a:ea typeface="+mn-ea"/>
                  <a:cs typeface="+mn-cs"/>
                </a:rPr>
                <a:t>mistake, propose a patch</a:t>
              </a:r>
              <a:br>
                <a:rPr lang="en-US" sz="1500" dirty="0">
                  <a:solidFill>
                    <a:srgbClr val="E7F0EA"/>
                  </a:solidFill>
                  <a:latin typeface="+mn-lt"/>
                  <a:ea typeface="+mn-ea"/>
                  <a:cs typeface="+mn-cs"/>
                </a:rPr>
              </a:br>
              <a:r>
                <a:rPr lang="en-US" sz="1500" dirty="0">
                  <a:solidFill>
                    <a:srgbClr val="E7F0EA"/>
                  </a:solidFill>
                  <a:latin typeface="+mn-lt"/>
                  <a:ea typeface="+mn-ea"/>
                  <a:cs typeface="+mn-cs"/>
                </a:rPr>
                <a:t>and reconcile against</a:t>
              </a:r>
              <a:br>
                <a:rPr lang="en-US" sz="1500" dirty="0">
                  <a:solidFill>
                    <a:srgbClr val="E7F0EA"/>
                  </a:solidFill>
                  <a:latin typeface="+mn-lt"/>
                  <a:ea typeface="+mn-ea"/>
                  <a:cs typeface="+mn-cs"/>
                </a:rPr>
              </a:br>
              <a:r>
                <a:rPr lang="en-US" sz="1500" dirty="0">
                  <a:solidFill>
                    <a:srgbClr val="E7F0EA"/>
                  </a:solidFill>
                  <a:latin typeface="+mn-lt"/>
                  <a:ea typeface="+mn-ea"/>
                  <a:cs typeface="+mn-cs"/>
                </a:rPr>
                <a:t>approved saved evidence.</a:t>
              </a:r>
            </a:p>
          </p:txBody>
        </p:sp>
      </p:grpSp>
      <p:grpSp>
        <p:nvGrpSpPr>
          <p:cNvPr id="18" name="workspace-sequence"/>
          <p:cNvGrpSpPr/>
          <p:nvPr/>
        </p:nvGrpSpPr>
        <p:grpSpPr>
          <a:xfrm>
            <a:off x="4143756" y="1876425"/>
            <a:ext cx="7591044" cy="2788920"/>
            <a:chOff x="4143756" y="1876425"/>
            <a:chExt cx="7591044" cy="2788920"/>
          </a:xfrm>
        </p:grpSpPr>
        <p:sp>
          <p:nvSpPr>
            <p:cNvPr id="10" name="TextBox 10"/>
            <p:cNvSpPr txBox="1"/>
            <p:nvPr/>
          </p:nvSpPr>
          <p:spPr>
            <a:xfrm>
              <a:off x="4143756" y="1876425"/>
              <a:ext cx="496304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Understand within assigned source scope</a:t>
              </a:r>
            </a:p>
          </p:txBody>
        </p:sp>
        <p:sp>
          <p:nvSpPr>
            <p:cNvPr id="11" name="TextBox 11"/>
            <p:cNvSpPr txBox="1"/>
            <p:nvPr/>
          </p:nvSpPr>
          <p:spPr>
            <a:xfrm>
              <a:off x="4145280" y="2295525"/>
              <a:ext cx="42085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Start with bounded project reading and search.</a:t>
              </a:r>
            </a:p>
          </p:txBody>
        </p:sp>
        <p:sp>
          <p:nvSpPr>
            <p:cNvPr id="12" name="Line 12"/>
            <p:cNvSpPr/>
            <p:nvPr/>
          </p:nvSpPr>
          <p:spPr>
            <a:xfrm>
              <a:off x="4152900" y="2771775"/>
              <a:ext cx="7581900" cy="9525"/>
            </a:xfrm>
            <a:custGeom>
              <a:avLst/>
              <a:gdLst/>
              <a:ahLst/>
              <a:cxnLst/>
              <a:rect l="l" t="t" r="r" b="b"/>
              <a:pathLst>
                <a:path w="7581900" h="9525">
                  <a:moveTo>
                    <a:pt x="0" y="0"/>
                  </a:moveTo>
                  <a:lnTo>
                    <a:pt x="7581900" y="0"/>
                  </a:lnTo>
                </a:path>
              </a:pathLst>
            </a:custGeom>
            <a:noFill/>
            <a:ln w="9525">
              <a:solidFill>
                <a:schemeClr val="accent6"/>
              </a:solidFill>
            </a:ln>
          </p:spPr>
        </p:sp>
        <p:sp>
          <p:nvSpPr>
            <p:cNvPr id="13" name="TextBox 13"/>
            <p:cNvSpPr txBox="1"/>
            <p:nvPr/>
          </p:nvSpPr>
          <p:spPr>
            <a:xfrm>
              <a:off x="4143756" y="2914650"/>
              <a:ext cx="342431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Propose a controlled repair</a:t>
              </a:r>
            </a:p>
          </p:txBody>
        </p:sp>
        <p:sp>
          <p:nvSpPr>
            <p:cNvPr id="14" name="TextBox 14"/>
            <p:cNvSpPr txBox="1"/>
            <p:nvPr/>
          </p:nvSpPr>
          <p:spPr>
            <a:xfrm>
              <a:off x="4145280" y="3333750"/>
              <a:ext cx="556627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Then add authoring and checks, with explicit tool permissions.</a:t>
              </a:r>
            </a:p>
          </p:txBody>
        </p:sp>
        <p:sp>
          <p:nvSpPr>
            <p:cNvPr id="15" name="Line 15"/>
            <p:cNvSpPr/>
            <p:nvPr/>
          </p:nvSpPr>
          <p:spPr>
            <a:xfrm>
              <a:off x="4152900" y="3810000"/>
              <a:ext cx="7581900" cy="9525"/>
            </a:xfrm>
            <a:custGeom>
              <a:avLst/>
              <a:gdLst/>
              <a:ahLst/>
              <a:cxnLst/>
              <a:rect l="l" t="t" r="r" b="b"/>
              <a:pathLst>
                <a:path w="7581900" h="9525">
                  <a:moveTo>
                    <a:pt x="0" y="0"/>
                  </a:moveTo>
                  <a:lnTo>
                    <a:pt x="7581900" y="0"/>
                  </a:lnTo>
                </a:path>
              </a:pathLst>
            </a:custGeom>
            <a:noFill/>
            <a:ln w="9525">
              <a:solidFill>
                <a:schemeClr val="accent6"/>
              </a:solidFill>
            </a:ln>
          </p:spPr>
        </p:sp>
        <p:sp>
          <p:nvSpPr>
            <p:cNvPr id="16" name="TextBox 16"/>
            <p:cNvSpPr txBox="1"/>
            <p:nvPr/>
          </p:nvSpPr>
          <p:spPr>
            <a:xfrm>
              <a:off x="4143756" y="3952875"/>
              <a:ext cx="462857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Verify and explain the analytical result</a:t>
              </a:r>
            </a:p>
          </p:txBody>
        </p:sp>
        <p:sp>
          <p:nvSpPr>
            <p:cNvPr id="17" name="TextBox 17"/>
            <p:cNvSpPr txBox="1"/>
            <p:nvPr/>
          </p:nvSpPr>
          <p:spPr>
            <a:xfrm>
              <a:off x="4145280" y="4371975"/>
              <a:ext cx="553456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Use the existing SQL/Python specialists and evidence stores.</a:t>
              </a:r>
            </a:p>
          </p:txBody>
        </p:sp>
      </p:grpSp>
      <p:grpSp>
        <p:nvGrpSpPr>
          <p:cNvPr id="21" name="workspace-boundaries"/>
          <p:cNvGrpSpPr/>
          <p:nvPr/>
        </p:nvGrpSpPr>
        <p:grpSpPr>
          <a:xfrm>
            <a:off x="450342" y="5124450"/>
            <a:ext cx="9352938" cy="1013333"/>
            <a:chOff x="450342" y="5124450"/>
            <a:chExt cx="9352938" cy="1013333"/>
          </a:xfrm>
        </p:grpSpPr>
        <p:sp>
          <p:nvSpPr>
            <p:cNvPr id="19" name="TextBox 19"/>
            <p:cNvSpPr txBox="1"/>
            <p:nvPr/>
          </p:nvSpPr>
          <p:spPr>
            <a:xfrm>
              <a:off x="450342" y="5124450"/>
              <a:ext cx="873407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Workspace text is context; accepted definitions and execution authority remain explicit. Time/output bounds are not</a:t>
              </a:r>
              <a:br>
                <a:rPr lang="en-US" sz="1350" dirty="0">
                  <a:solidFill>
                    <a:schemeClr val="dk1"/>
                  </a:solidFill>
                  <a:latin typeface="+mn-lt"/>
                  <a:ea typeface="+mn-ea"/>
                  <a:cs typeface="+mn-cs"/>
                </a:rPr>
              </a:br>
              <a:r>
                <a:rPr lang="en-US" sz="1350" dirty="0">
                  <a:solidFill>
                    <a:schemeClr val="dk1"/>
                  </a:solidFill>
                  <a:latin typeface="+mn-lt"/>
                  <a:ea typeface="+mn-ea"/>
                  <a:cs typeface="+mn-cs"/>
                </a:rPr>
                <a:t>an isolation sandbox; broader shell work requires execution isolation. This HANDOFF direction remains planned.</a:t>
              </a:r>
            </a:p>
          </p:txBody>
        </p:sp>
        <p:sp>
          <p:nvSpPr>
            <p:cNvPr id="20" name="TextBox 20"/>
            <p:cNvSpPr txBox="1"/>
            <p:nvPr/>
          </p:nvSpPr>
          <p:spPr>
            <a:xfrm>
              <a:off x="450342" y="5873750"/>
              <a:ext cx="935293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Later artifact checks: real-browser chart execution, disclosures, keyboard access, narrow layouts and print behavior.</a:t>
              </a:r>
            </a:p>
          </p:txBody>
        </p:sp>
      </p:grpSp>
      <p:grpSp>
        <p:nvGrpSpPr>
          <p:cNvPr id="24" name="footer"/>
          <p:cNvGrpSpPr/>
          <p:nvPr/>
        </p:nvGrpSpPr>
        <p:grpSpPr>
          <a:xfrm>
            <a:off x="452438" y="6410325"/>
            <a:ext cx="11287124" cy="176212"/>
            <a:chOff x="452438" y="6410325"/>
            <a:chExt cx="11287124" cy="176212"/>
          </a:xfrm>
        </p:grpSpPr>
        <p:sp>
          <p:nvSpPr>
            <p:cNvPr id="22" name="TextBox 22"/>
            <p:cNvSpPr txBox="1"/>
            <p:nvPr/>
          </p:nvSpPr>
          <p:spPr>
            <a:xfrm>
              <a:off x="452438" y="6410325"/>
              <a:ext cx="608473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Oct 15 review. Retain coordinator, specialists and evidence stores; avoid creating a duplicate orchestration stack.</a:t>
              </a:r>
            </a:p>
          </p:txBody>
        </p:sp>
        <p:sp>
          <p:nvSpPr>
            <p:cNvPr id="23" name="TextBox 23"/>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23 / 28</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810509" cy="1169416"/>
            <a:chOff x="443484" y="371475"/>
            <a:chExt cx="5810509" cy="1169416"/>
          </a:xfrm>
        </p:grpSpPr>
        <p:sp>
          <p:nvSpPr>
            <p:cNvPr id="2" name="TextBox 2"/>
            <p:cNvSpPr txBox="1"/>
            <p:nvPr/>
          </p:nvSpPr>
          <p:spPr>
            <a:xfrm>
              <a:off x="451104" y="371475"/>
              <a:ext cx="2468495"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DECISIONS FOR DISCUSSION</a:t>
              </a:r>
            </a:p>
          </p:txBody>
        </p:sp>
        <p:sp>
          <p:nvSpPr>
            <p:cNvPr id="3" name="TextBox 3"/>
            <p:cNvSpPr txBox="1"/>
            <p:nvPr/>
          </p:nvSpPr>
          <p:spPr>
            <a:xfrm>
              <a:off x="443484" y="603250"/>
              <a:ext cx="5810509" cy="937641"/>
            </a:xfrm>
            <a:prstGeom prst="rect">
              <a:avLst/>
            </a:prstGeom>
            <a:noFill/>
            <a:ln>
              <a:noFill/>
            </a:ln>
          </p:spPr>
          <p:txBody>
            <a:bodyPr wrap="none" lIns="0" tIns="0" rIns="0" bIns="0" anchor="t" anchorCtr="0">
              <a:spAutoFit/>
            </a:bodyPr>
            <a:lstStyle/>
            <a:p>
              <a:pPr algn="l">
                <a:lnSpc>
                  <a:spcPts val="3225"/>
                </a:lnSpc>
              </a:pPr>
              <a:r>
                <a:rPr lang="en-US" sz="2700" dirty="0">
                  <a:solidFill>
                    <a:srgbClr val="FFFDF7"/>
                  </a:solidFill>
                  <a:latin typeface="+mj-lt"/>
                  <a:ea typeface="+mj-ea"/>
                  <a:cs typeface="+mj-cs"/>
                </a:rPr>
                <a:t>Choose the next accepted work product</a:t>
              </a:r>
              <a:br>
                <a:rPr lang="en-US" sz="2700" dirty="0">
                  <a:solidFill>
                    <a:srgbClr val="FFFDF7"/>
                  </a:solidFill>
                  <a:latin typeface="+mj-lt"/>
                  <a:ea typeface="+mj-ea"/>
                  <a:cs typeface="+mj-cs"/>
                </a:rPr>
              </a:br>
              <a:r>
                <a:rPr lang="en-US" sz="2700" dirty="0">
                  <a:solidFill>
                    <a:srgbClr val="FFFDF7"/>
                  </a:solidFill>
                  <a:latin typeface="+mj-lt"/>
                  <a:ea typeface="+mj-ea"/>
                  <a:cs typeface="+mj-cs"/>
                </a:rPr>
                <a:t>and the test that earns expansion</a:t>
              </a:r>
            </a:p>
          </p:txBody>
        </p:sp>
      </p:grpSp>
      <p:grpSp>
        <p:nvGrpSpPr>
          <p:cNvPr id="8" name="fidelity-next"/>
          <p:cNvGrpSpPr/>
          <p:nvPr/>
        </p:nvGrpSpPr>
        <p:grpSpPr>
          <a:xfrm>
            <a:off x="448056" y="1924050"/>
            <a:ext cx="4295089" cy="2128520"/>
            <a:chOff x="448056" y="1924050"/>
            <a:chExt cx="4295089" cy="2128520"/>
          </a:xfrm>
        </p:grpSpPr>
        <p:sp>
          <p:nvSpPr>
            <p:cNvPr id="5" name="TextBox 5"/>
            <p:cNvSpPr txBox="1"/>
            <p:nvPr/>
          </p:nvSpPr>
          <p:spPr>
            <a:xfrm>
              <a:off x="448056" y="1924050"/>
              <a:ext cx="342679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Fidelity / next working session</a:t>
              </a:r>
            </a:p>
          </p:txBody>
        </p:sp>
        <p:sp>
          <p:nvSpPr>
            <p:cNvPr id="6" name="TextBox 6"/>
            <p:cNvSpPr txBox="1"/>
            <p:nvPr/>
          </p:nvSpPr>
          <p:spPr>
            <a:xfrm>
              <a:off x="449580" y="2406650"/>
              <a:ext cx="4293565"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Bring representative questions; select one domain.</a:t>
              </a:r>
              <a:br>
                <a:rPr lang="en-US" sz="1500" dirty="0">
                  <a:solidFill>
                    <a:srgbClr val="FFFDF7"/>
                  </a:solidFill>
                  <a:latin typeface="+mn-lt"/>
                  <a:ea typeface="+mn-ea"/>
                  <a:cs typeface="+mn-cs"/>
                </a:rPr>
              </a:br>
              <a:r>
                <a:rPr lang="en-US" sz="1500" dirty="0">
                  <a:solidFill>
                    <a:srgbClr val="FFFDF7"/>
                  </a:solidFill>
                  <a:latin typeface="+mn-lt"/>
                  <a:ea typeface="+mn-ea"/>
                  <a:cs typeface="+mn-cs"/>
                </a:rPr>
                <a:t>Agree entity, metric and date definitions, with</a:t>
              </a:r>
              <a:br>
                <a:rPr lang="en-US" sz="1500" dirty="0">
                  <a:solidFill>
                    <a:srgbClr val="FFFDF7"/>
                  </a:solidFill>
                  <a:latin typeface="+mn-lt"/>
                  <a:ea typeface="+mn-ea"/>
                  <a:cs typeface="+mn-cs"/>
                </a:rPr>
              </a:br>
              <a:r>
                <a:rPr lang="en-US" sz="1500" dirty="0">
                  <a:solidFill>
                    <a:srgbClr val="FFFDF7"/>
                  </a:solidFill>
                  <a:latin typeface="+mn-lt"/>
                  <a:ea typeface="+mn-ea"/>
                  <a:cs typeface="+mn-cs"/>
                </a:rPr>
                <a:t>trusted reference results.</a:t>
              </a:r>
            </a:p>
          </p:txBody>
        </p:sp>
        <p:sp>
          <p:nvSpPr>
            <p:cNvPr id="7" name="TextBox 7"/>
            <p:cNvSpPr txBox="1"/>
            <p:nvPr/>
          </p:nvSpPr>
          <p:spPr>
            <a:xfrm>
              <a:off x="449580" y="3492500"/>
              <a:ext cx="4018102"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Instrument stage latency and observe how reps</a:t>
              </a:r>
              <a:br>
                <a:rPr lang="en-US" sz="1500" dirty="0">
                  <a:solidFill>
                    <a:srgbClr val="FFFDF7"/>
                  </a:solidFill>
                  <a:latin typeface="+mn-lt"/>
                  <a:ea typeface="+mn-ea"/>
                  <a:cs typeface="+mn-cs"/>
                </a:rPr>
              </a:br>
              <a:r>
                <a:rPr lang="en-US" sz="1500" dirty="0">
                  <a:solidFill>
                    <a:srgbClr val="FFFDF7"/>
                  </a:solidFill>
                  <a:latin typeface="+mn-lt"/>
                  <a:ea typeface="+mn-ea"/>
                  <a:cs typeface="+mn-cs"/>
                </a:rPr>
                <a:t>prepare for an advisor meeting.</a:t>
              </a:r>
            </a:p>
          </p:txBody>
        </p:sp>
      </p:grpSp>
      <p:grpSp>
        <p:nvGrpSpPr>
          <p:cNvPr id="12" name="personal-next"/>
          <p:cNvGrpSpPr/>
          <p:nvPr/>
        </p:nvGrpSpPr>
        <p:grpSpPr>
          <a:xfrm>
            <a:off x="6086856" y="1924050"/>
            <a:ext cx="4043108" cy="2128520"/>
            <a:chOff x="6086856" y="1924050"/>
            <a:chExt cx="4043108" cy="2128520"/>
          </a:xfrm>
        </p:grpSpPr>
        <p:sp>
          <p:nvSpPr>
            <p:cNvPr id="9" name="TextBox 9"/>
            <p:cNvSpPr txBox="1"/>
            <p:nvPr/>
          </p:nvSpPr>
          <p:spPr>
            <a:xfrm>
              <a:off x="6086856" y="1924050"/>
              <a:ext cx="404310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Personal agent / focused increments</a:t>
              </a:r>
            </a:p>
          </p:txBody>
        </p:sp>
        <p:sp>
          <p:nvSpPr>
            <p:cNvPr id="10" name="TextBox 10"/>
            <p:cNvSpPr txBox="1"/>
            <p:nvPr/>
          </p:nvSpPr>
          <p:spPr>
            <a:xfrm>
              <a:off x="6088380" y="2406650"/>
              <a:ext cx="3287001"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One count/forecast correctness fixture.</a:t>
              </a:r>
              <a:br>
                <a:rPr lang="en-US" sz="1500" dirty="0">
                  <a:solidFill>
                    <a:srgbClr val="FFFDF7"/>
                  </a:solidFill>
                  <a:latin typeface="+mn-lt"/>
                  <a:ea typeface="+mn-ea"/>
                  <a:cs typeface="+mn-cs"/>
                </a:rPr>
              </a:br>
              <a:r>
                <a:rPr lang="en-US" sz="1500" dirty="0">
                  <a:solidFill>
                    <a:srgbClr val="FFFDF7"/>
                  </a:solidFill>
                  <a:latin typeface="+mn-lt"/>
                  <a:ea typeface="+mn-ea"/>
                  <a:cs typeface="+mn-cs"/>
                </a:rPr>
                <a:t>One bound quantitative lead or callout.</a:t>
              </a:r>
              <a:br>
                <a:rPr lang="en-US" sz="1500" dirty="0">
                  <a:solidFill>
                    <a:srgbClr val="FFFDF7"/>
                  </a:solidFill>
                  <a:latin typeface="+mn-lt"/>
                  <a:ea typeface="+mn-ea"/>
                  <a:cs typeface="+mn-cs"/>
                </a:rPr>
              </a:br>
              <a:r>
                <a:rPr lang="en-US" sz="1500" dirty="0">
                  <a:solidFill>
                    <a:srgbClr val="FFFDF7"/>
                  </a:solidFill>
                  <a:latin typeface="+mn-lt"/>
                  <a:ea typeface="+mn-ea"/>
                  <a:cs typeface="+mn-cs"/>
                </a:rPr>
                <a:t>One numerical outcome oracle.</a:t>
              </a:r>
            </a:p>
          </p:txBody>
        </p:sp>
        <p:sp>
          <p:nvSpPr>
            <p:cNvPr id="11" name="TextBox 11"/>
            <p:cNvSpPr txBox="1"/>
            <p:nvPr/>
          </p:nvSpPr>
          <p:spPr>
            <a:xfrm>
              <a:off x="6088380" y="3492500"/>
              <a:ext cx="3531070"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Then connect one workspace assignment</a:t>
              </a:r>
              <a:br>
                <a:rPr lang="en-US" sz="1500" dirty="0">
                  <a:solidFill>
                    <a:srgbClr val="FFFDF7"/>
                  </a:solidFill>
                  <a:latin typeface="+mn-lt"/>
                  <a:ea typeface="+mn-ea"/>
                  <a:cs typeface="+mn-cs"/>
                </a:rPr>
              </a:br>
              <a:r>
                <a:rPr lang="en-US" sz="1500" dirty="0">
                  <a:solidFill>
                    <a:srgbClr val="FFFDF7"/>
                  </a:solidFill>
                  <a:latin typeface="+mn-lt"/>
                  <a:ea typeface="+mn-ea"/>
                  <a:cs typeface="+mn-cs"/>
                </a:rPr>
                <a:t>to a checked analytical result.</a:t>
              </a:r>
            </a:p>
          </p:txBody>
        </p:sp>
      </p:grpSp>
      <p:grpSp>
        <p:nvGrpSpPr>
          <p:cNvPr id="16" name="shared-decision"/>
          <p:cNvGrpSpPr/>
          <p:nvPr/>
        </p:nvGrpSpPr>
        <p:grpSpPr>
          <a:xfrm>
            <a:off x="448056" y="4543425"/>
            <a:ext cx="11286744" cy="1261745"/>
            <a:chOff x="448056" y="4543425"/>
            <a:chExt cx="11286744" cy="1261745"/>
          </a:xfrm>
        </p:grpSpPr>
        <p:sp>
          <p:nvSpPr>
            <p:cNvPr id="13" name="Line 13"/>
            <p:cNvSpPr/>
            <p:nvPr/>
          </p:nvSpPr>
          <p:spPr>
            <a:xfrm>
              <a:off x="457200" y="4543425"/>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14" name="TextBox 14"/>
            <p:cNvSpPr txBox="1"/>
            <p:nvPr/>
          </p:nvSpPr>
          <p:spPr>
            <a:xfrm>
              <a:off x="448056" y="4781550"/>
              <a:ext cx="4168974"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Accepted work is the unit of progress.</a:t>
              </a:r>
            </a:p>
          </p:txBody>
        </p:sp>
        <p:sp>
          <p:nvSpPr>
            <p:cNvPr id="15" name="TextBox 15"/>
            <p:cNvSpPr txBox="1"/>
            <p:nvPr/>
          </p:nvSpPr>
          <p:spPr>
            <a:xfrm>
              <a:off x="449580" y="5245100"/>
              <a:ext cx="8666531"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Compare quality, consequential failures, total human effort and full known cost.</a:t>
              </a:r>
              <a:br>
                <a:rPr lang="en-US" sz="1500" dirty="0">
                  <a:solidFill>
                    <a:srgbClr val="FFFDF7"/>
                  </a:solidFill>
                  <a:latin typeface="+mn-lt"/>
                  <a:ea typeface="+mn-ea"/>
                  <a:cs typeface="+mn-cs"/>
                </a:rPr>
              </a:br>
              <a:r>
                <a:rPr lang="en-US" sz="1500" dirty="0">
                  <a:solidFill>
                    <a:srgbClr val="FFFDF7"/>
                  </a:solidFill>
                  <a:latin typeface="+mn-lt"/>
                  <a:ea typeface="+mn-ea"/>
                  <a:cs typeface="+mn-cs"/>
                </a:rPr>
                <a:t>Record continue, revise or stop, with uncertainty visible. Agree owners, timing and thresholds together.</a:t>
              </a:r>
            </a:p>
          </p:txBody>
        </p:sp>
      </p:grpSp>
      <p:grpSp>
        <p:nvGrpSpPr>
          <p:cNvPr id="19" name="footer"/>
          <p:cNvGrpSpPr/>
          <p:nvPr/>
        </p:nvGrpSpPr>
        <p:grpSpPr>
          <a:xfrm>
            <a:off x="452438" y="6410325"/>
            <a:ext cx="11287124" cy="176212"/>
            <a:chOff x="452438" y="6410325"/>
            <a:chExt cx="11287124" cy="176212"/>
          </a:xfrm>
        </p:grpSpPr>
        <p:sp>
          <p:nvSpPr>
            <p:cNvPr id="17" name="TextBox 17"/>
            <p:cNvSpPr txBox="1"/>
            <p:nvPr/>
          </p:nvSpPr>
          <p:spPr>
            <a:xfrm>
              <a:off x="452438" y="6410325"/>
              <a:ext cx="6147546"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End of the core briefing • Four reference pages follow for cases, scorecards, implementation anchors and sources.</a:t>
              </a:r>
            </a:p>
          </p:txBody>
        </p:sp>
        <p:sp>
          <p:nvSpPr>
            <p:cNvPr id="18" name="TextBox 18"/>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24 / 28</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092031" cy="1169416"/>
            <a:chOff x="443484" y="371475"/>
            <a:chExt cx="4092031" cy="1169416"/>
          </a:xfrm>
        </p:grpSpPr>
        <p:sp>
          <p:nvSpPr>
            <p:cNvPr id="2" name="TextBox 2"/>
            <p:cNvSpPr txBox="1"/>
            <p:nvPr/>
          </p:nvSpPr>
          <p:spPr>
            <a:xfrm>
              <a:off x="451104" y="371475"/>
              <a:ext cx="289538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 / DIAGNOSTIC CASES</a:t>
              </a:r>
            </a:p>
          </p:txBody>
        </p:sp>
        <p:sp>
          <p:nvSpPr>
            <p:cNvPr id="3" name="TextBox 3"/>
            <p:cNvSpPr txBox="1"/>
            <p:nvPr/>
          </p:nvSpPr>
          <p:spPr>
            <a:xfrm>
              <a:off x="443484" y="603250"/>
              <a:ext cx="409203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A compact defect suite tests</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more than fluent SQL</a:t>
              </a:r>
            </a:p>
          </p:txBody>
        </p:sp>
      </p:grpSp>
      <p:graphicFrame>
        <p:nvGraphicFramePr>
          <p:cNvPr id="5" name="defect-cases"/>
          <p:cNvGraphicFramePr>
            <a:graphicFrameLocks noGrp="1"/>
          </p:cNvGraphicFramePr>
          <p:nvPr/>
        </p:nvGraphicFramePr>
        <p:xfrm>
          <a:off x="457200" y="1657350"/>
          <a:ext cx="11277600" cy="4572000"/>
        </p:xfrm>
        <a:graphic>
          <a:graphicData uri="http://schemas.openxmlformats.org/drawingml/2006/table">
            <a:tbl>
              <a:tblPr firstRow="1" bandRow="0">
                <a:tableStyleId>{5C22544A-7EE6-4342-B048-85BDC9FD1C3A}</a:tableStyleId>
              </a:tblPr>
              <a:tblGrid>
                <a:gridCol w="2571750"/>
                <a:gridCol w="5962650"/>
                <a:gridCol w="2743200"/>
              </a:tblGrid>
              <a:tr h="457200">
                <a:tc>
                  <a:txBody>
                    <a:bodyPr/>
                    <a:lstStyle/>
                    <a:p>
                      <a:pPr/>
                      <a:r>
                        <a:rPr lang="en-US" sz="1350" b="1">
                          <a:solidFill>
                            <a:srgbClr val="FFFDF7"/>
                          </a:solidFill>
                          <a:latin typeface="Arial"/>
                          <a:ea typeface="Microsoft YaHei"/>
                          <a:cs typeface="Arial"/>
                        </a:rPr>
                        <a:t>Case</a:t>
                      </a:r>
                    </a:p>
                  </a:txBody>
                  <a:tcPr anchor="ctr" marL="152400" marR="152400" marT="57150" marB="5715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Expected supported behavior</a:t>
                      </a:r>
                    </a:p>
                  </a:txBody>
                  <a:tcPr anchor="ctr" marL="152400" marR="152400" marT="57150" marB="5715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Failure tested</a:t>
                      </a:r>
                    </a:p>
                  </a:txBody>
                  <a:tcPr anchor="ctr" marL="152400" marR="152400" marT="57150" marB="57150">
                    <a:lnL>
                      <a:noFill/>
                    </a:lnL>
                    <a:lnR>
                      <a:noFill/>
                    </a:lnR>
                    <a:lnT>
                      <a:noFill/>
                    </a:lnT>
                    <a:lnB w="9525">
                      <a:solidFill>
                        <a:schemeClr val="accent6"/>
                      </a:solidFill>
                      <a:prstDash val="solid"/>
                    </a:lnB>
                    <a:solidFill>
                      <a:schemeClr val="accent1"/>
                    </a:solidFill>
                  </a:tcPr>
                </a:tc>
              </a:tr>
              <a:tr h="457200">
                <a:tc>
                  <a:txBody>
                    <a:bodyPr/>
                    <a:lstStyle/>
                    <a:p>
                      <a:pPr/>
                      <a:r>
                        <a:rPr lang="en-US" sz="1350" b="0">
                          <a:solidFill>
                            <a:schemeClr val="dk1"/>
                          </a:solidFill>
                          <a:latin typeface="Arial"/>
                          <a:ea typeface="Microsoft YaHei"/>
                          <a:cs typeface="Arial"/>
                        </a:rPr>
                        <a:t>Same count, wrong values</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Reject the mismatch using keyed values and business scope.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False accuracy</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Join duplicates</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Preserve the declared population and aggregation.</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Fanout / denominator</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Wrong advisor hierarchy</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Resolve advisor/office/firm and historical relationships.</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Entity scope</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Wrong date role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Use the defined date role and comparison period.</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Temporal meaning</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Ambiguous “live”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Look up definitions; clarify the unresolved meaning.</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Invented definition</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Unavailable measure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Explain the limit or clarify; do not invent coverage.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Unsupported answer</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Follow-up scope change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Update requested fields; retain intended prior scope.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State carryover</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Stale evidence</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Refresh, disclose as-of limits or ask for clarification.</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Freshness</a:t>
                      </a:r>
                    </a:p>
                  </a:txBody>
                  <a:tcPr anchor="ctr" marL="152400" marR="152400" marT="57150" marB="57150">
                    <a:lnL>
                      <a:noFill/>
                    </a:lnL>
                    <a:lnR>
                      <a:noFill/>
                    </a:lnR>
                    <a:lnT>
                      <a:noFill/>
                    </a:lnT>
                    <a:lnB w="9525">
                      <a:solidFill>
                        <a:schemeClr val="accent6"/>
                      </a:solidFill>
                      <a:prstDash val="solid"/>
                    </a:lnB>
                    <a:noFill/>
                  </a:tcPr>
                </a:tc>
              </a:tr>
              <a:tr h="457200">
                <a:tc>
                  <a:txBody>
                    <a:bodyPr/>
                    <a:lstStyle/>
                    <a:p>
                      <a:pPr/>
                      <a:r>
                        <a:rPr lang="en-US" sz="1350" b="0">
                          <a:solidFill>
                            <a:schemeClr val="dk1"/>
                          </a:solidFill>
                          <a:latin typeface="Arial"/>
                          <a:ea typeface="Microsoft YaHei"/>
                          <a:cs typeface="Arial"/>
                        </a:rPr>
                        <a:t>Denied access</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Deny the unauthorized action correctly.</a:t>
                      </a:r>
                    </a:p>
                  </a:txBody>
                  <a:tcPr anchor="ctr" marL="152400" marR="152400" marT="57150" marB="5715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Authority boundary</a:t>
                      </a:r>
                    </a:p>
                  </a:txBody>
                  <a:tcPr anchor="ctr" marL="152400" marR="152400" marT="57150" marB="57150">
                    <a:lnL>
                      <a:noFill/>
                    </a:lnL>
                    <a:lnR>
                      <a:noFill/>
                    </a:lnR>
                    <a:lnT>
                      <a:noFill/>
                    </a:lnT>
                    <a:lnB w="9525">
                      <a:solidFill>
                        <a:schemeClr val="accent6"/>
                      </a:solidFill>
                      <a:prstDash val="solid"/>
                    </a:lnB>
                    <a:noFill/>
                  </a:tcPr>
                </a:tc>
              </a:tr>
            </a:tbl>
          </a:graphicData>
        </a:graphic>
      </p:graphicFrame>
      <p:grpSp>
        <p:nvGrpSpPr>
          <p:cNvPr id="9" name="footer"/>
          <p:cNvGrpSpPr/>
          <p:nvPr/>
        </p:nvGrpSpPr>
        <p:grpSpPr>
          <a:xfrm>
            <a:off x="452438" y="6353175"/>
            <a:ext cx="11287124" cy="338137"/>
            <a:chOff x="452438" y="6353175"/>
            <a:chExt cx="11287124" cy="338137"/>
          </a:xfrm>
        </p:grpSpPr>
        <p:sp>
          <p:nvSpPr>
            <p:cNvPr id="6" name="TextBox 6"/>
            <p:cNvSpPr txBox="1"/>
            <p:nvPr/>
          </p:nvSpPr>
          <p:spPr>
            <a:xfrm>
              <a:off x="452438" y="6353175"/>
              <a:ext cx="665039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Correct denial is a control success. Keep reference answers unavailable to runtime repair; review references independently.</a:t>
              </a:r>
            </a:p>
          </p:txBody>
        </p:sp>
        <p:sp>
          <p:nvSpPr>
            <p:cNvPr id="7" name="TextBox 7"/>
            <p:cNvSpPr txBox="1"/>
            <p:nvPr/>
          </p:nvSpPr>
          <p:spPr>
            <a:xfrm>
              <a:off x="452438" y="6515100"/>
              <a:ext cx="537107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Separate assessment families from tuning. These are proposed cases, not measured incident rates.</a:t>
              </a:r>
            </a:p>
          </p:txBody>
        </p:sp>
        <p:sp>
          <p:nvSpPr>
            <p:cNvPr id="8" name="TextBox 8"/>
            <p:cNvSpPr txBox="1"/>
            <p:nvPr/>
          </p:nvSpPr>
          <p:spPr>
            <a:xfrm>
              <a:off x="11359512" y="65151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25 / 28</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581349" cy="1169416"/>
            <a:chOff x="443484" y="371475"/>
            <a:chExt cx="5581349" cy="1169416"/>
          </a:xfrm>
        </p:grpSpPr>
        <p:sp>
          <p:nvSpPr>
            <p:cNvPr id="2" name="TextBox 2"/>
            <p:cNvSpPr txBox="1"/>
            <p:nvPr/>
          </p:nvSpPr>
          <p:spPr>
            <a:xfrm>
              <a:off x="451104" y="371475"/>
              <a:ext cx="317036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 / DECISION SCORECARD</a:t>
              </a:r>
            </a:p>
          </p:txBody>
        </p:sp>
        <p:sp>
          <p:nvSpPr>
            <p:cNvPr id="3" name="TextBox 3"/>
            <p:cNvSpPr txBox="1"/>
            <p:nvPr/>
          </p:nvSpPr>
          <p:spPr>
            <a:xfrm>
              <a:off x="443484" y="603250"/>
              <a:ext cx="5581349"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An accepted-work scorecard connects</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quality, time and cost</a:t>
              </a:r>
            </a:p>
          </p:txBody>
        </p:sp>
      </p:grpSp>
      <p:graphicFrame>
        <p:nvGraphicFramePr>
          <p:cNvPr id="5" name="work-scorecard"/>
          <p:cNvGraphicFramePr>
            <a:graphicFrameLocks noGrp="1"/>
          </p:cNvGraphicFramePr>
          <p:nvPr/>
        </p:nvGraphicFramePr>
        <p:xfrm>
          <a:off x="457200" y="1752600"/>
          <a:ext cx="11277600" cy="4114800"/>
        </p:xfrm>
        <a:graphic>
          <a:graphicData uri="http://schemas.openxmlformats.org/drawingml/2006/table">
            <a:tbl>
              <a:tblPr firstRow="1" bandRow="0">
                <a:tableStyleId>{5C22544A-7EE6-4342-B048-85BDC9FD1C3A}</a:tableStyleId>
              </a:tblPr>
              <a:tblGrid>
                <a:gridCol w="2095501"/>
                <a:gridCol w="6095999"/>
                <a:gridCol w="3086100"/>
              </a:tblGrid>
              <a:tr h="495300">
                <a:tc>
                  <a:txBody>
                    <a:bodyPr/>
                    <a:lstStyle/>
                    <a:p>
                      <a:pPr/>
                      <a:r>
                        <a:rPr lang="en-US" sz="1350" b="1">
                          <a:solidFill>
                            <a:srgbClr val="FFFDF7"/>
                          </a:solidFill>
                          <a:latin typeface="Arial"/>
                          <a:ea typeface="Microsoft YaHei"/>
                          <a:cs typeface="Arial"/>
                        </a:rPr>
                        <a:t>Dimension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Operational definition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Report alongside it</a:t>
                      </a:r>
                    </a:p>
                  </a:txBody>
                  <a:tcPr anchor="ctr" marL="152400" marR="152400" marT="76200" marB="76200">
                    <a:lnL>
                      <a:noFill/>
                    </a:lnL>
                    <a:lnR>
                      <a:noFill/>
                    </a:lnR>
                    <a:lnT>
                      <a:noFill/>
                    </a:lnT>
                    <a:lnB w="9525">
                      <a:solidFill>
                        <a:schemeClr val="accent6"/>
                      </a:solidFill>
                      <a:prstDash val="solid"/>
                    </a:lnB>
                    <a:solidFill>
                      <a:schemeClr val="accent1"/>
                    </a:solidFill>
                  </a:tcPr>
                </a:tc>
              </a:tr>
              <a:tr h="723900">
                <a:tc>
                  <a:txBody>
                    <a:bodyPr/>
                    <a:lstStyle/>
                    <a:p>
                      <a:pPr/>
                      <a:r>
                        <a:rPr lang="en-US" sz="1350" b="1">
                          <a:solidFill>
                            <a:schemeClr val="dk1"/>
                          </a:solidFill>
                          <a:latin typeface="Arial"/>
                          <a:ea typeface="Microsoft YaHei"/>
                          <a:cs typeface="Arial"/>
                        </a:rPr>
                        <a:t>Task acceptance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Accepted work / eligible assigned tasks in the agreed window.</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Rejected, abandoned and excluded outcomes.</a:t>
                      </a:r>
                    </a:p>
                  </a:txBody>
                  <a:tcPr anchor="ctr" marL="152400" marR="152400" marT="76200" marB="76200">
                    <a:lnL>
                      <a:noFill/>
                    </a:lnL>
                    <a:lnR>
                      <a:noFill/>
                    </a:lnR>
                    <a:lnT>
                      <a:noFill/>
                    </a:lnT>
                    <a:lnB w="9525">
                      <a:solidFill>
                        <a:schemeClr val="accent6"/>
                      </a:solidFill>
                      <a:prstDash val="solid"/>
                    </a:lnB>
                    <a:noFill/>
                  </a:tcPr>
                </a:tc>
              </a:tr>
              <a:tr h="723900">
                <a:tc>
                  <a:txBody>
                    <a:bodyPr/>
                    <a:lstStyle/>
                    <a:p>
                      <a:pPr/>
                      <a:r>
                        <a:rPr lang="en-US" sz="1350" b="1">
                          <a:solidFill>
                            <a:schemeClr val="dk1"/>
                          </a:solidFill>
                          <a:latin typeface="Arial"/>
                          <a:ea typeface="Microsoft YaHei"/>
                          <a:cs typeface="Arial"/>
                        </a:rPr>
                        <a:t>Quality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Typed-result equivalence plus correct business scope; consequential failures stay separate.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Acceptance rubric and critical-defect counts.</a:t>
                      </a:r>
                    </a:p>
                  </a:txBody>
                  <a:tcPr anchor="ctr" marL="152400" marR="152400" marT="76200" marB="76200">
                    <a:lnL>
                      <a:noFill/>
                    </a:lnL>
                    <a:lnR>
                      <a:noFill/>
                    </a:lnR>
                    <a:lnT>
                      <a:noFill/>
                    </a:lnT>
                    <a:lnB w="9525">
                      <a:solidFill>
                        <a:schemeClr val="accent6"/>
                      </a:solidFill>
                      <a:prstDash val="solid"/>
                    </a:lnB>
                    <a:noFill/>
                  </a:tcPr>
                </a:tc>
              </a:tr>
              <a:tr h="723900">
                <a:tc>
                  <a:txBody>
                    <a:bodyPr/>
                    <a:lstStyle/>
                    <a:p>
                      <a:pPr/>
                      <a:r>
                        <a:rPr lang="en-US" sz="1350" b="1">
                          <a:solidFill>
                            <a:schemeClr val="dk1"/>
                          </a:solidFill>
                          <a:latin typeface="Arial"/>
                          <a:ea typeface="Microsoft YaHei"/>
                          <a:cs typeface="Arial"/>
                        </a:rPr>
                        <a:t>Latency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p50/p95 by stage and end to end; first-correct time for bounded work.</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Question mix, attempts and timeout outcomes.</a:t>
                      </a:r>
                    </a:p>
                  </a:txBody>
                  <a:tcPr anchor="ctr" marL="152400" marR="152400" marT="76200" marB="76200">
                    <a:lnL>
                      <a:noFill/>
                    </a:lnL>
                    <a:lnR>
                      <a:noFill/>
                    </a:lnR>
                    <a:lnT>
                      <a:noFill/>
                    </a:lnT>
                    <a:lnB w="9525">
                      <a:solidFill>
                        <a:schemeClr val="accent6"/>
                      </a:solidFill>
                      <a:prstDash val="solid"/>
                    </a:lnB>
                    <a:noFill/>
                  </a:tcPr>
                </a:tc>
              </a:tr>
              <a:tr h="723900">
                <a:tc>
                  <a:txBody>
                    <a:bodyPr/>
                    <a:lstStyle/>
                    <a:p>
                      <a:pPr/>
                      <a:r>
                        <a:rPr lang="en-US" sz="1350" b="1">
                          <a:solidFill>
                            <a:schemeClr val="dk1"/>
                          </a:solidFill>
                          <a:latin typeface="Arial"/>
                          <a:ea typeface="Microsoft YaHei"/>
                          <a:cs typeface="Arial"/>
                        </a:rPr>
                        <a:t>Human effort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Active preparation, review and rework; waiting remains distinct.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Reviewer role, case mix and accepted deliverable.</a:t>
                      </a:r>
                    </a:p>
                  </a:txBody>
                  <a:tcPr anchor="ctr" marL="152400" marR="152400" marT="76200" marB="76200">
                    <a:lnL>
                      <a:noFill/>
                    </a:lnL>
                    <a:lnR>
                      <a:noFill/>
                    </a:lnR>
                    <a:lnT>
                      <a:noFill/>
                    </a:lnT>
                    <a:lnB w="9525">
                      <a:solidFill>
                        <a:schemeClr val="accent6"/>
                      </a:solidFill>
                      <a:prstDash val="solid"/>
                    </a:lnB>
                    <a:noFill/>
                  </a:tcPr>
                </a:tc>
              </a:tr>
              <a:tr h="723900">
                <a:tc>
                  <a:txBody>
                    <a:bodyPr/>
                    <a:lstStyle/>
                    <a:p>
                      <a:pPr/>
                      <a:r>
                        <a:rPr lang="en-US" sz="1350" b="1">
                          <a:solidFill>
                            <a:schemeClr val="dk1"/>
                          </a:solidFill>
                          <a:latin typeface="Arial"/>
                          <a:ea typeface="Microsoft YaHei"/>
                          <a:cs typeface="Arial"/>
                        </a:rPr>
                        <a:t>Cost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All known or explicitly estimated attempt/tool/data/review/support costs / accepted tasks.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Unknown components and estimation assumptions.</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7" name="scorecard-condition"/>
          <p:cNvGrpSpPr/>
          <p:nvPr/>
        </p:nvGrpSpPr>
        <p:grpSpPr>
          <a:xfrm>
            <a:off x="450342" y="6054725"/>
            <a:ext cx="8328630" cy="264033"/>
            <a:chOff x="450342" y="6054725"/>
            <a:chExt cx="8328630" cy="264033"/>
          </a:xfrm>
        </p:grpSpPr>
        <p:sp>
          <p:nvSpPr>
            <p:cNvPr id="6" name="TextBox 6"/>
            <p:cNvSpPr txBox="1"/>
            <p:nvPr/>
          </p:nvSpPr>
          <p:spPr>
            <a:xfrm>
              <a:off x="450342" y="6054725"/>
              <a:ext cx="8328630"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Agree population, acceptance, exclusions and windows first. Measure later business effects separately.</a:t>
              </a:r>
            </a:p>
          </p:txBody>
        </p:sp>
      </p:grpSp>
      <p:grpSp>
        <p:nvGrpSpPr>
          <p:cNvPr id="10" name="footer"/>
          <p:cNvGrpSpPr/>
          <p:nvPr/>
        </p:nvGrpSpPr>
        <p:grpSpPr>
          <a:xfrm>
            <a:off x="452438" y="6419850"/>
            <a:ext cx="11287124" cy="176212"/>
            <a:chOff x="452438" y="6419850"/>
            <a:chExt cx="11287124" cy="176212"/>
          </a:xfrm>
        </p:grpSpPr>
        <p:sp>
          <p:nvSpPr>
            <p:cNvPr id="8" name="TextBox 8"/>
            <p:cNvSpPr txBox="1"/>
            <p:nvPr/>
          </p:nvSpPr>
          <p:spPr>
            <a:xfrm>
              <a:off x="452438" y="6419850"/>
              <a:ext cx="4149182"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measurement definitions. No results, targets or ROI are fabricated.</a:t>
              </a:r>
            </a:p>
          </p:txBody>
        </p:sp>
        <p:sp>
          <p:nvSpPr>
            <p:cNvPr id="9" name="TextBox 9"/>
            <p:cNvSpPr txBox="1"/>
            <p:nvPr/>
          </p:nvSpPr>
          <p:spPr>
            <a:xfrm>
              <a:off x="11359512" y="64198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26 / 28</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957923" cy="1169416"/>
            <a:chOff x="443484" y="371475"/>
            <a:chExt cx="4957923" cy="1169416"/>
          </a:xfrm>
        </p:grpSpPr>
        <p:sp>
          <p:nvSpPr>
            <p:cNvPr id="2" name="TextBox 2"/>
            <p:cNvSpPr txBox="1"/>
            <p:nvPr/>
          </p:nvSpPr>
          <p:spPr>
            <a:xfrm>
              <a:off x="451104" y="371475"/>
              <a:ext cx="473536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 / OCT 15 READ-ONLY REPOSITORY REVIEW</a:t>
              </a:r>
            </a:p>
          </p:txBody>
        </p:sp>
        <p:sp>
          <p:nvSpPr>
            <p:cNvPr id="3" name="TextBox 3"/>
            <p:cNvSpPr txBox="1"/>
            <p:nvPr/>
          </p:nvSpPr>
          <p:spPr>
            <a:xfrm>
              <a:off x="443484" y="603250"/>
              <a:ext cx="4957923"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Implementation anchors make</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 personal roadmap reviewable</a:t>
              </a:r>
            </a:p>
          </p:txBody>
        </p:sp>
      </p:grpSp>
      <p:graphicFrame>
        <p:nvGraphicFramePr>
          <p:cNvPr id="5" name="implementation-anchors"/>
          <p:cNvGraphicFramePr>
            <a:graphicFrameLocks noGrp="1"/>
          </p:cNvGraphicFramePr>
          <p:nvPr/>
        </p:nvGraphicFramePr>
        <p:xfrm>
          <a:off x="457200" y="1752600"/>
          <a:ext cx="11277600" cy="4457700"/>
        </p:xfrm>
        <a:graphic>
          <a:graphicData uri="http://schemas.openxmlformats.org/drawingml/2006/table">
            <a:tbl>
              <a:tblPr firstRow="1" bandRow="0">
                <a:tableStyleId>{5C22544A-7EE6-4342-B048-85BDC9FD1C3A}</a:tableStyleId>
              </a:tblPr>
              <a:tblGrid>
                <a:gridCol w="2476501"/>
                <a:gridCol w="8801099"/>
              </a:tblGrid>
              <a:tr h="457200">
                <a:tc>
                  <a:txBody>
                    <a:bodyPr/>
                    <a:lstStyle/>
                    <a:p>
                      <a:pPr/>
                      <a:r>
                        <a:rPr lang="en-US" sz="1200" b="1">
                          <a:solidFill>
                            <a:srgbClr val="FFFDF7"/>
                          </a:solidFill>
                          <a:latin typeface="Consolas"/>
                          <a:ea typeface="Microsoft YaHei"/>
                          <a:cs typeface="Consolas"/>
                        </a:rPr>
                        <a:t>Improvement boundary</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200" b="1">
                          <a:solidFill>
                            <a:srgbClr val="FFFDF7"/>
                          </a:solidFill>
                          <a:latin typeface="Consolas"/>
                          <a:ea typeface="Microsoft YaHei"/>
                          <a:cs typeface="Consolas"/>
                        </a:rPr>
                        <a:t>Starting implementation anchors</a:t>
                      </a:r>
                    </a:p>
                  </a:txBody>
                  <a:tcPr anchor="ctr" marL="152400" marR="152400" marT="76200" marB="76200">
                    <a:lnL>
                      <a:noFill/>
                    </a:lnL>
                    <a:lnR>
                      <a:noFill/>
                    </a:lnR>
                    <a:lnT>
                      <a:noFill/>
                    </a:lnT>
                    <a:lnB w="9525">
                      <a:solidFill>
                        <a:schemeClr val="accent6"/>
                      </a:solidFill>
                      <a:prstDash val="solid"/>
                    </a:lnB>
                    <a:solidFill>
                      <a:schemeClr val="accent1"/>
                    </a:solidFill>
                  </a:tcPr>
                </a:tc>
              </a:tr>
              <a:tr h="571500">
                <a:tc>
                  <a:txBody>
                    <a:bodyPr/>
                    <a:lstStyle/>
                    <a:p>
                      <a:pPr/>
                      <a:r>
                        <a:rPr lang="en-US" sz="1200" b="0">
                          <a:solidFill>
                            <a:schemeClr val="dk1"/>
                          </a:solidFill>
                          <a:latin typeface="Consolas"/>
                          <a:ea typeface="Microsoft YaHei"/>
                          <a:cs typeface="Consolas"/>
                        </a:rPr>
                        <a:t>Count grain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semantic_sql.py:312; agents/text_to_sql/tools.py:93</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Forecast completion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agents/data_analysis/tools.py:122</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Empty/all-null types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backends/snowflake.py:129</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Narrative and units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reporting/schemas.py:95; reporting/renderer.py:188,260; reporting/comparisons.py:113</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Reshape / refresh</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agents/text_to_sql/tools.py:223; presentation.py:186,204</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Outcome evaluation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tests/test_live_evaluations.py:140; scripts/grade_documented_examples.py:36</a:t>
                      </a:r>
                    </a:p>
                  </a:txBody>
                  <a:tcPr anchor="ctr" marL="152400" marR="152400" marT="76200" marB="76200">
                    <a:lnL>
                      <a:noFill/>
                    </a:lnL>
                    <a:lnR>
                      <a:noFill/>
                    </a:lnR>
                    <a:lnT>
                      <a:noFill/>
                    </a:lnT>
                    <a:lnB w="9525">
                      <a:solidFill>
                        <a:schemeClr val="accent6"/>
                      </a:solidFill>
                      <a:prstDash val="solid"/>
                    </a:lnB>
                    <a:noFill/>
                  </a:tcPr>
                </a:tc>
              </a:tr>
              <a:tr h="571500">
                <a:tc>
                  <a:txBody>
                    <a:bodyPr/>
                    <a:lstStyle/>
                    <a:p>
                      <a:pPr/>
                      <a:r>
                        <a:rPr lang="en-US" sz="1200" b="0">
                          <a:solidFill>
                            <a:schemeClr val="dk1"/>
                          </a:solidFill>
                          <a:latin typeface="Consolas"/>
                          <a:ea typeface="Microsoft YaHei"/>
                          <a:cs typeface="Consolas"/>
                        </a:rPr>
                        <a:t>Workspace / current scope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200" b="0">
                          <a:solidFill>
                            <a:schemeClr val="dk1"/>
                          </a:solidFill>
                          <a:latin typeface="Consolas"/>
                          <a:ea typeface="Microsoft YaHei"/>
                          <a:cs typeface="Consolas"/>
                        </a:rPr>
                        <a:t>HANDOFF.md:27,42,56; coordinator.py:137</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9" name="footer"/>
          <p:cNvGrpSpPr/>
          <p:nvPr/>
        </p:nvGrpSpPr>
        <p:grpSpPr>
          <a:xfrm>
            <a:off x="452438" y="6353175"/>
            <a:ext cx="11287124" cy="338137"/>
            <a:chOff x="452438" y="6353175"/>
            <a:chExt cx="11287124" cy="338137"/>
          </a:xfrm>
        </p:grpSpPr>
        <p:sp>
          <p:nvSpPr>
            <p:cNvPr id="6" name="TextBox 6"/>
            <p:cNvSpPr txBox="1"/>
            <p:nvPr/>
          </p:nvSpPr>
          <p:spPr>
            <a:xfrm>
              <a:off x="452438" y="6353175"/>
              <a:ext cx="820047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Repository: /Users/charlie/Repos/deepagents-agents/data-analytics-agent. App paths under data_analytics_agent/; tests/scripts/HANDOFF at repo root.</a:t>
              </a:r>
            </a:p>
          </p:txBody>
        </p:sp>
        <p:sp>
          <p:nvSpPr>
            <p:cNvPr id="7" name="TextBox 7"/>
            <p:cNvSpPr txBox="1"/>
            <p:nvPr/>
          </p:nvSpPr>
          <p:spPr>
            <a:xfrm>
              <a:off x="452438" y="6515100"/>
              <a:ext cx="534025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Starting points for focused increments; no implementation change or provider study was performed.</a:t>
              </a:r>
            </a:p>
          </p:txBody>
        </p:sp>
        <p:sp>
          <p:nvSpPr>
            <p:cNvPr id="8" name="TextBox 8"/>
            <p:cNvSpPr txBox="1"/>
            <p:nvPr/>
          </p:nvSpPr>
          <p:spPr>
            <a:xfrm>
              <a:off x="11359512" y="65151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27 / 28</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719881" cy="1169416"/>
            <a:chOff x="443484" y="371475"/>
            <a:chExt cx="4719881" cy="1169416"/>
          </a:xfrm>
        </p:grpSpPr>
        <p:sp>
          <p:nvSpPr>
            <p:cNvPr id="2" name="TextBox 2"/>
            <p:cNvSpPr txBox="1"/>
            <p:nvPr/>
          </p:nvSpPr>
          <p:spPr>
            <a:xfrm>
              <a:off x="451104" y="371475"/>
              <a:ext cx="386305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REFERENCE / CLICKABLE PRIMARY SOURCES</a:t>
              </a:r>
            </a:p>
          </p:txBody>
        </p:sp>
        <p:sp>
          <p:nvSpPr>
            <p:cNvPr id="3" name="TextBox 3"/>
            <p:cNvSpPr txBox="1"/>
            <p:nvPr/>
          </p:nvSpPr>
          <p:spPr>
            <a:xfrm>
              <a:off x="443484" y="603250"/>
              <a:ext cx="4719881"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Primary references support</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the mechanisms and their limits</a:t>
              </a:r>
            </a:p>
          </p:txBody>
        </p:sp>
      </p:grpSp>
      <p:grpSp>
        <p:nvGrpSpPr>
          <p:cNvPr id="18" name="conference-references"/>
          <p:cNvGrpSpPr/>
          <p:nvPr/>
        </p:nvGrpSpPr>
        <p:grpSpPr>
          <a:xfrm>
            <a:off x="448056" y="1752600"/>
            <a:ext cx="4506913" cy="3899408"/>
            <a:chOff x="448056" y="1752600"/>
            <a:chExt cx="4506913" cy="3899408"/>
          </a:xfrm>
        </p:grpSpPr>
        <p:sp>
          <p:nvSpPr>
            <p:cNvPr id="5" name="TextBox 5"/>
            <p:cNvSpPr txBox="1"/>
            <p:nvPr/>
          </p:nvSpPr>
          <p:spPr>
            <a:xfrm>
              <a:off x="448056" y="1752600"/>
              <a:ext cx="2703961"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Conference mechanisms</a:t>
              </a:r>
            </a:p>
          </p:txBody>
        </p:sp>
        <p:sp>
          <p:nvSpPr>
            <p:cNvPr id="6" name="TextBox 6">
              <a:hlinkClick r:id="rId2"/>
            </p:cNvPr>
            <p:cNvSpPr txBox="1"/>
            <p:nvPr/>
          </p:nvSpPr>
          <p:spPr>
            <a:xfrm>
              <a:off x="449580" y="2181225"/>
              <a:ext cx="1857182"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Bridgewater / Vault</a:t>
              </a:r>
            </a:p>
          </p:txBody>
        </p:sp>
        <p:sp>
          <p:nvSpPr>
            <p:cNvPr id="7" name="TextBox 7"/>
            <p:cNvSpPr txBox="1"/>
            <p:nvPr/>
          </p:nvSpPr>
          <p:spPr>
            <a:xfrm>
              <a:off x="450342" y="2435225"/>
              <a:ext cx="450462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Task knowledge, temporal scope and investment briefs.</a:t>
              </a:r>
            </a:p>
          </p:txBody>
        </p:sp>
        <p:sp>
          <p:nvSpPr>
            <p:cNvPr id="8" name="TextBox 8">
              <a:hlinkClick r:id="rId3"/>
            </p:cNvPr>
            <p:cNvSpPr txBox="1"/>
            <p:nvPr/>
          </p:nvSpPr>
          <p:spPr>
            <a:xfrm>
              <a:off x="449580" y="2771775"/>
              <a:ext cx="4216361"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Kepler / Do Not Let Models Invent Numbers</a:t>
              </a:r>
            </a:p>
          </p:txBody>
        </p:sp>
        <p:sp>
          <p:nvSpPr>
            <p:cNvPr id="9" name="TextBox 9"/>
            <p:cNvSpPr txBox="1"/>
            <p:nvPr/>
          </p:nvSpPr>
          <p:spPr>
            <a:xfrm>
              <a:off x="450342" y="3025775"/>
              <a:ext cx="418159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Typed numerical evidence and checked calculation.</a:t>
              </a:r>
            </a:p>
          </p:txBody>
        </p:sp>
        <p:sp>
          <p:nvSpPr>
            <p:cNvPr id="10" name="TextBox 10">
              <a:hlinkClick r:id="rId4"/>
            </p:cNvPr>
            <p:cNvSpPr txBox="1"/>
            <p:nvPr/>
          </p:nvSpPr>
          <p:spPr>
            <a:xfrm>
              <a:off x="449580" y="3362325"/>
              <a:ext cx="2983925"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Range / financial-planner skills</a:t>
              </a:r>
            </a:p>
          </p:txBody>
        </p:sp>
        <p:sp>
          <p:nvSpPr>
            <p:cNvPr id="11" name="TextBox 11"/>
            <p:cNvSpPr txBox="1"/>
            <p:nvPr/>
          </p:nvSpPr>
          <p:spPr>
            <a:xfrm>
              <a:off x="450342" y="3616325"/>
              <a:ext cx="383813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Expert-authored methods, tests and ownership.</a:t>
              </a:r>
            </a:p>
          </p:txBody>
        </p:sp>
        <p:sp>
          <p:nvSpPr>
            <p:cNvPr id="12" name="TextBox 12">
              <a:hlinkClick r:id="rId5"/>
            </p:cNvPr>
            <p:cNvSpPr txBox="1"/>
            <p:nvPr/>
          </p:nvSpPr>
          <p:spPr>
            <a:xfrm>
              <a:off x="449580" y="3952875"/>
              <a:ext cx="2356837"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Ramp / end-to-end evals</a:t>
              </a:r>
            </a:p>
          </p:txBody>
        </p:sp>
        <p:sp>
          <p:nvSpPr>
            <p:cNvPr id="13" name="TextBox 13"/>
            <p:cNvSpPr txBox="1"/>
            <p:nvPr/>
          </p:nvSpPr>
          <p:spPr>
            <a:xfrm>
              <a:off x="450342" y="4206875"/>
              <a:ext cx="405978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Complete tasks and isolated system comparisons.</a:t>
              </a:r>
            </a:p>
          </p:txBody>
        </p:sp>
        <p:sp>
          <p:nvSpPr>
            <p:cNvPr id="14" name="TextBox 14">
              <a:hlinkClick r:id="rId6"/>
            </p:cNvPr>
            <p:cNvSpPr txBox="1"/>
            <p:nvPr/>
          </p:nvSpPr>
          <p:spPr>
            <a:xfrm>
              <a:off x="449580" y="4543425"/>
              <a:ext cx="3611706"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Contour / useful-insight comparisons</a:t>
              </a:r>
            </a:p>
          </p:txBody>
        </p:sp>
        <p:sp>
          <p:nvSpPr>
            <p:cNvPr id="15" name="TextBox 15"/>
            <p:cNvSpPr txBox="1"/>
            <p:nvPr/>
          </p:nvSpPr>
          <p:spPr>
            <a:xfrm>
              <a:off x="450342" y="4797425"/>
              <a:ext cx="289825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Value against a credible alternative.</a:t>
              </a:r>
            </a:p>
          </p:txBody>
        </p:sp>
        <p:sp>
          <p:nvSpPr>
            <p:cNvPr id="16" name="TextBox 16">
              <a:hlinkClick r:id="rId7"/>
            </p:cNvPr>
            <p:cNvSpPr txBox="1"/>
            <p:nvPr/>
          </p:nvSpPr>
          <p:spPr>
            <a:xfrm>
              <a:off x="449580" y="5133975"/>
              <a:ext cx="4475951"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Full conference agenda / Two Sigma and Wise</a:t>
              </a:r>
            </a:p>
          </p:txBody>
        </p:sp>
        <p:sp>
          <p:nvSpPr>
            <p:cNvPr id="17" name="TextBox 17"/>
            <p:cNvSpPr txBox="1"/>
            <p:nvPr/>
          </p:nvSpPr>
          <p:spPr>
            <a:xfrm>
              <a:off x="450342" y="5387975"/>
              <a:ext cx="333279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Broader ownership and authority context.</a:t>
              </a:r>
            </a:p>
          </p:txBody>
        </p:sp>
      </p:grpSp>
      <p:grpSp>
        <p:nvGrpSpPr>
          <p:cNvPr id="28" name="technical-references"/>
          <p:cNvGrpSpPr/>
          <p:nvPr/>
        </p:nvGrpSpPr>
        <p:grpSpPr>
          <a:xfrm>
            <a:off x="6086856" y="1752600"/>
            <a:ext cx="4496614" cy="3585083"/>
            <a:chOff x="6086856" y="1752600"/>
            <a:chExt cx="4496614" cy="3585083"/>
          </a:xfrm>
        </p:grpSpPr>
        <p:sp>
          <p:nvSpPr>
            <p:cNvPr id="19" name="TextBox 19"/>
            <p:cNvSpPr txBox="1"/>
            <p:nvPr/>
          </p:nvSpPr>
          <p:spPr>
            <a:xfrm>
              <a:off x="6086856" y="1752600"/>
              <a:ext cx="3026918"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Primary technical guidance</a:t>
              </a:r>
            </a:p>
          </p:txBody>
        </p:sp>
        <p:sp>
          <p:nvSpPr>
            <p:cNvPr id="20" name="TextBox 20">
              <a:hlinkClick r:id="rId8"/>
            </p:cNvPr>
            <p:cNvSpPr txBox="1"/>
            <p:nvPr/>
          </p:nvSpPr>
          <p:spPr>
            <a:xfrm>
              <a:off x="6088380" y="2181225"/>
              <a:ext cx="3699328"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Snowflake / Verified Query Repository</a:t>
              </a:r>
            </a:p>
          </p:txBody>
        </p:sp>
        <p:sp>
          <p:nvSpPr>
            <p:cNvPr id="21" name="TextBox 21"/>
            <p:cNvSpPr txBox="1"/>
            <p:nvPr/>
          </p:nvSpPr>
          <p:spPr>
            <a:xfrm>
              <a:off x="6089142" y="2473325"/>
              <a:ext cx="396935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Reviewed query examples and semantic context.</a:t>
              </a:r>
            </a:p>
          </p:txBody>
        </p:sp>
        <p:sp>
          <p:nvSpPr>
            <p:cNvPr id="22" name="TextBox 22">
              <a:hlinkClick r:id="rId9"/>
            </p:cNvPr>
            <p:cNvSpPr txBox="1"/>
            <p:nvPr/>
          </p:nvSpPr>
          <p:spPr>
            <a:xfrm>
              <a:off x="6088380" y="3048000"/>
              <a:ext cx="3169650"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Databricks / Genie quality tuning</a:t>
              </a:r>
            </a:p>
          </p:txBody>
        </p:sp>
        <p:sp>
          <p:nvSpPr>
            <p:cNvPr id="23" name="TextBox 23"/>
            <p:cNvSpPr txBox="1"/>
            <p:nvPr/>
          </p:nvSpPr>
          <p:spPr>
            <a:xfrm>
              <a:off x="6089142" y="3340100"/>
              <a:ext cx="44943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Curated semantics, examples and quality improvement.</a:t>
              </a:r>
            </a:p>
          </p:txBody>
        </p:sp>
        <p:sp>
          <p:nvSpPr>
            <p:cNvPr id="24" name="TextBox 24">
              <a:hlinkClick r:id="rId10"/>
            </p:cNvPr>
            <p:cNvSpPr txBox="1"/>
            <p:nvPr/>
          </p:nvSpPr>
          <p:spPr>
            <a:xfrm>
              <a:off x="6088380" y="3914775"/>
              <a:ext cx="428261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Anthropic / Demystifying evals for AI agents</a:t>
              </a:r>
            </a:p>
          </p:txBody>
        </p:sp>
        <p:sp>
          <p:nvSpPr>
            <p:cNvPr id="25" name="TextBox 25"/>
            <p:cNvSpPr txBox="1"/>
            <p:nvPr/>
          </p:nvSpPr>
          <p:spPr>
            <a:xfrm>
              <a:off x="6089142" y="4206875"/>
              <a:ext cx="440358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Outcome evaluation and controlled task environments.</a:t>
              </a:r>
            </a:p>
          </p:txBody>
        </p:sp>
        <p:sp>
          <p:nvSpPr>
            <p:cNvPr id="26" name="TextBox 26">
              <a:hlinkClick r:id="rId11"/>
            </p:cNvPr>
            <p:cNvSpPr txBox="1"/>
            <p:nvPr/>
          </p:nvSpPr>
          <p:spPr>
            <a:xfrm>
              <a:off x="6088380" y="4781550"/>
              <a:ext cx="3323905"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Snowflake / Cortex Code overview</a:t>
              </a:r>
            </a:p>
          </p:txBody>
        </p:sp>
        <p:sp>
          <p:nvSpPr>
            <p:cNvPr id="27" name="TextBox 27"/>
            <p:cNvSpPr txBox="1"/>
            <p:nvPr/>
          </p:nvSpPr>
          <p:spPr>
            <a:xfrm>
              <a:off x="6089142" y="5073650"/>
              <a:ext cx="41407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Workspace-oriented analytical engineering context.</a:t>
              </a:r>
            </a:p>
          </p:txBody>
        </p:sp>
      </p:grpSp>
      <p:grpSp>
        <p:nvGrpSpPr>
          <p:cNvPr id="30" name="evidence-limits"/>
          <p:cNvGrpSpPr/>
          <p:nvPr/>
        </p:nvGrpSpPr>
        <p:grpSpPr>
          <a:xfrm>
            <a:off x="450342" y="5813425"/>
            <a:ext cx="8533718" cy="492633"/>
            <a:chOff x="450342" y="5813425"/>
            <a:chExt cx="8533718" cy="492633"/>
          </a:xfrm>
        </p:grpSpPr>
        <p:sp>
          <p:nvSpPr>
            <p:cNvPr id="29" name="TextBox 29"/>
            <p:cNvSpPr txBox="1"/>
            <p:nvPr/>
          </p:nvSpPr>
          <p:spPr>
            <a:xfrm>
              <a:off x="450342" y="5813425"/>
              <a:ext cx="853371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Fidelity baseline: user-reported. Personal implementation: Oct 15 read-only review. Local designs are proposals.</a:t>
              </a:r>
              <a:br>
                <a:rPr lang="en-US" sz="1350" dirty="0">
                  <a:solidFill>
                    <a:schemeClr val="dk1"/>
                  </a:solidFill>
                  <a:latin typeface="+mn-lt"/>
                  <a:ea typeface="+mn-ea"/>
                  <a:cs typeface="+mn-cs"/>
                </a:rPr>
              </a:br>
              <a:r>
                <a:rPr lang="en-US" sz="1350" dirty="0">
                  <a:solidFill>
                    <a:schemeClr val="dk1"/>
                  </a:solidFill>
                  <a:latin typeface="+mn-lt"/>
                  <a:ea typeface="+mn-ea"/>
                  <a:cs typeface="+mn-cs"/>
                </a:rPr>
                <a:t>Synthetic examples are labeled throughout; this deck asserts no measured ROI or speedup.</a:t>
              </a:r>
            </a:p>
          </p:txBody>
        </p:sp>
      </p:grpSp>
      <p:grpSp>
        <p:nvGrpSpPr>
          <p:cNvPr id="33" name="footer"/>
          <p:cNvGrpSpPr/>
          <p:nvPr/>
        </p:nvGrpSpPr>
        <p:grpSpPr>
          <a:xfrm>
            <a:off x="452438" y="6438900"/>
            <a:ext cx="11287124" cy="176212"/>
            <a:chOff x="452438" y="6438900"/>
            <a:chExt cx="11287124" cy="176212"/>
          </a:xfrm>
        </p:grpSpPr>
        <p:sp>
          <p:nvSpPr>
            <p:cNvPr id="31" name="TextBox 31"/>
            <p:cNvSpPr txBox="1"/>
            <p:nvPr/>
          </p:nvSpPr>
          <p:spPr>
            <a:xfrm>
              <a:off x="452438" y="6438900"/>
              <a:ext cx="506463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corpus: prior conference research, attendee notes and the application-roadmap report.</a:t>
              </a:r>
            </a:p>
          </p:txBody>
        </p:sp>
        <p:sp>
          <p:nvSpPr>
            <p:cNvPr id="32" name="TextBox 32"/>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28 / 28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i-engineer-application-demo">
  <a:themeElements>
    <a:clrScheme name="ai-engineer-application-demo">
      <a:dk1>
        <a:srgbClr val="132F3B"/>
      </a:dk1>
      <a:lt1>
        <a:srgbClr val="FFFDF7"/>
      </a:lt1>
      <a:dk2>
        <a:srgbClr val="1F497D"/>
      </a:dk2>
      <a:lt2>
        <a:srgbClr val="E7F0EA"/>
      </a:lt2>
      <a:accent1>
        <a:srgbClr val="102E3A"/>
      </a:accent1>
      <a:accent2>
        <a:srgbClr val="075E52"/>
      </a:accent2>
      <a:accent3>
        <a:srgbClr val="D5EF8C"/>
      </a:accent3>
      <a:accent4>
        <a:srgbClr val="102E3A"/>
      </a:accent4>
      <a:accent5>
        <a:srgbClr val="50616A"/>
      </a:accent5>
      <a:accent6>
        <a:srgbClr val="CBD4D1"/>
      </a:accent6>
      <a:hlink>
        <a:srgbClr val="075E52"/>
      </a:hlink>
      <a:folHlink>
        <a:srgbClr val="D5EF8C"/>
      </a:folHlink>
    </a:clrScheme>
    <a:fontScheme name="ai-engineer-application-demo">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engineer-application-dem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i-engineer-application-demo">
  <a:themeElements>
    <a:clrScheme name="ai-engineer-application-demo">
      <a:dk1>
        <a:srgbClr val="132F3B"/>
      </a:dk1>
      <a:lt1>
        <a:srgbClr val="FFFDF7"/>
      </a:lt1>
      <a:dk2>
        <a:srgbClr val="1F497D"/>
      </a:dk2>
      <a:lt2>
        <a:srgbClr val="E7F0EA"/>
      </a:lt2>
      <a:accent1>
        <a:srgbClr val="102E3A"/>
      </a:accent1>
      <a:accent2>
        <a:srgbClr val="075E52"/>
      </a:accent2>
      <a:accent3>
        <a:srgbClr val="D5EF8C"/>
      </a:accent3>
      <a:accent4>
        <a:srgbClr val="102E3A"/>
      </a:accent4>
      <a:accent5>
        <a:srgbClr val="50616A"/>
      </a:accent5>
      <a:accent6>
        <a:srgbClr val="CBD4D1"/>
      </a:accent6>
      <a:hlink>
        <a:srgbClr val="075E52"/>
      </a:hlink>
      <a:folHlink>
        <a:srgbClr val="D5EF8C"/>
      </a:folHlink>
    </a:clrScheme>
    <a:fontScheme name="ai-engineer-application-demo">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engineer-application-dem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2026-10-17T11:47:38Z</dcterms:created>
  <dcterms:modified xsi:type="dcterms:W3CDTF">2026-10-17T11:47:38Z</dcterms:modified>
  <cp:category/>
  <cp:contentStatus/>
</cp:coreProperties>
</file>